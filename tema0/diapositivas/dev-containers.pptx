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467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0: INTRODUCCIÓN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Dev Containers</a:t>
            </a:r>
            <a:endParaRPr lang="en-US" sz="4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Tu propio entorno de trabajo dentro de un contenedor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Por qué un Dev Container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548640" y="1508760"/>
            <a:ext cx="11091672" cy="1920240"/>
          </a:xfrm>
          <a:prstGeom prst="rect">
            <a:avLst/>
          </a:prstGeom>
          <a:noFill/>
          <a:ln/>
        </p:spPr>
        <p:txBody>
          <a:bodyPr wrap="square" rtlCol="0" anchor="t"/>
          <a:lstStyle/>
          <a:p>
            <a:pPr marL="0" indent="0">
              <a:buNone/>
            </a:pPr>
            <a:r>
              <a:rPr lang="en-US" sz="2300" dirty="0">
                <a:solidFill>
                  <a:srgbClr val="212121"/>
                </a:solidFill>
                <a:latin typeface="Arial" pitchFamily="34" charset="0"/>
                <a:ea typeface="Arial" pitchFamily="34" charset="-122"/>
                <a:cs typeface="Arial" pitchFamily="34" charset="-120"/>
              </a:rPr>
              <a:t>Instalar Java, Node o cualquier herramienta del curso directamente en tu ordenador tiene los mismos problemas que ya has visto con Docker: una versión distinta a la de tu compañero, un sistema operativo distinto, media mañana perdida configurando un portátil nuevo.</a:t>
            </a:r>
            <a:endParaRPr lang="en-US" sz="2300" dirty="0"/>
          </a:p>
        </p:txBody>
      </p:sp>
      <p:sp>
        <p:nvSpPr>
          <p:cNvPr id="6" name="Text 4"/>
          <p:cNvSpPr/>
          <p:nvPr/>
        </p:nvSpPr>
        <p:spPr>
          <a:xfrm>
            <a:off x="548640" y="3383280"/>
            <a:ext cx="11091672" cy="100584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Hasta ahora has usado Docker para meter un servicio dentro de un contenedor, como una base de datos.</a:t>
            </a:r>
            <a:endParaRPr lang="en-US" sz="2200" dirty="0"/>
          </a:p>
        </p:txBody>
      </p:sp>
      <p:sp>
        <p:nvSpPr>
          <p:cNvPr id="7" name="Shape 5"/>
          <p:cNvSpPr/>
          <p:nvPr/>
        </p:nvSpPr>
        <p:spPr>
          <a:xfrm>
            <a:off x="548640" y="4800600"/>
            <a:ext cx="11091672" cy="1280160"/>
          </a:xfrm>
          <a:prstGeom prst="roundRect">
            <a:avLst/>
          </a:prstGeom>
          <a:solidFill>
            <a:srgbClr val="FBE9E7"/>
          </a:solidFill>
          <a:ln w="19050">
            <a:solidFill>
              <a:srgbClr val="E64A19"/>
            </a:solidFill>
            <a:prstDash val="solid"/>
          </a:ln>
        </p:spPr>
        <p:txBody>
          <a:bodyPr/>
          <a:lstStyle/>
          <a:p>
            <a:endParaRPr lang="es-ES"/>
          </a:p>
        </p:txBody>
      </p:sp>
      <p:sp>
        <p:nvSpPr>
          <p:cNvPr id="8" name="Text 6"/>
          <p:cNvSpPr/>
          <p:nvPr/>
        </p:nvSpPr>
        <p:spPr>
          <a:xfrm>
            <a:off x="822960" y="4892040"/>
            <a:ext cx="10543032" cy="10972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Un Dev Container aplica la misma idea a otra cosa: mete dentro del contenedor tu propio entorno de programación, y tu editor se conecta ahí para trabajar como si ese contenedor fuera tu ordenador.</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parte que cuesta entender la primera vez</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548640" y="1640322"/>
            <a:ext cx="11091672" cy="274320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“¿Cómo que mi editor está dentro de un contenedor, si lo sigo viendo en mi propia pantalla?” La clave está en separar dos cosas: la ventana que ves (menús, pestañas, el propio VS Code) se queda en tu ordenador, igual que siempre. Pero todo lo que hace falta para trabajar de verdad —terminal, comandos, compilador, extensiones— corre dentro del contenedor.</a:t>
            </a:r>
            <a:endParaRPr lang="en-US" sz="2200" dirty="0"/>
          </a:p>
        </p:txBody>
      </p:sp>
      <p:sp>
        <p:nvSpPr>
          <p:cNvPr id="6" name="Shape 4"/>
          <p:cNvSpPr/>
          <p:nvPr/>
        </p:nvSpPr>
        <p:spPr>
          <a:xfrm>
            <a:off x="548640" y="4206240"/>
            <a:ext cx="11091672" cy="128016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297680"/>
            <a:ext cx="10543032" cy="109728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Como un escritorio remoto: la pantalla, el ratón y el teclado son tuyos, pero el trabajo de verdad ocurre en la máquina remota. Aquí, la "máquina remota" es un contenedor Docker en tu propio ordenador.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ocurre paso a paso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Shape 3"/>
          <p:cNvSpPr/>
          <p:nvPr/>
        </p:nvSpPr>
        <p:spPr>
          <a:xfrm>
            <a:off x="548640" y="1800808"/>
            <a:ext cx="1998878" cy="2194560"/>
          </a:xfrm>
          <a:prstGeom prst="roundRect">
            <a:avLst/>
          </a:prstGeom>
          <a:solidFill>
            <a:srgbClr val="FBEAEA"/>
          </a:solidFill>
          <a:ln w="15875">
            <a:solidFill>
              <a:srgbClr val="C62828"/>
            </a:solidFill>
            <a:prstDash val="solid"/>
          </a:ln>
        </p:spPr>
        <p:txBody>
          <a:bodyPr/>
          <a:lstStyle/>
          <a:p>
            <a:endParaRPr lang="es-ES"/>
          </a:p>
        </p:txBody>
      </p:sp>
      <p:sp>
        <p:nvSpPr>
          <p:cNvPr id="6" name="Text 4"/>
          <p:cNvSpPr/>
          <p:nvPr/>
        </p:nvSpPr>
        <p:spPr>
          <a:xfrm>
            <a:off x="594360" y="1846528"/>
            <a:ext cx="1907438" cy="2103120"/>
          </a:xfrm>
          <a:prstGeom prst="rect">
            <a:avLst/>
          </a:prstGeom>
          <a:noFill/>
          <a:ln/>
        </p:spPr>
        <p:txBody>
          <a:bodyPr wrap="square" rtlCol="0" anchor="ctr"/>
          <a:lstStyle/>
          <a:p>
            <a:pPr marL="0" indent="0" algn="ctr">
              <a:buNone/>
            </a:pPr>
            <a:r>
              <a:rPr lang="en-US" sz="1800" dirty="0">
                <a:solidFill>
                  <a:srgbClr val="212121"/>
                </a:solidFill>
                <a:latin typeface="Arial" pitchFamily="34" charset="0"/>
                <a:ea typeface="Arial" pitchFamily="34" charset="-122"/>
                <a:cs typeface="Arial" pitchFamily="34" charset="-120"/>
              </a:rPr>
              <a:t>Abres el proyecto</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en VS Code</a:t>
            </a:r>
            <a:endParaRPr lang="en-US" sz="1800" dirty="0"/>
          </a:p>
        </p:txBody>
      </p:sp>
      <p:sp>
        <p:nvSpPr>
          <p:cNvPr id="7" name="Text 5"/>
          <p:cNvSpPr/>
          <p:nvPr/>
        </p:nvSpPr>
        <p:spPr>
          <a:xfrm>
            <a:off x="2529230" y="1800808"/>
            <a:ext cx="310896" cy="2194560"/>
          </a:xfrm>
          <a:prstGeom prst="rect">
            <a:avLst/>
          </a:prstGeom>
          <a:noFill/>
          <a:ln/>
        </p:spPr>
        <p:txBody>
          <a:bodyPr wrap="square" rtlCol="0" anchor="ctr"/>
          <a:lstStyle/>
          <a:p>
            <a:pPr marL="0" indent="0" algn="ctr">
              <a:buNone/>
            </a:pPr>
            <a:r>
              <a:rPr lang="en-US" sz="2000" b="1" dirty="0">
                <a:solidFill>
                  <a:srgbClr val="C62828"/>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821838" y="1800808"/>
            <a:ext cx="1998878" cy="2194560"/>
          </a:xfrm>
          <a:prstGeom prst="roundRect">
            <a:avLst/>
          </a:prstGeom>
          <a:solidFill>
            <a:srgbClr val="FBEAEA"/>
          </a:solidFill>
          <a:ln w="15875">
            <a:solidFill>
              <a:srgbClr val="C62828"/>
            </a:solidFill>
            <a:prstDash val="solid"/>
          </a:ln>
        </p:spPr>
        <p:txBody>
          <a:bodyPr/>
          <a:lstStyle/>
          <a:p>
            <a:endParaRPr lang="es-ES"/>
          </a:p>
        </p:txBody>
      </p:sp>
      <p:sp>
        <p:nvSpPr>
          <p:cNvPr id="9" name="Text 7"/>
          <p:cNvSpPr/>
          <p:nvPr/>
        </p:nvSpPr>
        <p:spPr>
          <a:xfrm>
            <a:off x="2867558" y="1846528"/>
            <a:ext cx="1907438" cy="2103120"/>
          </a:xfrm>
          <a:prstGeom prst="rect">
            <a:avLst/>
          </a:prstGeom>
          <a:noFill/>
          <a:ln/>
        </p:spPr>
        <p:txBody>
          <a:bodyPr wrap="square" rtlCol="0" anchor="ctr"/>
          <a:lstStyle/>
          <a:p>
            <a:pPr marL="0" indent="0" algn="ctr">
              <a:buNone/>
            </a:pPr>
            <a:r>
              <a:rPr lang="en-US" sz="1800" dirty="0">
                <a:solidFill>
                  <a:srgbClr val="212121"/>
                </a:solidFill>
                <a:latin typeface="Arial" pitchFamily="34" charset="0"/>
                <a:ea typeface="Arial" pitchFamily="34" charset="-122"/>
                <a:cs typeface="Arial" pitchFamily="34" charset="-120"/>
              </a:rPr>
              <a:t>¿Existe</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devcontainer.json?</a:t>
            </a:r>
            <a:endParaRPr lang="en-US" sz="1800" dirty="0"/>
          </a:p>
        </p:txBody>
      </p:sp>
      <p:sp>
        <p:nvSpPr>
          <p:cNvPr id="10" name="Text 8"/>
          <p:cNvSpPr/>
          <p:nvPr/>
        </p:nvSpPr>
        <p:spPr>
          <a:xfrm>
            <a:off x="4802429" y="1800808"/>
            <a:ext cx="310896" cy="2194560"/>
          </a:xfrm>
          <a:prstGeom prst="rect">
            <a:avLst/>
          </a:prstGeom>
          <a:noFill/>
          <a:ln/>
        </p:spPr>
        <p:txBody>
          <a:bodyPr wrap="square" rtlCol="0" anchor="ctr"/>
          <a:lstStyle/>
          <a:p>
            <a:pPr marL="0" indent="0" algn="ctr">
              <a:buNone/>
            </a:pPr>
            <a:r>
              <a:rPr lang="en-US" sz="2000" b="1" dirty="0">
                <a:solidFill>
                  <a:srgbClr val="C62828"/>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5095037" y="1800808"/>
            <a:ext cx="1998878" cy="2194560"/>
          </a:xfrm>
          <a:prstGeom prst="roundRect">
            <a:avLst/>
          </a:prstGeom>
          <a:solidFill>
            <a:srgbClr val="FBEAEA"/>
          </a:solidFill>
          <a:ln w="15875">
            <a:solidFill>
              <a:srgbClr val="C62828"/>
            </a:solidFill>
            <a:prstDash val="solid"/>
          </a:ln>
        </p:spPr>
        <p:txBody>
          <a:bodyPr/>
          <a:lstStyle/>
          <a:p>
            <a:endParaRPr lang="es-ES"/>
          </a:p>
        </p:txBody>
      </p:sp>
      <p:sp>
        <p:nvSpPr>
          <p:cNvPr id="12" name="Text 10"/>
          <p:cNvSpPr/>
          <p:nvPr/>
        </p:nvSpPr>
        <p:spPr>
          <a:xfrm>
            <a:off x="5140757" y="1846528"/>
            <a:ext cx="1907438" cy="2103120"/>
          </a:xfrm>
          <a:prstGeom prst="rect">
            <a:avLst/>
          </a:prstGeom>
          <a:noFill/>
          <a:ln/>
        </p:spPr>
        <p:txBody>
          <a:bodyPr wrap="square" rtlCol="0" anchor="ctr"/>
          <a:lstStyle/>
          <a:p>
            <a:pPr marL="0" indent="0" algn="ctr">
              <a:buNone/>
            </a:pPr>
            <a:r>
              <a:rPr lang="en-US" sz="1800" dirty="0">
                <a:solidFill>
                  <a:srgbClr val="212121"/>
                </a:solidFill>
                <a:latin typeface="Arial" pitchFamily="34" charset="0"/>
                <a:ea typeface="Arial" pitchFamily="34" charset="-122"/>
                <a:cs typeface="Arial" pitchFamily="34" charset="-120"/>
              </a:rPr>
              <a:t>"Reopen in</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Container"</a:t>
            </a:r>
            <a:endParaRPr lang="en-US" sz="1800" dirty="0"/>
          </a:p>
        </p:txBody>
      </p:sp>
      <p:sp>
        <p:nvSpPr>
          <p:cNvPr id="13" name="Text 11"/>
          <p:cNvSpPr/>
          <p:nvPr/>
        </p:nvSpPr>
        <p:spPr>
          <a:xfrm>
            <a:off x="7075627" y="1800808"/>
            <a:ext cx="310896" cy="2194560"/>
          </a:xfrm>
          <a:prstGeom prst="rect">
            <a:avLst/>
          </a:prstGeom>
          <a:noFill/>
          <a:ln/>
        </p:spPr>
        <p:txBody>
          <a:bodyPr wrap="square" rtlCol="0" anchor="ctr"/>
          <a:lstStyle/>
          <a:p>
            <a:pPr marL="0" indent="0" algn="ctr">
              <a:buNone/>
            </a:pPr>
            <a:r>
              <a:rPr lang="en-US" sz="2000" b="1" dirty="0">
                <a:solidFill>
                  <a:srgbClr val="C62828"/>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7368235" y="1800808"/>
            <a:ext cx="1998878" cy="2194560"/>
          </a:xfrm>
          <a:prstGeom prst="roundRect">
            <a:avLst/>
          </a:prstGeom>
          <a:solidFill>
            <a:srgbClr val="FBEAEA"/>
          </a:solidFill>
          <a:ln w="15875">
            <a:solidFill>
              <a:srgbClr val="C62828"/>
            </a:solidFill>
            <a:prstDash val="solid"/>
          </a:ln>
        </p:spPr>
        <p:txBody>
          <a:bodyPr/>
          <a:lstStyle/>
          <a:p>
            <a:endParaRPr lang="es-ES"/>
          </a:p>
        </p:txBody>
      </p:sp>
      <p:sp>
        <p:nvSpPr>
          <p:cNvPr id="15" name="Text 13"/>
          <p:cNvSpPr/>
          <p:nvPr/>
        </p:nvSpPr>
        <p:spPr>
          <a:xfrm>
            <a:off x="7413955" y="1846528"/>
            <a:ext cx="1907438" cy="2103120"/>
          </a:xfrm>
          <a:prstGeom prst="rect">
            <a:avLst/>
          </a:prstGeom>
          <a:noFill/>
          <a:ln/>
        </p:spPr>
        <p:txBody>
          <a:bodyPr wrap="square" rtlCol="0" anchor="ctr"/>
          <a:lstStyle/>
          <a:p>
            <a:pPr marL="0" indent="0" algn="ctr">
              <a:buNone/>
            </a:pPr>
            <a:r>
              <a:rPr lang="en-US" sz="1800" dirty="0">
                <a:solidFill>
                  <a:srgbClr val="212121"/>
                </a:solidFill>
                <a:latin typeface="Arial" pitchFamily="34" charset="0"/>
                <a:ea typeface="Arial" pitchFamily="34" charset="-122"/>
                <a:cs typeface="Arial" pitchFamily="34" charset="-120"/>
              </a:rPr>
              <a:t>Docker crea el</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contenedor y monta</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tu carpeta</a:t>
            </a:r>
            <a:endParaRPr lang="en-US" sz="1800" dirty="0"/>
          </a:p>
        </p:txBody>
      </p:sp>
      <p:sp>
        <p:nvSpPr>
          <p:cNvPr id="16" name="Text 14"/>
          <p:cNvSpPr/>
          <p:nvPr/>
        </p:nvSpPr>
        <p:spPr>
          <a:xfrm>
            <a:off x="9348826" y="1800808"/>
            <a:ext cx="310896" cy="2194560"/>
          </a:xfrm>
          <a:prstGeom prst="rect">
            <a:avLst/>
          </a:prstGeom>
          <a:noFill/>
          <a:ln/>
        </p:spPr>
        <p:txBody>
          <a:bodyPr wrap="square" rtlCol="0" anchor="ctr"/>
          <a:lstStyle/>
          <a:p>
            <a:pPr marL="0" indent="0" algn="ctr">
              <a:buNone/>
            </a:pPr>
            <a:r>
              <a:rPr lang="en-US" sz="2000" b="1" dirty="0">
                <a:solidFill>
                  <a:srgbClr val="C62828"/>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9641434" y="1800808"/>
            <a:ext cx="1998878" cy="2194560"/>
          </a:xfrm>
          <a:prstGeom prst="roundRect">
            <a:avLst/>
          </a:prstGeom>
          <a:solidFill>
            <a:srgbClr val="FBEAEA"/>
          </a:solidFill>
          <a:ln w="15875">
            <a:solidFill>
              <a:srgbClr val="C62828"/>
            </a:solidFill>
            <a:prstDash val="solid"/>
          </a:ln>
        </p:spPr>
        <p:txBody>
          <a:bodyPr/>
          <a:lstStyle/>
          <a:p>
            <a:endParaRPr lang="es-ES"/>
          </a:p>
        </p:txBody>
      </p:sp>
      <p:sp>
        <p:nvSpPr>
          <p:cNvPr id="18" name="Text 16"/>
          <p:cNvSpPr/>
          <p:nvPr/>
        </p:nvSpPr>
        <p:spPr>
          <a:xfrm>
            <a:off x="9687154" y="1846528"/>
            <a:ext cx="1907438" cy="2103120"/>
          </a:xfrm>
          <a:prstGeom prst="rect">
            <a:avLst/>
          </a:prstGeom>
          <a:noFill/>
          <a:ln/>
        </p:spPr>
        <p:txBody>
          <a:bodyPr wrap="square" rtlCol="0" anchor="ctr"/>
          <a:lstStyle/>
          <a:p>
            <a:pPr marL="0" indent="0" algn="ctr">
              <a:buNone/>
            </a:pPr>
            <a:r>
              <a:rPr lang="en-US" sz="1800" dirty="0">
                <a:solidFill>
                  <a:srgbClr val="212121"/>
                </a:solidFill>
                <a:latin typeface="Arial" pitchFamily="34" charset="0"/>
                <a:ea typeface="Arial" pitchFamily="34" charset="-122"/>
                <a:cs typeface="Arial" pitchFamily="34" charset="-120"/>
              </a:rPr>
              <a:t>Terminal, depurador</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y extensiones ya</a:t>
            </a:r>
            <a:endParaRPr lang="en-US" sz="1800" dirty="0"/>
          </a:p>
          <a:p>
            <a:pPr marL="0" indent="0" algn="ctr">
              <a:buNone/>
            </a:pPr>
            <a:r>
              <a:rPr lang="en-US" sz="1800" dirty="0">
                <a:solidFill>
                  <a:srgbClr val="212121"/>
                </a:solidFill>
                <a:latin typeface="Arial" pitchFamily="34" charset="0"/>
                <a:ea typeface="Arial" pitchFamily="34" charset="-122"/>
                <a:cs typeface="Arial" pitchFamily="34" charset="-120"/>
              </a:rPr>
              <a:t>corren dentro</a:t>
            </a:r>
            <a:endParaRPr lang="en-US" sz="1800" dirty="0"/>
          </a:p>
        </p:txBody>
      </p:sp>
      <p:sp>
        <p:nvSpPr>
          <p:cNvPr id="19" name="Text 17"/>
          <p:cNvSpPr/>
          <p:nvPr/>
        </p:nvSpPr>
        <p:spPr>
          <a:xfrm>
            <a:off x="502920" y="4424576"/>
            <a:ext cx="11091672" cy="1188720"/>
          </a:xfrm>
          <a:prstGeom prst="rect">
            <a:avLst/>
          </a:prstGeom>
          <a:noFill/>
          <a:ln/>
        </p:spPr>
        <p:txBody>
          <a:bodyPr wrap="square" rtlCol="0" anchor="t"/>
          <a:lstStyle/>
          <a:p>
            <a:pPr marL="0" indent="0" algn="ctr">
              <a:buNone/>
            </a:pPr>
            <a:r>
              <a:rPr lang="en-US" sz="2200" dirty="0">
                <a:solidFill>
                  <a:srgbClr val="212121"/>
                </a:solidFill>
                <a:latin typeface="Arial" pitchFamily="34" charset="0"/>
                <a:ea typeface="Arial" pitchFamily="34" charset="-122"/>
                <a:cs typeface="Arial" pitchFamily="34" charset="-120"/>
              </a:rPr>
              <a:t>La ventana de VS Code no cambia de aspecto en ningún momento de este proceso: lo único que delata que estás dentro es una etiqueta en la esquina inferior izquierda.</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Cómo se nota que estás dentro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Shape 3"/>
          <p:cNvSpPr/>
          <p:nvPr/>
        </p:nvSpPr>
        <p:spPr>
          <a:xfrm>
            <a:off x="548640" y="12801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371600"/>
            <a:ext cx="10543032" cy="1280160"/>
          </a:xfrm>
          <a:prstGeom prst="rect">
            <a:avLst/>
          </a:prstGeom>
          <a:noFill/>
          <a:ln/>
        </p:spPr>
        <p:txBody>
          <a:bodyPr wrap="square" rtlCol="0" anchor="ctr"/>
          <a:lstStyle/>
          <a:p>
            <a:pPr marL="0" indent="0">
              <a:buNone/>
            </a:pPr>
            <a:r>
              <a:rPr lang="en-US" sz="2500" dirty="0">
                <a:solidFill>
                  <a:srgbClr val="212121"/>
                </a:solidFill>
                <a:latin typeface="Arial" pitchFamily="34" charset="0"/>
                <a:ea typeface="Arial" pitchFamily="34" charset="-122"/>
                <a:cs typeface="Arial" pitchFamily="34" charset="-120"/>
              </a:rPr>
              <a:t>Lo único que delata que estás dentro de un contenedor es una etiqueta en la esquina inferior izquierda de VS Code, con el nombre del Dev Container activo.</a:t>
            </a:r>
            <a:endParaRPr lang="en-US" sz="2500" dirty="0"/>
          </a:p>
        </p:txBody>
      </p:sp>
      <p:sp>
        <p:nvSpPr>
          <p:cNvPr id="7" name="Text 5"/>
          <p:cNvSpPr/>
          <p:nvPr/>
        </p:nvSpPr>
        <p:spPr>
          <a:xfrm>
            <a:off x="548640" y="3291840"/>
            <a:ext cx="11091672" cy="1554480"/>
          </a:xfrm>
          <a:prstGeom prst="rect">
            <a:avLst/>
          </a:prstGeom>
          <a:noFill/>
          <a:ln/>
        </p:spPr>
        <p:txBody>
          <a:bodyPr wrap="square" rtlCol="0" anchor="t"/>
          <a:lstStyle/>
          <a:p>
            <a:pPr marL="0" indent="0">
              <a:buNone/>
            </a:pPr>
            <a:r>
              <a:rPr lang="en-US" sz="2400" dirty="0">
                <a:solidFill>
                  <a:srgbClr val="212121"/>
                </a:solidFill>
                <a:latin typeface="Arial" pitchFamily="34" charset="0"/>
                <a:ea typeface="Arial" pitchFamily="34" charset="-122"/>
                <a:cs typeface="Arial" pitchFamily="34" charset="-120"/>
              </a:rPr>
              <a:t>Lo vas a comprobar tú mismo en la Actividad 0.7: compararás qué responde la terminal dentro del contenedor frente a la terminal de tu propio sistema operativo.</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fichero que lo describe todo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548640" y="1005840"/>
            <a:ext cx="11091672" cy="5486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Todo lo anterior lo define un único fichero, .devcontainer/devcontainer.json, en la raíz del proyecto:</a:t>
            </a:r>
            <a:endParaRPr lang="en-US" sz="2100" dirty="0"/>
          </a:p>
        </p:txBody>
      </p:sp>
      <p:sp>
        <p:nvSpPr>
          <p:cNvPr id="6" name="Shape 4"/>
          <p:cNvSpPr/>
          <p:nvPr/>
        </p:nvSpPr>
        <p:spPr>
          <a:xfrm>
            <a:off x="548640" y="1828800"/>
            <a:ext cx="11091672" cy="41148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828800"/>
            <a:ext cx="73152" cy="41148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938528"/>
            <a:ext cx="10588752" cy="389534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"name": "Entorno del curso",</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"image": "mcr.microsoft.com/devcontainers/base:debian-12",</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"forwardPorts": [5432],</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"postCreateCommand": "echo 'Entorno listo'",</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"customizations":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"vscode":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"extensions": ["ms-python.python"]</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hace cada campo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613954" y="1219884"/>
            <a:ext cx="11091672" cy="5212080"/>
          </a:xfrm>
          <a:prstGeom prst="rect">
            <a:avLst/>
          </a:prstGeom>
          <a:noFill/>
          <a:ln/>
        </p:spPr>
        <p:txBody>
          <a:bodyPr wrap="square" rtlCol="0" anchor="t"/>
          <a:lstStyle/>
          <a:p>
            <a:pPr marL="0" indent="0">
              <a:spcAft>
                <a:spcPts val="600"/>
              </a:spcAft>
              <a:buNone/>
            </a:pPr>
            <a:r>
              <a:rPr lang="en-US" sz="2100" b="1" dirty="0">
                <a:solidFill>
                  <a:srgbClr val="212121"/>
                </a:solidFill>
                <a:latin typeface="Arial" pitchFamily="34" charset="0"/>
                <a:ea typeface="Arial" pitchFamily="34" charset="-122"/>
                <a:cs typeface="Arial" pitchFamily="34" charset="-120"/>
              </a:rPr>
              <a:t>image</a:t>
            </a:r>
            <a:endParaRPr lang="en-US" sz="2100" dirty="0"/>
          </a:p>
          <a:p>
            <a:pPr marL="762000" lvl="1" indent="-381000">
              <a:spcAft>
                <a:spcPts val="2000"/>
              </a:spcAft>
              <a:buSzPct val="100000"/>
              <a:buChar char="•"/>
            </a:pPr>
            <a:r>
              <a:rPr lang="en-US" sz="2100" dirty="0">
                <a:solidFill>
                  <a:srgbClr val="212121"/>
                </a:solidFill>
                <a:latin typeface="Arial" pitchFamily="34" charset="0"/>
                <a:ea typeface="Arial" pitchFamily="34" charset="-122"/>
                <a:cs typeface="Arial" pitchFamily="34" charset="-120"/>
              </a:rPr>
              <a:t>la imagen que se usa para construir el contenedor donde vas a trabajar — aquí no aloja una base de datos, sino un sistema base para programar.</a:t>
            </a:r>
            <a:endParaRPr lang="en-US" sz="2100" dirty="0"/>
          </a:p>
          <a:p>
            <a:pPr marL="0" indent="0">
              <a:spcAft>
                <a:spcPts val="600"/>
              </a:spcAft>
              <a:buNone/>
            </a:pPr>
            <a:r>
              <a:rPr lang="en-US" sz="2100" b="1" dirty="0">
                <a:solidFill>
                  <a:srgbClr val="212121"/>
                </a:solidFill>
                <a:latin typeface="Arial" pitchFamily="34" charset="0"/>
                <a:ea typeface="Arial" pitchFamily="34" charset="-122"/>
                <a:cs typeface="Arial" pitchFamily="34" charset="-120"/>
              </a:rPr>
              <a:t>forwardPorts</a:t>
            </a:r>
            <a:endParaRPr lang="en-US" sz="2100" dirty="0"/>
          </a:p>
          <a:p>
            <a:pPr marL="762000" lvl="1" indent="-381000">
              <a:spcAft>
                <a:spcPts val="2000"/>
              </a:spcAft>
              <a:buSzPct val="100000"/>
              <a:buChar char="•"/>
            </a:pPr>
            <a:r>
              <a:rPr lang="en-US" sz="2100" dirty="0">
                <a:solidFill>
                  <a:srgbClr val="212121"/>
                </a:solidFill>
                <a:latin typeface="Arial" pitchFamily="34" charset="0"/>
                <a:ea typeface="Arial" pitchFamily="34" charset="-122"/>
                <a:cs typeface="Arial" pitchFamily="34" charset="-120"/>
              </a:rPr>
              <a:t>te deja ver desde tu navegador algo que corre dentro del contenedor.</a:t>
            </a:r>
            <a:endParaRPr lang="en-US" sz="2100" dirty="0"/>
          </a:p>
          <a:p>
            <a:pPr marL="0" indent="0">
              <a:spcAft>
                <a:spcPts val="600"/>
              </a:spcAft>
              <a:buNone/>
            </a:pPr>
            <a:r>
              <a:rPr lang="en-US" sz="2100" b="1" dirty="0">
                <a:solidFill>
                  <a:srgbClr val="212121"/>
                </a:solidFill>
                <a:latin typeface="Arial" pitchFamily="34" charset="0"/>
                <a:ea typeface="Arial" pitchFamily="34" charset="-122"/>
                <a:cs typeface="Arial" pitchFamily="34" charset="-120"/>
              </a:rPr>
              <a:t>postCreateCommand</a:t>
            </a:r>
            <a:endParaRPr lang="en-US" sz="2100" dirty="0"/>
          </a:p>
          <a:p>
            <a:pPr marL="762000" lvl="1" indent="-381000">
              <a:spcAft>
                <a:spcPts val="2000"/>
              </a:spcAft>
              <a:buSzPct val="100000"/>
              <a:buChar char="•"/>
            </a:pPr>
            <a:r>
              <a:rPr lang="en-US" sz="2100" dirty="0">
                <a:solidFill>
                  <a:srgbClr val="212121"/>
                </a:solidFill>
                <a:latin typeface="Arial" pitchFamily="34" charset="0"/>
                <a:ea typeface="Arial" pitchFamily="34" charset="-122"/>
                <a:cs typeface="Arial" pitchFamily="34" charset="-120"/>
              </a:rPr>
              <a:t>un comando que se ejecuta una única vez, justo tras crear el contenedor — típico para instalar dependencias.</a:t>
            </a:r>
            <a:endParaRPr lang="en-US" sz="2100" dirty="0"/>
          </a:p>
          <a:p>
            <a:pPr marL="0" indent="0">
              <a:spcAft>
                <a:spcPts val="600"/>
              </a:spcAft>
              <a:buNone/>
            </a:pPr>
            <a:r>
              <a:rPr lang="en-US" sz="2100" b="1" dirty="0">
                <a:solidFill>
                  <a:srgbClr val="212121"/>
                </a:solidFill>
                <a:latin typeface="Arial" pitchFamily="34" charset="0"/>
                <a:ea typeface="Arial" pitchFamily="34" charset="-122"/>
                <a:cs typeface="Arial" pitchFamily="34" charset="-120"/>
              </a:rPr>
              <a:t>customizations.vscode.extensions</a:t>
            </a:r>
            <a:endParaRPr lang="en-US" sz="2100" dirty="0"/>
          </a:p>
          <a:p>
            <a:pPr marL="762000" lvl="1" indent="-381000">
              <a:spcAft>
                <a:spcPts val="800"/>
              </a:spcAft>
              <a:buSzPct val="100000"/>
              <a:buChar char="•"/>
            </a:pPr>
            <a:r>
              <a:rPr lang="en-US" sz="2100" dirty="0">
                <a:solidFill>
                  <a:srgbClr val="212121"/>
                </a:solidFill>
                <a:latin typeface="Arial" pitchFamily="34" charset="0"/>
                <a:ea typeface="Arial" pitchFamily="34" charset="-122"/>
                <a:cs typeface="Arial" pitchFamily="34" charset="-120"/>
              </a:rPr>
              <a:t>instala solas, dentro del contenedor, las extensiones que necesitas.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También puede apoyarse en Docker Compose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Shape 3"/>
          <p:cNvSpPr/>
          <p:nvPr/>
        </p:nvSpPr>
        <p:spPr>
          <a:xfrm>
            <a:off x="548640" y="1765352"/>
            <a:ext cx="11091672" cy="164592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856792"/>
            <a:ext cx="10543032" cy="1463040"/>
          </a:xfrm>
          <a:prstGeom prst="rect">
            <a:avLst/>
          </a:prstGeom>
          <a:noFill/>
          <a:ln/>
        </p:spPr>
        <p:txBody>
          <a:bodyPr wrap="square" rtlCol="0" anchor="ctr"/>
          <a:lstStyle/>
          <a:p>
            <a:pPr marL="0" indent="0">
              <a:buNone/>
            </a:pPr>
            <a:r>
              <a:rPr lang="en-US" sz="2400" dirty="0">
                <a:solidFill>
                  <a:srgbClr val="212121"/>
                </a:solidFill>
                <a:latin typeface="Arial" pitchFamily="34" charset="0"/>
                <a:ea typeface="Arial" pitchFamily="34" charset="-122"/>
                <a:cs typeface="Arial" pitchFamily="34" charset="-120"/>
              </a:rPr>
              <a:t>En vez de image, un devcontainer.json puede usar dockerComposeFile y service para decir "mi entorno de desarrollo es este servicio concreto de este docker-compose.yml".</a:t>
            </a:r>
            <a:endParaRPr lang="en-US" sz="2400" dirty="0"/>
          </a:p>
        </p:txBody>
      </p:sp>
      <p:sp>
        <p:nvSpPr>
          <p:cNvPr id="7" name="Text 5"/>
          <p:cNvSpPr/>
          <p:nvPr/>
        </p:nvSpPr>
        <p:spPr>
          <a:xfrm>
            <a:off x="548640" y="3914192"/>
            <a:ext cx="11091672" cy="1737360"/>
          </a:xfrm>
          <a:prstGeom prst="rect">
            <a:avLst/>
          </a:prstGeom>
          <a:noFill/>
          <a:ln/>
        </p:spPr>
        <p:txBody>
          <a:bodyPr wrap="square" rtlCol="0" anchor="t"/>
          <a:lstStyle/>
          <a:p>
            <a:pPr marL="0" indent="0">
              <a:buNone/>
            </a:pPr>
            <a:r>
              <a:rPr lang="en-US" sz="2300" dirty="0">
                <a:solidFill>
                  <a:srgbClr val="212121"/>
                </a:solidFill>
                <a:latin typeface="Arial" pitchFamily="34" charset="0"/>
                <a:ea typeface="Arial" pitchFamily="34" charset="-122"/>
                <a:cs typeface="Arial" pitchFamily="34" charset="-120"/>
              </a:rPr>
              <a:t>Así, el mismo fichero de Compose que levanta tu base de datos puede levantar, en otro de sus servicios, el contenedor donde vive tu editor: los dos usos de Docker conviven en el mismo fichero.</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relación con Docker, en una frase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548640" y="1233507"/>
            <a:ext cx="11091672" cy="128016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Dev Containers no sustituye a Docker: se apoya en él. Docker crea y ejecuta el contenedor; Dev Containers le dice a tu editor cómo conectarse y usarlo como tu ordenador de toda la vida.</a:t>
            </a:r>
            <a:endParaRPr lang="en-US" sz="2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3364992"/>
        </p:xfrm>
        <a:graphic>
          <a:graphicData uri="http://schemas.openxmlformats.org/drawingml/2006/table">
            <a:tbl>
              <a:tblPr/>
              <a:tblGrid>
                <a:gridCol w="2218334">
                  <a:extLst>
                    <a:ext uri="{9D8B030D-6E8A-4147-A177-3AD203B41FA5}">
                      <a16:colId xmlns:a16="http://schemas.microsoft.com/office/drawing/2014/main" val="20000"/>
                    </a:ext>
                  </a:extLst>
                </a:gridCol>
                <a:gridCol w="4436669">
                  <a:extLst>
                    <a:ext uri="{9D8B030D-6E8A-4147-A177-3AD203B41FA5}">
                      <a16:colId xmlns:a16="http://schemas.microsoft.com/office/drawing/2014/main" val="20001"/>
                    </a:ext>
                  </a:extLst>
                </a:gridCol>
                <a:gridCol w="4436669">
                  <a:extLst>
                    <a:ext uri="{9D8B030D-6E8A-4147-A177-3AD203B41FA5}">
                      <a16:colId xmlns:a16="http://schemas.microsoft.com/office/drawing/2014/main" val="20002"/>
                    </a:ext>
                  </a:extLst>
                </a:gridCol>
              </a:tblGrid>
              <a:tr h="841248">
                <a:tc>
                  <a:txBody>
                    <a:bodyPr/>
                    <a:lstStyle/>
                    <a:p>
                      <a:pPr marL="0" indent="0" algn="ctr">
                        <a:buNone/>
                      </a:pP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Contenedor de servicio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Dev Container</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841248">
                <a:tc>
                  <a:txBody>
                    <a:bodyPr/>
                    <a:lstStyle/>
                    <a:p>
                      <a:pPr marL="0" indent="0">
                        <a:buNone/>
                      </a:pPr>
                      <a:r>
                        <a:rPr lang="en-US" sz="1600" b="1" dirty="0">
                          <a:solidFill>
                            <a:srgbClr val="212121"/>
                          </a:solidFill>
                          <a:latin typeface="Arial" pitchFamily="34" charset="0"/>
                          <a:ea typeface="Arial" pitchFamily="34" charset="-122"/>
                          <a:cs typeface="Arial" pitchFamily="34" charset="-120"/>
                        </a:rPr>
                        <a:t>¿Qué hace?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Ejecuta un programa al que tu código se conecta desde fuera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Aloja tu propio entorno de programación</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buNone/>
                      </a:pPr>
                      <a:r>
                        <a:rPr lang="en-US" sz="1600" b="1" dirty="0">
                          <a:solidFill>
                            <a:srgbClr val="212121"/>
                          </a:solidFill>
                          <a:latin typeface="Arial" pitchFamily="34" charset="0"/>
                          <a:ea typeface="Arial" pitchFamily="34" charset="-122"/>
                          <a:cs typeface="Arial" pitchFamily="34" charset="-120"/>
                        </a:rPr>
                        <a:t>¿Quién se conecta?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Tu aplicación, por red y puerto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Tu editor, directamente desde dentro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41248">
                <a:tc>
                  <a:txBody>
                    <a:bodyPr/>
                    <a:lstStyle/>
                    <a:p>
                      <a:pPr marL="0" indent="0">
                        <a:buNone/>
                      </a:pPr>
                      <a:r>
                        <a:rPr lang="en-US" sz="1600" b="1" dirty="0">
                          <a:solidFill>
                            <a:srgbClr val="212121"/>
                          </a:solidFill>
                          <a:latin typeface="Arial" pitchFamily="34" charset="0"/>
                          <a:ea typeface="Arial" pitchFamily="34" charset="-122"/>
                          <a:cs typeface="Arial" pitchFamily="34" charset="-120"/>
                        </a:rPr>
                        <a:t>Ejemplo de imagen</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postgres:18-alpine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mcr.microsoft.com/devcontainers/base:debian-12</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Dev Containers</a:t>
            </a:r>
            <a:endParaRPr lang="en-US" sz="1100" dirty="0"/>
          </a:p>
        </p:txBody>
      </p:sp>
      <p:sp>
        <p:nvSpPr>
          <p:cNvPr id="5" name="Text 3"/>
          <p:cNvSpPr/>
          <p:nvPr/>
        </p:nvSpPr>
        <p:spPr>
          <a:xfrm>
            <a:off x="548640" y="1675778"/>
            <a:ext cx="11091672" cy="4572000"/>
          </a:xfrm>
          <a:prstGeom prst="rect">
            <a:avLst/>
          </a:prstGeom>
          <a:noFill/>
          <a:ln/>
        </p:spPr>
        <p:txBody>
          <a:bodyPr wrap="square" rtlCol="0" anchor="t"/>
          <a:lstStyle/>
          <a:p>
            <a:pPr marL="190500" indent="-190500">
              <a:spcAft>
                <a:spcPts val="2400"/>
              </a:spcAft>
              <a:buSzPct val="100000"/>
              <a:buChar char="•"/>
            </a:pPr>
            <a:r>
              <a:rPr lang="en-US" sz="2300" dirty="0">
                <a:solidFill>
                  <a:srgbClr val="212121"/>
                </a:solidFill>
                <a:latin typeface="Arial" pitchFamily="34" charset="0"/>
                <a:ea typeface="Arial" pitchFamily="34" charset="-122"/>
                <a:cs typeface="Arial" pitchFamily="34" charset="-120"/>
              </a:rPr>
              <a:t>Un Dev Container usa Docker para alojar tu propio entorno de programación, no un servicio.</a:t>
            </a:r>
            <a:endParaRPr lang="en-US" sz="2300" dirty="0"/>
          </a:p>
          <a:p>
            <a:pPr marL="190500" indent="-190500">
              <a:spcAft>
                <a:spcPts val="2400"/>
              </a:spcAft>
              <a:buSzPct val="100000"/>
              <a:buChar char="•"/>
            </a:pPr>
            <a:r>
              <a:rPr lang="en-US" sz="2300" dirty="0">
                <a:solidFill>
                  <a:srgbClr val="212121"/>
                </a:solidFill>
                <a:latin typeface="Arial" pitchFamily="34" charset="0"/>
                <a:ea typeface="Arial" pitchFamily="34" charset="-122"/>
                <a:cs typeface="Arial" pitchFamily="34" charset="-120"/>
              </a:rPr>
              <a:t>Tu editor se conecta directamente dentro, guiado por un fichero .devcontainer/devcontainer.json.</a:t>
            </a:r>
            <a:endParaRPr lang="en-US" sz="2300" dirty="0"/>
          </a:p>
          <a:p>
            <a:pPr marL="190500" indent="-190500">
              <a:spcAft>
                <a:spcPts val="2400"/>
              </a:spcAft>
              <a:buSzPct val="100000"/>
              <a:buChar char="•"/>
            </a:pPr>
            <a:r>
              <a:rPr lang="en-US" sz="2300" dirty="0">
                <a:solidFill>
                  <a:srgbClr val="212121"/>
                </a:solidFill>
                <a:latin typeface="Arial" pitchFamily="34" charset="0"/>
                <a:ea typeface="Arial" pitchFamily="34" charset="-122"/>
                <a:cs typeface="Arial" pitchFamily="34" charset="-120"/>
              </a:rPr>
              <a:t>La ventana del editor no cambia de aspecto: lo que cambia es dónde corren de verdad la terminal, el depurador y el autocompletado.</a:t>
            </a:r>
            <a:endParaRPr lang="en-US" sz="2300" dirty="0"/>
          </a:p>
          <a:p>
            <a:pPr marL="190500" indent="-190500">
              <a:spcAft>
                <a:spcPts val="2400"/>
              </a:spcAft>
              <a:buSzPct val="100000"/>
              <a:buChar char="•"/>
            </a:pPr>
            <a:r>
              <a:rPr lang="en-US" sz="2300" dirty="0">
                <a:solidFill>
                  <a:srgbClr val="212121"/>
                </a:solidFill>
                <a:latin typeface="Arial" pitchFamily="34" charset="0"/>
                <a:ea typeface="Arial" pitchFamily="34" charset="-122"/>
                <a:cs typeface="Arial" pitchFamily="34" charset="-120"/>
              </a:rPr>
              <a:t>El devcontainer.json puede construir el entorno a partir de una image suelta, o de un servicio dentro de un docker-compose.yml ya existente.</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913</Words>
  <Application>Microsoft Office PowerPoint</Application>
  <PresentationFormat>Panorámica</PresentationFormat>
  <Paragraphs>93</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Acceso a Datos</dc:creator>
  <cp:lastModifiedBy>VENTURA EDO, AITOR</cp:lastModifiedBy>
  <cp:revision>2</cp:revision>
  <dcterms:created xsi:type="dcterms:W3CDTF">2026-07-08T18:01:47Z</dcterms:created>
  <dcterms:modified xsi:type="dcterms:W3CDTF">2026-07-08T18:07:18Z</dcterms:modified>
</cp:coreProperties>
</file>