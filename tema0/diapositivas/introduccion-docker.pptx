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1" r:id="rId11"/>
    <p:sldId id="272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132" y="3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2490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0A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 —  TEMA 0: INTRODUCCIÓN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1672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Introducción a Docker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0" y="5120640"/>
            <a:ext cx="12188952" cy="914400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Contenedores, imágenes, volúmenes y Docker Compose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qué Docker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110916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Durante el curso vas a usar varios motores de bases de datos y herramientas con su propio servidor. Instalarlo todo en tu ordenador, con las versiones correctas y sin que choquen, es un dolor de cabeza. Docker resuelve exactamente eso.</a:t>
            </a:r>
            <a:endParaRPr lang="en-US" sz="1900" dirty="0"/>
          </a:p>
        </p:txBody>
      </p:sp>
      <p:pic>
        <p:nvPicPr>
          <p:cNvPr id="6" name="Image 0" descr="C:/Users/Aitor/Documents/apuntes-profe/acceso-a-datos/docs/tema0/img/docker/docker_problema_entorn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29" y="2057400"/>
            <a:ext cx="7631693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es Docker?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137160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1054303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ejecuta aplicaciones dentro de contenedores: entornos aislados y ligeros con todo lo que la aplicación necesita (código, dependencias, configuración), sin tocar el sistema operativo de tu máquina.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3544824" cy="16916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277977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2743200"/>
            <a:ext cx="2950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Aislado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3273552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servicio vive en su propio contenedor y no se mezcla con los demás.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4322064" y="2651760"/>
            <a:ext cx="3544824" cy="16916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4550664" y="277977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4733544" y="2743200"/>
            <a:ext cx="2950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Ligero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4596384" y="3273552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Comparte el kernel del sistema: arranca en segundos y pesa poco.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8095488" y="2651760"/>
            <a:ext cx="3544824" cy="16916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8324088" y="277977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/>
          <p:nvPr/>
        </p:nvSpPr>
        <p:spPr>
          <a:xfrm>
            <a:off x="8506968" y="2743200"/>
            <a:ext cx="2950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Igual en todas partes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369808" y="3273552"/>
            <a:ext cx="299618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Windows, macOS o Linux: dentro del contenedor el entorno es el mismo.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4572000"/>
            <a:ext cx="11091672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Metáfora: una caja estanca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48640" y="5166360"/>
            <a:ext cx="1109167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contenedor es una caja sellada que lleva dentro exactamente lo que necesita para funcionar. Da igual qué versión de Python o de PostgreSQL tengas instalada fuera.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vs. máquina virtual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ocker/docker_vm_vs_contened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8629" y="960120"/>
            <a:ext cx="7631693" cy="42976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394960"/>
            <a:ext cx="11091672" cy="96012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48640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no sustituye a tu sistema operativo ni monta una máquina virtual por debajo: lo que sustituye es la costumbre de instalar el programa directamente en tu máquina.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 y contenedor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5408676" cy="178308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77240" y="108813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960120" y="105156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1581912"/>
            <a:ext cx="48600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Paquete de solo lectura con todo lo necesario para arrancar un programa. Es inmutable. postgres:18-alpine = PostgreSQL 18 sobre Linux minimalista.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31636" y="960120"/>
            <a:ext cx="5408676" cy="178308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460236" y="108813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643116" y="105156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Contenedor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505956" y="1581912"/>
            <a:ext cx="486003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imagen puesta en marcha: proceso aislado, con su propio sistema de archivos y su propia red. De una imagen puedes arrancar varios.</a:t>
            </a:r>
            <a:endParaRPr lang="en-US" sz="1700" dirty="0"/>
          </a:p>
        </p:txBody>
      </p:sp>
      <p:pic>
        <p:nvPicPr>
          <p:cNvPr id="13" name="Image 0" descr="C:/Users/Aitor/Documents/apuntes-profe/acceso-a-datos/docs/tema0/img/docker/docker_imagen_vs_contenedor.png"/>
          <p:cNvPicPr>
            <a:picLocks noChangeAspect="1"/>
          </p:cNvPicPr>
          <p:nvPr/>
        </p:nvPicPr>
        <p:blipFill>
          <a:blip r:embed="rId3"/>
          <a:srcRect t="9233" b="9853"/>
          <a:stretch>
            <a:fillRect/>
          </a:stretch>
        </p:blipFill>
        <p:spPr>
          <a:xfrm>
            <a:off x="2124584" y="2926080"/>
            <a:ext cx="7665464" cy="349279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cinco conceptos, de un vistazo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ocker/docker_cinco_conceptos.png"/>
          <p:cNvPicPr>
            <a:picLocks noChangeAspect="1"/>
          </p:cNvPicPr>
          <p:nvPr/>
        </p:nvPicPr>
        <p:blipFill>
          <a:blip r:embed="rId3"/>
          <a:srcRect t="3572" b="18667"/>
          <a:stretch>
            <a:fillRect/>
          </a:stretch>
        </p:blipFill>
        <p:spPr>
          <a:xfrm>
            <a:off x="709625" y="1240971"/>
            <a:ext cx="10781499" cy="47212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clave: Volumen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volumen es un espacio de almacenamiento que Docker gestiona por fuera del contenedor: sobrevive aunque el contenedor se borre y se vuelva a crear.</a:t>
            </a:r>
            <a:endParaRPr lang="en-US" sz="2000" dirty="0"/>
          </a:p>
        </p:txBody>
      </p:sp>
      <p:pic>
        <p:nvPicPr>
          <p:cNvPr id="6" name="Image 0" descr="C:/Users/Aitor/Documents/apuntes-profe/acceso-a-datos/docs/tema0/img/docker/docker_volumen_persist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1028" y="1688432"/>
            <a:ext cx="8286896" cy="46666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y puerto mapeado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1091672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31520" y="9601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Registry: de dónde salen las imágenes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servidor donde se publican y descargan imágenes, parecido a una tienda de aplicaciones. Docker Hub es el registry público más usado (postgres, mongo, redis...).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11091672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Puerto mapeado: cómo entrar en algo aislado</a:t>
            </a:r>
            <a:endParaRPr lang="en-US" sz="1900" dirty="0"/>
          </a:p>
        </p:txBody>
      </p:sp>
      <p:pic>
        <p:nvPicPr>
          <p:cNvPr id="10" name="Image 0" descr="C:/Users/Aitor/Documents/apuntes-profe/acceso-a-datos/docs/tema0/img/docker/docker_puerto_mapeado.png"/>
          <p:cNvPicPr>
            <a:picLocks noChangeAspect="1"/>
          </p:cNvPicPr>
          <p:nvPr/>
        </p:nvPicPr>
        <p:blipFill>
          <a:blip r:embed="rId3"/>
          <a:srcRect t="10339" b="10591"/>
          <a:stretch>
            <a:fillRect/>
          </a:stretch>
        </p:blipFill>
        <p:spPr>
          <a:xfrm>
            <a:off x="1203910" y="3362192"/>
            <a:ext cx="7645504" cy="34043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Conceptos clave: resumen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5212080"/>
        </p:xfrm>
        <a:graphic>
          <a:graphicData uri="http://schemas.openxmlformats.org/drawingml/2006/table">
            <a:tbl>
              <a:tblPr/>
              <a:tblGrid>
                <a:gridCol w="31056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6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68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Concepto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 una frase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Imagen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Plantilla inmutable de la que se crean contenedores.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Contenedor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Una imagen puesta en marcha; puede haber varios a la vez.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Registry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Servidor donde se publican y descargan imágenes (Docker Hub).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Volumen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Almacenamiento fuera del contenedor que sobrevive a su borrado.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Puerto mapeado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9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Puerta entre un puerto de tu máquina y uno del contenedor.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¿De dónde sale una imagen propia?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100" b="0">
                <a:solidFill>
                  <a:srgbClr val="757575"/>
                </a:solidFill>
                <a:latin typeface="Arial"/>
              </a:rPr>
              <a:t>Acceso a Datos — Introducción a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65864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900" b="0" dirty="0" err="1">
                <a:solidFill>
                  <a:srgbClr val="212121"/>
                </a:solidFill>
                <a:latin typeface="Arial"/>
              </a:rPr>
              <a:t>Además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de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descargar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imágenes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de un registry, Docker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puede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construir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una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imagen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propia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a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partir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de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nuestros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ficheros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y de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una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receta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llamada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900" b="0" dirty="0" err="1">
                <a:solidFill>
                  <a:srgbClr val="212121"/>
                </a:solidFill>
                <a:latin typeface="Arial"/>
              </a:rPr>
              <a:t>Dockerfile</a:t>
            </a:r>
            <a:r>
              <a:rPr sz="1900" b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8"/>
            <a:ext cx="1920240" cy="1682497"/>
          </a:xfrm>
          <a:prstGeom prst="roundRect">
            <a:avLst/>
          </a:prstGeom>
          <a:solidFill>
            <a:srgbClr val="FBE9E7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612648" y="2020824"/>
            <a:ext cx="475488" cy="475488"/>
          </a:xfrm>
          <a:prstGeom prst="ellipse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12648" y="2020824"/>
            <a:ext cx="47548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1" y="1984248"/>
            <a:ext cx="1133855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 err="1">
                <a:solidFill>
                  <a:srgbClr val="7F0000"/>
                </a:solidFill>
                <a:latin typeface="Arial"/>
              </a:rPr>
              <a:t>Ficheros</a:t>
            </a:r>
            <a:r>
              <a:rPr sz="1400" b="1" dirty="0">
                <a:solidFill>
                  <a:srgbClr val="7F0000"/>
                </a:solidFill>
                <a:latin typeface="Arial"/>
              </a:rPr>
              <a:t> del </a:t>
            </a:r>
            <a:r>
              <a:rPr sz="1400" b="1" dirty="0" err="1">
                <a:solidFill>
                  <a:srgbClr val="7F0000"/>
                </a:solidFill>
                <a:latin typeface="Arial"/>
              </a:rPr>
              <a:t>proyecto</a:t>
            </a:r>
            <a:endParaRPr sz="1400" b="1" dirty="0">
              <a:solidFill>
                <a:srgbClr val="7F0000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5800" y="2596896"/>
            <a:ext cx="1554480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 dirty="0">
                <a:solidFill>
                  <a:srgbClr val="212121"/>
                </a:solidFill>
                <a:latin typeface="Arial"/>
              </a:rPr>
              <a:t>Código, </a:t>
            </a:r>
            <a:r>
              <a:rPr sz="1300" b="0" dirty="0" err="1">
                <a:solidFill>
                  <a:srgbClr val="212121"/>
                </a:solidFill>
                <a:latin typeface="Arial"/>
              </a:rPr>
              <a:t>artefactos</a:t>
            </a:r>
            <a:r>
              <a:rPr sz="1300" b="0" dirty="0">
                <a:solidFill>
                  <a:srgbClr val="212121"/>
                </a:solidFill>
                <a:latin typeface="Arial"/>
              </a:rPr>
              <a:t> y </a:t>
            </a:r>
            <a:r>
              <a:rPr sz="1300" b="0" dirty="0" err="1">
                <a:solidFill>
                  <a:srgbClr val="212121"/>
                </a:solidFill>
                <a:latin typeface="Arial"/>
              </a:rPr>
              <a:t>otros</a:t>
            </a:r>
            <a:r>
              <a:rPr sz="13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12121"/>
                </a:solidFill>
                <a:latin typeface="Arial"/>
              </a:rPr>
              <a:t>ficheros</a:t>
            </a:r>
            <a:r>
              <a:rPr sz="13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12121"/>
                </a:solidFill>
                <a:latin typeface="Arial"/>
              </a:rPr>
              <a:t>que</a:t>
            </a:r>
            <a:r>
              <a:rPr sz="13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300" b="0" dirty="0" err="1">
                <a:solidFill>
                  <a:srgbClr val="212121"/>
                </a:solidFill>
                <a:latin typeface="Arial"/>
              </a:rPr>
              <a:t>necesita</a:t>
            </a:r>
            <a:r>
              <a:rPr sz="1300" b="0" dirty="0">
                <a:solidFill>
                  <a:srgbClr val="212121"/>
                </a:solidFill>
                <a:latin typeface="Arial"/>
              </a:rPr>
              <a:t> la </a:t>
            </a:r>
            <a:r>
              <a:rPr sz="1300" b="0" dirty="0" err="1">
                <a:solidFill>
                  <a:srgbClr val="212121"/>
                </a:solidFill>
                <a:latin typeface="Arial"/>
              </a:rPr>
              <a:t>aplicación</a:t>
            </a:r>
            <a:r>
              <a:rPr sz="1300" b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1874518"/>
            <a:ext cx="1920240" cy="1682497"/>
          </a:xfrm>
          <a:prstGeom prst="roundRect">
            <a:avLst/>
          </a:prstGeom>
          <a:solidFill>
            <a:srgbClr val="FBE9E7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2852928" y="2020824"/>
            <a:ext cx="475488" cy="475488"/>
          </a:xfrm>
          <a:prstGeom prst="ellipse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2928" y="2020824"/>
            <a:ext cx="47548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1" y="1984248"/>
            <a:ext cx="1133855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>
                <a:solidFill>
                  <a:srgbClr val="7F0000"/>
                </a:solidFill>
                <a:latin typeface="Arial"/>
              </a:rPr>
              <a:t>Dockerfile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596896"/>
            <a:ext cx="155448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Describe los pasos necesarios para construir la imagen.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1874518"/>
            <a:ext cx="1920240" cy="1682497"/>
          </a:xfrm>
          <a:prstGeom prst="roundRect">
            <a:avLst/>
          </a:prstGeom>
          <a:solidFill>
            <a:srgbClr val="FBE9E7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5093208" y="2020824"/>
            <a:ext cx="475488" cy="475488"/>
          </a:xfrm>
          <a:prstGeom prst="ellipse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93208" y="2020824"/>
            <a:ext cx="47548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6711" y="1984248"/>
            <a:ext cx="1133855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rgbClr val="7F0000"/>
                </a:solidFill>
                <a:latin typeface="Arial"/>
              </a:rPr>
              <a:t>docker build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2596896"/>
            <a:ext cx="155448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Lee el Dockerfile y crea una imagen reproducible.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23760" y="1874518"/>
            <a:ext cx="1920240" cy="1682497"/>
          </a:xfrm>
          <a:prstGeom prst="roundRect">
            <a:avLst/>
          </a:prstGeom>
          <a:solidFill>
            <a:srgbClr val="FFF3E0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333488" y="2020824"/>
            <a:ext cx="475488" cy="475488"/>
          </a:xfrm>
          <a:prstGeom prst="ellipse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33488" y="2020824"/>
            <a:ext cx="47548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6991" y="1984248"/>
            <a:ext cx="1133855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rgbClr val="7F0000"/>
                </a:solidFill>
                <a:latin typeface="Arial"/>
              </a:rPr>
              <a:t>Imagen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2596896"/>
            <a:ext cx="1554480" cy="8740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Plantilla inmutable que ya puede distribuirse o guardarse.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64040" y="1874518"/>
            <a:ext cx="2148840" cy="1682497"/>
          </a:xfrm>
          <a:prstGeom prst="roundRect">
            <a:avLst/>
          </a:prstGeom>
          <a:solidFill>
            <a:srgbClr val="FBE9E7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573767" y="2020824"/>
            <a:ext cx="475488" cy="475488"/>
          </a:xfrm>
          <a:prstGeom prst="ellipse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73767" y="2020824"/>
            <a:ext cx="475488" cy="47548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77272" y="1984248"/>
            <a:ext cx="1376132" cy="50475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rgbClr val="7F0000"/>
                </a:solidFill>
                <a:latin typeface="Arial"/>
              </a:rPr>
              <a:t>docker run → </a:t>
            </a:r>
            <a:r>
              <a:rPr sz="1400" b="1" dirty="0" err="1">
                <a:solidFill>
                  <a:srgbClr val="7F0000"/>
                </a:solidFill>
                <a:latin typeface="Arial"/>
              </a:rPr>
              <a:t>contenedor</a:t>
            </a:r>
            <a:endParaRPr sz="1400" b="1" dirty="0">
              <a:solidFill>
                <a:srgbClr val="7F0000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9646919" y="2596896"/>
            <a:ext cx="1783080" cy="674031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Arial"/>
              </a:rPr>
              <a:t>Crea y arranca una instancia de esa imagen.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441448" y="2587752"/>
            <a:ext cx="256032" cy="0"/>
          </a:xfrm>
          <a:prstGeom prst="line">
            <a:avLst/>
          </a:prstGeom>
          <a:ln w="31750">
            <a:solidFill>
              <a:srgbClr val="E64A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hevron 31"/>
          <p:cNvSpPr/>
          <p:nvPr/>
        </p:nvSpPr>
        <p:spPr>
          <a:xfrm>
            <a:off x="2551176" y="2459736"/>
            <a:ext cx="228600" cy="256032"/>
          </a:xfrm>
          <a:prstGeom prst="chevron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" name="Connector 32"/>
          <p:cNvCxnSpPr/>
          <p:nvPr/>
        </p:nvCxnSpPr>
        <p:spPr>
          <a:xfrm>
            <a:off x="4681727" y="2587752"/>
            <a:ext cx="256033" cy="0"/>
          </a:xfrm>
          <a:prstGeom prst="line">
            <a:avLst/>
          </a:prstGeom>
          <a:ln w="31750">
            <a:solidFill>
              <a:srgbClr val="E64A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hevron 33"/>
          <p:cNvSpPr/>
          <p:nvPr/>
        </p:nvSpPr>
        <p:spPr>
          <a:xfrm>
            <a:off x="4791456" y="2459736"/>
            <a:ext cx="228600" cy="256032"/>
          </a:xfrm>
          <a:prstGeom prst="chevron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" name="Connector 34"/>
          <p:cNvCxnSpPr/>
          <p:nvPr/>
        </p:nvCxnSpPr>
        <p:spPr>
          <a:xfrm>
            <a:off x="6922008" y="2587752"/>
            <a:ext cx="256032" cy="0"/>
          </a:xfrm>
          <a:prstGeom prst="line">
            <a:avLst/>
          </a:prstGeom>
          <a:ln w="31750">
            <a:solidFill>
              <a:srgbClr val="E64A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hevron 35"/>
          <p:cNvSpPr/>
          <p:nvPr/>
        </p:nvSpPr>
        <p:spPr>
          <a:xfrm>
            <a:off x="7031736" y="2459736"/>
            <a:ext cx="228600" cy="256032"/>
          </a:xfrm>
          <a:prstGeom prst="chevron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9162288" y="2587752"/>
            <a:ext cx="256031" cy="0"/>
          </a:xfrm>
          <a:prstGeom prst="line">
            <a:avLst/>
          </a:prstGeom>
          <a:ln w="31750">
            <a:solidFill>
              <a:srgbClr val="E64A1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Chevron 37"/>
          <p:cNvSpPr/>
          <p:nvPr/>
        </p:nvSpPr>
        <p:spPr>
          <a:xfrm>
            <a:off x="9272015" y="2459736"/>
            <a:ext cx="228600" cy="256032"/>
          </a:xfrm>
          <a:prstGeom prst="chevron">
            <a:avLst/>
          </a:prstGeom>
          <a:solidFill>
            <a:srgbClr val="E64A19"/>
          </a:solidFill>
          <a:ln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731520" y="3840480"/>
            <a:ext cx="5120640" cy="1463040"/>
          </a:xfrm>
          <a:prstGeom prst="roundRect">
            <a:avLst/>
          </a:prstGeom>
          <a:solidFill>
            <a:srgbClr val="FBEAEA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60120" y="4005072"/>
            <a:ext cx="4663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 dirty="0" err="1">
                <a:solidFill>
                  <a:srgbClr val="C62828"/>
                </a:solidFill>
                <a:latin typeface="Arial"/>
              </a:rPr>
              <a:t>Construir</a:t>
            </a:r>
            <a:r>
              <a:rPr sz="1800" b="1" dirty="0">
                <a:solidFill>
                  <a:srgbClr val="C62828"/>
                </a:solidFill>
                <a:latin typeface="Arial"/>
              </a:rPr>
              <a:t> no es </a:t>
            </a:r>
            <a:r>
              <a:rPr sz="1800" b="1" dirty="0" err="1">
                <a:solidFill>
                  <a:srgbClr val="C62828"/>
                </a:solidFill>
                <a:latin typeface="Arial"/>
              </a:rPr>
              <a:t>ejecutar</a:t>
            </a:r>
            <a:endParaRPr sz="1800" b="1" dirty="0">
              <a:solidFill>
                <a:srgbClr val="C62828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0120" y="4580226"/>
            <a:ext cx="4892040" cy="50475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 dirty="0">
                <a:solidFill>
                  <a:srgbClr val="212121"/>
                </a:solidFill>
                <a:latin typeface="Consolas"/>
              </a:rPr>
              <a:t>docker build  →  </a:t>
            </a:r>
            <a:r>
              <a:rPr sz="1400" b="1" dirty="0" err="1">
                <a:solidFill>
                  <a:srgbClr val="212121"/>
                </a:solidFill>
                <a:latin typeface="Consolas"/>
              </a:rPr>
              <a:t>crea</a:t>
            </a:r>
            <a:r>
              <a:rPr sz="1400" b="1" dirty="0">
                <a:solidFill>
                  <a:srgbClr val="212121"/>
                </a:solidFill>
                <a:latin typeface="Consolas"/>
              </a:rPr>
              <a:t> </a:t>
            </a:r>
            <a:r>
              <a:rPr sz="1400" b="1" dirty="0" err="1">
                <a:solidFill>
                  <a:srgbClr val="212121"/>
                </a:solidFill>
                <a:latin typeface="Consolas"/>
              </a:rPr>
              <a:t>una</a:t>
            </a:r>
            <a:r>
              <a:rPr sz="1400" b="1" dirty="0">
                <a:solidFill>
                  <a:srgbClr val="212121"/>
                </a:solidFill>
                <a:latin typeface="Consolas"/>
              </a:rPr>
              <a:t> imagen
docker run    →  </a:t>
            </a:r>
            <a:r>
              <a:rPr sz="1400" b="1" dirty="0" err="1">
                <a:solidFill>
                  <a:srgbClr val="212121"/>
                </a:solidFill>
                <a:latin typeface="Consolas"/>
              </a:rPr>
              <a:t>crea</a:t>
            </a:r>
            <a:r>
              <a:rPr sz="1400" b="1" dirty="0">
                <a:solidFill>
                  <a:srgbClr val="212121"/>
                </a:solidFill>
                <a:latin typeface="Consolas"/>
              </a:rPr>
              <a:t> y </a:t>
            </a:r>
            <a:r>
              <a:rPr sz="1400" b="1" dirty="0" err="1">
                <a:solidFill>
                  <a:srgbClr val="212121"/>
                </a:solidFill>
                <a:latin typeface="Consolas"/>
              </a:rPr>
              <a:t>ejecuta</a:t>
            </a:r>
            <a:r>
              <a:rPr sz="1400" b="1" dirty="0">
                <a:solidFill>
                  <a:srgbClr val="212121"/>
                </a:solidFill>
                <a:latin typeface="Consolas"/>
              </a:rPr>
              <a:t> un </a:t>
            </a:r>
            <a:r>
              <a:rPr sz="1400" b="1" dirty="0" err="1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contenedor</a:t>
            </a:r>
            <a:endParaRPr sz="1400" b="1" dirty="0">
              <a:solidFill>
                <a:srgbClr val="21212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172200" y="3840480"/>
            <a:ext cx="5120640" cy="146304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400800" y="4005072"/>
            <a:ext cx="46634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Arial"/>
              </a:rPr>
              <a:t>El resultado es reproducible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4443984"/>
            <a:ext cx="4572000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 dirty="0">
                <a:solidFill>
                  <a:srgbClr val="212121"/>
                </a:solidFill>
                <a:latin typeface="Arial"/>
              </a:rPr>
              <a:t>Si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otra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 persona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tiene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los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mismos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ficheros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 y el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Dockerfile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,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puede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reconstruir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 la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misma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 imagen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siguiendo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 el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mismo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212121"/>
                </a:solidFill>
                <a:latin typeface="Arial"/>
              </a:rPr>
              <a:t>proceso</a:t>
            </a:r>
            <a:r>
              <a:rPr sz="1400" b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777240"/>
          </a:xfrm>
          <a:prstGeom prst="rect">
            <a:avLst/>
          </a:prstGeom>
          <a:solidFill>
            <a:srgbClr val="7F0000"/>
          </a:solidFill>
          <a:ln>
            <a:solidFill>
              <a:srgbClr val="7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Arial"/>
              </a:rPr>
              <a:t>Un Dockerfile mínimo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r"/>
            <a:r>
              <a:rPr sz="1100" b="0">
                <a:solidFill>
                  <a:srgbClr val="757575"/>
                </a:solidFill>
                <a:latin typeface="Arial"/>
              </a:rPr>
              <a:t>Acceso a Datos — Introducción a Docker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932688"/>
            <a:ext cx="11064240" cy="3508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b="0" dirty="0">
                <a:solidFill>
                  <a:srgbClr val="212121"/>
                </a:solidFill>
                <a:latin typeface="Arial"/>
              </a:rPr>
              <a:t>Un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Dockerfile</a:t>
            </a:r>
            <a:r>
              <a:rPr b="0" dirty="0">
                <a:solidFill>
                  <a:srgbClr val="212121"/>
                </a:solidFill>
                <a:latin typeface="Arial"/>
              </a:rPr>
              <a:t> es un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fichero</a:t>
            </a:r>
            <a:r>
              <a:rPr b="0" dirty="0">
                <a:solidFill>
                  <a:srgbClr val="212121"/>
                </a:solidFill>
                <a:latin typeface="Arial"/>
              </a:rPr>
              <a:t> de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texto</a:t>
            </a:r>
            <a:r>
              <a:rPr b="0" dirty="0">
                <a:solidFill>
                  <a:srgbClr val="212121"/>
                </a:solidFill>
                <a:latin typeface="Arial"/>
              </a:rPr>
              <a:t>. Cada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instrucción</a:t>
            </a:r>
            <a:r>
              <a:rPr b="0" dirty="0">
                <a:solidFill>
                  <a:srgbClr val="212121"/>
                </a:solidFill>
                <a:latin typeface="Arial"/>
              </a:rPr>
              <a:t> describe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una</a:t>
            </a:r>
            <a:r>
              <a:rPr b="0" dirty="0">
                <a:solidFill>
                  <a:srgbClr val="212121"/>
                </a:solidFill>
                <a:latin typeface="Arial"/>
              </a:rPr>
              <a:t>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decisión</a:t>
            </a:r>
            <a:r>
              <a:rPr b="0" dirty="0">
                <a:solidFill>
                  <a:srgbClr val="212121"/>
                </a:solidFill>
                <a:latin typeface="Arial"/>
              </a:rPr>
              <a:t> de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construcción</a:t>
            </a:r>
            <a:r>
              <a:rPr b="0" dirty="0">
                <a:solidFill>
                  <a:srgbClr val="212121"/>
                </a:solidFill>
                <a:latin typeface="Arial"/>
              </a:rPr>
              <a:t> o de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arranque</a:t>
            </a:r>
            <a:r>
              <a:rPr b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5486400" cy="4160520"/>
          </a:xfrm>
          <a:prstGeom prst="roundRect">
            <a:avLst/>
          </a:prstGeom>
          <a:solidFill>
            <a:srgbClr val="F6F6F6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2310833"/>
            <a:ext cx="5093208" cy="2428357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700" b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 eclipse-temurin:21-jre
WORKDIR /app
COPY app.jar app.jar
EXPOSE 8080
ENTRYPOINT ["java", "-jar", "app.jar"]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029200" cy="566928"/>
          </a:xfrm>
          <a:prstGeom prst="roundRect">
            <a:avLst/>
          </a:prstGeom>
          <a:solidFill>
            <a:srgbClr val="FBE9E7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37960" y="1629281"/>
            <a:ext cx="205740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 dirty="0">
                <a:solidFill>
                  <a:srgbClr val="C628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1629281"/>
            <a:ext cx="2901462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Arial"/>
              </a:rPr>
              <a:t>elige la imagen de partida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2167128"/>
            <a:ext cx="5029200" cy="566928"/>
          </a:xfrm>
          <a:prstGeom prst="roundRect">
            <a:avLst/>
          </a:prstGeom>
          <a:solidFill>
            <a:srgbClr val="FBE9E7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" name="TextBox 11"/>
          <p:cNvSpPr txBox="1"/>
          <p:nvPr/>
        </p:nvSpPr>
        <p:spPr>
          <a:xfrm>
            <a:off x="6537960" y="2287649"/>
            <a:ext cx="205740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 dirty="0">
                <a:solidFill>
                  <a:srgbClr val="C628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WORKDIR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287649"/>
            <a:ext cx="301752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Arial"/>
              </a:rPr>
              <a:t>fija el directorio de trabajo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25496"/>
            <a:ext cx="5029200" cy="566928"/>
          </a:xfrm>
          <a:prstGeom prst="roundRect">
            <a:avLst/>
          </a:prstGeom>
          <a:solidFill>
            <a:srgbClr val="FBE9E7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37960" y="2946017"/>
            <a:ext cx="205740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946017"/>
            <a:ext cx="2901462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Arial"/>
              </a:rPr>
              <a:t>incorpora ficheros del proyecto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483863"/>
            <a:ext cx="5029200" cy="566928"/>
          </a:xfrm>
          <a:prstGeom prst="roundRect">
            <a:avLst/>
          </a:prstGeom>
          <a:solidFill>
            <a:srgbClr val="FBE9E7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37960" y="3604384"/>
            <a:ext cx="205740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604384"/>
            <a:ext cx="301752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Arial"/>
              </a:rPr>
              <a:t>documenta el puerto esperado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169663"/>
            <a:ext cx="5029200" cy="566928"/>
          </a:xfrm>
          <a:prstGeom prst="roundRect">
            <a:avLst/>
          </a:prstGeom>
          <a:solidFill>
            <a:srgbClr val="FBE9E7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4262752"/>
            <a:ext cx="205740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1">
                <a:solidFill>
                  <a:srgbClr val="C628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ENTRYPOINT / CMD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262752"/>
            <a:ext cx="3017520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sz="1400" b="0">
                <a:solidFill>
                  <a:srgbClr val="212121"/>
                </a:solidFill>
                <a:latin typeface="Arial"/>
              </a:rPr>
              <a:t>indican qué proceso arrancará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55080" y="4864608"/>
            <a:ext cx="2829396" cy="914400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10527" y="4974336"/>
            <a:ext cx="2747975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 err="1">
                <a:solidFill>
                  <a:srgbClr val="C628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Construir</a:t>
            </a:r>
            <a:endParaRPr sz="1400" b="1" dirty="0">
              <a:solidFill>
                <a:srgbClr val="C6282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10527" y="5239512"/>
            <a:ext cx="2829396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dirty="0">
                <a:solidFill>
                  <a:srgbClr val="21212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 build -t mi-app:1.0 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30232" y="4855464"/>
            <a:ext cx="2054047" cy="914400"/>
          </a:xfrm>
          <a:prstGeom prst="roundRect">
            <a:avLst/>
          </a:prstGeom>
          <a:solidFill>
            <a:srgbClr val="FBEAEA"/>
          </a:solidFill>
          <a:ln w="1524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73580" y="4965192"/>
            <a:ext cx="2002139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400" b="1" dirty="0">
                <a:solidFill>
                  <a:srgbClr val="C628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sz="1400" b="1" dirty="0" err="1">
                <a:solidFill>
                  <a:srgbClr val="C628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dockerignore</a:t>
            </a:r>
            <a:endParaRPr sz="1400" b="1" dirty="0">
              <a:solidFill>
                <a:srgbClr val="C62828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13076" y="5230368"/>
            <a:ext cx="1742603" cy="4431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200" b="0" dirty="0" err="1">
                <a:solidFill>
                  <a:srgbClr val="212121"/>
                </a:solidFill>
                <a:latin typeface="Arial"/>
              </a:rPr>
              <a:t>Excluye</a:t>
            </a:r>
            <a:r>
              <a:rPr sz="1200" b="0" dirty="0">
                <a:solidFill>
                  <a:srgbClr val="212121"/>
                </a:solidFill>
                <a:latin typeface="Arial"/>
              </a:rPr>
              <a:t> </a:t>
            </a:r>
            <a:r>
              <a:rPr sz="1200" b="0" dirty="0" err="1">
                <a:solidFill>
                  <a:srgbClr val="212121"/>
                </a:solidFill>
                <a:latin typeface="Arial"/>
              </a:rPr>
              <a:t>ficheros</a:t>
            </a:r>
            <a:r>
              <a:rPr sz="1200" b="0" dirty="0">
                <a:solidFill>
                  <a:srgbClr val="212121"/>
                </a:solidFill>
                <a:latin typeface="Arial"/>
              </a:rPr>
              <a:t> locales o </a:t>
            </a:r>
            <a:r>
              <a:rPr sz="1200" b="0" dirty="0" err="1">
                <a:solidFill>
                  <a:srgbClr val="212121"/>
                </a:solidFill>
                <a:latin typeface="Arial"/>
              </a:rPr>
              <a:t>sensibles</a:t>
            </a:r>
            <a:r>
              <a:rPr sz="1200" b="0" dirty="0">
                <a:solidFill>
                  <a:srgbClr val="212121"/>
                </a:solidFill>
                <a:latin typeface="Arial"/>
              </a:rPr>
              <a:t> del build.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897880"/>
            <a:ext cx="10561320" cy="438912"/>
          </a:xfrm>
          <a:prstGeom prst="roundRect">
            <a:avLst/>
          </a:prstGeom>
          <a:solidFill>
            <a:srgbClr val="FFF8E1"/>
          </a:solidFill>
          <a:ln w="1524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87552" y="5932760"/>
            <a:ext cx="10195560" cy="350865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algn="l"/>
            <a:r>
              <a:rPr b="0" dirty="0">
                <a:solidFill>
                  <a:srgbClr val="212121"/>
                </a:solidFill>
                <a:latin typeface="Arial"/>
              </a:rPr>
              <a:t>Para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ampliar</a:t>
            </a:r>
            <a:r>
              <a:rPr b="0" dirty="0">
                <a:solidFill>
                  <a:srgbClr val="212121"/>
                </a:solidFill>
                <a:latin typeface="Arial"/>
              </a:rPr>
              <a:t>: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caché</a:t>
            </a:r>
            <a:r>
              <a:rPr b="0" dirty="0">
                <a:solidFill>
                  <a:srgbClr val="212121"/>
                </a:solidFill>
                <a:latin typeface="Arial"/>
              </a:rPr>
              <a:t> de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construcción</a:t>
            </a:r>
            <a:r>
              <a:rPr b="0" dirty="0">
                <a:solidFill>
                  <a:srgbClr val="212121"/>
                </a:solidFill>
                <a:latin typeface="Arial"/>
              </a:rPr>
              <a:t>, builds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multietapa</a:t>
            </a:r>
            <a:r>
              <a:rPr lang="es-ES" b="0" dirty="0">
                <a:solidFill>
                  <a:srgbClr val="212121"/>
                </a:solidFill>
                <a:latin typeface="Arial"/>
              </a:rPr>
              <a:t> </a:t>
            </a:r>
            <a:r>
              <a:rPr b="0" dirty="0">
                <a:solidFill>
                  <a:srgbClr val="212121"/>
                </a:solidFill>
                <a:latin typeface="Arial"/>
              </a:rPr>
              <a:t>y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usuarios</a:t>
            </a:r>
            <a:r>
              <a:rPr b="0" dirty="0">
                <a:solidFill>
                  <a:srgbClr val="212121"/>
                </a:solidFill>
                <a:latin typeface="Arial"/>
              </a:rPr>
              <a:t> sin </a:t>
            </a:r>
            <a:r>
              <a:rPr b="0" dirty="0" err="1">
                <a:solidFill>
                  <a:srgbClr val="212121"/>
                </a:solidFill>
                <a:latin typeface="Arial"/>
              </a:rPr>
              <a:t>privilegios</a:t>
            </a:r>
            <a:r>
              <a:rPr b="0" dirty="0">
                <a:solidFill>
                  <a:srgbClr val="212121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básicos de Docker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hace falta memorizarlos, pero conviene reconocerlos:</a:t>
            </a:r>
            <a:endParaRPr lang="en-US" sz="2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4608576"/>
        </p:xfrm>
        <a:graphic>
          <a:graphicData uri="http://schemas.openxmlformats.org/drawingml/2006/table">
            <a:tbl>
              <a:tblPr/>
              <a:tblGrid>
                <a:gridCol w="37711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205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60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pull &lt;imagen&gt;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Descarga una imagen desde un registry (Docker Hub por defecto).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images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las imágenes descargadas en tu máquina.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run &lt;imagen&gt;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y arranca un contenedor a partir de una imagen.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ps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los contenedores en ejecución (-a incluye los detenidos).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stop &lt;contenedor&gt;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Detiene un contenedor en ejecución sin borrarlo.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rm &lt;contenedor&gt;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 un contenedor detenido.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60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logs &lt;contenedor&gt;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Muestra la salida (logs) de un contenedor.</a:t>
                      </a:r>
                      <a:endParaRPr lang="en-US" sz="17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11091672" cy="12801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1054303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proyecto real casi nunca necesita un único contenedor. Docker Compose describe todos los servicios en un fichero docker-compose.yml y los crea, conecta y arranca juntos con un solo comando.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408676" cy="16916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Shape 6"/>
          <p:cNvSpPr/>
          <p:nvPr/>
        </p:nvSpPr>
        <p:spPr>
          <a:xfrm>
            <a:off x="777240" y="264261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7"/>
          <p:cNvSpPr/>
          <p:nvPr/>
        </p:nvSpPr>
        <p:spPr>
          <a:xfrm>
            <a:off x="960120" y="260604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 Compose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822960" y="3136392"/>
            <a:ext cx="48600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docker run por servicio, recordando puertos, variables de entorno y volúmenes de cada uno. No escala.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31636" y="2514600"/>
            <a:ext cx="5408676" cy="1691640"/>
          </a:xfrm>
          <a:prstGeom prst="roundRect">
            <a:avLst/>
          </a:prstGeom>
          <a:solidFill>
            <a:srgbClr val="FBEAEA"/>
          </a:solidFill>
          <a:ln w="1905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6460236" y="2642616"/>
            <a:ext cx="73152" cy="384048"/>
          </a:xfrm>
          <a:prstGeom prst="rect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6643116" y="2606040"/>
            <a:ext cx="48143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7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Compose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505956" y="3136392"/>
            <a:ext cx="486003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7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único fichero declarativo y un solo comando: docker compose up -d.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548640" y="4434840"/>
            <a:ext cx="11091672" cy="5029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4"/>
          <p:cNvSpPr/>
          <p:nvPr/>
        </p:nvSpPr>
        <p:spPr>
          <a:xfrm>
            <a:off x="731520" y="443484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Cuando hay varios servicios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48640" y="5029200"/>
            <a:ext cx="1109167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dirigen unos a otros por red usando el nombre del servicio como si fuera una dirección.</a:t>
            </a:r>
            <a:endParaRPr lang="en-US" sz="18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depends_on decide en qué orden arrancan. Lo practicarás en la Actividad 0.6, con un WordPress completo.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docker-compose.yml sencillo: una sola base de datos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ocker/docker_compose_anatom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7441" y="960120"/>
            <a:ext cx="779407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 ya tienes PostgreSQL instalado en tu máquina escuchando en el 5432, este contenedor chocará con él: cambia el primer número, por ejemplo a "5444:5432".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Comandos básicos de Docker Compose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11091672" cy="4992624"/>
        </p:xfrm>
        <a:graphic>
          <a:graphicData uri="http://schemas.openxmlformats.org/drawingml/2006/table">
            <a:tbl>
              <a:tblPr/>
              <a:tblGrid>
                <a:gridCol w="46585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3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32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Comando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up -d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y arranca todos los servicios definidos (-d en segundo plano).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ps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los servicios del proyecto y su estado.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logs -f &lt;servicio&gt;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Muestra los logs de un servicio en tiempo real.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stop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Detiene todos los servicios sin eliminarlos.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down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Detiene y elimina contenedores y red. No borra volúmenes.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docker compose down -v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21212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Igual que down, pero además elimina los volúmenes.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 de vida: cuidado con down -v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pic>
        <p:nvPicPr>
          <p:cNvPr id="5" name="Image 0" descr="C:/Users/Aitor/Documents/apuntes-profe/acceso-a-datos/docs/tema0/img/docker/docker_compose_ciclo_comandos.png"/>
          <p:cNvPicPr>
            <a:picLocks noChangeAspect="1"/>
          </p:cNvPicPr>
          <p:nvPr/>
        </p:nvPicPr>
        <p:blipFill>
          <a:blip r:embed="rId3"/>
          <a:srcRect t="6739" b="4400"/>
          <a:stretch>
            <a:fillRect/>
          </a:stretch>
        </p:blipFill>
        <p:spPr>
          <a:xfrm>
            <a:off x="1543510" y="868680"/>
            <a:ext cx="9101931" cy="45546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5486400"/>
            <a:ext cx="11091672" cy="822960"/>
          </a:xfrm>
          <a:prstGeom prst="roundRect">
            <a:avLst/>
          </a:prstGeom>
          <a:solidFill>
            <a:srgbClr val="FBE9E7"/>
          </a:solidFill>
          <a:ln w="1905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822960" y="557784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down -v borra los datos de verdad. Para un reinicio normal usa down (sin -v) o stop.</a:t>
            </a:r>
            <a:endParaRPr lang="en-US" sz="1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7F0000"/>
          </a:solidFill>
          <a:ln w="12700">
            <a:solidFill>
              <a:srgbClr val="7F0000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114574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Ideas clave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110916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575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Acceso a Datos — Introducción a Docker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31520" y="15773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31520" y="1577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11247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ejecuta aplicaciones en contenedores: aislados, ligeros, con el kernel del host compartido.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208776" y="10515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8"/>
          <p:cNvSpPr/>
          <p:nvPr/>
        </p:nvSpPr>
        <p:spPr>
          <a:xfrm>
            <a:off x="6391656" y="15773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Text 9"/>
          <p:cNvSpPr/>
          <p:nvPr/>
        </p:nvSpPr>
        <p:spPr>
          <a:xfrm>
            <a:off x="6391656" y="15773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077456" y="11247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imagen es la plantilla inmutable; un contenedor es una instancia en ejecución de esa imagen.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548640" y="28803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4" name="Shape 12"/>
          <p:cNvSpPr/>
          <p:nvPr/>
        </p:nvSpPr>
        <p:spPr>
          <a:xfrm>
            <a:off x="731520" y="34061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/>
          <p:nvPr/>
        </p:nvSpPr>
        <p:spPr>
          <a:xfrm>
            <a:off x="731520" y="34061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417320" y="29535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volumen guarda los datos fuera del contenedor para que sobrevivan a su borrado.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208776" y="28803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Shape 16"/>
          <p:cNvSpPr/>
          <p:nvPr/>
        </p:nvSpPr>
        <p:spPr>
          <a:xfrm>
            <a:off x="6391656" y="34061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7"/>
          <p:cNvSpPr/>
          <p:nvPr/>
        </p:nvSpPr>
        <p:spPr>
          <a:xfrm>
            <a:off x="6391656" y="34061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077456" y="29535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describe varios contenedores en un docker-compose.yml y los levanta juntos.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548640" y="47091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731520" y="52349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731520" y="52349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47823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services, ports, volumes, environment y depends_on son las claves esenciales del fichero.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6208776" y="4709160"/>
            <a:ext cx="5431536" cy="1600200"/>
          </a:xfrm>
          <a:prstGeom prst="roundRect">
            <a:avLst/>
          </a:prstGeom>
          <a:solidFill>
            <a:srgbClr val="FBEAEA"/>
          </a:solidFill>
          <a:ln w="15875">
            <a:solidFill>
              <a:srgbClr val="C6282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4"/>
          <p:cNvSpPr/>
          <p:nvPr/>
        </p:nvSpPr>
        <p:spPr>
          <a:xfrm>
            <a:off x="6391656" y="5234940"/>
            <a:ext cx="548640" cy="548640"/>
          </a:xfrm>
          <a:prstGeom prst="ellipse">
            <a:avLst/>
          </a:prstGeom>
          <a:solidFill>
            <a:srgbClr val="E64A19"/>
          </a:solidFill>
          <a:ln w="12700">
            <a:solidFill>
              <a:srgbClr val="E64A1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7" name="Text 25"/>
          <p:cNvSpPr/>
          <p:nvPr/>
        </p:nvSpPr>
        <p:spPr>
          <a:xfrm>
            <a:off x="6391656" y="52349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077456" y="4782312"/>
            <a:ext cx="4379976" cy="1453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 conserva los volúmenes; down -v también borra los datos.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1331</Words>
  <Application>Microsoft Office PowerPoint</Application>
  <PresentationFormat>Panorámica</PresentationFormat>
  <Paragraphs>171</Paragraphs>
  <Slides>17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Consolas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Docker</dc:title>
  <dc:subject>PptxGenJS Presentation</dc:subject>
  <dc:creator>Acceso a Datos</dc:creator>
  <cp:lastModifiedBy>ROIG AGUILAR, ALEJANDRO</cp:lastModifiedBy>
  <cp:revision>3</cp:revision>
  <dcterms:created xsi:type="dcterms:W3CDTF">2026-09-21T14:59:41Z</dcterms:created>
  <dcterms:modified xsi:type="dcterms:W3CDTF">2026-09-22T12:24:20Z</dcterms:modified>
</cp:coreProperties>
</file>