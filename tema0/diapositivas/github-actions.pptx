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F0000"/>
        </a:solidFill>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indent="0" marL="0">
              <a:buNone/>
            </a:pPr>
            <a:r>
              <a:rPr lang="en-US" sz="1400" dirty="0">
                <a:solidFill>
                  <a:srgbClr val="E0A8A8"/>
                </a:solidFill>
                <a:latin typeface="Arial" pitchFamily="34" charset="0"/>
                <a:ea typeface="Arial" pitchFamily="34" charset="-122"/>
                <a:cs typeface="Arial" pitchFamily="34" charset="-120"/>
              </a:rPr>
              <a:t>ACCESO A DATOS  —  TEMA 0: GIT Y GITHUB</a:t>
            </a:r>
            <a:endParaRPr lang="en-US" sz="1400" dirty="0"/>
          </a:p>
        </p:txBody>
      </p:sp>
      <p:sp>
        <p:nvSpPr>
          <p:cNvPr id="3" name="Text 1"/>
          <p:cNvSpPr/>
          <p:nvPr/>
        </p:nvSpPr>
        <p:spPr>
          <a:xfrm>
            <a:off x="548640" y="1554480"/>
            <a:ext cx="11091672" cy="2377440"/>
          </a:xfrm>
          <a:prstGeom prst="rect">
            <a:avLst/>
          </a:prstGeom>
          <a:noFill/>
          <a:ln/>
        </p:spPr>
        <p:txBody>
          <a:bodyPr wrap="square" rtlCol="0" anchor="ctr"/>
          <a:lstStyle/>
          <a:p>
            <a:pPr algn="l" indent="0" marL="0">
              <a:buNone/>
            </a:pPr>
            <a:r>
              <a:rPr lang="en-US" sz="4400" b="1" dirty="0">
                <a:solidFill>
                  <a:srgbClr val="FFFFFF"/>
                </a:solidFill>
                <a:latin typeface="Arial" pitchFamily="34" charset="0"/>
                <a:ea typeface="Arial" pitchFamily="34" charset="-122"/>
                <a:cs typeface="Arial" pitchFamily="34" charset="-120"/>
              </a:rPr>
              <a:t>Integración continua</a:t>
            </a:r>
            <a:endParaRPr lang="en-US" sz="4400" dirty="0"/>
          </a:p>
          <a:p>
            <a:pPr algn="l" indent="0" marL="0">
              <a:buNone/>
            </a:pPr>
            <a:r>
              <a:rPr lang="en-US" sz="4400" b="1" dirty="0">
                <a:solidFill>
                  <a:srgbClr val="FFFFFF"/>
                </a:solidFill>
                <a:latin typeface="Arial" pitchFamily="34" charset="0"/>
                <a:ea typeface="Arial" pitchFamily="34" charset="-122"/>
                <a:cs typeface="Arial" pitchFamily="34" charset="-120"/>
              </a:rPr>
              <a:t>con GitHub Actions</a:t>
            </a:r>
            <a:endParaRPr lang="en-US" sz="4400" dirty="0"/>
          </a:p>
        </p:txBody>
      </p:sp>
      <p:sp>
        <p:nvSpPr>
          <p:cNvPr id="4" name="Shape 2"/>
          <p:cNvSpPr/>
          <p:nvPr/>
        </p:nvSpPr>
        <p:spPr>
          <a:xfrm>
            <a:off x="0" y="5120640"/>
            <a:ext cx="12188952" cy="914400"/>
          </a:xfrm>
          <a:prstGeom prst="rect">
            <a:avLst/>
          </a:prstGeom>
          <a:solidFill>
            <a:srgbClr val="E64A19"/>
          </a:solidFill>
          <a:ln w="12700">
            <a:solidFill>
              <a:srgbClr val="E64A19"/>
            </a:solidFill>
            <a:prstDash val="solid"/>
          </a:ln>
        </p:spPr>
      </p:sp>
      <p:sp>
        <p:nvSpPr>
          <p:cNvPr id="5" name="Text 3"/>
          <p:cNvSpPr/>
          <p:nvPr/>
        </p:nvSpPr>
        <p:spPr>
          <a:xfrm>
            <a:off x="548640" y="5120640"/>
            <a:ext cx="11091672" cy="914400"/>
          </a:xfrm>
          <a:prstGeom prst="rect">
            <a:avLst/>
          </a:prstGeom>
          <a:noFill/>
          <a:ln/>
        </p:spPr>
        <p:txBody>
          <a:bodyPr wrap="square" rtlCol="0" anchor="ctr"/>
          <a:lstStyle/>
          <a:p>
            <a:pPr indent="0" marL="0">
              <a:buNone/>
            </a:pPr>
            <a:r>
              <a:rPr lang="en-US" sz="2000" i="1" dirty="0">
                <a:solidFill>
                  <a:srgbClr val="FFFFFF"/>
                </a:solidFill>
                <a:latin typeface="Arial" pitchFamily="34" charset="0"/>
                <a:ea typeface="Arial" pitchFamily="34" charset="-122"/>
                <a:cs typeface="Arial" pitchFamily="34" charset="-120"/>
              </a:rPr>
              <a:t>5. Integración Continua con GitHub Actions</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¿Qué problema resuelve la integración continua?</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0: GitHub Actions</a:t>
            </a:r>
            <a:endParaRPr lang="en-US" sz="1100" dirty="0"/>
          </a:p>
        </p:txBody>
      </p:sp>
      <p:sp>
        <p:nvSpPr>
          <p:cNvPr id="5" name="Shape 3"/>
          <p:cNvSpPr/>
          <p:nvPr/>
        </p:nvSpPr>
        <p:spPr>
          <a:xfrm>
            <a:off x="548640" y="1143000"/>
            <a:ext cx="11091672" cy="1051560"/>
          </a:xfrm>
          <a:prstGeom prst="roundRect">
            <a:avLst/>
          </a:prstGeom>
          <a:solidFill>
            <a:srgbClr val="FBE9E7"/>
          </a:solidFill>
          <a:ln w="19050">
            <a:solidFill>
              <a:srgbClr val="E64A19"/>
            </a:solidFill>
            <a:prstDash val="solid"/>
          </a:ln>
        </p:spPr>
      </p:sp>
      <p:sp>
        <p:nvSpPr>
          <p:cNvPr id="6" name="Text 4"/>
          <p:cNvSpPr/>
          <p:nvPr/>
        </p:nvSpPr>
        <p:spPr>
          <a:xfrm>
            <a:off x="777240" y="1216152"/>
            <a:ext cx="10634472" cy="905256"/>
          </a:xfrm>
          <a:prstGeom prst="rect">
            <a:avLst/>
          </a:prstGeom>
          <a:noFill/>
          <a:ln/>
        </p:spPr>
        <p:txBody>
          <a:bodyPr wrap="square" rtlCol="0" anchor="ctr"/>
          <a:lstStyle/>
          <a:p>
            <a:pPr indent="0" marL="0">
              <a:buNone/>
            </a:pPr>
            <a:r>
              <a:rPr lang="en-US" sz="1700" dirty="0">
                <a:solidFill>
                  <a:srgbClr val="212121"/>
                </a:solidFill>
                <a:latin typeface="Arial" pitchFamily="34" charset="0"/>
                <a:ea typeface="Arial" pitchFamily="34" charset="-122"/>
                <a:cs typeface="Arial" pitchFamily="34" charset="-120"/>
              </a:rPr>
              <a:t>Un equipo de cuatro personas hace merge en main sin saber si el código de un compañero rompe los tests de otra. Descubrirlo días después —o en producción— cuesta mucho más que detectarlo en el acto.</a:t>
            </a:r>
            <a:endParaRPr lang="en-US" sz="1700" dirty="0"/>
          </a:p>
        </p:txBody>
      </p:sp>
      <p:sp>
        <p:nvSpPr>
          <p:cNvPr id="7" name="Shape 5"/>
          <p:cNvSpPr/>
          <p:nvPr/>
        </p:nvSpPr>
        <p:spPr>
          <a:xfrm>
            <a:off x="548640" y="2423160"/>
            <a:ext cx="11091672" cy="1234440"/>
          </a:xfrm>
          <a:prstGeom prst="roundRect">
            <a:avLst/>
          </a:prstGeom>
          <a:solidFill>
            <a:srgbClr val="FBE9E7"/>
          </a:solidFill>
          <a:ln w="25400">
            <a:solidFill>
              <a:srgbClr val="E64A19"/>
            </a:solidFill>
            <a:prstDash val="solid"/>
          </a:ln>
        </p:spPr>
      </p:sp>
      <p:sp>
        <p:nvSpPr>
          <p:cNvPr id="8" name="Text 6"/>
          <p:cNvSpPr/>
          <p:nvPr/>
        </p:nvSpPr>
        <p:spPr>
          <a:xfrm>
            <a:off x="731520" y="2478024"/>
            <a:ext cx="10725912" cy="502920"/>
          </a:xfrm>
          <a:prstGeom prst="rect">
            <a:avLst/>
          </a:prstGeom>
          <a:noFill/>
          <a:ln/>
        </p:spPr>
        <p:txBody>
          <a:bodyPr wrap="square" rtlCol="0" anchor="ctr"/>
          <a:lstStyle/>
          <a:p>
            <a:pPr indent="0" marL="0">
              <a:buNone/>
            </a:pPr>
            <a:r>
              <a:rPr lang="en-US" sz="2000" b="1" dirty="0">
                <a:solidFill>
                  <a:srgbClr val="7F0000"/>
                </a:solidFill>
                <a:latin typeface="Arial" pitchFamily="34" charset="0"/>
                <a:ea typeface="Arial" pitchFamily="34" charset="-122"/>
                <a:cs typeface="Arial" pitchFamily="34" charset="-120"/>
              </a:rPr>
              <a:t>Integración continua (CI)</a:t>
            </a:r>
            <a:endParaRPr lang="en-US" sz="2000" dirty="0"/>
          </a:p>
        </p:txBody>
      </p:sp>
      <p:sp>
        <p:nvSpPr>
          <p:cNvPr id="9" name="Text 7"/>
          <p:cNvSpPr/>
          <p:nvPr/>
        </p:nvSpPr>
        <p:spPr>
          <a:xfrm>
            <a:off x="731520" y="2980944"/>
            <a:ext cx="10725912" cy="621792"/>
          </a:xfrm>
          <a:prstGeom prst="rect">
            <a:avLst/>
          </a:prstGeom>
          <a:noFill/>
          <a:ln/>
        </p:spPr>
        <p:txBody>
          <a:bodyPr wrap="square" rtlCol="0" anchor="t"/>
          <a:lstStyle/>
          <a:p>
            <a:pPr indent="0" marL="0">
              <a:buNone/>
            </a:pPr>
            <a:r>
              <a:rPr lang="en-US" sz="1600" dirty="0">
                <a:solidFill>
                  <a:srgbClr val="212121"/>
                </a:solidFill>
                <a:latin typeface="Arial" pitchFamily="34" charset="0"/>
                <a:ea typeface="Arial" pitchFamily="34" charset="-122"/>
                <a:cs typeface="Arial" pitchFamily="34" charset="-120"/>
              </a:rPr>
              <a:t>Ejecutar comprobaciones automáticas sobre el código cada vez que alguien propone un cambio: compilar, pasar tests, revisar el estilo. Si algo falla, avisa antes de llegar a main.</a:t>
            </a:r>
            <a:endParaRPr lang="en-US" sz="1600" dirty="0"/>
          </a:p>
        </p:txBody>
      </p:sp>
      <p:sp>
        <p:nvSpPr>
          <p:cNvPr id="10" name="Shape 8"/>
          <p:cNvSpPr/>
          <p:nvPr/>
        </p:nvSpPr>
        <p:spPr>
          <a:xfrm>
            <a:off x="548640" y="3931920"/>
            <a:ext cx="3331464" cy="1005840"/>
          </a:xfrm>
          <a:prstGeom prst="roundRect">
            <a:avLst/>
          </a:prstGeom>
          <a:solidFill>
            <a:srgbClr val="FBEAEA"/>
          </a:solidFill>
          <a:ln w="15875">
            <a:solidFill>
              <a:srgbClr val="C62828"/>
            </a:solidFill>
            <a:prstDash val="solid"/>
          </a:ln>
        </p:spPr>
      </p:sp>
      <p:sp>
        <p:nvSpPr>
          <p:cNvPr id="11" name="Text 9"/>
          <p:cNvSpPr/>
          <p:nvPr/>
        </p:nvSpPr>
        <p:spPr>
          <a:xfrm>
            <a:off x="621792" y="3977640"/>
            <a:ext cx="3185160" cy="914400"/>
          </a:xfrm>
          <a:prstGeom prst="rect">
            <a:avLst/>
          </a:prstGeom>
          <a:noFill/>
          <a:ln/>
        </p:spPr>
        <p:txBody>
          <a:bodyPr wrap="square" rtlCol="0" anchor="ctr"/>
          <a:lstStyle/>
          <a:p>
            <a:pPr algn="ctr" indent="0" marL="0">
              <a:buNone/>
            </a:pPr>
            <a:r>
              <a:rPr lang="en-US" sz="1700" dirty="0">
                <a:solidFill>
                  <a:srgbClr val="212121"/>
                </a:solidFill>
                <a:latin typeface="Arial" pitchFamily="34" charset="0"/>
                <a:ea typeface="Arial" pitchFamily="34" charset="-122"/>
                <a:cs typeface="Arial" pitchFamily="34" charset="-120"/>
              </a:rPr>
              <a:t>git push / PR</a:t>
            </a:r>
            <a:endParaRPr lang="en-US" sz="1700" dirty="0"/>
          </a:p>
        </p:txBody>
      </p:sp>
      <p:sp>
        <p:nvSpPr>
          <p:cNvPr id="12" name="Text 10"/>
          <p:cNvSpPr/>
          <p:nvPr/>
        </p:nvSpPr>
        <p:spPr>
          <a:xfrm>
            <a:off x="3834384" y="3931920"/>
            <a:ext cx="640080" cy="1005840"/>
          </a:xfrm>
          <a:prstGeom prst="rect">
            <a:avLst/>
          </a:prstGeom>
          <a:noFill/>
          <a:ln/>
        </p:spPr>
        <p:txBody>
          <a:bodyPr wrap="square" rtlCol="0" anchor="ctr"/>
          <a:lstStyle/>
          <a:p>
            <a:pPr algn="ctr" indent="0" marL="0">
              <a:buNone/>
            </a:pPr>
            <a:r>
              <a:rPr lang="en-US" sz="2200" b="1" dirty="0">
                <a:solidFill>
                  <a:srgbClr val="C62828"/>
                </a:solidFill>
                <a:latin typeface="Arial" pitchFamily="34" charset="0"/>
                <a:ea typeface="Arial" pitchFamily="34" charset="-122"/>
                <a:cs typeface="Arial" pitchFamily="34" charset="-120"/>
              </a:rPr>
              <a:t>→</a:t>
            </a:r>
            <a:endParaRPr lang="en-US" sz="2200" dirty="0"/>
          </a:p>
        </p:txBody>
      </p:sp>
      <p:sp>
        <p:nvSpPr>
          <p:cNvPr id="13" name="Shape 11"/>
          <p:cNvSpPr/>
          <p:nvPr/>
        </p:nvSpPr>
        <p:spPr>
          <a:xfrm>
            <a:off x="4428744" y="3931920"/>
            <a:ext cx="3331464" cy="1005840"/>
          </a:xfrm>
          <a:prstGeom prst="roundRect">
            <a:avLst/>
          </a:prstGeom>
          <a:solidFill>
            <a:srgbClr val="FBEAEA"/>
          </a:solidFill>
          <a:ln w="15875">
            <a:solidFill>
              <a:srgbClr val="C62828"/>
            </a:solidFill>
            <a:prstDash val="solid"/>
          </a:ln>
        </p:spPr>
      </p:sp>
      <p:sp>
        <p:nvSpPr>
          <p:cNvPr id="14" name="Text 12"/>
          <p:cNvSpPr/>
          <p:nvPr/>
        </p:nvSpPr>
        <p:spPr>
          <a:xfrm>
            <a:off x="4501896" y="3977640"/>
            <a:ext cx="3185160" cy="914400"/>
          </a:xfrm>
          <a:prstGeom prst="rect">
            <a:avLst/>
          </a:prstGeom>
          <a:noFill/>
          <a:ln/>
        </p:spPr>
        <p:txBody>
          <a:bodyPr wrap="square" rtlCol="0" anchor="ctr"/>
          <a:lstStyle/>
          <a:p>
            <a:pPr algn="ctr" indent="0" marL="0">
              <a:buNone/>
            </a:pPr>
            <a:r>
              <a:rPr lang="en-US" sz="1700" dirty="0">
                <a:solidFill>
                  <a:srgbClr val="212121"/>
                </a:solidFill>
                <a:latin typeface="Arial" pitchFamily="34" charset="0"/>
                <a:ea typeface="Arial" pitchFamily="34" charset="-122"/>
                <a:cs typeface="Arial" pitchFamily="34" charset="-120"/>
              </a:rPr>
              <a:t>GitHub Actions</a:t>
            </a:r>
            <a:endParaRPr lang="en-US" sz="1700" dirty="0"/>
          </a:p>
        </p:txBody>
      </p:sp>
      <p:sp>
        <p:nvSpPr>
          <p:cNvPr id="15" name="Text 13"/>
          <p:cNvSpPr/>
          <p:nvPr/>
        </p:nvSpPr>
        <p:spPr>
          <a:xfrm>
            <a:off x="7714488" y="3931920"/>
            <a:ext cx="640080" cy="1005840"/>
          </a:xfrm>
          <a:prstGeom prst="rect">
            <a:avLst/>
          </a:prstGeom>
          <a:noFill/>
          <a:ln/>
        </p:spPr>
        <p:txBody>
          <a:bodyPr wrap="square" rtlCol="0" anchor="ctr"/>
          <a:lstStyle/>
          <a:p>
            <a:pPr algn="ctr" indent="0" marL="0">
              <a:buNone/>
            </a:pPr>
            <a:r>
              <a:rPr lang="en-US" sz="2200" b="1" dirty="0">
                <a:solidFill>
                  <a:srgbClr val="C62828"/>
                </a:solidFill>
                <a:latin typeface="Arial" pitchFamily="34" charset="0"/>
                <a:ea typeface="Arial" pitchFamily="34" charset="-122"/>
                <a:cs typeface="Arial" pitchFamily="34" charset="-120"/>
              </a:rPr>
              <a:t>→</a:t>
            </a:r>
            <a:endParaRPr lang="en-US" sz="2200" dirty="0"/>
          </a:p>
        </p:txBody>
      </p:sp>
      <p:sp>
        <p:nvSpPr>
          <p:cNvPr id="16" name="Shape 14"/>
          <p:cNvSpPr/>
          <p:nvPr/>
        </p:nvSpPr>
        <p:spPr>
          <a:xfrm>
            <a:off x="8308848" y="3931920"/>
            <a:ext cx="3331464" cy="1005840"/>
          </a:xfrm>
          <a:prstGeom prst="roundRect">
            <a:avLst/>
          </a:prstGeom>
          <a:solidFill>
            <a:srgbClr val="FBEAEA"/>
          </a:solidFill>
          <a:ln w="15875">
            <a:solidFill>
              <a:srgbClr val="C62828"/>
            </a:solidFill>
            <a:prstDash val="solid"/>
          </a:ln>
        </p:spPr>
      </p:sp>
      <p:sp>
        <p:nvSpPr>
          <p:cNvPr id="17" name="Text 15"/>
          <p:cNvSpPr/>
          <p:nvPr/>
        </p:nvSpPr>
        <p:spPr>
          <a:xfrm>
            <a:off x="8382000" y="3977640"/>
            <a:ext cx="3185160" cy="914400"/>
          </a:xfrm>
          <a:prstGeom prst="rect">
            <a:avLst/>
          </a:prstGeom>
          <a:noFill/>
          <a:ln/>
        </p:spPr>
        <p:txBody>
          <a:bodyPr wrap="square" rtlCol="0" anchor="ctr"/>
          <a:lstStyle/>
          <a:p>
            <a:pPr algn="ctr" indent="0" marL="0">
              <a:buNone/>
            </a:pPr>
            <a:r>
              <a:rPr lang="en-US" sz="1700" dirty="0">
                <a:solidFill>
                  <a:srgbClr val="212121"/>
                </a:solidFill>
                <a:latin typeface="Arial" pitchFamily="34" charset="0"/>
                <a:ea typeface="Arial" pitchFamily="34" charset="-122"/>
                <a:cs typeface="Arial" pitchFamily="34" charset="-120"/>
              </a:rPr>
              <a:t>¿Pasan</a:t>
            </a:r>
            <a:endParaRPr lang="en-US" sz="1700" dirty="0"/>
          </a:p>
          <a:p>
            <a:pPr algn="ctr" indent="0" marL="0">
              <a:buNone/>
            </a:pPr>
            <a:r>
              <a:rPr lang="en-US" sz="1700" dirty="0">
                <a:solidFill>
                  <a:srgbClr val="212121"/>
                </a:solidFill>
                <a:latin typeface="Arial" pitchFamily="34" charset="0"/>
                <a:ea typeface="Arial" pitchFamily="34" charset="-122"/>
                <a:cs typeface="Arial" pitchFamily="34" charset="-120"/>
              </a:rPr>
              <a:t>los tests?</a:t>
            </a:r>
            <a:endParaRPr lang="en-US" sz="1700" dirty="0"/>
          </a:p>
        </p:txBody>
      </p:sp>
      <p:sp>
        <p:nvSpPr>
          <p:cNvPr id="18" name="Shape 16"/>
          <p:cNvSpPr/>
          <p:nvPr/>
        </p:nvSpPr>
        <p:spPr>
          <a:xfrm>
            <a:off x="548640" y="5166360"/>
            <a:ext cx="5408676" cy="868680"/>
          </a:xfrm>
          <a:prstGeom prst="roundRect">
            <a:avLst/>
          </a:prstGeom>
          <a:solidFill>
            <a:srgbClr val="FBEAEA"/>
          </a:solidFill>
          <a:ln w="15875">
            <a:solidFill>
              <a:srgbClr val="C62828"/>
            </a:solidFill>
            <a:prstDash val="solid"/>
          </a:ln>
        </p:spPr>
      </p:sp>
      <p:sp>
        <p:nvSpPr>
          <p:cNvPr id="19" name="Text 17"/>
          <p:cNvSpPr/>
          <p:nvPr/>
        </p:nvSpPr>
        <p:spPr>
          <a:xfrm>
            <a:off x="685800" y="5257800"/>
            <a:ext cx="5134356" cy="411480"/>
          </a:xfrm>
          <a:prstGeom prst="rect">
            <a:avLst/>
          </a:prstGeom>
          <a:noFill/>
          <a:ln/>
        </p:spPr>
        <p:txBody>
          <a:bodyPr wrap="square" rtlCol="0" anchor="ctr"/>
          <a:lstStyle/>
          <a:p>
            <a:pPr algn="ctr" indent="0" marL="0">
              <a:buNone/>
            </a:pPr>
            <a:r>
              <a:rPr lang="en-US" sz="1800" b="1" dirty="0">
                <a:solidFill>
                  <a:srgbClr val="7F0000"/>
                </a:solidFill>
                <a:latin typeface="Arial" pitchFamily="34" charset="0"/>
                <a:ea typeface="Arial" pitchFamily="34" charset="-122"/>
                <a:cs typeface="Arial" pitchFamily="34" charset="-120"/>
              </a:rPr>
              <a:t>Sí ✅</a:t>
            </a:r>
            <a:endParaRPr lang="en-US" sz="1800" dirty="0"/>
          </a:p>
        </p:txBody>
      </p:sp>
      <p:sp>
        <p:nvSpPr>
          <p:cNvPr id="20" name="Text 18"/>
          <p:cNvSpPr/>
          <p:nvPr/>
        </p:nvSpPr>
        <p:spPr>
          <a:xfrm>
            <a:off x="731520" y="5715000"/>
            <a:ext cx="5042916" cy="228600"/>
          </a:xfrm>
          <a:prstGeom prst="rect">
            <a:avLst/>
          </a:prstGeom>
          <a:noFill/>
          <a:ln/>
        </p:spPr>
        <p:txBody>
          <a:bodyPr wrap="square" rtlCol="0" anchor="t"/>
          <a:lstStyle/>
          <a:p>
            <a:pPr algn="ctr" indent="0" marL="0">
              <a:buNone/>
            </a:pPr>
            <a:r>
              <a:rPr lang="en-US" sz="1400" dirty="0">
                <a:solidFill>
                  <a:srgbClr val="212121"/>
                </a:solidFill>
                <a:latin typeface="Arial" pitchFamily="34" charset="0"/>
                <a:ea typeface="Arial" pitchFamily="34" charset="-122"/>
                <a:cs typeface="Arial" pitchFamily="34" charset="-120"/>
              </a:rPr>
              <a:t>Merge permitido</a:t>
            </a:r>
            <a:endParaRPr lang="en-US" sz="1400" dirty="0"/>
          </a:p>
        </p:txBody>
      </p:sp>
      <p:sp>
        <p:nvSpPr>
          <p:cNvPr id="21" name="Shape 19"/>
          <p:cNvSpPr/>
          <p:nvPr/>
        </p:nvSpPr>
        <p:spPr>
          <a:xfrm>
            <a:off x="6231636" y="5166360"/>
            <a:ext cx="5408676" cy="868680"/>
          </a:xfrm>
          <a:prstGeom prst="roundRect">
            <a:avLst/>
          </a:prstGeom>
          <a:solidFill>
            <a:srgbClr val="FBE9E7"/>
          </a:solidFill>
          <a:ln w="25400">
            <a:solidFill>
              <a:srgbClr val="E64A19"/>
            </a:solidFill>
            <a:prstDash val="solid"/>
          </a:ln>
        </p:spPr>
      </p:sp>
      <p:sp>
        <p:nvSpPr>
          <p:cNvPr id="22" name="Text 20"/>
          <p:cNvSpPr/>
          <p:nvPr/>
        </p:nvSpPr>
        <p:spPr>
          <a:xfrm>
            <a:off x="6368796" y="5257800"/>
            <a:ext cx="5134356" cy="411480"/>
          </a:xfrm>
          <a:prstGeom prst="rect">
            <a:avLst/>
          </a:prstGeom>
          <a:noFill/>
          <a:ln/>
        </p:spPr>
        <p:txBody>
          <a:bodyPr wrap="square" rtlCol="0" anchor="ctr"/>
          <a:lstStyle/>
          <a:p>
            <a:pPr algn="ctr" indent="0" marL="0">
              <a:buNone/>
            </a:pPr>
            <a:r>
              <a:rPr lang="en-US" sz="1800" b="1" dirty="0">
                <a:solidFill>
                  <a:srgbClr val="7F0000"/>
                </a:solidFill>
                <a:latin typeface="Arial" pitchFamily="34" charset="0"/>
                <a:ea typeface="Arial" pitchFamily="34" charset="-122"/>
                <a:cs typeface="Arial" pitchFamily="34" charset="-120"/>
              </a:rPr>
              <a:t>No ❌</a:t>
            </a:r>
            <a:endParaRPr lang="en-US" sz="1800" dirty="0"/>
          </a:p>
        </p:txBody>
      </p:sp>
      <p:sp>
        <p:nvSpPr>
          <p:cNvPr id="23" name="Text 21"/>
          <p:cNvSpPr/>
          <p:nvPr/>
        </p:nvSpPr>
        <p:spPr>
          <a:xfrm>
            <a:off x="6414516" y="5715000"/>
            <a:ext cx="5042916" cy="228600"/>
          </a:xfrm>
          <a:prstGeom prst="rect">
            <a:avLst/>
          </a:prstGeom>
          <a:noFill/>
          <a:ln/>
        </p:spPr>
        <p:txBody>
          <a:bodyPr wrap="square" rtlCol="0" anchor="t"/>
          <a:lstStyle/>
          <a:p>
            <a:pPr algn="ctr" indent="0" marL="0">
              <a:buNone/>
            </a:pPr>
            <a:r>
              <a:rPr lang="en-US" sz="1400" dirty="0">
                <a:solidFill>
                  <a:srgbClr val="212121"/>
                </a:solidFill>
                <a:latin typeface="Arial" pitchFamily="34" charset="0"/>
                <a:ea typeface="Arial" pitchFamily="34" charset="-122"/>
                <a:cs typeface="Arial" pitchFamily="34" charset="-120"/>
              </a:rPr>
              <a:t>Merge bloqueado, aviso al autor</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GitHub Actions: qué es y qué lo dispara</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0: GitHub Actions</a:t>
            </a:r>
            <a:endParaRPr lang="en-US" sz="1100" dirty="0"/>
          </a:p>
        </p:txBody>
      </p:sp>
      <p:sp>
        <p:nvSpPr>
          <p:cNvPr id="5" name="Shape 3"/>
          <p:cNvSpPr/>
          <p:nvPr/>
        </p:nvSpPr>
        <p:spPr>
          <a:xfrm>
            <a:off x="548640" y="1188720"/>
            <a:ext cx="11091672" cy="1051560"/>
          </a:xfrm>
          <a:prstGeom prst="roundRect">
            <a:avLst/>
          </a:prstGeom>
          <a:solidFill>
            <a:srgbClr val="FBE9E7"/>
          </a:solidFill>
          <a:ln w="25400">
            <a:solidFill>
              <a:srgbClr val="E64A19"/>
            </a:solidFill>
            <a:prstDash val="solid"/>
          </a:ln>
        </p:spPr>
      </p:sp>
      <p:sp>
        <p:nvSpPr>
          <p:cNvPr id="6" name="Text 4"/>
          <p:cNvSpPr/>
          <p:nvPr/>
        </p:nvSpPr>
        <p:spPr>
          <a:xfrm>
            <a:off x="731520" y="1243584"/>
            <a:ext cx="10725912" cy="502920"/>
          </a:xfrm>
          <a:prstGeom prst="rect">
            <a:avLst/>
          </a:prstGeom>
          <a:noFill/>
          <a:ln/>
        </p:spPr>
        <p:txBody>
          <a:bodyPr wrap="square" rtlCol="0" anchor="ctr"/>
          <a:lstStyle/>
          <a:p>
            <a:pPr indent="0" marL="0">
              <a:buNone/>
            </a:pPr>
            <a:r>
              <a:rPr lang="en-US" sz="1900" b="1" dirty="0">
                <a:solidFill>
                  <a:srgbClr val="7F0000"/>
                </a:solidFill>
                <a:latin typeface="Arial" pitchFamily="34" charset="0"/>
                <a:ea typeface="Arial" pitchFamily="34" charset="-122"/>
                <a:cs typeface="Arial" pitchFamily="34" charset="-120"/>
              </a:rPr>
              <a:t>El sistema de automatización integrado en GitHub</a:t>
            </a:r>
            <a:endParaRPr lang="en-US" sz="1900" dirty="0"/>
          </a:p>
        </p:txBody>
      </p:sp>
      <p:sp>
        <p:nvSpPr>
          <p:cNvPr id="7" name="Text 5"/>
          <p:cNvSpPr/>
          <p:nvPr/>
        </p:nvSpPr>
        <p:spPr>
          <a:xfrm>
            <a:off x="731520" y="1746504"/>
            <a:ext cx="10725912" cy="438912"/>
          </a:xfrm>
          <a:prstGeom prst="rect">
            <a:avLst/>
          </a:prstGeom>
          <a:noFill/>
          <a:ln/>
        </p:spPr>
        <p:txBody>
          <a:bodyPr wrap="square" rtlCol="0" anchor="t"/>
          <a:lstStyle/>
          <a:p>
            <a:pPr indent="0" marL="0">
              <a:buNone/>
            </a:pPr>
            <a:r>
              <a:rPr lang="en-US" sz="1500" dirty="0">
                <a:solidFill>
                  <a:srgbClr val="212121"/>
                </a:solidFill>
                <a:latin typeface="Arial" pitchFamily="34" charset="0"/>
                <a:ea typeface="Arial" pitchFamily="34" charset="-122"/>
                <a:cs typeface="Arial" pitchFamily="34" charset="-120"/>
              </a:rPr>
              <a:t>Define workflows que se ejecutan en respuesta a eventos del repositorio, en la nube de GitHub, sin instalar nada en tu máquina.</a:t>
            </a:r>
            <a:endParaRPr lang="en-US" sz="1500" dirty="0"/>
          </a:p>
        </p:txBody>
      </p:sp>
      <p:sp>
        <p:nvSpPr>
          <p:cNvPr id="8" name="Text 6"/>
          <p:cNvSpPr/>
          <p:nvPr/>
        </p:nvSpPr>
        <p:spPr>
          <a:xfrm>
            <a:off x="548640" y="2468880"/>
            <a:ext cx="11091672" cy="365760"/>
          </a:xfrm>
          <a:prstGeom prst="rect">
            <a:avLst/>
          </a:prstGeom>
          <a:noFill/>
          <a:ln/>
        </p:spPr>
        <p:txBody>
          <a:bodyPr wrap="square" rtlCol="0" anchor="ctr"/>
          <a:lstStyle/>
          <a:p>
            <a:pPr indent="0" marL="0">
              <a:buNone/>
            </a:pPr>
            <a:r>
              <a:rPr lang="en-US" sz="1500" b="1" dirty="0">
                <a:solidFill>
                  <a:srgbClr val="C62828"/>
                </a:solidFill>
                <a:latin typeface="Arial" pitchFamily="34" charset="0"/>
                <a:ea typeface="Arial" pitchFamily="34" charset="-122"/>
                <a:cs typeface="Arial" pitchFamily="34" charset="-120"/>
              </a:rPr>
              <a:t>Eventos más habituales que disparan un workflow</a:t>
            </a:r>
            <a:endParaRPr lang="en-US" sz="1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2880360"/>
          <a:ext cx="11091672" cy="914400"/>
        </p:xfrm>
        <a:graphic>
          <a:graphicData uri="http://schemas.openxmlformats.org/drawingml/2006/table">
            <a:tbl>
              <a:tblPr/>
              <a:tblGrid>
                <a:gridCol w="3549335"/>
                <a:gridCol w="7542337"/>
              </a:tblGrid>
              <a:tr h="548640">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Evento</a:t>
                      </a:r>
                      <a:endParaRPr lang="en-US" sz="17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Cuándo ocurre</a:t>
                      </a:r>
                      <a:endParaRPr lang="en-US" sz="17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r>
              <a:tr h="548640">
                <a:tc>
                  <a:txBody>
                    <a:bodyPr/>
                    <a:lstStyle/>
                    <a:p>
                      <a:pPr indent="0" marL="0">
                        <a:buNone/>
                      </a:pPr>
                      <a:r>
                        <a:rPr lang="en-US" sz="1500" b="1" dirty="0">
                          <a:solidFill>
                            <a:srgbClr val="212121"/>
                          </a:solidFill>
                          <a:latin typeface="Arial" pitchFamily="34" charset="0"/>
                          <a:ea typeface="Arial" pitchFamily="34" charset="-122"/>
                          <a:cs typeface="Arial" pitchFamily="34" charset="-120"/>
                        </a:rPr>
                        <a:t>push</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Alguien sube commits a una rama</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548640">
                <a:tc>
                  <a:txBody>
                    <a:bodyPr/>
                    <a:lstStyle/>
                    <a:p>
                      <a:pPr indent="0" marL="0">
                        <a:buNone/>
                      </a:pPr>
                      <a:r>
                        <a:rPr lang="en-US" sz="1500" b="1" dirty="0">
                          <a:solidFill>
                            <a:srgbClr val="212121"/>
                          </a:solidFill>
                          <a:latin typeface="Arial" pitchFamily="34" charset="0"/>
                          <a:ea typeface="Arial" pitchFamily="34" charset="-122"/>
                          <a:cs typeface="Arial" pitchFamily="34" charset="-120"/>
                        </a:rPr>
                        <a:t>pull_request</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Se abre, actualiza o cierra una PR</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548640">
                <a:tc>
                  <a:txBody>
                    <a:bodyPr/>
                    <a:lstStyle/>
                    <a:p>
                      <a:pPr indent="0" marL="0">
                        <a:buNone/>
                      </a:pPr>
                      <a:r>
                        <a:rPr lang="en-US" sz="1500" b="1" dirty="0">
                          <a:solidFill>
                            <a:srgbClr val="212121"/>
                          </a:solidFill>
                          <a:latin typeface="Arial" pitchFamily="34" charset="0"/>
                          <a:ea typeface="Arial" pitchFamily="34" charset="-122"/>
                          <a:cs typeface="Arial" pitchFamily="34" charset="-120"/>
                        </a:rPr>
                        <a:t>schedule</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Un temporizador (como un cron job)</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548640">
                <a:tc>
                  <a:txBody>
                    <a:bodyPr/>
                    <a:lstStyle/>
                    <a:p>
                      <a:pPr indent="0" marL="0">
                        <a:buNone/>
                      </a:pPr>
                      <a:r>
                        <a:rPr lang="en-US" sz="1500" b="1" dirty="0">
                          <a:solidFill>
                            <a:srgbClr val="212121"/>
                          </a:solidFill>
                          <a:latin typeface="Arial" pitchFamily="34" charset="0"/>
                          <a:ea typeface="Arial" pitchFamily="34" charset="-122"/>
                          <a:cs typeface="Arial" pitchFamily="34" charset="-120"/>
                        </a:rPr>
                        <a:t>workflow_dispatch</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El usuario lo activa manualmente desde la web</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548640">
                <a:tc>
                  <a:txBody>
                    <a:bodyPr/>
                    <a:lstStyle/>
                    <a:p>
                      <a:pPr indent="0" marL="0">
                        <a:buNone/>
                      </a:pPr>
                      <a:r>
                        <a:rPr lang="en-US" sz="1500" b="1" dirty="0">
                          <a:solidFill>
                            <a:srgbClr val="212121"/>
                          </a:solidFill>
                          <a:latin typeface="Arial" pitchFamily="34" charset="0"/>
                          <a:ea typeface="Arial" pitchFamily="34" charset="-122"/>
                          <a:cs typeface="Arial" pitchFamily="34" charset="-120"/>
                        </a:rPr>
                        <a:t>release</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Se publica una nueva versión del proyecto</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Conceptos clave: las piezas que encajan</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0: GitHub Actions</a:t>
            </a:r>
            <a:endParaRPr lang="en-US" sz="1100" dirty="0"/>
          </a:p>
        </p:txBody>
      </p:sp>
      <p:pic>
        <p:nvPicPr>
          <p:cNvPr id="5" name="Image 0" descr="C:/Users/Aitor/Documents/apuntes-profe/acceso-a-datos/docs/tema0/img/tema0_actions_anatomia_workflow.png">    </p:cNvPr>
          <p:cNvPicPr>
            <a:picLocks noChangeAspect="1"/>
          </p:cNvPicPr>
          <p:nvPr/>
        </p:nvPicPr>
        <p:blipFill>
          <a:blip r:embed="rId1"/>
          <a:stretch>
            <a:fillRect/>
          </a:stretch>
        </p:blipFill>
        <p:spPr>
          <a:xfrm>
            <a:off x="1360585" y="1188720"/>
            <a:ext cx="9467783" cy="3794760"/>
          </a:xfrm>
          <a:prstGeom prst="rect">
            <a:avLst/>
          </a:prstGeom>
        </p:spPr>
      </p:pic>
      <p:sp>
        <p:nvSpPr>
          <p:cNvPr id="6" name="Shape 3"/>
          <p:cNvSpPr/>
          <p:nvPr/>
        </p:nvSpPr>
        <p:spPr>
          <a:xfrm>
            <a:off x="548640" y="5166360"/>
            <a:ext cx="2635758" cy="1051560"/>
          </a:xfrm>
          <a:prstGeom prst="roundRect">
            <a:avLst/>
          </a:prstGeom>
          <a:solidFill>
            <a:srgbClr val="FBEAEA"/>
          </a:solidFill>
          <a:ln w="15875">
            <a:solidFill>
              <a:srgbClr val="C62828"/>
            </a:solidFill>
            <a:prstDash val="solid"/>
          </a:ln>
        </p:spPr>
      </p:sp>
      <p:sp>
        <p:nvSpPr>
          <p:cNvPr id="7" name="Text 4"/>
          <p:cNvSpPr/>
          <p:nvPr/>
        </p:nvSpPr>
        <p:spPr>
          <a:xfrm>
            <a:off x="685800" y="5257800"/>
            <a:ext cx="2361438" cy="457200"/>
          </a:xfrm>
          <a:prstGeom prst="rect">
            <a:avLst/>
          </a:prstGeom>
          <a:noFill/>
          <a:ln/>
        </p:spPr>
        <p:txBody>
          <a:bodyPr wrap="square" rtlCol="0" anchor="ctr"/>
          <a:lstStyle/>
          <a:p>
            <a:pPr algn="ctr" indent="0" marL="0">
              <a:buNone/>
            </a:pPr>
            <a:r>
              <a:rPr lang="en-US" sz="1500" b="1" dirty="0">
                <a:solidFill>
                  <a:srgbClr val="7F0000"/>
                </a:solidFill>
                <a:latin typeface="Arial" pitchFamily="34" charset="0"/>
                <a:ea typeface="Arial" pitchFamily="34" charset="-122"/>
                <a:cs typeface="Arial" pitchFamily="34" charset="-120"/>
              </a:rPr>
              <a:t>Workflow</a:t>
            </a:r>
            <a:endParaRPr lang="en-US" sz="1500" dirty="0"/>
          </a:p>
        </p:txBody>
      </p:sp>
      <p:sp>
        <p:nvSpPr>
          <p:cNvPr id="8" name="Text 5"/>
          <p:cNvSpPr/>
          <p:nvPr/>
        </p:nvSpPr>
        <p:spPr>
          <a:xfrm>
            <a:off x="731520" y="5760720"/>
            <a:ext cx="2269998" cy="365760"/>
          </a:xfrm>
          <a:prstGeom prst="rect">
            <a:avLst/>
          </a:prstGeom>
          <a:noFill/>
          <a:ln/>
        </p:spPr>
        <p:txBody>
          <a:bodyPr wrap="square" rtlCol="0" anchor="t"/>
          <a:lstStyle/>
          <a:p>
            <a:pPr algn="ctr" indent="0" marL="0">
              <a:buNone/>
            </a:pPr>
            <a:r>
              <a:rPr lang="en-US" sz="1250" dirty="0">
                <a:solidFill>
                  <a:srgbClr val="212121"/>
                </a:solidFill>
                <a:latin typeface="Arial" pitchFamily="34" charset="0"/>
                <a:ea typeface="Arial" pitchFamily="34" charset="-122"/>
                <a:cs typeface="Arial" pitchFamily="34" charset="-120"/>
              </a:rPr>
              <a:t>El YAML en .github/workflows/</a:t>
            </a:r>
            <a:endParaRPr lang="en-US" sz="1250" dirty="0"/>
          </a:p>
        </p:txBody>
      </p:sp>
      <p:sp>
        <p:nvSpPr>
          <p:cNvPr id="9" name="Shape 6"/>
          <p:cNvSpPr/>
          <p:nvPr/>
        </p:nvSpPr>
        <p:spPr>
          <a:xfrm>
            <a:off x="3367278" y="5166360"/>
            <a:ext cx="2635758" cy="1051560"/>
          </a:xfrm>
          <a:prstGeom prst="roundRect">
            <a:avLst/>
          </a:prstGeom>
          <a:solidFill>
            <a:srgbClr val="FBEAEA"/>
          </a:solidFill>
          <a:ln w="15875">
            <a:solidFill>
              <a:srgbClr val="C62828"/>
            </a:solidFill>
            <a:prstDash val="solid"/>
          </a:ln>
        </p:spPr>
      </p:sp>
      <p:sp>
        <p:nvSpPr>
          <p:cNvPr id="10" name="Text 7"/>
          <p:cNvSpPr/>
          <p:nvPr/>
        </p:nvSpPr>
        <p:spPr>
          <a:xfrm>
            <a:off x="3504438" y="5257800"/>
            <a:ext cx="2361438" cy="457200"/>
          </a:xfrm>
          <a:prstGeom prst="rect">
            <a:avLst/>
          </a:prstGeom>
          <a:noFill/>
          <a:ln/>
        </p:spPr>
        <p:txBody>
          <a:bodyPr wrap="square" rtlCol="0" anchor="ctr"/>
          <a:lstStyle/>
          <a:p>
            <a:pPr algn="ctr" indent="0" marL="0">
              <a:buNone/>
            </a:pPr>
            <a:r>
              <a:rPr lang="en-US" sz="1500" b="1" dirty="0">
                <a:solidFill>
                  <a:srgbClr val="7F0000"/>
                </a:solidFill>
                <a:latin typeface="Arial" pitchFamily="34" charset="0"/>
                <a:ea typeface="Arial" pitchFamily="34" charset="-122"/>
                <a:cs typeface="Arial" pitchFamily="34" charset="-120"/>
              </a:rPr>
              <a:t>Job</a:t>
            </a:r>
            <a:endParaRPr lang="en-US" sz="1500" dirty="0"/>
          </a:p>
        </p:txBody>
      </p:sp>
      <p:sp>
        <p:nvSpPr>
          <p:cNvPr id="11" name="Text 8"/>
          <p:cNvSpPr/>
          <p:nvPr/>
        </p:nvSpPr>
        <p:spPr>
          <a:xfrm>
            <a:off x="3550158" y="5760720"/>
            <a:ext cx="2269998" cy="365760"/>
          </a:xfrm>
          <a:prstGeom prst="rect">
            <a:avLst/>
          </a:prstGeom>
          <a:noFill/>
          <a:ln/>
        </p:spPr>
        <p:txBody>
          <a:bodyPr wrap="square" rtlCol="0" anchor="t"/>
          <a:lstStyle/>
          <a:p>
            <a:pPr algn="ctr" indent="0" marL="0">
              <a:buNone/>
            </a:pPr>
            <a:r>
              <a:rPr lang="en-US" sz="1250" dirty="0">
                <a:solidFill>
                  <a:srgbClr val="212121"/>
                </a:solidFill>
                <a:latin typeface="Arial" pitchFamily="34" charset="0"/>
                <a:ea typeface="Arial" pitchFamily="34" charset="-122"/>
                <a:cs typeface="Arial" pitchFamily="34" charset="-120"/>
              </a:rPr>
              <a:t>Bloque de pasos en una máquina virtual</a:t>
            </a:r>
            <a:endParaRPr lang="en-US" sz="1250" dirty="0"/>
          </a:p>
        </p:txBody>
      </p:sp>
      <p:sp>
        <p:nvSpPr>
          <p:cNvPr id="12" name="Shape 9"/>
          <p:cNvSpPr/>
          <p:nvPr/>
        </p:nvSpPr>
        <p:spPr>
          <a:xfrm>
            <a:off x="6185916" y="5166360"/>
            <a:ext cx="2635758" cy="1051560"/>
          </a:xfrm>
          <a:prstGeom prst="roundRect">
            <a:avLst/>
          </a:prstGeom>
          <a:solidFill>
            <a:srgbClr val="FBE9E7"/>
          </a:solidFill>
          <a:ln w="25400">
            <a:solidFill>
              <a:srgbClr val="E64A19"/>
            </a:solidFill>
            <a:prstDash val="solid"/>
          </a:ln>
        </p:spPr>
      </p:sp>
      <p:sp>
        <p:nvSpPr>
          <p:cNvPr id="13" name="Text 10"/>
          <p:cNvSpPr/>
          <p:nvPr/>
        </p:nvSpPr>
        <p:spPr>
          <a:xfrm>
            <a:off x="6323076" y="5257800"/>
            <a:ext cx="2361438" cy="457200"/>
          </a:xfrm>
          <a:prstGeom prst="rect">
            <a:avLst/>
          </a:prstGeom>
          <a:noFill/>
          <a:ln/>
        </p:spPr>
        <p:txBody>
          <a:bodyPr wrap="square" rtlCol="0" anchor="ctr"/>
          <a:lstStyle/>
          <a:p>
            <a:pPr algn="ctr" indent="0" marL="0">
              <a:buNone/>
            </a:pPr>
            <a:r>
              <a:rPr lang="en-US" sz="1500" b="1" dirty="0">
                <a:solidFill>
                  <a:srgbClr val="7F0000"/>
                </a:solidFill>
                <a:latin typeface="Arial" pitchFamily="34" charset="0"/>
                <a:ea typeface="Arial" pitchFamily="34" charset="-122"/>
                <a:cs typeface="Arial" pitchFamily="34" charset="-120"/>
              </a:rPr>
              <a:t>Runner</a:t>
            </a:r>
            <a:endParaRPr lang="en-US" sz="1500" dirty="0"/>
          </a:p>
        </p:txBody>
      </p:sp>
      <p:sp>
        <p:nvSpPr>
          <p:cNvPr id="14" name="Text 11"/>
          <p:cNvSpPr/>
          <p:nvPr/>
        </p:nvSpPr>
        <p:spPr>
          <a:xfrm>
            <a:off x="6368796" y="5760720"/>
            <a:ext cx="2269998" cy="365760"/>
          </a:xfrm>
          <a:prstGeom prst="rect">
            <a:avLst/>
          </a:prstGeom>
          <a:noFill/>
          <a:ln/>
        </p:spPr>
        <p:txBody>
          <a:bodyPr wrap="square" rtlCol="0" anchor="t"/>
          <a:lstStyle/>
          <a:p>
            <a:pPr algn="ctr" indent="0" marL="0">
              <a:buNone/>
            </a:pPr>
            <a:r>
              <a:rPr lang="en-US" sz="1250" dirty="0">
                <a:solidFill>
                  <a:srgbClr val="212121"/>
                </a:solidFill>
                <a:latin typeface="Arial" pitchFamily="34" charset="0"/>
                <a:ea typeface="Arial" pitchFamily="34" charset="-122"/>
                <a:cs typeface="Arial" pitchFamily="34" charset="-120"/>
              </a:rPr>
              <a:t>La VM donde corre: Ubuntu, Windows, macOS</a:t>
            </a:r>
            <a:endParaRPr lang="en-US" sz="1250" dirty="0"/>
          </a:p>
        </p:txBody>
      </p:sp>
      <p:sp>
        <p:nvSpPr>
          <p:cNvPr id="15" name="Shape 12"/>
          <p:cNvSpPr/>
          <p:nvPr/>
        </p:nvSpPr>
        <p:spPr>
          <a:xfrm>
            <a:off x="9004554" y="5166360"/>
            <a:ext cx="2635758" cy="1051560"/>
          </a:xfrm>
          <a:prstGeom prst="roundRect">
            <a:avLst/>
          </a:prstGeom>
          <a:solidFill>
            <a:srgbClr val="FBEAEA"/>
          </a:solidFill>
          <a:ln w="15875">
            <a:solidFill>
              <a:srgbClr val="C62828"/>
            </a:solidFill>
            <a:prstDash val="solid"/>
          </a:ln>
        </p:spPr>
      </p:sp>
      <p:sp>
        <p:nvSpPr>
          <p:cNvPr id="16" name="Text 13"/>
          <p:cNvSpPr/>
          <p:nvPr/>
        </p:nvSpPr>
        <p:spPr>
          <a:xfrm>
            <a:off x="9141714" y="5257800"/>
            <a:ext cx="2361438" cy="457200"/>
          </a:xfrm>
          <a:prstGeom prst="rect">
            <a:avLst/>
          </a:prstGeom>
          <a:noFill/>
          <a:ln/>
        </p:spPr>
        <p:txBody>
          <a:bodyPr wrap="square" rtlCol="0" anchor="ctr"/>
          <a:lstStyle/>
          <a:p>
            <a:pPr algn="ctr" indent="0" marL="0">
              <a:buNone/>
            </a:pPr>
            <a:r>
              <a:rPr lang="en-US" sz="1500" b="1" dirty="0">
                <a:solidFill>
                  <a:srgbClr val="7F0000"/>
                </a:solidFill>
                <a:latin typeface="Arial" pitchFamily="34" charset="0"/>
                <a:ea typeface="Arial" pitchFamily="34" charset="-122"/>
                <a:cs typeface="Arial" pitchFamily="34" charset="-120"/>
              </a:rPr>
              <a:t>Action</a:t>
            </a:r>
            <a:endParaRPr lang="en-US" sz="1500" dirty="0"/>
          </a:p>
        </p:txBody>
      </p:sp>
      <p:sp>
        <p:nvSpPr>
          <p:cNvPr id="17" name="Text 14"/>
          <p:cNvSpPr/>
          <p:nvPr/>
        </p:nvSpPr>
        <p:spPr>
          <a:xfrm>
            <a:off x="9187434" y="5760720"/>
            <a:ext cx="2269998" cy="365760"/>
          </a:xfrm>
          <a:prstGeom prst="rect">
            <a:avLst/>
          </a:prstGeom>
          <a:noFill/>
          <a:ln/>
        </p:spPr>
        <p:txBody>
          <a:bodyPr wrap="square" rtlCol="0" anchor="t"/>
          <a:lstStyle/>
          <a:p>
            <a:pPr algn="ctr" indent="0" marL="0">
              <a:buNone/>
            </a:pPr>
            <a:r>
              <a:rPr lang="en-US" sz="1250" dirty="0">
                <a:solidFill>
                  <a:srgbClr val="212121"/>
                </a:solidFill>
                <a:latin typeface="Arial" pitchFamily="34" charset="0"/>
                <a:ea typeface="Arial" pitchFamily="34" charset="-122"/>
                <a:cs typeface="Arial" pitchFamily="34" charset="-120"/>
              </a:rPr>
              <a:t>Tarea reutilizable del Marketplace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Estructura de un workflow: ficheros YAML</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0: GitHub Actions</a:t>
            </a:r>
            <a:endParaRPr lang="en-US" sz="1100" dirty="0"/>
          </a:p>
        </p:txBody>
      </p:sp>
      <p:sp>
        <p:nvSpPr>
          <p:cNvPr id="5" name="Text 3"/>
          <p:cNvSpPr/>
          <p:nvPr/>
        </p:nvSpPr>
        <p:spPr>
          <a:xfrm>
            <a:off x="548640" y="1143000"/>
            <a:ext cx="11091672" cy="365760"/>
          </a:xfrm>
          <a:prstGeom prst="rect">
            <a:avLst/>
          </a:prstGeom>
          <a:noFill/>
          <a:ln/>
        </p:spPr>
        <p:txBody>
          <a:bodyPr wrap="square" rtlCol="0" anchor="ctr"/>
          <a:lstStyle/>
          <a:p>
            <a:pPr indent="0" marL="0">
              <a:buNone/>
            </a:pPr>
            <a:r>
              <a:rPr lang="en-US" sz="1500" b="1" dirty="0">
                <a:solidFill>
                  <a:srgbClr val="C62828"/>
                </a:solidFill>
                <a:latin typeface="Arial" pitchFamily="34" charset="0"/>
                <a:ea typeface="Arial" pitchFamily="34" charset="-122"/>
                <a:cs typeface="Arial" pitchFamily="34" charset="-120"/>
              </a:rPr>
              <a:t>Viven en .github/workflows/ — puedes tener varios ficheros</a:t>
            </a:r>
            <a:endParaRPr lang="en-US" sz="1500" dirty="0"/>
          </a:p>
        </p:txBody>
      </p:sp>
      <p:sp>
        <p:nvSpPr>
          <p:cNvPr id="6" name="Shape 4"/>
          <p:cNvSpPr/>
          <p:nvPr/>
        </p:nvSpPr>
        <p:spPr>
          <a:xfrm>
            <a:off x="548640" y="1554480"/>
            <a:ext cx="11091672" cy="1691640"/>
          </a:xfrm>
          <a:prstGeom prst="rect">
            <a:avLst/>
          </a:prstGeom>
          <a:solidFill>
            <a:srgbClr val="ECEFF1"/>
          </a:solidFill>
          <a:ln w="12700">
            <a:solidFill>
              <a:srgbClr val="EEEEEE"/>
            </a:solidFill>
            <a:prstDash val="solid"/>
          </a:ln>
        </p:spPr>
      </p:sp>
      <p:sp>
        <p:nvSpPr>
          <p:cNvPr id="7" name="Shape 5"/>
          <p:cNvSpPr/>
          <p:nvPr/>
        </p:nvSpPr>
        <p:spPr>
          <a:xfrm>
            <a:off x="548640" y="1554480"/>
            <a:ext cx="73152" cy="1691640"/>
          </a:xfrm>
          <a:prstGeom prst="rect">
            <a:avLst/>
          </a:prstGeom>
          <a:solidFill>
            <a:srgbClr val="E64A19"/>
          </a:solidFill>
          <a:ln w="12700">
            <a:solidFill>
              <a:srgbClr val="E64A19"/>
            </a:solidFill>
            <a:prstDash val="solid"/>
          </a:ln>
        </p:spPr>
      </p:sp>
      <p:sp>
        <p:nvSpPr>
          <p:cNvPr id="8" name="Text 6"/>
          <p:cNvSpPr/>
          <p:nvPr/>
        </p:nvSpPr>
        <p:spPr>
          <a:xfrm>
            <a:off x="822960" y="1645920"/>
            <a:ext cx="10634472" cy="1508760"/>
          </a:xfrm>
          <a:prstGeom prst="rect">
            <a:avLst/>
          </a:prstGeom>
          <a:noFill/>
          <a:ln/>
        </p:spPr>
        <p:txBody>
          <a:bodyPr wrap="square" rtlCol="0" anchor="t"/>
          <a:lstStyle/>
          <a:p>
            <a:pPr indent="0" marL="0">
              <a:buNone/>
            </a:pPr>
            <a:r>
              <a:rPr lang="en-US" sz="1400" dirty="0">
                <a:solidFill>
                  <a:srgbClr val="263238"/>
                </a:solidFill>
                <a:latin typeface="Courier New" pitchFamily="34" charset="0"/>
                <a:ea typeface="Courier New" pitchFamily="34" charset="-122"/>
                <a:cs typeface="Courier New" pitchFamily="34" charset="-120"/>
              </a:rPr>
              <a:t>mi-proyecto-ci/</a:t>
            </a:r>
            <a:endParaRPr lang="en-US" sz="1400" dirty="0"/>
          </a:p>
          <a:p>
            <a:pPr indent="0" marL="0">
              <a:buNone/>
            </a:pPr>
            <a:r>
              <a:rPr lang="en-US" sz="1400" dirty="0">
                <a:solidFill>
                  <a:srgbClr val="263238"/>
                </a:solidFill>
                <a:latin typeface="Courier New" pitchFamily="34" charset="0"/>
                <a:ea typeface="Courier New" pitchFamily="34" charset="-122"/>
                <a:cs typeface="Courier New" pitchFamily="34" charset="-120"/>
              </a:rPr>
              <a:t>├── .github/</a:t>
            </a:r>
            <a:endParaRPr lang="en-US" sz="1400" dirty="0"/>
          </a:p>
          <a:p>
            <a:pPr indent="0" marL="0">
              <a:buNone/>
            </a:pPr>
            <a:r>
              <a:rPr lang="en-US" sz="1400" dirty="0">
                <a:solidFill>
                  <a:srgbClr val="263238"/>
                </a:solidFill>
                <a:latin typeface="Courier New" pitchFamily="34" charset="0"/>
                <a:ea typeface="Courier New" pitchFamily="34" charset="-122"/>
                <a:cs typeface="Courier New" pitchFamily="34" charset="-120"/>
              </a:rPr>
              <a:t>│   └── workflows/</a:t>
            </a:r>
            <a:endParaRPr lang="en-US" sz="1400" dirty="0"/>
          </a:p>
          <a:p>
            <a:pPr indent="0" marL="0">
              <a:buNone/>
            </a:pPr>
            <a:r>
              <a:rPr lang="en-US" sz="1400" dirty="0">
                <a:solidFill>
                  <a:srgbClr val="263238"/>
                </a:solidFill>
                <a:latin typeface="Courier New" pitchFamily="34" charset="0"/>
                <a:ea typeface="Courier New" pitchFamily="34" charset="-122"/>
                <a:cs typeface="Courier New" pitchFamily="34" charset="-120"/>
              </a:rPr>
              <a:t>│       └── ci.yml        ← se ejecuta en cada push a main</a:t>
            </a:r>
            <a:endParaRPr lang="en-US" sz="1400" dirty="0"/>
          </a:p>
          <a:p>
            <a:pPr indent="0" marL="0">
              <a:buNone/>
            </a:pPr>
            <a:r>
              <a:rPr lang="en-US" sz="1400" dirty="0">
                <a:solidFill>
                  <a:srgbClr val="263238"/>
                </a:solidFill>
                <a:latin typeface="Courier New" pitchFamily="34" charset="0"/>
                <a:ea typeface="Courier New" pitchFamily="34" charset="-122"/>
                <a:cs typeface="Courier New" pitchFamily="34" charset="-120"/>
              </a:rPr>
              <a:t>├── src/main/java/.../Calculadora.java</a:t>
            </a:r>
            <a:endParaRPr lang="en-US" sz="1400" dirty="0"/>
          </a:p>
          <a:p>
            <a:pPr indent="0" marL="0">
              <a:buNone/>
            </a:pPr>
            <a:r>
              <a:rPr lang="en-US" sz="1400" dirty="0">
                <a:solidFill>
                  <a:srgbClr val="263238"/>
                </a:solidFill>
                <a:latin typeface="Courier New" pitchFamily="34" charset="0"/>
                <a:ea typeface="Courier New" pitchFamily="34" charset="-122"/>
                <a:cs typeface="Courier New" pitchFamily="34" charset="-120"/>
              </a:rPr>
              <a:t>├── src/test/java/.../CalculadoraTest.java</a:t>
            </a:r>
            <a:endParaRPr lang="en-US" sz="1400" dirty="0"/>
          </a:p>
          <a:p>
            <a:pPr indent="0" marL="0">
              <a:buNone/>
            </a:pPr>
            <a:r>
              <a:rPr lang="en-US" sz="1400" dirty="0">
                <a:solidFill>
                  <a:srgbClr val="263238"/>
                </a:solidFill>
                <a:latin typeface="Courier New" pitchFamily="34" charset="0"/>
                <a:ea typeface="Courier New" pitchFamily="34" charset="-122"/>
                <a:cs typeface="Courier New" pitchFamily="34" charset="-120"/>
              </a:rPr>
              <a:t>└── pom.xml</a:t>
            </a:r>
            <a:endParaRPr lang="en-US" sz="1400" dirty="0"/>
          </a:p>
        </p:txBody>
      </p:sp>
      <p:sp>
        <p:nvSpPr>
          <p:cNvPr id="9" name="Shape 7"/>
          <p:cNvSpPr/>
          <p:nvPr/>
        </p:nvSpPr>
        <p:spPr>
          <a:xfrm>
            <a:off x="548640" y="3429000"/>
            <a:ext cx="11091672" cy="2057400"/>
          </a:xfrm>
          <a:prstGeom prst="rect">
            <a:avLst/>
          </a:prstGeom>
          <a:solidFill>
            <a:srgbClr val="ECEFF1"/>
          </a:solidFill>
          <a:ln w="12700">
            <a:solidFill>
              <a:srgbClr val="EEEEEE"/>
            </a:solidFill>
            <a:prstDash val="solid"/>
          </a:ln>
        </p:spPr>
      </p:sp>
      <p:sp>
        <p:nvSpPr>
          <p:cNvPr id="10" name="Shape 8"/>
          <p:cNvSpPr/>
          <p:nvPr/>
        </p:nvSpPr>
        <p:spPr>
          <a:xfrm>
            <a:off x="548640" y="3429000"/>
            <a:ext cx="73152" cy="2057400"/>
          </a:xfrm>
          <a:prstGeom prst="rect">
            <a:avLst/>
          </a:prstGeom>
          <a:solidFill>
            <a:srgbClr val="E64A19"/>
          </a:solidFill>
          <a:ln w="12700">
            <a:solidFill>
              <a:srgbClr val="E64A19"/>
            </a:solidFill>
            <a:prstDash val="solid"/>
          </a:ln>
        </p:spPr>
      </p:sp>
      <p:sp>
        <p:nvSpPr>
          <p:cNvPr id="11" name="Text 9"/>
          <p:cNvSpPr/>
          <p:nvPr/>
        </p:nvSpPr>
        <p:spPr>
          <a:xfrm>
            <a:off x="822960" y="3520440"/>
            <a:ext cx="10634472" cy="1874520"/>
          </a:xfrm>
          <a:prstGeom prst="rect">
            <a:avLst/>
          </a:prstGeom>
          <a:noFill/>
          <a:ln/>
        </p:spPr>
        <p:txBody>
          <a:bodyPr wrap="square" rtlCol="0" anchor="t"/>
          <a:lstStyle/>
          <a:p>
            <a:pPr indent="0" marL="0">
              <a:buNone/>
            </a:pPr>
            <a:r>
              <a:rPr lang="en-US" sz="1250" b="1" dirty="0">
                <a:solidFill>
                  <a:srgbClr val="7F0000"/>
                </a:solidFill>
                <a:latin typeface="Courier New" pitchFamily="34" charset="0"/>
                <a:ea typeface="Courier New" pitchFamily="34" charset="-122"/>
                <a:cs typeface="Courier New" pitchFamily="34" charset="-120"/>
              </a:rPr>
              <a:t>name</a:t>
            </a:r>
            <a:pPr indent="0" marL="0">
              <a:buNone/>
            </a:pPr>
            <a:r>
              <a:rPr lang="en-US" sz="1250" dirty="0">
                <a:solidFill>
                  <a:srgbClr val="263238"/>
                </a:solidFill>
                <a:latin typeface="Courier New" pitchFamily="34" charset="0"/>
                <a:ea typeface="Courier New" pitchFamily="34" charset="-122"/>
                <a:cs typeface="Courier New" pitchFamily="34" charset="-120"/>
              </a:rPr>
              <a:t>: CI — Build y Tests</a:t>
            </a:r>
            <a:endParaRPr lang="en-US" sz="1250" dirty="0"/>
          </a:p>
          <a:p>
            <a:pPr indent="0" marL="0">
              <a:buNone/>
            </a:pPr>
            <a:r>
              <a:rPr lang="en-US" sz="1250" b="1" dirty="0">
                <a:solidFill>
                  <a:srgbClr val="7F0000"/>
                </a:solidFill>
                <a:latin typeface="Courier New" pitchFamily="34" charset="0"/>
                <a:ea typeface="Courier New" pitchFamily="34" charset="-122"/>
                <a:cs typeface="Courier New" pitchFamily="34" charset="-120"/>
              </a:rPr>
              <a:t>on</a:t>
            </a:r>
            <a:pPr indent="0" marL="0">
              <a:buNone/>
            </a:pPr>
            <a:r>
              <a:rPr lang="en-US" sz="1250" dirty="0">
                <a:solidFill>
                  <a:srgbClr val="263238"/>
                </a:solidFill>
                <a:latin typeface="Courier New" pitchFamily="34" charset="0"/>
                <a:ea typeface="Courier New" pitchFamily="34" charset="-122"/>
                <a:cs typeface="Courier New" pitchFamily="34" charset="-120"/>
              </a:rPr>
              <a:t>:</a:t>
            </a:r>
            <a:endParaRPr lang="en-US" sz="1250" dirty="0"/>
          </a:p>
          <a:p>
            <a:pPr indent="0" marL="0">
              <a:buNone/>
            </a:pPr>
            <a:r>
              <a:rPr lang="en-US" sz="1250" b="1" dirty="0">
                <a:solidFill>
                  <a:srgbClr val="7F0000"/>
                </a:solidFill>
                <a:latin typeface="Courier New" pitchFamily="34" charset="0"/>
                <a:ea typeface="Courier New" pitchFamily="34" charset="-122"/>
                <a:cs typeface="Courier New" pitchFamily="34" charset="-120"/>
              </a:rPr>
              <a:t>  push</a:t>
            </a:r>
            <a:pPr indent="0" marL="0">
              <a:buNone/>
            </a:pPr>
            <a:r>
              <a:rPr lang="en-US" sz="1250" dirty="0">
                <a:solidFill>
                  <a:srgbClr val="263238"/>
                </a:solidFill>
                <a:latin typeface="Courier New" pitchFamily="34" charset="0"/>
                <a:ea typeface="Courier New" pitchFamily="34" charset="-122"/>
                <a:cs typeface="Courier New" pitchFamily="34" charset="-120"/>
              </a:rPr>
              <a:t>:</a:t>
            </a:r>
            <a:endParaRPr lang="en-US" sz="1250" dirty="0"/>
          </a:p>
          <a:p>
            <a:pPr indent="0" marL="0">
              <a:buNone/>
            </a:pPr>
            <a:r>
              <a:rPr lang="en-US" sz="1250" b="1" dirty="0">
                <a:solidFill>
                  <a:srgbClr val="7F0000"/>
                </a:solidFill>
                <a:latin typeface="Courier New" pitchFamily="34" charset="0"/>
                <a:ea typeface="Courier New" pitchFamily="34" charset="-122"/>
                <a:cs typeface="Courier New" pitchFamily="34" charset="-120"/>
              </a:rPr>
              <a:t>    branches</a:t>
            </a:r>
            <a:pPr indent="0" marL="0">
              <a:buNone/>
            </a:pPr>
            <a:r>
              <a:rPr lang="en-US" sz="1250" dirty="0">
                <a:solidFill>
                  <a:srgbClr val="263238"/>
                </a:solidFill>
                <a:latin typeface="Courier New" pitchFamily="34" charset="0"/>
                <a:ea typeface="Courier New" pitchFamily="34" charset="-122"/>
                <a:cs typeface="Courier New" pitchFamily="34" charset="-120"/>
              </a:rPr>
              <a:t>: [main]</a:t>
            </a:r>
            <a:endParaRPr lang="en-US" sz="1250" dirty="0"/>
          </a:p>
          <a:p>
            <a:pPr indent="0" marL="0">
              <a:buNone/>
            </a:pPr>
            <a:r>
              <a:rPr lang="en-US" sz="1250" b="1" dirty="0">
                <a:solidFill>
                  <a:srgbClr val="7F0000"/>
                </a:solidFill>
                <a:latin typeface="Courier New" pitchFamily="34" charset="0"/>
                <a:ea typeface="Courier New" pitchFamily="34" charset="-122"/>
                <a:cs typeface="Courier New" pitchFamily="34" charset="-120"/>
              </a:rPr>
              <a:t>jobs</a:t>
            </a:r>
            <a:pPr indent="0" marL="0">
              <a:buNone/>
            </a:pPr>
            <a:r>
              <a:rPr lang="en-US" sz="1250" dirty="0">
                <a:solidFill>
                  <a:srgbClr val="263238"/>
                </a:solidFill>
                <a:latin typeface="Courier New" pitchFamily="34" charset="0"/>
                <a:ea typeface="Courier New" pitchFamily="34" charset="-122"/>
                <a:cs typeface="Courier New" pitchFamily="34" charset="-120"/>
              </a:rPr>
              <a:t>:</a:t>
            </a:r>
            <a:endParaRPr lang="en-US" sz="1250" dirty="0"/>
          </a:p>
          <a:p>
            <a:pPr indent="0" marL="0">
              <a:buNone/>
            </a:pPr>
            <a:r>
              <a:rPr lang="en-US" sz="1250" b="1" dirty="0">
                <a:solidFill>
                  <a:srgbClr val="7F0000"/>
                </a:solidFill>
                <a:latin typeface="Courier New" pitchFamily="34" charset="0"/>
                <a:ea typeface="Courier New" pitchFamily="34" charset="-122"/>
                <a:cs typeface="Courier New" pitchFamily="34" charset="-120"/>
              </a:rPr>
              <a:t>  build</a:t>
            </a:r>
            <a:pPr indent="0" marL="0">
              <a:buNone/>
            </a:pPr>
            <a:r>
              <a:rPr lang="en-US" sz="1250" dirty="0">
                <a:solidFill>
                  <a:srgbClr val="263238"/>
                </a:solidFill>
                <a:latin typeface="Courier New" pitchFamily="34" charset="0"/>
                <a:ea typeface="Courier New" pitchFamily="34" charset="-122"/>
                <a:cs typeface="Courier New" pitchFamily="34" charset="-120"/>
              </a:rPr>
              <a:t>:</a:t>
            </a:r>
            <a:endParaRPr lang="en-US" sz="1250" dirty="0"/>
          </a:p>
          <a:p>
            <a:pPr indent="0" marL="0">
              <a:buNone/>
            </a:pPr>
            <a:r>
              <a:rPr lang="en-US" sz="1250" b="1" dirty="0">
                <a:solidFill>
                  <a:srgbClr val="7F0000"/>
                </a:solidFill>
                <a:latin typeface="Courier New" pitchFamily="34" charset="0"/>
                <a:ea typeface="Courier New" pitchFamily="34" charset="-122"/>
                <a:cs typeface="Courier New" pitchFamily="34" charset="-120"/>
              </a:rPr>
              <a:t>    runs-on</a:t>
            </a:r>
            <a:pPr indent="0" marL="0">
              <a:buNone/>
            </a:pPr>
            <a:r>
              <a:rPr lang="en-US" sz="1250" dirty="0">
                <a:solidFill>
                  <a:srgbClr val="263238"/>
                </a:solidFill>
                <a:latin typeface="Courier New" pitchFamily="34" charset="0"/>
                <a:ea typeface="Courier New" pitchFamily="34" charset="-122"/>
                <a:cs typeface="Courier New" pitchFamily="34" charset="-120"/>
              </a:rPr>
              <a:t>: ubuntu-latest</a:t>
            </a:r>
            <a:endParaRPr lang="en-US" sz="1250" dirty="0"/>
          </a:p>
          <a:p>
            <a:pPr indent="0" marL="0">
              <a:buNone/>
            </a:pPr>
            <a:r>
              <a:rPr lang="en-US" sz="1250" b="1" dirty="0">
                <a:solidFill>
                  <a:srgbClr val="7F0000"/>
                </a:solidFill>
                <a:latin typeface="Courier New" pitchFamily="34" charset="0"/>
                <a:ea typeface="Courier New" pitchFamily="34" charset="-122"/>
                <a:cs typeface="Courier New" pitchFamily="34" charset="-120"/>
              </a:rPr>
              <a:t>    steps</a:t>
            </a:r>
            <a:pPr indent="0" marL="0">
              <a:buNone/>
            </a:pPr>
            <a:r>
              <a:rPr lang="en-US" sz="1250" dirty="0">
                <a:solidFill>
                  <a:srgbClr val="263238"/>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rgbClr val="263238"/>
                </a:solidFill>
                <a:latin typeface="Courier New" pitchFamily="34" charset="0"/>
                <a:ea typeface="Courier New" pitchFamily="34" charset="-122"/>
                <a:cs typeface="Courier New" pitchFamily="34" charset="-120"/>
              </a:rPr>
              <a:t>      - name: Descargar el código fuente</a:t>
            </a:r>
            <a:endParaRPr lang="en-US" sz="1250" dirty="0"/>
          </a:p>
          <a:p>
            <a:pPr indent="0" marL="0">
              <a:buNone/>
            </a:pPr>
            <a:r>
              <a:rPr lang="en-US" sz="1250" b="1" dirty="0">
                <a:solidFill>
                  <a:srgbClr val="7F0000"/>
                </a:solidFill>
                <a:latin typeface="Courier New" pitchFamily="34" charset="0"/>
                <a:ea typeface="Courier New" pitchFamily="34" charset="-122"/>
                <a:cs typeface="Courier New" pitchFamily="34" charset="-120"/>
              </a:rPr>
              <a:t>        uses</a:t>
            </a:r>
            <a:pPr indent="0" marL="0">
              <a:buNone/>
            </a:pPr>
            <a:r>
              <a:rPr lang="en-US" sz="1250" dirty="0">
                <a:solidFill>
                  <a:srgbClr val="263238"/>
                </a:solidFill>
                <a:latin typeface="Courier New" pitchFamily="34" charset="0"/>
                <a:ea typeface="Courier New" pitchFamily="34" charset="-122"/>
                <a:cs typeface="Courier New" pitchFamily="34" charset="-120"/>
              </a:rPr>
              <a:t>: actions/checkout@v7</a:t>
            </a:r>
            <a:endParaRPr lang="en-US" sz="1250" dirty="0"/>
          </a:p>
        </p:txBody>
      </p:sp>
      <p:sp>
        <p:nvSpPr>
          <p:cNvPr id="12" name="Shape 10"/>
          <p:cNvSpPr/>
          <p:nvPr/>
        </p:nvSpPr>
        <p:spPr>
          <a:xfrm>
            <a:off x="548640" y="5669280"/>
            <a:ext cx="11091672" cy="685800"/>
          </a:xfrm>
          <a:prstGeom prst="roundRect">
            <a:avLst/>
          </a:prstGeom>
          <a:solidFill>
            <a:srgbClr val="FBE9E7"/>
          </a:solidFill>
          <a:ln w="19050">
            <a:solidFill>
              <a:srgbClr val="E64A19"/>
            </a:solidFill>
            <a:prstDash val="solid"/>
          </a:ln>
        </p:spPr>
      </p:sp>
      <p:sp>
        <p:nvSpPr>
          <p:cNvPr id="13" name="Text 11"/>
          <p:cNvSpPr/>
          <p:nvPr/>
        </p:nvSpPr>
        <p:spPr>
          <a:xfrm>
            <a:off x="777240" y="5742432"/>
            <a:ext cx="10634472" cy="539496"/>
          </a:xfrm>
          <a:prstGeom prst="rect">
            <a:avLst/>
          </a:prstGeom>
          <a:noFill/>
          <a:ln/>
        </p:spPr>
        <p:txBody>
          <a:bodyPr wrap="square" rtlCol="0" anchor="ctr"/>
          <a:lstStyle/>
          <a:p>
            <a:pPr indent="0" marL="0">
              <a:buNone/>
            </a:pPr>
            <a:r>
              <a:rPr lang="en-US" sz="1300" dirty="0">
                <a:solidFill>
                  <a:srgbClr val="212121"/>
                </a:solidFill>
                <a:latin typeface="Arial" pitchFamily="34" charset="0"/>
                <a:ea typeface="Arial" pitchFamily="34" charset="-122"/>
                <a:cs typeface="Arial" pitchFamily="34" charset="-120"/>
              </a:rPr>
              <a:t>Evita referencias como @main en una Action: apuntan al desarrollo más reciente y pueden cambiar sin que hayas tocado tu workflow. Usa la versión mayor estable, como @v7.</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Cada sección del YAML tiene su función</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0: GitHub Actions</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91672" cy="914400"/>
        </p:xfrm>
        <a:graphic>
          <a:graphicData uri="http://schemas.openxmlformats.org/drawingml/2006/table">
            <a:tbl>
              <a:tblPr/>
              <a:tblGrid>
                <a:gridCol w="2440168"/>
                <a:gridCol w="8651504"/>
              </a:tblGrid>
              <a:tr h="603504">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Sección</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Qué hace</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r>
              <a:tr h="603504">
                <a:tc>
                  <a:txBody>
                    <a:bodyPr/>
                    <a:lstStyle/>
                    <a:p>
                      <a:pPr indent="0" marL="0">
                        <a:buNone/>
                      </a:pPr>
                      <a:r>
                        <a:rPr lang="en-US" sz="1450" b="1" dirty="0">
                          <a:solidFill>
                            <a:srgbClr val="212121"/>
                          </a:solidFill>
                          <a:latin typeface="Arial" pitchFamily="34" charset="0"/>
                          <a:ea typeface="Arial" pitchFamily="34" charset="-122"/>
                          <a:cs typeface="Arial" pitchFamily="34" charset="-120"/>
                        </a:rPr>
                        <a:t>name</a:t>
                      </a:r>
                      <a:endParaRPr lang="en-US" sz="14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50" dirty="0">
                          <a:solidFill>
                            <a:srgbClr val="212121"/>
                          </a:solidFill>
                          <a:latin typeface="Arial" pitchFamily="34" charset="0"/>
                          <a:ea typeface="Arial" pitchFamily="34" charset="-122"/>
                          <a:cs typeface="Arial" pitchFamily="34" charset="-120"/>
                        </a:rPr>
                        <a:t>El nombre que verás en la interfaz de GitHub</a:t>
                      </a:r>
                      <a:endParaRPr lang="en-US" sz="14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603504">
                <a:tc>
                  <a:txBody>
                    <a:bodyPr/>
                    <a:lstStyle/>
                    <a:p>
                      <a:pPr indent="0" marL="0">
                        <a:buNone/>
                      </a:pPr>
                      <a:r>
                        <a:rPr lang="en-US" sz="1450" b="1" dirty="0">
                          <a:solidFill>
                            <a:srgbClr val="212121"/>
                          </a:solidFill>
                          <a:latin typeface="Arial" pitchFamily="34" charset="0"/>
                          <a:ea typeface="Arial" pitchFamily="34" charset="-122"/>
                          <a:cs typeface="Arial" pitchFamily="34" charset="-120"/>
                        </a:rPr>
                        <a:t>on</a:t>
                      </a:r>
                      <a:endParaRPr lang="en-US" sz="14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50" dirty="0">
                          <a:solidFill>
                            <a:srgbClr val="212121"/>
                          </a:solidFill>
                          <a:latin typeface="Arial" pitchFamily="34" charset="0"/>
                          <a:ea typeface="Arial" pitchFamily="34" charset="-122"/>
                          <a:cs typeface="Arial" pitchFamily="34" charset="-120"/>
                        </a:rPr>
                        <a:t>Qué eventos activan el workflow — puedes listar varios</a:t>
                      </a:r>
                      <a:endParaRPr lang="en-US" sz="14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603504">
                <a:tc>
                  <a:txBody>
                    <a:bodyPr/>
                    <a:lstStyle/>
                    <a:p>
                      <a:pPr indent="0" marL="0">
                        <a:buNone/>
                      </a:pPr>
                      <a:r>
                        <a:rPr lang="en-US" sz="1450" b="1" dirty="0">
                          <a:solidFill>
                            <a:srgbClr val="212121"/>
                          </a:solidFill>
                          <a:latin typeface="Arial" pitchFamily="34" charset="0"/>
                          <a:ea typeface="Arial" pitchFamily="34" charset="-122"/>
                          <a:cs typeface="Arial" pitchFamily="34" charset="-120"/>
                        </a:rPr>
                        <a:t>jobs</a:t>
                      </a:r>
                      <a:endParaRPr lang="en-US" sz="14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50" dirty="0">
                          <a:solidFill>
                            <a:srgbClr val="212121"/>
                          </a:solidFill>
                          <a:latin typeface="Arial" pitchFamily="34" charset="0"/>
                          <a:ea typeface="Arial" pitchFamily="34" charset="-122"/>
                          <a:cs typeface="Arial" pitchFamily="34" charset="-120"/>
                        </a:rPr>
                        <a:t>Uno o más jobs; por defecto se ejecutan en paralelo</a:t>
                      </a:r>
                      <a:endParaRPr lang="en-US" sz="14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603504">
                <a:tc>
                  <a:txBody>
                    <a:bodyPr/>
                    <a:lstStyle/>
                    <a:p>
                      <a:pPr indent="0" marL="0">
                        <a:buNone/>
                      </a:pPr>
                      <a:r>
                        <a:rPr lang="en-US" sz="1450" b="1" dirty="0">
                          <a:solidFill>
                            <a:srgbClr val="212121"/>
                          </a:solidFill>
                          <a:latin typeface="Arial" pitchFamily="34" charset="0"/>
                          <a:ea typeface="Arial" pitchFamily="34" charset="-122"/>
                          <a:cs typeface="Arial" pitchFamily="34" charset="-120"/>
                        </a:rPr>
                        <a:t>runs-on</a:t>
                      </a:r>
                      <a:endParaRPr lang="en-US" sz="14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50" dirty="0">
                          <a:solidFill>
                            <a:srgbClr val="212121"/>
                          </a:solidFill>
                          <a:latin typeface="Arial" pitchFamily="34" charset="0"/>
                          <a:ea typeface="Arial" pitchFamily="34" charset="-122"/>
                          <a:cs typeface="Arial" pitchFamily="34" charset="-120"/>
                        </a:rPr>
                        <a:t>El tipo de runner — ubuntu-latest es el más común</a:t>
                      </a:r>
                      <a:endParaRPr lang="en-US" sz="14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603504">
                <a:tc>
                  <a:txBody>
                    <a:bodyPr/>
                    <a:lstStyle/>
                    <a:p>
                      <a:pPr indent="0" marL="0">
                        <a:buNone/>
                      </a:pPr>
                      <a:r>
                        <a:rPr lang="en-US" sz="1450" b="1" dirty="0">
                          <a:solidFill>
                            <a:srgbClr val="212121"/>
                          </a:solidFill>
                          <a:latin typeface="Arial" pitchFamily="34" charset="0"/>
                          <a:ea typeface="Arial" pitchFamily="34" charset="-122"/>
                          <a:cs typeface="Arial" pitchFamily="34" charset="-120"/>
                        </a:rPr>
                        <a:t>steps</a:t>
                      </a:r>
                      <a:endParaRPr lang="en-US" sz="14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50" dirty="0">
                          <a:solidFill>
                            <a:srgbClr val="212121"/>
                          </a:solidFill>
                          <a:latin typeface="Arial" pitchFamily="34" charset="0"/>
                          <a:ea typeface="Arial" pitchFamily="34" charset="-122"/>
                          <a:cs typeface="Arial" pitchFamily="34" charset="-120"/>
                        </a:rPr>
                        <a:t>Pasos en orden; si uno falla, los siguientes no se ejecutan (salvo if: always())</a:t>
                      </a:r>
                      <a:endParaRPr lang="en-US" sz="14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603504">
                <a:tc>
                  <a:txBody>
                    <a:bodyPr/>
                    <a:lstStyle/>
                    <a:p>
                      <a:pPr indent="0" marL="0">
                        <a:buNone/>
                      </a:pPr>
                      <a:r>
                        <a:rPr lang="en-US" sz="1450" b="1" dirty="0">
                          <a:solidFill>
                            <a:srgbClr val="212121"/>
                          </a:solidFill>
                          <a:latin typeface="Arial" pitchFamily="34" charset="0"/>
                          <a:ea typeface="Arial" pitchFamily="34" charset="-122"/>
                          <a:cs typeface="Arial" pitchFamily="34" charset="-120"/>
                        </a:rPr>
                        <a:t>uses / run</a:t>
                      </a:r>
                      <a:endParaRPr lang="en-US" sz="14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50" dirty="0">
                          <a:solidFill>
                            <a:srgbClr val="212121"/>
                          </a:solidFill>
                          <a:latin typeface="Arial" pitchFamily="34" charset="0"/>
                          <a:ea typeface="Arial" pitchFamily="34" charset="-122"/>
                          <a:cs typeface="Arial" pitchFamily="34" charset="-120"/>
                        </a:rPr>
                        <a:t>uses invoca una Action; run ejecuta un comando de shell</a:t>
                      </a:r>
                      <a:endParaRPr lang="en-US" sz="14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bl>
          </a:graphicData>
        </a:graphic>
      </p:graphicFrame>
      <p:sp>
        <p:nvSpPr>
          <p:cNvPr id="6" name="Shape 3"/>
          <p:cNvSpPr/>
          <p:nvPr/>
        </p:nvSpPr>
        <p:spPr>
          <a:xfrm>
            <a:off x="548640" y="5029200"/>
            <a:ext cx="11091672" cy="914400"/>
          </a:xfrm>
          <a:prstGeom prst="roundRect">
            <a:avLst/>
          </a:prstGeom>
          <a:solidFill>
            <a:srgbClr val="FBE9E7"/>
          </a:solidFill>
          <a:ln w="19050">
            <a:solidFill>
              <a:srgbClr val="E64A19"/>
            </a:solidFill>
            <a:prstDash val="solid"/>
          </a:ln>
        </p:spPr>
      </p:sp>
      <p:sp>
        <p:nvSpPr>
          <p:cNvPr id="7" name="Text 4"/>
          <p:cNvSpPr/>
          <p:nvPr/>
        </p:nvSpPr>
        <p:spPr>
          <a:xfrm>
            <a:off x="777240" y="5102352"/>
            <a:ext cx="10634472" cy="768096"/>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Node.js 24 es el runtime por defecto de las Actions JavaScript desde junio de 2026: conviene mantener actualizadas las Actions oficiales.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El proyecto de ejemplo: Calculadora</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0: GitHub Actions</a:t>
            </a:r>
            <a:endParaRPr lang="en-US" sz="1100" dirty="0"/>
          </a:p>
        </p:txBody>
      </p:sp>
      <p:sp>
        <p:nvSpPr>
          <p:cNvPr id="5" name="Text 3"/>
          <p:cNvSpPr/>
          <p:nvPr/>
        </p:nvSpPr>
        <p:spPr>
          <a:xfrm>
            <a:off x="548640" y="1143000"/>
            <a:ext cx="5408676" cy="365760"/>
          </a:xfrm>
          <a:prstGeom prst="rect">
            <a:avLst/>
          </a:prstGeom>
          <a:noFill/>
          <a:ln/>
        </p:spPr>
        <p:txBody>
          <a:bodyPr wrap="square" rtlCol="0" anchor="ctr"/>
          <a:lstStyle/>
          <a:p>
            <a:pPr indent="0" marL="0">
              <a:buNone/>
            </a:pPr>
            <a:r>
              <a:rPr lang="en-US" sz="1500" b="1" dirty="0">
                <a:solidFill>
                  <a:srgbClr val="C62828"/>
                </a:solidFill>
                <a:latin typeface="Arial" pitchFamily="34" charset="0"/>
                <a:ea typeface="Arial" pitchFamily="34" charset="-122"/>
                <a:cs typeface="Arial" pitchFamily="34" charset="-120"/>
              </a:rPr>
              <a:t>Calculadora.java</a:t>
            </a:r>
            <a:endParaRPr lang="en-US" sz="1500" dirty="0"/>
          </a:p>
        </p:txBody>
      </p:sp>
      <p:sp>
        <p:nvSpPr>
          <p:cNvPr id="6" name="Shape 4"/>
          <p:cNvSpPr/>
          <p:nvPr/>
        </p:nvSpPr>
        <p:spPr>
          <a:xfrm>
            <a:off x="548640" y="1527048"/>
            <a:ext cx="5408676" cy="2286000"/>
          </a:xfrm>
          <a:prstGeom prst="rect">
            <a:avLst/>
          </a:prstGeom>
          <a:solidFill>
            <a:srgbClr val="ECEFF1"/>
          </a:solidFill>
          <a:ln w="12700">
            <a:solidFill>
              <a:srgbClr val="EEEEEE"/>
            </a:solidFill>
            <a:prstDash val="solid"/>
          </a:ln>
        </p:spPr>
      </p:sp>
      <p:sp>
        <p:nvSpPr>
          <p:cNvPr id="7" name="Shape 5"/>
          <p:cNvSpPr/>
          <p:nvPr/>
        </p:nvSpPr>
        <p:spPr>
          <a:xfrm>
            <a:off x="548640" y="1527048"/>
            <a:ext cx="73152" cy="2286000"/>
          </a:xfrm>
          <a:prstGeom prst="rect">
            <a:avLst/>
          </a:prstGeom>
          <a:solidFill>
            <a:srgbClr val="E64A19"/>
          </a:solidFill>
          <a:ln w="12700">
            <a:solidFill>
              <a:srgbClr val="E64A19"/>
            </a:solidFill>
            <a:prstDash val="solid"/>
          </a:ln>
        </p:spPr>
      </p:sp>
      <p:sp>
        <p:nvSpPr>
          <p:cNvPr id="8" name="Text 6"/>
          <p:cNvSpPr/>
          <p:nvPr/>
        </p:nvSpPr>
        <p:spPr>
          <a:xfrm>
            <a:off x="822960" y="1618488"/>
            <a:ext cx="4951476" cy="2103120"/>
          </a:xfrm>
          <a:prstGeom prst="rect">
            <a:avLst/>
          </a:prstGeom>
          <a:noFill/>
          <a:ln/>
        </p:spPr>
        <p:txBody>
          <a:bodyPr wrap="square" rtlCol="0" anchor="t"/>
          <a:lstStyle/>
          <a:p>
            <a:pPr indent="0" marL="0">
              <a:buNone/>
            </a:pPr>
            <a:r>
              <a:rPr lang="en-US" sz="1200" b="1" dirty="0">
                <a:solidFill>
                  <a:srgbClr val="7F0000"/>
                </a:solidFill>
                <a:latin typeface="Courier New" pitchFamily="34" charset="0"/>
                <a:ea typeface="Courier New" pitchFamily="34" charset="-122"/>
                <a:cs typeface="Courier New" pitchFamily="34" charset="-120"/>
              </a:rPr>
              <a:t>public</a:t>
            </a:r>
            <a:pPr indent="0" marL="0">
              <a:buNone/>
            </a:pPr>
            <a:r>
              <a:rPr lang="en-US" sz="1200" dirty="0">
                <a:solidFill>
                  <a:srgbClr val="263238"/>
                </a:solidFill>
                <a:latin typeface="Courier New" pitchFamily="34" charset="0"/>
                <a:ea typeface="Courier New" pitchFamily="34" charset="-122"/>
                <a:cs typeface="Courier New" pitchFamily="34" charset="-120"/>
              </a:rPr>
              <a:t> </a:t>
            </a:r>
            <a:pPr indent="0" marL="0">
              <a:buNone/>
            </a:pPr>
            <a:r>
              <a:rPr lang="en-US" sz="1200" b="1" dirty="0">
                <a:solidFill>
                  <a:srgbClr val="7F0000"/>
                </a:solidFill>
                <a:latin typeface="Courier New" pitchFamily="34" charset="0"/>
                <a:ea typeface="Courier New" pitchFamily="34" charset="-122"/>
                <a:cs typeface="Courier New" pitchFamily="34" charset="-120"/>
              </a:rPr>
              <a:t>class</a:t>
            </a:r>
            <a:pPr indent="0" marL="0">
              <a:buNone/>
            </a:pPr>
            <a:r>
              <a:rPr lang="en-US" sz="1200" dirty="0">
                <a:solidFill>
                  <a:srgbClr val="263238"/>
                </a:solidFill>
                <a:latin typeface="Courier New" pitchFamily="34" charset="0"/>
                <a:ea typeface="Courier New" pitchFamily="34" charset="-122"/>
                <a:cs typeface="Courier New" pitchFamily="34" charset="-120"/>
              </a:rPr>
              <a:t> Calculadora {</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    </a:t>
            </a:r>
            <a:pPr indent="0" marL="0">
              <a:buNone/>
            </a:pPr>
            <a:r>
              <a:rPr lang="en-US" sz="1200" b="1" dirty="0">
                <a:solidFill>
                  <a:srgbClr val="7F0000"/>
                </a:solidFill>
                <a:latin typeface="Courier New" pitchFamily="34" charset="0"/>
                <a:ea typeface="Courier New" pitchFamily="34" charset="-122"/>
                <a:cs typeface="Courier New" pitchFamily="34" charset="-120"/>
              </a:rPr>
              <a:t>public</a:t>
            </a:r>
            <a:pPr indent="0" marL="0">
              <a:buNone/>
            </a:pPr>
            <a:r>
              <a:rPr lang="en-US" sz="1200" dirty="0">
                <a:solidFill>
                  <a:srgbClr val="263238"/>
                </a:solidFill>
                <a:latin typeface="Courier New" pitchFamily="34" charset="0"/>
                <a:ea typeface="Courier New" pitchFamily="34" charset="-122"/>
                <a:cs typeface="Courier New" pitchFamily="34" charset="-120"/>
              </a:rPr>
              <a:t> </a:t>
            </a:r>
            <a:pPr indent="0" marL="0">
              <a:buNone/>
            </a:pPr>
            <a:r>
              <a:rPr lang="en-US" sz="1200" b="1" dirty="0">
                <a:solidFill>
                  <a:srgbClr val="7F0000"/>
                </a:solidFill>
                <a:latin typeface="Courier New" pitchFamily="34" charset="0"/>
                <a:ea typeface="Courier New" pitchFamily="34" charset="-122"/>
                <a:cs typeface="Courier New" pitchFamily="34" charset="-120"/>
              </a:rPr>
              <a:t>int</a:t>
            </a:r>
            <a:pPr indent="0" marL="0">
              <a:buNone/>
            </a:pPr>
            <a:r>
              <a:rPr lang="en-US" sz="1200" dirty="0">
                <a:solidFill>
                  <a:srgbClr val="263238"/>
                </a:solidFill>
                <a:latin typeface="Courier New" pitchFamily="34" charset="0"/>
                <a:ea typeface="Courier New" pitchFamily="34" charset="-122"/>
                <a:cs typeface="Courier New" pitchFamily="34" charset="-120"/>
              </a:rPr>
              <a:t> sumar(</a:t>
            </a:r>
            <a:pPr indent="0" marL="0">
              <a:buNone/>
            </a:pPr>
            <a:r>
              <a:rPr lang="en-US" sz="1200" b="1" dirty="0">
                <a:solidFill>
                  <a:srgbClr val="7F0000"/>
                </a:solidFill>
                <a:latin typeface="Courier New" pitchFamily="34" charset="0"/>
                <a:ea typeface="Courier New" pitchFamily="34" charset="-122"/>
                <a:cs typeface="Courier New" pitchFamily="34" charset="-120"/>
              </a:rPr>
              <a:t>int</a:t>
            </a:r>
            <a:pPr indent="0" marL="0">
              <a:buNone/>
            </a:pPr>
            <a:r>
              <a:rPr lang="en-US" sz="1200" dirty="0">
                <a:solidFill>
                  <a:srgbClr val="263238"/>
                </a:solidFill>
                <a:latin typeface="Courier New" pitchFamily="34" charset="0"/>
                <a:ea typeface="Courier New" pitchFamily="34" charset="-122"/>
                <a:cs typeface="Courier New" pitchFamily="34" charset="-120"/>
              </a:rPr>
              <a:t> a, </a:t>
            </a:r>
            <a:pPr indent="0" marL="0">
              <a:buNone/>
            </a:pPr>
            <a:r>
              <a:rPr lang="en-US" sz="1200" b="1" dirty="0">
                <a:solidFill>
                  <a:srgbClr val="7F0000"/>
                </a:solidFill>
                <a:latin typeface="Courier New" pitchFamily="34" charset="0"/>
                <a:ea typeface="Courier New" pitchFamily="34" charset="-122"/>
                <a:cs typeface="Courier New" pitchFamily="34" charset="-120"/>
              </a:rPr>
              <a:t>int</a:t>
            </a:r>
            <a:pPr indent="0" marL="0">
              <a:buNone/>
            </a:pPr>
            <a:r>
              <a:rPr lang="en-US" sz="1200" dirty="0">
                <a:solidFill>
                  <a:srgbClr val="263238"/>
                </a:solidFill>
                <a:latin typeface="Courier New" pitchFamily="34" charset="0"/>
                <a:ea typeface="Courier New" pitchFamily="34" charset="-122"/>
                <a:cs typeface="Courier New" pitchFamily="34" charset="-120"/>
              </a:rPr>
              <a:t> b) {</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        </a:t>
            </a:r>
            <a:pPr indent="0" marL="0">
              <a:buNone/>
            </a:pPr>
            <a:r>
              <a:rPr lang="en-US" sz="1200" b="1" dirty="0">
                <a:solidFill>
                  <a:srgbClr val="7F0000"/>
                </a:solidFill>
                <a:latin typeface="Courier New" pitchFamily="34" charset="0"/>
                <a:ea typeface="Courier New" pitchFamily="34" charset="-122"/>
                <a:cs typeface="Courier New" pitchFamily="34" charset="-120"/>
              </a:rPr>
              <a:t>return</a:t>
            </a:r>
            <a:pPr indent="0" marL="0">
              <a:buNone/>
            </a:pPr>
            <a:r>
              <a:rPr lang="en-US" sz="1200" dirty="0">
                <a:solidFill>
                  <a:srgbClr val="263238"/>
                </a:solidFill>
                <a:latin typeface="Courier New" pitchFamily="34" charset="0"/>
                <a:ea typeface="Courier New" pitchFamily="34" charset="-122"/>
                <a:cs typeface="Courier New" pitchFamily="34" charset="-120"/>
              </a:rPr>
              <a:t> a + b;</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    </a:t>
            </a:r>
            <a:pPr indent="0" marL="0">
              <a:buNone/>
            </a:pPr>
            <a:r>
              <a:rPr lang="en-US" sz="1200" b="1" dirty="0">
                <a:solidFill>
                  <a:srgbClr val="7F0000"/>
                </a:solidFill>
                <a:latin typeface="Courier New" pitchFamily="34" charset="0"/>
                <a:ea typeface="Courier New" pitchFamily="34" charset="-122"/>
                <a:cs typeface="Courier New" pitchFamily="34" charset="-120"/>
              </a:rPr>
              <a:t>public</a:t>
            </a:r>
            <a:pPr indent="0" marL="0">
              <a:buNone/>
            </a:pPr>
            <a:r>
              <a:rPr lang="en-US" sz="1200" dirty="0">
                <a:solidFill>
                  <a:srgbClr val="263238"/>
                </a:solidFill>
                <a:latin typeface="Courier New" pitchFamily="34" charset="0"/>
                <a:ea typeface="Courier New" pitchFamily="34" charset="-122"/>
                <a:cs typeface="Courier New" pitchFamily="34" charset="-120"/>
              </a:rPr>
              <a:t> double dividir(double a, double b) {</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        </a:t>
            </a:r>
            <a:pPr indent="0" marL="0">
              <a:buNone/>
            </a:pPr>
            <a:r>
              <a:rPr lang="en-US" sz="1200" b="1" dirty="0">
                <a:solidFill>
                  <a:srgbClr val="7F0000"/>
                </a:solidFill>
                <a:latin typeface="Courier New" pitchFamily="34" charset="0"/>
                <a:ea typeface="Courier New" pitchFamily="34" charset="-122"/>
                <a:cs typeface="Courier New" pitchFamily="34" charset="-120"/>
              </a:rPr>
              <a:t>if</a:t>
            </a:r>
            <a:pPr indent="0" marL="0">
              <a:buNone/>
            </a:pPr>
            <a:r>
              <a:rPr lang="en-US" sz="1200" dirty="0">
                <a:solidFill>
                  <a:srgbClr val="263238"/>
                </a:solidFill>
                <a:latin typeface="Courier New" pitchFamily="34" charset="0"/>
                <a:ea typeface="Courier New" pitchFamily="34" charset="-122"/>
                <a:cs typeface="Courier New" pitchFamily="34" charset="-120"/>
              </a:rPr>
              <a:t> (b == 0) </a:t>
            </a:r>
            <a:pPr indent="0" marL="0">
              <a:buNone/>
            </a:pPr>
            <a:r>
              <a:rPr lang="en-US" sz="1200" b="1" dirty="0">
                <a:solidFill>
                  <a:srgbClr val="7F0000"/>
                </a:solidFill>
                <a:latin typeface="Courier New" pitchFamily="34" charset="0"/>
                <a:ea typeface="Courier New" pitchFamily="34" charset="-122"/>
                <a:cs typeface="Courier New" pitchFamily="34" charset="-120"/>
              </a:rPr>
              <a:t>throw</a:t>
            </a:r>
            <a:pPr indent="0" marL="0">
              <a:buNone/>
            </a:pPr>
            <a:r>
              <a:rPr lang="en-US" sz="1200" dirty="0">
                <a:solidFill>
                  <a:srgbClr val="263238"/>
                </a:solidFill>
                <a:latin typeface="Courier New" pitchFamily="34" charset="0"/>
                <a:ea typeface="Courier New" pitchFamily="34" charset="-122"/>
                <a:cs typeface="Courier New" pitchFamily="34" charset="-120"/>
              </a:rPr>
              <a:t> </a:t>
            </a:r>
            <a:pPr indent="0" marL="0">
              <a:buNone/>
            </a:pPr>
            <a:r>
              <a:rPr lang="en-US" sz="1200" b="1" dirty="0">
                <a:solidFill>
                  <a:srgbClr val="7F0000"/>
                </a:solidFill>
                <a:latin typeface="Courier New" pitchFamily="34" charset="0"/>
                <a:ea typeface="Courier New" pitchFamily="34" charset="-122"/>
                <a:cs typeface="Courier New" pitchFamily="34" charset="-120"/>
              </a:rPr>
              <a:t>new</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            IllegalArgumentException(</a:t>
            </a:r>
            <a:pPr indent="0" marL="0">
              <a:buNone/>
            </a:pPr>
            <a:r>
              <a:rPr lang="en-US" sz="1200" dirty="0">
                <a:solidFill>
                  <a:srgbClr val="BF360C"/>
                </a:solidFill>
                <a:latin typeface="Courier New" pitchFamily="34" charset="0"/>
                <a:ea typeface="Courier New" pitchFamily="34" charset="-122"/>
                <a:cs typeface="Courier New" pitchFamily="34" charset="-120"/>
              </a:rPr>
              <a:t>"..."</a:t>
            </a:r>
            <a:pPr indent="0" marL="0">
              <a:buNone/>
            </a:pPr>
            <a:r>
              <a:rPr lang="en-US" sz="1200" dirty="0">
                <a:solidFill>
                  <a:srgbClr val="263238"/>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        </a:t>
            </a:r>
            <a:pPr indent="0" marL="0">
              <a:buNone/>
            </a:pPr>
            <a:r>
              <a:rPr lang="en-US" sz="1200" b="1" dirty="0">
                <a:solidFill>
                  <a:srgbClr val="7F0000"/>
                </a:solidFill>
                <a:latin typeface="Courier New" pitchFamily="34" charset="0"/>
                <a:ea typeface="Courier New" pitchFamily="34" charset="-122"/>
                <a:cs typeface="Courier New" pitchFamily="34" charset="-120"/>
              </a:rPr>
              <a:t>return</a:t>
            </a:r>
            <a:pPr indent="0" marL="0">
              <a:buNone/>
            </a:pPr>
            <a:r>
              <a:rPr lang="en-US" sz="1200" dirty="0">
                <a:solidFill>
                  <a:srgbClr val="263238"/>
                </a:solidFill>
                <a:latin typeface="Courier New" pitchFamily="34" charset="0"/>
                <a:ea typeface="Courier New" pitchFamily="34" charset="-122"/>
                <a:cs typeface="Courier New" pitchFamily="34" charset="-120"/>
              </a:rPr>
              <a:t> a / b;</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a:t>
            </a:r>
            <a:endParaRPr lang="en-US" sz="1200" dirty="0"/>
          </a:p>
        </p:txBody>
      </p:sp>
      <p:sp>
        <p:nvSpPr>
          <p:cNvPr id="9" name="Text 7"/>
          <p:cNvSpPr/>
          <p:nvPr/>
        </p:nvSpPr>
        <p:spPr>
          <a:xfrm>
            <a:off x="6231636" y="1143000"/>
            <a:ext cx="5408676" cy="365760"/>
          </a:xfrm>
          <a:prstGeom prst="rect">
            <a:avLst/>
          </a:prstGeom>
          <a:noFill/>
          <a:ln/>
        </p:spPr>
        <p:txBody>
          <a:bodyPr wrap="square" rtlCol="0" anchor="ctr"/>
          <a:lstStyle/>
          <a:p>
            <a:pPr indent="0" marL="0">
              <a:buNone/>
            </a:pPr>
            <a:r>
              <a:rPr lang="en-US" sz="1500" b="1" dirty="0">
                <a:solidFill>
                  <a:srgbClr val="C62828"/>
                </a:solidFill>
                <a:latin typeface="Arial" pitchFamily="34" charset="0"/>
                <a:ea typeface="Arial" pitchFamily="34" charset="-122"/>
                <a:cs typeface="Arial" pitchFamily="34" charset="-120"/>
              </a:rPr>
              <a:t>CalculadoraTest.java</a:t>
            </a:r>
            <a:endParaRPr lang="en-US" sz="1500" dirty="0"/>
          </a:p>
        </p:txBody>
      </p:sp>
      <p:sp>
        <p:nvSpPr>
          <p:cNvPr id="10" name="Shape 8"/>
          <p:cNvSpPr/>
          <p:nvPr/>
        </p:nvSpPr>
        <p:spPr>
          <a:xfrm>
            <a:off x="6231636" y="1527048"/>
            <a:ext cx="5408676" cy="2286000"/>
          </a:xfrm>
          <a:prstGeom prst="rect">
            <a:avLst/>
          </a:prstGeom>
          <a:solidFill>
            <a:srgbClr val="ECEFF1"/>
          </a:solidFill>
          <a:ln w="12700">
            <a:solidFill>
              <a:srgbClr val="EEEEEE"/>
            </a:solidFill>
            <a:prstDash val="solid"/>
          </a:ln>
        </p:spPr>
      </p:sp>
      <p:sp>
        <p:nvSpPr>
          <p:cNvPr id="11" name="Shape 9"/>
          <p:cNvSpPr/>
          <p:nvPr/>
        </p:nvSpPr>
        <p:spPr>
          <a:xfrm>
            <a:off x="6231636" y="1527048"/>
            <a:ext cx="73152" cy="2286000"/>
          </a:xfrm>
          <a:prstGeom prst="rect">
            <a:avLst/>
          </a:prstGeom>
          <a:solidFill>
            <a:srgbClr val="E64A19"/>
          </a:solidFill>
          <a:ln w="12700">
            <a:solidFill>
              <a:srgbClr val="E64A19"/>
            </a:solidFill>
            <a:prstDash val="solid"/>
          </a:ln>
        </p:spPr>
      </p:sp>
      <p:sp>
        <p:nvSpPr>
          <p:cNvPr id="12" name="Text 10"/>
          <p:cNvSpPr/>
          <p:nvPr/>
        </p:nvSpPr>
        <p:spPr>
          <a:xfrm>
            <a:off x="6505956" y="1618488"/>
            <a:ext cx="4951476" cy="2103120"/>
          </a:xfrm>
          <a:prstGeom prst="rect">
            <a:avLst/>
          </a:prstGeom>
          <a:noFill/>
          <a:ln/>
        </p:spPr>
        <p:txBody>
          <a:bodyPr wrap="square" rtlCol="0" anchor="t"/>
          <a:lstStyle/>
          <a:p>
            <a:pPr indent="0" marL="0">
              <a:buNone/>
            </a:pPr>
            <a:r>
              <a:rPr lang="en-US" sz="1150" b="1" dirty="0">
                <a:solidFill>
                  <a:srgbClr val="7F0000"/>
                </a:solidFill>
                <a:latin typeface="Courier New" pitchFamily="34" charset="0"/>
                <a:ea typeface="Courier New" pitchFamily="34" charset="-122"/>
                <a:cs typeface="Courier New" pitchFamily="34" charset="-120"/>
              </a:rPr>
              <a:t>class</a:t>
            </a:r>
            <a:pPr indent="0" marL="0">
              <a:buNone/>
            </a:pPr>
            <a:r>
              <a:rPr lang="en-US" sz="1150" dirty="0">
                <a:solidFill>
                  <a:srgbClr val="263238"/>
                </a:solidFill>
                <a:latin typeface="Courier New" pitchFamily="34" charset="0"/>
                <a:ea typeface="Courier New" pitchFamily="34" charset="-122"/>
                <a:cs typeface="Courier New" pitchFamily="34" charset="-120"/>
              </a:rPr>
              <a:t> CalculadoraTest {</a:t>
            </a:r>
            <a:endParaRPr lang="en-US" sz="1150" dirty="0"/>
          </a:p>
          <a:p>
            <a:pPr indent="0" marL="0">
              <a:buNone/>
            </a:pPr>
            <a:r>
              <a:rPr lang="en-US" sz="1150" dirty="0">
                <a:solidFill>
                  <a:srgbClr val="263238"/>
                </a:solidFill>
                <a:latin typeface="Courier New" pitchFamily="34" charset="0"/>
                <a:ea typeface="Courier New" pitchFamily="34" charset="-122"/>
                <a:cs typeface="Courier New" pitchFamily="34" charset="-120"/>
              </a:rPr>
              <a:t>    </a:t>
            </a:r>
            <a:pPr indent="0" marL="0">
              <a:buNone/>
            </a:pPr>
            <a:r>
              <a:rPr lang="en-US" sz="1150" b="1" dirty="0">
                <a:solidFill>
                  <a:srgbClr val="7F0000"/>
                </a:solidFill>
                <a:latin typeface="Courier New" pitchFamily="34" charset="0"/>
                <a:ea typeface="Courier New" pitchFamily="34" charset="-122"/>
                <a:cs typeface="Courier New" pitchFamily="34" charset="-120"/>
              </a:rPr>
              <a:t>private</a:t>
            </a:r>
            <a:pPr indent="0" marL="0">
              <a:buNone/>
            </a:pPr>
            <a:r>
              <a:rPr lang="en-US" sz="1150" dirty="0">
                <a:solidFill>
                  <a:srgbClr val="263238"/>
                </a:solidFill>
                <a:latin typeface="Courier New" pitchFamily="34" charset="0"/>
                <a:ea typeface="Courier New" pitchFamily="34" charset="-122"/>
                <a:cs typeface="Courier New" pitchFamily="34" charset="-120"/>
              </a:rPr>
              <a:t> </a:t>
            </a:r>
            <a:pPr indent="0" marL="0">
              <a:buNone/>
            </a:pPr>
            <a:r>
              <a:rPr lang="en-US" sz="1150" b="1" dirty="0">
                <a:solidFill>
                  <a:srgbClr val="7F0000"/>
                </a:solidFill>
                <a:latin typeface="Courier New" pitchFamily="34" charset="0"/>
                <a:ea typeface="Courier New" pitchFamily="34" charset="-122"/>
                <a:cs typeface="Courier New" pitchFamily="34" charset="-120"/>
              </a:rPr>
              <a:t>final</a:t>
            </a:r>
            <a:pPr indent="0" marL="0">
              <a:buNone/>
            </a:pPr>
            <a:r>
              <a:rPr lang="en-US" sz="1150" dirty="0">
                <a:solidFill>
                  <a:srgbClr val="263238"/>
                </a:solidFill>
                <a:latin typeface="Courier New" pitchFamily="34" charset="0"/>
                <a:ea typeface="Courier New" pitchFamily="34" charset="-122"/>
                <a:cs typeface="Courier New" pitchFamily="34" charset="-120"/>
              </a:rPr>
              <a:t> Calculadora calc =</a:t>
            </a:r>
            <a:endParaRPr lang="en-US" sz="1150" dirty="0"/>
          </a:p>
          <a:p>
            <a:pPr indent="0" marL="0">
              <a:buNone/>
            </a:pPr>
            <a:r>
              <a:rPr lang="en-US" sz="1150" dirty="0">
                <a:solidFill>
                  <a:srgbClr val="263238"/>
                </a:solidFill>
                <a:latin typeface="Courier New" pitchFamily="34" charset="0"/>
                <a:ea typeface="Courier New" pitchFamily="34" charset="-122"/>
                <a:cs typeface="Courier New" pitchFamily="34" charset="-120"/>
              </a:rPr>
              <a:t>        </a:t>
            </a:r>
            <a:pPr indent="0" marL="0">
              <a:buNone/>
            </a:pPr>
            <a:r>
              <a:rPr lang="en-US" sz="1150" b="1" dirty="0">
                <a:solidFill>
                  <a:srgbClr val="7F0000"/>
                </a:solidFill>
                <a:latin typeface="Courier New" pitchFamily="34" charset="0"/>
                <a:ea typeface="Courier New" pitchFamily="34" charset="-122"/>
                <a:cs typeface="Courier New" pitchFamily="34" charset="-120"/>
              </a:rPr>
              <a:t>new</a:t>
            </a:r>
            <a:pPr indent="0" marL="0">
              <a:buNone/>
            </a:pPr>
            <a:r>
              <a:rPr lang="en-US" sz="1150" dirty="0">
                <a:solidFill>
                  <a:srgbClr val="263238"/>
                </a:solidFill>
                <a:latin typeface="Courier New" pitchFamily="34" charset="0"/>
                <a:ea typeface="Courier New" pitchFamily="34" charset="-122"/>
                <a:cs typeface="Courier New" pitchFamily="34" charset="-120"/>
              </a:rPr>
              <a:t> Calculadora();</a:t>
            </a:r>
            <a:endParaRPr lang="en-US" sz="1150" dirty="0"/>
          </a:p>
          <a:p>
            <a:pPr indent="0" marL="0">
              <a:buNone/>
            </a:pPr>
            <a:r>
              <a:rPr lang="en-US" sz="1150" dirty="0">
                <a:solidFill>
                  <a:srgbClr val="263238"/>
                </a:solidFill>
                <a:latin typeface="Courier New" pitchFamily="34" charset="0"/>
                <a:ea typeface="Courier New" pitchFamily="34" charset="-122"/>
                <a:cs typeface="Courier New" pitchFamily="34" charset="-120"/>
              </a:rPr>
              <a:t>    </a:t>
            </a:r>
            <a:pPr indent="0" marL="0">
              <a:buNone/>
            </a:pPr>
            <a:r>
              <a:rPr lang="en-US" sz="1150" b="1" dirty="0">
                <a:solidFill>
                  <a:srgbClr val="C62828"/>
                </a:solidFill>
                <a:latin typeface="Courier New" pitchFamily="34" charset="0"/>
                <a:ea typeface="Courier New" pitchFamily="34" charset="-122"/>
                <a:cs typeface="Courier New" pitchFamily="34" charset="-120"/>
              </a:rPr>
              <a:t>@Test</a:t>
            </a:r>
            <a:endParaRPr lang="en-US" sz="1150" dirty="0"/>
          </a:p>
          <a:p>
            <a:pPr indent="0" marL="0">
              <a:buNone/>
            </a:pPr>
            <a:r>
              <a:rPr lang="en-US" sz="1150" dirty="0">
                <a:solidFill>
                  <a:srgbClr val="263238"/>
                </a:solidFill>
                <a:latin typeface="Courier New" pitchFamily="34" charset="0"/>
                <a:ea typeface="Courier New" pitchFamily="34" charset="-122"/>
                <a:cs typeface="Courier New" pitchFamily="34" charset="-120"/>
              </a:rPr>
              <a:t>    </a:t>
            </a:r>
            <a:pPr indent="0" marL="0">
              <a:buNone/>
            </a:pPr>
            <a:r>
              <a:rPr lang="en-US" sz="1150" b="1" dirty="0">
                <a:solidFill>
                  <a:srgbClr val="7F0000"/>
                </a:solidFill>
                <a:latin typeface="Courier New" pitchFamily="34" charset="0"/>
                <a:ea typeface="Courier New" pitchFamily="34" charset="-122"/>
                <a:cs typeface="Courier New" pitchFamily="34" charset="-120"/>
              </a:rPr>
              <a:t>void</a:t>
            </a:r>
            <a:pPr indent="0" marL="0">
              <a:buNone/>
            </a:pPr>
            <a:r>
              <a:rPr lang="en-US" sz="1150" dirty="0">
                <a:solidFill>
                  <a:srgbClr val="263238"/>
                </a:solidFill>
                <a:latin typeface="Courier New" pitchFamily="34" charset="0"/>
                <a:ea typeface="Courier New" pitchFamily="34" charset="-122"/>
                <a:cs typeface="Courier New" pitchFamily="34" charset="-120"/>
              </a:rPr>
              <a:t> sumarDosPositivos() {</a:t>
            </a:r>
            <a:endParaRPr lang="en-US" sz="1150" dirty="0"/>
          </a:p>
          <a:p>
            <a:pPr indent="0" marL="0">
              <a:buNone/>
            </a:pPr>
            <a:r>
              <a:rPr lang="en-US" sz="1150" dirty="0">
                <a:solidFill>
                  <a:srgbClr val="263238"/>
                </a:solidFill>
                <a:latin typeface="Courier New" pitchFamily="34" charset="0"/>
                <a:ea typeface="Courier New" pitchFamily="34" charset="-122"/>
                <a:cs typeface="Courier New" pitchFamily="34" charset="-120"/>
              </a:rPr>
              <a:t>        assertEquals(5, calc.sumar(2, 3));</a:t>
            </a:r>
            <a:endParaRPr lang="en-US" sz="1150" dirty="0"/>
          </a:p>
          <a:p>
            <a:pPr indent="0" marL="0">
              <a:buNone/>
            </a:pPr>
            <a:r>
              <a:rPr lang="en-US" sz="1150" dirty="0">
                <a:solidFill>
                  <a:srgbClr val="263238"/>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263238"/>
                </a:solidFill>
                <a:latin typeface="Courier New" pitchFamily="34" charset="0"/>
                <a:ea typeface="Courier New" pitchFamily="34" charset="-122"/>
                <a:cs typeface="Courier New" pitchFamily="34" charset="-120"/>
              </a:rPr>
              <a:t>    </a:t>
            </a:r>
            <a:pPr indent="0" marL="0">
              <a:buNone/>
            </a:pPr>
            <a:r>
              <a:rPr lang="en-US" sz="1150" b="1" dirty="0">
                <a:solidFill>
                  <a:srgbClr val="C62828"/>
                </a:solidFill>
                <a:latin typeface="Courier New" pitchFamily="34" charset="0"/>
                <a:ea typeface="Courier New" pitchFamily="34" charset="-122"/>
                <a:cs typeface="Courier New" pitchFamily="34" charset="-120"/>
              </a:rPr>
              <a:t>@Test</a:t>
            </a:r>
            <a:endParaRPr lang="en-US" sz="1150" dirty="0"/>
          </a:p>
          <a:p>
            <a:pPr indent="0" marL="0">
              <a:buNone/>
            </a:pPr>
            <a:r>
              <a:rPr lang="en-US" sz="1150" dirty="0">
                <a:solidFill>
                  <a:srgbClr val="263238"/>
                </a:solidFill>
                <a:latin typeface="Courier New" pitchFamily="34" charset="0"/>
                <a:ea typeface="Courier New" pitchFamily="34" charset="-122"/>
                <a:cs typeface="Courier New" pitchFamily="34" charset="-120"/>
              </a:rPr>
              <a:t>    </a:t>
            </a:r>
            <a:pPr indent="0" marL="0">
              <a:buNone/>
            </a:pPr>
            <a:r>
              <a:rPr lang="en-US" sz="1150" b="1" dirty="0">
                <a:solidFill>
                  <a:srgbClr val="7F0000"/>
                </a:solidFill>
                <a:latin typeface="Courier New" pitchFamily="34" charset="0"/>
                <a:ea typeface="Courier New" pitchFamily="34" charset="-122"/>
                <a:cs typeface="Courier New" pitchFamily="34" charset="-120"/>
              </a:rPr>
              <a:t>void</a:t>
            </a:r>
            <a:pPr indent="0" marL="0">
              <a:buNone/>
            </a:pPr>
            <a:r>
              <a:rPr lang="en-US" sz="1150" dirty="0">
                <a:solidFill>
                  <a:srgbClr val="263238"/>
                </a:solidFill>
                <a:latin typeface="Courier New" pitchFamily="34" charset="0"/>
                <a:ea typeface="Courier New" pitchFamily="34" charset="-122"/>
                <a:cs typeface="Courier New" pitchFamily="34" charset="-120"/>
              </a:rPr>
              <a:t> dividirPorCeroLanzaExcepcion() {</a:t>
            </a:r>
            <a:endParaRPr lang="en-US" sz="1150" dirty="0"/>
          </a:p>
          <a:p>
            <a:pPr indent="0" marL="0">
              <a:buNone/>
            </a:pPr>
            <a:r>
              <a:rPr lang="en-US" sz="1150" dirty="0">
                <a:solidFill>
                  <a:srgbClr val="263238"/>
                </a:solidFill>
                <a:latin typeface="Courier New" pitchFamily="34" charset="0"/>
                <a:ea typeface="Courier New" pitchFamily="34" charset="-122"/>
                <a:cs typeface="Courier New" pitchFamily="34" charset="-120"/>
              </a:rPr>
              <a:t>        assertThrows(</a:t>
            </a:r>
            <a:endParaRPr lang="en-US" sz="1150" dirty="0"/>
          </a:p>
          <a:p>
            <a:pPr indent="0" marL="0">
              <a:buNone/>
            </a:pPr>
            <a:r>
              <a:rPr lang="en-US" sz="1150" dirty="0">
                <a:solidFill>
                  <a:srgbClr val="263238"/>
                </a:solidFill>
                <a:latin typeface="Courier New" pitchFamily="34" charset="0"/>
                <a:ea typeface="Courier New" pitchFamily="34" charset="-122"/>
                <a:cs typeface="Courier New" pitchFamily="34" charset="-120"/>
              </a:rPr>
              <a:t>            IllegalArgumentException.</a:t>
            </a:r>
            <a:pPr indent="0" marL="0">
              <a:buNone/>
            </a:pPr>
            <a:r>
              <a:rPr lang="en-US" sz="1150" b="1" dirty="0">
                <a:solidFill>
                  <a:srgbClr val="7F0000"/>
                </a:solidFill>
                <a:latin typeface="Courier New" pitchFamily="34" charset="0"/>
                <a:ea typeface="Courier New" pitchFamily="34" charset="-122"/>
                <a:cs typeface="Courier New" pitchFamily="34" charset="-120"/>
              </a:rPr>
              <a:t>class</a:t>
            </a:r>
            <a:pPr indent="0" marL="0">
              <a:buNone/>
            </a:pPr>
            <a:r>
              <a:rPr lang="en-US" sz="1150" dirty="0">
                <a:solidFill>
                  <a:srgbClr val="263238"/>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263238"/>
                </a:solidFill>
                <a:latin typeface="Courier New" pitchFamily="34" charset="0"/>
                <a:ea typeface="Courier New" pitchFamily="34" charset="-122"/>
                <a:cs typeface="Courier New" pitchFamily="34" charset="-120"/>
              </a:rPr>
              <a:t>            () -&gt; calc.dividir(10, 0));</a:t>
            </a:r>
            <a:endParaRPr lang="en-US" sz="1150" dirty="0"/>
          </a:p>
          <a:p>
            <a:pPr indent="0" marL="0">
              <a:buNone/>
            </a:pPr>
            <a:r>
              <a:rPr lang="en-US" sz="1150" dirty="0">
                <a:solidFill>
                  <a:srgbClr val="263238"/>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263238"/>
                </a:solidFill>
                <a:latin typeface="Courier New" pitchFamily="34" charset="0"/>
                <a:ea typeface="Courier New" pitchFamily="34" charset="-122"/>
                <a:cs typeface="Courier New" pitchFamily="34" charset="-120"/>
              </a:rPr>
              <a:t>}</a:t>
            </a:r>
            <a:endParaRPr lang="en-US" sz="1150" dirty="0"/>
          </a:p>
        </p:txBody>
      </p:sp>
      <p:sp>
        <p:nvSpPr>
          <p:cNvPr id="13" name="Shape 11"/>
          <p:cNvSpPr/>
          <p:nvPr/>
        </p:nvSpPr>
        <p:spPr>
          <a:xfrm>
            <a:off x="548640" y="3931920"/>
            <a:ext cx="11091672" cy="914400"/>
          </a:xfrm>
          <a:prstGeom prst="roundRect">
            <a:avLst/>
          </a:prstGeom>
          <a:solidFill>
            <a:srgbClr val="FBE9E7"/>
          </a:solidFill>
          <a:ln w="19050">
            <a:solidFill>
              <a:srgbClr val="E64A19"/>
            </a:solidFill>
            <a:prstDash val="solid"/>
          </a:ln>
        </p:spPr>
      </p:sp>
      <p:sp>
        <p:nvSpPr>
          <p:cNvPr id="14" name="Text 12"/>
          <p:cNvSpPr/>
          <p:nvPr/>
        </p:nvSpPr>
        <p:spPr>
          <a:xfrm>
            <a:off x="777240" y="4005072"/>
            <a:ext cx="10634472" cy="768096"/>
          </a:xfrm>
          <a:prstGeom prst="rect">
            <a:avLst/>
          </a:prstGeom>
          <a:noFill/>
          <a:ln/>
        </p:spPr>
        <p:txBody>
          <a:bodyPr wrap="square" rtlCol="0" anchor="ctr"/>
          <a:lstStyle/>
          <a:p>
            <a:pPr indent="0" marL="0">
              <a:buNone/>
            </a:pPr>
            <a:r>
              <a:rPr lang="en-US" sz="1600" dirty="0">
                <a:solidFill>
                  <a:srgbClr val="212121"/>
                </a:solidFill>
                <a:latin typeface="Arial" pitchFamily="34" charset="0"/>
                <a:ea typeface="Arial" pitchFamily="34" charset="-122"/>
                <a:cs typeface="Arial" pitchFamily="34" charset="-120"/>
              </a:rPr>
              <a:t>Cuatro operaciones y cinco tests que las verifican. Cuando se hace push con ci.yml en su sitio, GitHub Actions ejecuta automáticamente todos los pasos del workflow.</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Qué hace cada step con la Calculadora</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0: GitHub Actions</a:t>
            </a:r>
            <a:endParaRPr lang="en-US" sz="1100" dirty="0"/>
          </a:p>
        </p:txBody>
      </p:sp>
      <p:sp>
        <p:nvSpPr>
          <p:cNvPr id="5" name="Shape 3"/>
          <p:cNvSpPr/>
          <p:nvPr/>
        </p:nvSpPr>
        <p:spPr>
          <a:xfrm>
            <a:off x="548640" y="1325880"/>
            <a:ext cx="502920" cy="502920"/>
          </a:xfrm>
          <a:prstGeom prst="ellipse">
            <a:avLst/>
          </a:prstGeom>
          <a:solidFill>
            <a:srgbClr val="C62828"/>
          </a:solidFill>
          <a:ln w="12700">
            <a:solidFill>
              <a:srgbClr val="C62828"/>
            </a:solidFill>
            <a:prstDash val="solid"/>
          </a:ln>
        </p:spPr>
      </p:sp>
      <p:sp>
        <p:nvSpPr>
          <p:cNvPr id="6" name="Text 4"/>
          <p:cNvSpPr/>
          <p:nvPr/>
        </p:nvSpPr>
        <p:spPr>
          <a:xfrm>
            <a:off x="548640" y="1325880"/>
            <a:ext cx="502920" cy="50292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7" name="Text 5"/>
          <p:cNvSpPr/>
          <p:nvPr/>
        </p:nvSpPr>
        <p:spPr>
          <a:xfrm>
            <a:off x="1234440" y="1143000"/>
            <a:ext cx="3291840" cy="914400"/>
          </a:xfrm>
          <a:prstGeom prst="rect">
            <a:avLst/>
          </a:prstGeom>
          <a:noFill/>
          <a:ln/>
        </p:spPr>
        <p:txBody>
          <a:bodyPr wrap="square" rtlCol="0" anchor="ctr"/>
          <a:lstStyle/>
          <a:p>
            <a:pPr indent="0" marL="0">
              <a:buNone/>
            </a:pPr>
            <a:r>
              <a:rPr lang="en-US" sz="1500" b="1" dirty="0">
                <a:solidFill>
                  <a:srgbClr val="7F0000"/>
                </a:solidFill>
                <a:latin typeface="Courier New" pitchFamily="34" charset="0"/>
                <a:ea typeface="Courier New" pitchFamily="34" charset="-122"/>
                <a:cs typeface="Courier New" pitchFamily="34" charset="-120"/>
              </a:rPr>
              <a:t>1. actions/checkout@v7</a:t>
            </a:r>
            <a:endParaRPr lang="en-US" sz="1500" dirty="0"/>
          </a:p>
        </p:txBody>
      </p:sp>
      <p:sp>
        <p:nvSpPr>
          <p:cNvPr id="8" name="Text 6"/>
          <p:cNvSpPr/>
          <p:nvPr/>
        </p:nvSpPr>
        <p:spPr>
          <a:xfrm>
            <a:off x="4663440" y="1143000"/>
            <a:ext cx="6793992" cy="914400"/>
          </a:xfrm>
          <a:prstGeom prst="rect">
            <a:avLst/>
          </a:prstGeom>
          <a:noFill/>
          <a:ln/>
        </p:spPr>
        <p:txBody>
          <a:bodyPr wrap="square" rtlCol="0" anchor="ctr"/>
          <a:lstStyle/>
          <a:p>
            <a:pPr indent="0" marL="0">
              <a:buNone/>
            </a:pPr>
            <a:r>
              <a:rPr lang="en-US" sz="1400" dirty="0">
                <a:solidFill>
                  <a:srgbClr val="212121"/>
                </a:solidFill>
                <a:latin typeface="Arial" pitchFamily="34" charset="0"/>
                <a:ea typeface="Arial" pitchFamily="34" charset="-122"/>
                <a:cs typeface="Arial" pitchFamily="34" charset="-120"/>
              </a:rPr>
              <a:t>Clona el repositorio en el runner, igual que git clone. Sin él, los pasos siguientes no encontrarían ni el pom.xml ni las clases Java.</a:t>
            </a:r>
            <a:endParaRPr lang="en-US" sz="1400" dirty="0"/>
          </a:p>
        </p:txBody>
      </p:sp>
      <p:sp>
        <p:nvSpPr>
          <p:cNvPr id="9" name="Shape 7"/>
          <p:cNvSpPr/>
          <p:nvPr/>
        </p:nvSpPr>
        <p:spPr>
          <a:xfrm>
            <a:off x="548640" y="2313432"/>
            <a:ext cx="502920" cy="502920"/>
          </a:xfrm>
          <a:prstGeom prst="ellipse">
            <a:avLst/>
          </a:prstGeom>
          <a:solidFill>
            <a:srgbClr val="C62828"/>
          </a:solidFill>
          <a:ln w="12700">
            <a:solidFill>
              <a:srgbClr val="C62828"/>
            </a:solidFill>
            <a:prstDash val="solid"/>
          </a:ln>
        </p:spPr>
      </p:sp>
      <p:sp>
        <p:nvSpPr>
          <p:cNvPr id="10" name="Text 8"/>
          <p:cNvSpPr/>
          <p:nvPr/>
        </p:nvSpPr>
        <p:spPr>
          <a:xfrm>
            <a:off x="548640" y="2313432"/>
            <a:ext cx="502920" cy="50292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1" name="Text 9"/>
          <p:cNvSpPr/>
          <p:nvPr/>
        </p:nvSpPr>
        <p:spPr>
          <a:xfrm>
            <a:off x="1234440" y="2130552"/>
            <a:ext cx="3291840" cy="914400"/>
          </a:xfrm>
          <a:prstGeom prst="rect">
            <a:avLst/>
          </a:prstGeom>
          <a:noFill/>
          <a:ln/>
        </p:spPr>
        <p:txBody>
          <a:bodyPr wrap="square" rtlCol="0" anchor="ctr"/>
          <a:lstStyle/>
          <a:p>
            <a:pPr indent="0" marL="0">
              <a:buNone/>
            </a:pPr>
            <a:r>
              <a:rPr lang="en-US" sz="1500" b="1" dirty="0">
                <a:solidFill>
                  <a:srgbClr val="7F0000"/>
                </a:solidFill>
                <a:latin typeface="Courier New" pitchFamily="34" charset="0"/>
                <a:ea typeface="Courier New" pitchFamily="34" charset="-122"/>
                <a:cs typeface="Courier New" pitchFamily="34" charset="-120"/>
              </a:rPr>
              <a:t>2. actions/setup-java@v6</a:t>
            </a:r>
            <a:endParaRPr lang="en-US" sz="1500" dirty="0"/>
          </a:p>
        </p:txBody>
      </p:sp>
      <p:sp>
        <p:nvSpPr>
          <p:cNvPr id="12" name="Text 10"/>
          <p:cNvSpPr/>
          <p:nvPr/>
        </p:nvSpPr>
        <p:spPr>
          <a:xfrm>
            <a:off x="4663440" y="2130552"/>
            <a:ext cx="6793992" cy="914400"/>
          </a:xfrm>
          <a:prstGeom prst="rect">
            <a:avLst/>
          </a:prstGeom>
          <a:noFill/>
          <a:ln/>
        </p:spPr>
        <p:txBody>
          <a:bodyPr wrap="square" rtlCol="0" anchor="ctr"/>
          <a:lstStyle/>
          <a:p>
            <a:pPr indent="0" marL="0">
              <a:buNone/>
            </a:pPr>
            <a:r>
              <a:rPr lang="en-US" sz="1400" dirty="0">
                <a:solidFill>
                  <a:srgbClr val="212121"/>
                </a:solidFill>
                <a:latin typeface="Arial" pitchFamily="34" charset="0"/>
                <a:ea typeface="Arial" pitchFamily="34" charset="-122"/>
                <a:cs typeface="Arial" pitchFamily="34" charset="-120"/>
              </a:rPr>
              <a:t>Instala el JDK 21 de Temurin. cache: 'maven' guarda ~/.m2 entre ejecuciones.</a:t>
            </a:r>
            <a:endParaRPr lang="en-US" sz="1400" dirty="0"/>
          </a:p>
        </p:txBody>
      </p:sp>
      <p:sp>
        <p:nvSpPr>
          <p:cNvPr id="13" name="Shape 11"/>
          <p:cNvSpPr/>
          <p:nvPr/>
        </p:nvSpPr>
        <p:spPr>
          <a:xfrm>
            <a:off x="548640" y="3300984"/>
            <a:ext cx="502920" cy="502920"/>
          </a:xfrm>
          <a:prstGeom prst="ellipse">
            <a:avLst/>
          </a:prstGeom>
          <a:solidFill>
            <a:srgbClr val="C62828"/>
          </a:solidFill>
          <a:ln w="12700">
            <a:solidFill>
              <a:srgbClr val="C62828"/>
            </a:solidFill>
            <a:prstDash val="solid"/>
          </a:ln>
        </p:spPr>
      </p:sp>
      <p:sp>
        <p:nvSpPr>
          <p:cNvPr id="14" name="Text 12"/>
          <p:cNvSpPr/>
          <p:nvPr/>
        </p:nvSpPr>
        <p:spPr>
          <a:xfrm>
            <a:off x="548640" y="3300984"/>
            <a:ext cx="502920" cy="50292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5" name="Text 13"/>
          <p:cNvSpPr/>
          <p:nvPr/>
        </p:nvSpPr>
        <p:spPr>
          <a:xfrm>
            <a:off x="1234440" y="3118104"/>
            <a:ext cx="3291840" cy="914400"/>
          </a:xfrm>
          <a:prstGeom prst="rect">
            <a:avLst/>
          </a:prstGeom>
          <a:noFill/>
          <a:ln/>
        </p:spPr>
        <p:txBody>
          <a:bodyPr wrap="square" rtlCol="0" anchor="ctr"/>
          <a:lstStyle/>
          <a:p>
            <a:pPr indent="0" marL="0">
              <a:buNone/>
            </a:pPr>
            <a:r>
              <a:rPr lang="en-US" sz="1500" b="1" dirty="0">
                <a:solidFill>
                  <a:srgbClr val="7F0000"/>
                </a:solidFill>
                <a:latin typeface="Courier New" pitchFamily="34" charset="0"/>
                <a:ea typeface="Courier New" pitchFamily="34" charset="-122"/>
                <a:cs typeface="Courier New" pitchFamily="34" charset="-120"/>
              </a:rPr>
              <a:t>3. mvn compile -B</a:t>
            </a:r>
            <a:endParaRPr lang="en-US" sz="1500" dirty="0"/>
          </a:p>
        </p:txBody>
      </p:sp>
      <p:sp>
        <p:nvSpPr>
          <p:cNvPr id="16" name="Text 14"/>
          <p:cNvSpPr/>
          <p:nvPr/>
        </p:nvSpPr>
        <p:spPr>
          <a:xfrm>
            <a:off x="4663440" y="3118104"/>
            <a:ext cx="6793992" cy="914400"/>
          </a:xfrm>
          <a:prstGeom prst="rect">
            <a:avLst/>
          </a:prstGeom>
          <a:noFill/>
          <a:ln/>
        </p:spPr>
        <p:txBody>
          <a:bodyPr wrap="square" rtlCol="0" anchor="ctr"/>
          <a:lstStyle/>
          <a:p>
            <a:pPr indent="0" marL="0">
              <a:buNone/>
            </a:pPr>
            <a:r>
              <a:rPr lang="en-US" sz="1400" dirty="0">
                <a:solidFill>
                  <a:srgbClr val="212121"/>
                </a:solidFill>
                <a:latin typeface="Arial" pitchFamily="34" charset="0"/>
                <a:ea typeface="Arial" pitchFamily="34" charset="-122"/>
                <a:cs typeface="Arial" pitchFamily="34" charset="-120"/>
              </a:rPr>
              <a:t>Compila las clases. Un error de sintaxis detiene el workflow aquí, sin llegar a los tests.</a:t>
            </a:r>
            <a:endParaRPr lang="en-US" sz="1400" dirty="0"/>
          </a:p>
        </p:txBody>
      </p:sp>
      <p:sp>
        <p:nvSpPr>
          <p:cNvPr id="17" name="Shape 15"/>
          <p:cNvSpPr/>
          <p:nvPr/>
        </p:nvSpPr>
        <p:spPr>
          <a:xfrm>
            <a:off x="548640" y="4288536"/>
            <a:ext cx="502920" cy="502920"/>
          </a:xfrm>
          <a:prstGeom prst="ellipse">
            <a:avLst/>
          </a:prstGeom>
          <a:solidFill>
            <a:srgbClr val="C62828"/>
          </a:solidFill>
          <a:ln w="12700">
            <a:solidFill>
              <a:srgbClr val="C62828"/>
            </a:solidFill>
            <a:prstDash val="solid"/>
          </a:ln>
        </p:spPr>
      </p:sp>
      <p:sp>
        <p:nvSpPr>
          <p:cNvPr id="18" name="Text 16"/>
          <p:cNvSpPr/>
          <p:nvPr/>
        </p:nvSpPr>
        <p:spPr>
          <a:xfrm>
            <a:off x="548640" y="4288536"/>
            <a:ext cx="502920" cy="50292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19" name="Text 17"/>
          <p:cNvSpPr/>
          <p:nvPr/>
        </p:nvSpPr>
        <p:spPr>
          <a:xfrm>
            <a:off x="1234440" y="4105656"/>
            <a:ext cx="3291840" cy="914400"/>
          </a:xfrm>
          <a:prstGeom prst="rect">
            <a:avLst/>
          </a:prstGeom>
          <a:noFill/>
          <a:ln/>
        </p:spPr>
        <p:txBody>
          <a:bodyPr wrap="square" rtlCol="0" anchor="ctr"/>
          <a:lstStyle/>
          <a:p>
            <a:pPr indent="0" marL="0">
              <a:buNone/>
            </a:pPr>
            <a:r>
              <a:rPr lang="en-US" sz="1500" b="1" dirty="0">
                <a:solidFill>
                  <a:srgbClr val="7F0000"/>
                </a:solidFill>
                <a:latin typeface="Courier New" pitchFamily="34" charset="0"/>
                <a:ea typeface="Courier New" pitchFamily="34" charset="-122"/>
                <a:cs typeface="Courier New" pitchFamily="34" charset="-120"/>
              </a:rPr>
              <a:t>4. mvn test -B</a:t>
            </a:r>
            <a:endParaRPr lang="en-US" sz="1500" dirty="0"/>
          </a:p>
        </p:txBody>
      </p:sp>
      <p:sp>
        <p:nvSpPr>
          <p:cNvPr id="20" name="Text 18"/>
          <p:cNvSpPr/>
          <p:nvPr/>
        </p:nvSpPr>
        <p:spPr>
          <a:xfrm>
            <a:off x="4663440" y="4105656"/>
            <a:ext cx="6793992" cy="914400"/>
          </a:xfrm>
          <a:prstGeom prst="rect">
            <a:avLst/>
          </a:prstGeom>
          <a:noFill/>
          <a:ln/>
        </p:spPr>
        <p:txBody>
          <a:bodyPr wrap="square" rtlCol="0" anchor="ctr"/>
          <a:lstStyle/>
          <a:p>
            <a:pPr indent="0" marL="0">
              <a:buNone/>
            </a:pPr>
            <a:r>
              <a:rPr lang="en-US" sz="1400" dirty="0">
                <a:solidFill>
                  <a:srgbClr val="212121"/>
                </a:solidFill>
                <a:latin typeface="Arial" pitchFamily="34" charset="0"/>
                <a:ea typeface="Arial" pitchFamily="34" charset="-122"/>
                <a:cs typeface="Arial" pitchFamily="34" charset="-120"/>
              </a:rPr>
              <a:t>Ejecuta los cinco tests. Si alguno falla, Maven termina con error y el workflow se marca como fallido.</a:t>
            </a:r>
            <a:endParaRPr lang="en-US" sz="1400" dirty="0"/>
          </a:p>
        </p:txBody>
      </p:sp>
      <p:sp>
        <p:nvSpPr>
          <p:cNvPr id="21" name="Shape 19"/>
          <p:cNvSpPr/>
          <p:nvPr/>
        </p:nvSpPr>
        <p:spPr>
          <a:xfrm>
            <a:off x="548640" y="5276088"/>
            <a:ext cx="502920" cy="502920"/>
          </a:xfrm>
          <a:prstGeom prst="ellipse">
            <a:avLst/>
          </a:prstGeom>
          <a:solidFill>
            <a:srgbClr val="E64A19"/>
          </a:solidFill>
          <a:ln w="12700">
            <a:solidFill>
              <a:srgbClr val="E64A19"/>
            </a:solidFill>
            <a:prstDash val="solid"/>
          </a:ln>
        </p:spPr>
      </p:sp>
      <p:sp>
        <p:nvSpPr>
          <p:cNvPr id="22" name="Text 20"/>
          <p:cNvSpPr/>
          <p:nvPr/>
        </p:nvSpPr>
        <p:spPr>
          <a:xfrm>
            <a:off x="548640" y="5276088"/>
            <a:ext cx="502920" cy="50292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23" name="Text 21"/>
          <p:cNvSpPr/>
          <p:nvPr/>
        </p:nvSpPr>
        <p:spPr>
          <a:xfrm>
            <a:off x="1234440" y="5093208"/>
            <a:ext cx="3291840" cy="914400"/>
          </a:xfrm>
          <a:prstGeom prst="rect">
            <a:avLst/>
          </a:prstGeom>
          <a:noFill/>
          <a:ln/>
        </p:spPr>
        <p:txBody>
          <a:bodyPr wrap="square" rtlCol="0" anchor="ctr"/>
          <a:lstStyle/>
          <a:p>
            <a:pPr indent="0" marL="0">
              <a:buNone/>
            </a:pPr>
            <a:r>
              <a:rPr lang="en-US" sz="1500" b="1" dirty="0">
                <a:solidFill>
                  <a:srgbClr val="7F0000"/>
                </a:solidFill>
                <a:latin typeface="Courier New" pitchFamily="34" charset="0"/>
                <a:ea typeface="Courier New" pitchFamily="34" charset="-122"/>
                <a:cs typeface="Courier New" pitchFamily="34" charset="-120"/>
              </a:rPr>
              <a:t>5. upload-artifact, if: always()</a:t>
            </a:r>
            <a:endParaRPr lang="en-US" sz="1500" dirty="0"/>
          </a:p>
        </p:txBody>
      </p:sp>
      <p:sp>
        <p:nvSpPr>
          <p:cNvPr id="24" name="Text 22"/>
          <p:cNvSpPr/>
          <p:nvPr/>
        </p:nvSpPr>
        <p:spPr>
          <a:xfrm>
            <a:off x="4663440" y="5093208"/>
            <a:ext cx="6793992" cy="914400"/>
          </a:xfrm>
          <a:prstGeom prst="rect">
            <a:avLst/>
          </a:prstGeom>
          <a:noFill/>
          <a:ln/>
        </p:spPr>
        <p:txBody>
          <a:bodyPr wrap="square" rtlCol="0" anchor="ctr"/>
          <a:lstStyle/>
          <a:p>
            <a:pPr indent="0" marL="0">
              <a:buNone/>
            </a:pPr>
            <a:r>
              <a:rPr lang="en-US" sz="1400" dirty="0">
                <a:solidFill>
                  <a:srgbClr val="212121"/>
                </a:solidFill>
                <a:latin typeface="Arial" pitchFamily="34" charset="0"/>
                <a:ea typeface="Arial" pitchFamily="34" charset="-122"/>
                <a:cs typeface="Arial" pitchFamily="34" charset="-120"/>
              </a:rPr>
              <a:t>Guarda el informe de Surefire como artifact descargable — se ejecuta aunque los tests fallen.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El panel Actions de GitHub</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0: GitHub Actions</a:t>
            </a:r>
            <a:endParaRPr lang="en-US" sz="1100" dirty="0"/>
          </a:p>
        </p:txBody>
      </p:sp>
      <p:sp>
        <p:nvSpPr>
          <p:cNvPr id="5" name="Shape 3"/>
          <p:cNvSpPr/>
          <p:nvPr/>
        </p:nvSpPr>
        <p:spPr>
          <a:xfrm>
            <a:off x="548640" y="1188720"/>
            <a:ext cx="3514344" cy="1188720"/>
          </a:xfrm>
          <a:prstGeom prst="roundRect">
            <a:avLst/>
          </a:prstGeom>
          <a:solidFill>
            <a:srgbClr val="FBEAEA"/>
          </a:solidFill>
          <a:ln w="15875">
            <a:solidFill>
              <a:srgbClr val="C62828"/>
            </a:solidFill>
            <a:prstDash val="solid"/>
          </a:ln>
        </p:spPr>
      </p:sp>
      <p:sp>
        <p:nvSpPr>
          <p:cNvPr id="6" name="Text 4"/>
          <p:cNvSpPr/>
          <p:nvPr/>
        </p:nvSpPr>
        <p:spPr>
          <a:xfrm>
            <a:off x="685800" y="1280160"/>
            <a:ext cx="3240024" cy="502920"/>
          </a:xfrm>
          <a:prstGeom prst="rect">
            <a:avLst/>
          </a:prstGeom>
          <a:noFill/>
          <a:ln/>
        </p:spPr>
        <p:txBody>
          <a:bodyPr wrap="square" rtlCol="0" anchor="ctr"/>
          <a:lstStyle/>
          <a:p>
            <a:pPr algn="ctr" indent="0" marL="0">
              <a:buNone/>
            </a:pPr>
            <a:r>
              <a:rPr lang="en-US" sz="1900" b="1" dirty="0">
                <a:solidFill>
                  <a:srgbClr val="7F0000"/>
                </a:solidFill>
                <a:latin typeface="Arial" pitchFamily="34" charset="0"/>
                <a:ea typeface="Arial" pitchFamily="34" charset="-122"/>
                <a:cs typeface="Arial" pitchFamily="34" charset="-120"/>
              </a:rPr>
              <a:t>🟠 Naranja</a:t>
            </a:r>
            <a:endParaRPr lang="en-US" sz="1900" dirty="0"/>
          </a:p>
        </p:txBody>
      </p:sp>
      <p:sp>
        <p:nvSpPr>
          <p:cNvPr id="7" name="Text 5"/>
          <p:cNvSpPr/>
          <p:nvPr/>
        </p:nvSpPr>
        <p:spPr>
          <a:xfrm>
            <a:off x="731520" y="1828800"/>
            <a:ext cx="3148584" cy="457200"/>
          </a:xfrm>
          <a:prstGeom prst="rect">
            <a:avLst/>
          </a:prstGeom>
          <a:noFill/>
          <a:ln/>
        </p:spPr>
        <p:txBody>
          <a:bodyPr wrap="square" rtlCol="0" anchor="t"/>
          <a:lstStyle/>
          <a:p>
            <a:pPr algn="ctr" indent="0" marL="0">
              <a:buNone/>
            </a:pPr>
            <a:r>
              <a:rPr lang="en-US" sz="1500" dirty="0">
                <a:solidFill>
                  <a:srgbClr val="212121"/>
                </a:solidFill>
                <a:latin typeface="Arial" pitchFamily="34" charset="0"/>
                <a:ea typeface="Arial" pitchFamily="34" charset="-122"/>
                <a:cs typeface="Arial" pitchFamily="34" charset="-120"/>
              </a:rPr>
              <a:t>El workflow está en ejecución ahora.</a:t>
            </a:r>
            <a:endParaRPr lang="en-US" sz="1500" dirty="0"/>
          </a:p>
        </p:txBody>
      </p:sp>
      <p:sp>
        <p:nvSpPr>
          <p:cNvPr id="8" name="Shape 6"/>
          <p:cNvSpPr/>
          <p:nvPr/>
        </p:nvSpPr>
        <p:spPr>
          <a:xfrm>
            <a:off x="4337304" y="1188720"/>
            <a:ext cx="3514344" cy="1188720"/>
          </a:xfrm>
          <a:prstGeom prst="roundRect">
            <a:avLst/>
          </a:prstGeom>
          <a:solidFill>
            <a:srgbClr val="FBE9E7"/>
          </a:solidFill>
          <a:ln w="25400">
            <a:solidFill>
              <a:srgbClr val="E64A19"/>
            </a:solidFill>
            <a:prstDash val="solid"/>
          </a:ln>
        </p:spPr>
      </p:sp>
      <p:sp>
        <p:nvSpPr>
          <p:cNvPr id="9" name="Text 7"/>
          <p:cNvSpPr/>
          <p:nvPr/>
        </p:nvSpPr>
        <p:spPr>
          <a:xfrm>
            <a:off x="4474464" y="1280160"/>
            <a:ext cx="3240024" cy="502920"/>
          </a:xfrm>
          <a:prstGeom prst="rect">
            <a:avLst/>
          </a:prstGeom>
          <a:noFill/>
          <a:ln/>
        </p:spPr>
        <p:txBody>
          <a:bodyPr wrap="square" rtlCol="0" anchor="ctr"/>
          <a:lstStyle/>
          <a:p>
            <a:pPr algn="ctr" indent="0" marL="0">
              <a:buNone/>
            </a:pPr>
            <a:r>
              <a:rPr lang="en-US" sz="1900" b="1" dirty="0">
                <a:solidFill>
                  <a:srgbClr val="7F0000"/>
                </a:solidFill>
                <a:latin typeface="Arial" pitchFamily="34" charset="0"/>
                <a:ea typeface="Arial" pitchFamily="34" charset="-122"/>
                <a:cs typeface="Arial" pitchFamily="34" charset="-120"/>
              </a:rPr>
              <a:t>✅ Verde</a:t>
            </a:r>
            <a:endParaRPr lang="en-US" sz="1900" dirty="0"/>
          </a:p>
        </p:txBody>
      </p:sp>
      <p:sp>
        <p:nvSpPr>
          <p:cNvPr id="10" name="Text 8"/>
          <p:cNvSpPr/>
          <p:nvPr/>
        </p:nvSpPr>
        <p:spPr>
          <a:xfrm>
            <a:off x="4520184" y="1828800"/>
            <a:ext cx="3148584" cy="457200"/>
          </a:xfrm>
          <a:prstGeom prst="rect">
            <a:avLst/>
          </a:prstGeom>
          <a:noFill/>
          <a:ln/>
        </p:spPr>
        <p:txBody>
          <a:bodyPr wrap="square" rtlCol="0" anchor="t"/>
          <a:lstStyle/>
          <a:p>
            <a:pPr algn="ctr" indent="0" marL="0">
              <a:buNone/>
            </a:pPr>
            <a:r>
              <a:rPr lang="en-US" sz="1500" dirty="0">
                <a:solidFill>
                  <a:srgbClr val="212121"/>
                </a:solidFill>
                <a:latin typeface="Arial" pitchFamily="34" charset="0"/>
                <a:ea typeface="Arial" pitchFamily="34" charset="-122"/>
                <a:cs typeface="Arial" pitchFamily="34" charset="-120"/>
              </a:rPr>
              <a:t>Todos los steps han pasado.</a:t>
            </a:r>
            <a:endParaRPr lang="en-US" sz="1500" dirty="0"/>
          </a:p>
        </p:txBody>
      </p:sp>
      <p:sp>
        <p:nvSpPr>
          <p:cNvPr id="11" name="Shape 9"/>
          <p:cNvSpPr/>
          <p:nvPr/>
        </p:nvSpPr>
        <p:spPr>
          <a:xfrm>
            <a:off x="8125968" y="1188720"/>
            <a:ext cx="3514344" cy="1188720"/>
          </a:xfrm>
          <a:prstGeom prst="roundRect">
            <a:avLst/>
          </a:prstGeom>
          <a:solidFill>
            <a:srgbClr val="FBEAEA"/>
          </a:solidFill>
          <a:ln w="15875">
            <a:solidFill>
              <a:srgbClr val="C62828"/>
            </a:solidFill>
            <a:prstDash val="solid"/>
          </a:ln>
        </p:spPr>
      </p:sp>
      <p:sp>
        <p:nvSpPr>
          <p:cNvPr id="12" name="Text 10"/>
          <p:cNvSpPr/>
          <p:nvPr/>
        </p:nvSpPr>
        <p:spPr>
          <a:xfrm>
            <a:off x="8263128" y="1280160"/>
            <a:ext cx="3240024" cy="502920"/>
          </a:xfrm>
          <a:prstGeom prst="rect">
            <a:avLst/>
          </a:prstGeom>
          <a:noFill/>
          <a:ln/>
        </p:spPr>
        <p:txBody>
          <a:bodyPr wrap="square" rtlCol="0" anchor="ctr"/>
          <a:lstStyle/>
          <a:p>
            <a:pPr algn="ctr" indent="0" marL="0">
              <a:buNone/>
            </a:pPr>
            <a:r>
              <a:rPr lang="en-US" sz="1900" b="1" dirty="0">
                <a:solidFill>
                  <a:srgbClr val="7F0000"/>
                </a:solidFill>
                <a:latin typeface="Arial" pitchFamily="34" charset="0"/>
                <a:ea typeface="Arial" pitchFamily="34" charset="-122"/>
                <a:cs typeface="Arial" pitchFamily="34" charset="-120"/>
              </a:rPr>
              <a:t>❌ Rojo</a:t>
            </a:r>
            <a:endParaRPr lang="en-US" sz="1900" dirty="0"/>
          </a:p>
        </p:txBody>
      </p:sp>
      <p:sp>
        <p:nvSpPr>
          <p:cNvPr id="13" name="Text 11"/>
          <p:cNvSpPr/>
          <p:nvPr/>
        </p:nvSpPr>
        <p:spPr>
          <a:xfrm>
            <a:off x="8308848" y="1828800"/>
            <a:ext cx="3148584" cy="457200"/>
          </a:xfrm>
          <a:prstGeom prst="rect">
            <a:avLst/>
          </a:prstGeom>
          <a:noFill/>
          <a:ln/>
        </p:spPr>
        <p:txBody>
          <a:bodyPr wrap="square" rtlCol="0" anchor="t"/>
          <a:lstStyle/>
          <a:p>
            <a:pPr algn="ctr" indent="0" marL="0">
              <a:buNone/>
            </a:pPr>
            <a:r>
              <a:rPr lang="en-US" sz="1500" dirty="0">
                <a:solidFill>
                  <a:srgbClr val="212121"/>
                </a:solidFill>
                <a:latin typeface="Arial" pitchFamily="34" charset="0"/>
                <a:ea typeface="Arial" pitchFamily="34" charset="-122"/>
                <a:cs typeface="Arial" pitchFamily="34" charset="-120"/>
              </a:rPr>
              <a:t>Algún step ha fallado.</a:t>
            </a:r>
            <a:endParaRPr lang="en-US" sz="1500" dirty="0"/>
          </a:p>
        </p:txBody>
      </p:sp>
      <p:sp>
        <p:nvSpPr>
          <p:cNvPr id="14" name="Text 12"/>
          <p:cNvSpPr/>
          <p:nvPr/>
        </p:nvSpPr>
        <p:spPr>
          <a:xfrm>
            <a:off x="548640" y="2651760"/>
            <a:ext cx="11091672" cy="365760"/>
          </a:xfrm>
          <a:prstGeom prst="rect">
            <a:avLst/>
          </a:prstGeom>
          <a:noFill/>
          <a:ln/>
        </p:spPr>
        <p:txBody>
          <a:bodyPr wrap="square" rtlCol="0" anchor="ctr"/>
          <a:lstStyle/>
          <a:p>
            <a:pPr indent="0" marL="0">
              <a:buNone/>
            </a:pPr>
            <a:r>
              <a:rPr lang="en-US" sz="1500" b="1" dirty="0">
                <a:solidFill>
                  <a:srgbClr val="C62828"/>
                </a:solidFill>
                <a:latin typeface="Arial" pitchFamily="34" charset="0"/>
                <a:ea typeface="Arial" pitchFamily="34" charset="-122"/>
                <a:cs typeface="Arial" pitchFamily="34" charset="-120"/>
              </a:rPr>
              <a:t>Vista general → un run → un job → sus steps con el log completo</a:t>
            </a:r>
            <a:endParaRPr lang="en-US" sz="1500" dirty="0"/>
          </a:p>
        </p:txBody>
      </p:sp>
      <p:sp>
        <p:nvSpPr>
          <p:cNvPr id="15" name="Shape 13"/>
          <p:cNvSpPr/>
          <p:nvPr/>
        </p:nvSpPr>
        <p:spPr>
          <a:xfrm>
            <a:off x="548640" y="3063240"/>
            <a:ext cx="11091672" cy="1005840"/>
          </a:xfrm>
          <a:prstGeom prst="rect">
            <a:avLst/>
          </a:prstGeom>
          <a:solidFill>
            <a:srgbClr val="ECEFF1"/>
          </a:solidFill>
          <a:ln w="12700">
            <a:solidFill>
              <a:srgbClr val="EEEEEE"/>
            </a:solidFill>
            <a:prstDash val="solid"/>
          </a:ln>
        </p:spPr>
      </p:sp>
      <p:sp>
        <p:nvSpPr>
          <p:cNvPr id="16" name="Shape 14"/>
          <p:cNvSpPr/>
          <p:nvPr/>
        </p:nvSpPr>
        <p:spPr>
          <a:xfrm>
            <a:off x="548640" y="3063240"/>
            <a:ext cx="73152" cy="1005840"/>
          </a:xfrm>
          <a:prstGeom prst="rect">
            <a:avLst/>
          </a:prstGeom>
          <a:solidFill>
            <a:srgbClr val="E64A19"/>
          </a:solidFill>
          <a:ln w="12700">
            <a:solidFill>
              <a:srgbClr val="E64A19"/>
            </a:solidFill>
            <a:prstDash val="solid"/>
          </a:ln>
        </p:spPr>
      </p:sp>
      <p:sp>
        <p:nvSpPr>
          <p:cNvPr id="17" name="Text 15"/>
          <p:cNvSpPr/>
          <p:nvPr/>
        </p:nvSpPr>
        <p:spPr>
          <a:xfrm>
            <a:off x="822960" y="3154680"/>
            <a:ext cx="10634472" cy="822960"/>
          </a:xfrm>
          <a:prstGeom prst="rect">
            <a:avLst/>
          </a:prstGeom>
          <a:noFill/>
          <a:ln/>
        </p:spPr>
        <p:txBody>
          <a:bodyPr wrap="square" rtlCol="0" anchor="t"/>
          <a:lstStyle/>
          <a:p>
            <a:pPr indent="0" marL="0">
              <a:buNone/>
            </a:pPr>
            <a:r>
              <a:rPr lang="en-US" sz="1600" dirty="0">
                <a:solidFill>
                  <a:srgbClr val="263238"/>
                </a:solidFill>
                <a:latin typeface="Courier New" pitchFamily="34" charset="0"/>
                <a:ea typeface="Courier New" pitchFamily="34" charset="-122"/>
                <a:cs typeface="Courier New" pitchFamily="34" charset="-120"/>
              </a:rPr>
              <a:t>[INFO] Running com.ejemplo.CalculadoraTest</a:t>
            </a:r>
            <a:endParaRPr lang="en-US" sz="1600" dirty="0"/>
          </a:p>
          <a:p>
            <a:pPr indent="0" marL="0">
              <a:buNone/>
            </a:pPr>
            <a:r>
              <a:rPr lang="en-US" sz="1600" dirty="0">
                <a:solidFill>
                  <a:srgbClr val="263238"/>
                </a:solidFill>
                <a:latin typeface="Courier New" pitchFamily="34" charset="0"/>
                <a:ea typeface="Courier New" pitchFamily="34" charset="-122"/>
                <a:cs typeface="Courier New" pitchFamily="34" charset="-120"/>
              </a:rPr>
              <a:t>[INFO] Tests run: 5, Failures: 0, Errors: 0, Skipped: 0</a:t>
            </a:r>
            <a:endParaRPr lang="en-US" sz="1600" dirty="0"/>
          </a:p>
          <a:p>
            <a:pPr indent="0" marL="0">
              <a:buNone/>
            </a:pPr>
            <a:r>
              <a:rPr lang="en-US" sz="1600" dirty="0">
                <a:solidFill>
                  <a:srgbClr val="263238"/>
                </a:solidFill>
                <a:latin typeface="Courier New" pitchFamily="34" charset="0"/>
                <a:ea typeface="Courier New" pitchFamily="34" charset="-122"/>
                <a:cs typeface="Courier New" pitchFamily="34" charset="-120"/>
              </a:rPr>
              <a:t>[INFO] BUILD SUCCESS</a:t>
            </a:r>
            <a:endParaRPr lang="en-US" sz="1600" dirty="0"/>
          </a:p>
        </p:txBody>
      </p:sp>
      <p:sp>
        <p:nvSpPr>
          <p:cNvPr id="18" name="Shape 16"/>
          <p:cNvSpPr/>
          <p:nvPr/>
        </p:nvSpPr>
        <p:spPr>
          <a:xfrm>
            <a:off x="548640" y="4343400"/>
            <a:ext cx="11091672" cy="914400"/>
          </a:xfrm>
          <a:prstGeom prst="roundRect">
            <a:avLst/>
          </a:prstGeom>
          <a:solidFill>
            <a:srgbClr val="FBE9E7"/>
          </a:solidFill>
          <a:ln w="19050">
            <a:solidFill>
              <a:srgbClr val="E64A19"/>
            </a:solidFill>
            <a:prstDash val="solid"/>
          </a:ln>
        </p:spPr>
      </p:sp>
      <p:sp>
        <p:nvSpPr>
          <p:cNvPr id="19" name="Text 17"/>
          <p:cNvSpPr/>
          <p:nvPr/>
        </p:nvSpPr>
        <p:spPr>
          <a:xfrm>
            <a:off x="777240" y="4416552"/>
            <a:ext cx="10634472" cy="768096"/>
          </a:xfrm>
          <a:prstGeom prst="rect">
            <a:avLst/>
          </a:prstGeom>
          <a:noFill/>
          <a:ln/>
        </p:spPr>
        <p:txBody>
          <a:bodyPr wrap="square" rtlCol="0" anchor="ctr"/>
          <a:lstStyle/>
          <a:p>
            <a:pPr indent="0" marL="0">
              <a:buNone/>
            </a:pPr>
            <a:r>
              <a:rPr lang="en-US" sz="1700" dirty="0">
                <a:solidFill>
                  <a:srgbClr val="212121"/>
                </a:solidFill>
                <a:latin typeface="Arial" pitchFamily="34" charset="0"/>
                <a:ea typeface="Arial" pitchFamily="34" charset="-122"/>
                <a:cs typeface="Arial" pitchFamily="34" charset="-120"/>
              </a:rPr>
              <a:t>Si un step falla, su fondo se vuelve rojo. Busca la última línea antes de «Process completed with exit code 1»: ahí está el problema.</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Cuando el workflow falla: tres orígenes distintos</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0: GitHub Actions</a:t>
            </a:r>
            <a:endParaRPr lang="en-US" sz="1100" dirty="0"/>
          </a:p>
        </p:txBody>
      </p:sp>
      <p:sp>
        <p:nvSpPr>
          <p:cNvPr id="5" name="Shape 3"/>
          <p:cNvSpPr/>
          <p:nvPr/>
        </p:nvSpPr>
        <p:spPr>
          <a:xfrm>
            <a:off x="548640" y="1234440"/>
            <a:ext cx="3514344" cy="2560320"/>
          </a:xfrm>
          <a:prstGeom prst="roundRect">
            <a:avLst/>
          </a:prstGeom>
          <a:solidFill>
            <a:srgbClr val="FBE9E7"/>
          </a:solidFill>
          <a:ln w="25400">
            <a:solidFill>
              <a:srgbClr val="E64A19"/>
            </a:solidFill>
            <a:prstDash val="solid"/>
          </a:ln>
        </p:spPr>
      </p:sp>
      <p:sp>
        <p:nvSpPr>
          <p:cNvPr id="6" name="Text 4"/>
          <p:cNvSpPr/>
          <p:nvPr/>
        </p:nvSpPr>
        <p:spPr>
          <a:xfrm>
            <a:off x="685800" y="1325880"/>
            <a:ext cx="3240024" cy="731520"/>
          </a:xfrm>
          <a:prstGeom prst="rect">
            <a:avLst/>
          </a:prstGeom>
          <a:noFill/>
          <a:ln/>
        </p:spPr>
        <p:txBody>
          <a:bodyPr wrap="square" rtlCol="0" anchor="ctr"/>
          <a:lstStyle/>
          <a:p>
            <a:pPr algn="ctr" indent="0" marL="0">
              <a:buNone/>
            </a:pPr>
            <a:r>
              <a:rPr lang="en-US" sz="1800" b="1" dirty="0">
                <a:solidFill>
                  <a:srgbClr val="7F0000"/>
                </a:solidFill>
                <a:latin typeface="Arial" pitchFamily="34" charset="0"/>
                <a:ea typeface="Arial" pitchFamily="34" charset="-122"/>
                <a:cs typeface="Arial" pitchFamily="34" charset="-120"/>
              </a:rPr>
              <a:t>Error en el código</a:t>
            </a:r>
            <a:endParaRPr lang="en-US" sz="1800" dirty="0"/>
          </a:p>
        </p:txBody>
      </p:sp>
      <p:sp>
        <p:nvSpPr>
          <p:cNvPr id="7" name="Text 5"/>
          <p:cNvSpPr/>
          <p:nvPr/>
        </p:nvSpPr>
        <p:spPr>
          <a:xfrm>
            <a:off x="731520" y="2103120"/>
            <a:ext cx="3148584" cy="1600200"/>
          </a:xfrm>
          <a:prstGeom prst="rect">
            <a:avLst/>
          </a:prstGeom>
          <a:noFill/>
          <a:ln/>
        </p:spPr>
        <p:txBody>
          <a:bodyPr wrap="square" rtlCol="0" anchor="t"/>
          <a:lstStyle/>
          <a:p>
            <a:pPr algn="ctr" indent="0" marL="0">
              <a:buNone/>
            </a:pPr>
            <a:r>
              <a:rPr lang="en-US" sz="1400" dirty="0">
                <a:solidFill>
                  <a:srgbClr val="212121"/>
                </a:solidFill>
                <a:latin typeface="Arial" pitchFamily="34" charset="0"/>
                <a:ea typeface="Arial" pitchFamily="34" charset="-122"/>
                <a:cs typeface="Arial" pitchFamily="34" charset="-120"/>
              </a:rPr>
              <a:t>El más frecuente. sumarDosPositivos falla: expected &lt;5&gt; but was &lt;-1&gt;. Solución: corrige, commit y push.</a:t>
            </a:r>
            <a:endParaRPr lang="en-US" sz="1400" dirty="0"/>
          </a:p>
        </p:txBody>
      </p:sp>
      <p:sp>
        <p:nvSpPr>
          <p:cNvPr id="8" name="Shape 6"/>
          <p:cNvSpPr/>
          <p:nvPr/>
        </p:nvSpPr>
        <p:spPr>
          <a:xfrm>
            <a:off x="4337304" y="1234440"/>
            <a:ext cx="3514344" cy="2560320"/>
          </a:xfrm>
          <a:prstGeom prst="roundRect">
            <a:avLst/>
          </a:prstGeom>
          <a:solidFill>
            <a:srgbClr val="FBEAEA"/>
          </a:solidFill>
          <a:ln w="15875">
            <a:solidFill>
              <a:srgbClr val="C62828"/>
            </a:solidFill>
            <a:prstDash val="solid"/>
          </a:ln>
        </p:spPr>
      </p:sp>
      <p:sp>
        <p:nvSpPr>
          <p:cNvPr id="9" name="Text 7"/>
          <p:cNvSpPr/>
          <p:nvPr/>
        </p:nvSpPr>
        <p:spPr>
          <a:xfrm>
            <a:off x="4474464" y="1325880"/>
            <a:ext cx="3240024" cy="731520"/>
          </a:xfrm>
          <a:prstGeom prst="rect">
            <a:avLst/>
          </a:prstGeom>
          <a:noFill/>
          <a:ln/>
        </p:spPr>
        <p:txBody>
          <a:bodyPr wrap="square" rtlCol="0" anchor="ctr"/>
          <a:lstStyle/>
          <a:p>
            <a:pPr algn="ctr" indent="0" marL="0">
              <a:buNone/>
            </a:pPr>
            <a:r>
              <a:rPr lang="en-US" sz="1800" b="1" dirty="0">
                <a:solidFill>
                  <a:srgbClr val="7F0000"/>
                </a:solidFill>
                <a:latin typeface="Arial" pitchFamily="34" charset="0"/>
                <a:ea typeface="Arial" pitchFamily="34" charset="-122"/>
                <a:cs typeface="Arial" pitchFamily="34" charset="-120"/>
              </a:rPr>
              <a:t>Error en el workflow</a:t>
            </a:r>
            <a:endParaRPr lang="en-US" sz="1800" dirty="0"/>
          </a:p>
        </p:txBody>
      </p:sp>
      <p:sp>
        <p:nvSpPr>
          <p:cNvPr id="10" name="Text 8"/>
          <p:cNvSpPr/>
          <p:nvPr/>
        </p:nvSpPr>
        <p:spPr>
          <a:xfrm>
            <a:off x="4520184" y="2103120"/>
            <a:ext cx="3148584" cy="1600200"/>
          </a:xfrm>
          <a:prstGeom prst="rect">
            <a:avLst/>
          </a:prstGeom>
          <a:noFill/>
          <a:ln/>
        </p:spPr>
        <p:txBody>
          <a:bodyPr wrap="square" rtlCol="0" anchor="t"/>
          <a:lstStyle/>
          <a:p>
            <a:pPr algn="ctr" indent="0" marL="0">
              <a:buNone/>
            </a:pPr>
            <a:r>
              <a:rPr lang="en-US" sz="1400" dirty="0">
                <a:solidFill>
                  <a:srgbClr val="212121"/>
                </a:solidFill>
                <a:latin typeface="Arial" pitchFamily="34" charset="0"/>
                <a:ea typeface="Arial" pitchFamily="34" charset="-122"/>
                <a:cs typeface="Arial" pitchFamily="34" charset="-120"/>
              </a:rPr>
              <a:t>El YAML tiene un problema o una Action no existe: Unable to resolve action. Solución: corrige el .yml.</a:t>
            </a:r>
            <a:endParaRPr lang="en-US" sz="1400" dirty="0"/>
          </a:p>
        </p:txBody>
      </p:sp>
      <p:sp>
        <p:nvSpPr>
          <p:cNvPr id="11" name="Shape 9"/>
          <p:cNvSpPr/>
          <p:nvPr/>
        </p:nvSpPr>
        <p:spPr>
          <a:xfrm>
            <a:off x="8125968" y="1234440"/>
            <a:ext cx="3514344" cy="2560320"/>
          </a:xfrm>
          <a:prstGeom prst="roundRect">
            <a:avLst/>
          </a:prstGeom>
          <a:solidFill>
            <a:srgbClr val="FBEAEA"/>
          </a:solidFill>
          <a:ln w="15875">
            <a:solidFill>
              <a:srgbClr val="C62828"/>
            </a:solidFill>
            <a:prstDash val="solid"/>
          </a:ln>
        </p:spPr>
      </p:sp>
      <p:sp>
        <p:nvSpPr>
          <p:cNvPr id="12" name="Text 10"/>
          <p:cNvSpPr/>
          <p:nvPr/>
        </p:nvSpPr>
        <p:spPr>
          <a:xfrm>
            <a:off x="8263128" y="1325880"/>
            <a:ext cx="3240024" cy="731520"/>
          </a:xfrm>
          <a:prstGeom prst="rect">
            <a:avLst/>
          </a:prstGeom>
          <a:noFill/>
          <a:ln/>
        </p:spPr>
        <p:txBody>
          <a:bodyPr wrap="square" rtlCol="0" anchor="ctr"/>
          <a:lstStyle/>
          <a:p>
            <a:pPr algn="ctr" indent="0" marL="0">
              <a:buNone/>
            </a:pPr>
            <a:r>
              <a:rPr lang="en-US" sz="1800" b="1" dirty="0">
                <a:solidFill>
                  <a:srgbClr val="7F0000"/>
                </a:solidFill>
                <a:latin typeface="Arial" pitchFamily="34" charset="0"/>
                <a:ea typeface="Arial" pitchFamily="34" charset="-122"/>
                <a:cs typeface="Arial" pitchFamily="34" charset="-120"/>
              </a:rPr>
              <a:t>Error de entorno</a:t>
            </a:r>
            <a:endParaRPr lang="en-US" sz="1800" dirty="0"/>
          </a:p>
        </p:txBody>
      </p:sp>
      <p:sp>
        <p:nvSpPr>
          <p:cNvPr id="13" name="Text 11"/>
          <p:cNvSpPr/>
          <p:nvPr/>
        </p:nvSpPr>
        <p:spPr>
          <a:xfrm>
            <a:off x="8308848" y="2103120"/>
            <a:ext cx="3148584" cy="1600200"/>
          </a:xfrm>
          <a:prstGeom prst="rect">
            <a:avLst/>
          </a:prstGeom>
          <a:noFill/>
          <a:ln/>
        </p:spPr>
        <p:txBody>
          <a:bodyPr wrap="square" rtlCol="0" anchor="t"/>
          <a:lstStyle/>
          <a:p>
            <a:pPr algn="ctr" indent="0" marL="0">
              <a:buNone/>
            </a:pPr>
            <a:r>
              <a:rPr lang="en-US" sz="1400" dirty="0">
                <a:solidFill>
                  <a:srgbClr val="212121"/>
                </a:solidFill>
                <a:latin typeface="Arial" pitchFamily="34" charset="0"/>
                <a:ea typeface="Arial" pitchFamily="34" charset="-122"/>
                <a:cs typeface="Arial" pitchFamily="34" charset="-120"/>
              </a:rPr>
              <a:t>Al runner le falta algo: JAVA_HOME is not set. Solución: añade el step de instalación que falta.</a:t>
            </a:r>
            <a:endParaRPr lang="en-US" sz="1400" dirty="0"/>
          </a:p>
        </p:txBody>
      </p:sp>
      <p:sp>
        <p:nvSpPr>
          <p:cNvPr id="14" name="Shape 12"/>
          <p:cNvSpPr/>
          <p:nvPr/>
        </p:nvSpPr>
        <p:spPr>
          <a:xfrm>
            <a:off x="548640" y="4023360"/>
            <a:ext cx="11091672" cy="1371600"/>
          </a:xfrm>
          <a:prstGeom prst="roundRect">
            <a:avLst/>
          </a:prstGeom>
          <a:solidFill>
            <a:srgbClr val="FBE9E7"/>
          </a:solidFill>
          <a:ln w="28575">
            <a:solidFill>
              <a:srgbClr val="E64A19"/>
            </a:solidFill>
            <a:prstDash val="solid"/>
          </a:ln>
        </p:spPr>
      </p:sp>
      <p:sp>
        <p:nvSpPr>
          <p:cNvPr id="15" name="Text 13"/>
          <p:cNvSpPr/>
          <p:nvPr/>
        </p:nvSpPr>
        <p:spPr>
          <a:xfrm>
            <a:off x="822960" y="4114800"/>
            <a:ext cx="10543032" cy="1188720"/>
          </a:xfrm>
          <a:prstGeom prst="rect">
            <a:avLst/>
          </a:prstGeom>
          <a:noFill/>
          <a:ln/>
        </p:spPr>
        <p:txBody>
          <a:bodyPr wrap="square" rtlCol="0" anchor="ctr"/>
          <a:lstStyle/>
          <a:p>
            <a:pPr indent="0" marL="0">
              <a:buNone/>
            </a:pPr>
            <a:r>
              <a:rPr lang="en-US" sz="1900" b="1" dirty="0">
                <a:solidFill>
                  <a:srgbClr val="7F0000"/>
                </a:solidFill>
                <a:latin typeface="Arial" pitchFamily="34" charset="0"/>
                <a:ea typeface="Arial" pitchFamily="34" charset="-122"/>
                <a:cs typeface="Arial" pitchFamily="34" charset="-120"/>
              </a:rPr>
              <a:t>Pasa en local, falla en el runner
</a:t>
            </a:r>
            <a:endParaRPr lang="en-US" sz="1900" dirty="0"/>
          </a:p>
          <a:p>
            <a:pPr indent="0" marL="0">
              <a:buNone/>
            </a:pPr>
            <a:r>
              <a:rPr lang="en-US" sz="1800" dirty="0">
                <a:solidFill>
                  <a:srgbClr val="212121"/>
                </a:solidFill>
                <a:latin typeface="Arial" pitchFamily="34" charset="0"/>
                <a:ea typeface="Arial" pitchFamily="34" charset="-122"/>
                <a:cs typeface="Arial" pitchFamily="34" charset="-120"/>
              </a:rPr>
              <a:t>La causa más frecuente es una diferencia de entorno: versión de Java, dependencia no instalada, o un fichero local que no está en el repositorio. El runner parte de cero cada vez.</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El Marketplace de Actions</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0: GitHub Actions</a:t>
            </a:r>
            <a:endParaRPr lang="en-US" sz="1100" dirty="0"/>
          </a:p>
        </p:txBody>
      </p:sp>
      <p:sp>
        <p:nvSpPr>
          <p:cNvPr id="5" name="Shape 3"/>
          <p:cNvSpPr/>
          <p:nvPr/>
        </p:nvSpPr>
        <p:spPr>
          <a:xfrm>
            <a:off x="548640" y="1143000"/>
            <a:ext cx="11091672" cy="822960"/>
          </a:xfrm>
          <a:prstGeom prst="roundRect">
            <a:avLst/>
          </a:prstGeom>
          <a:solidFill>
            <a:srgbClr val="FBE9E7"/>
          </a:solidFill>
          <a:ln w="19050">
            <a:solidFill>
              <a:srgbClr val="E64A19"/>
            </a:solidFill>
            <a:prstDash val="solid"/>
          </a:ln>
        </p:spPr>
      </p:sp>
      <p:sp>
        <p:nvSpPr>
          <p:cNvPr id="6" name="Text 4"/>
          <p:cNvSpPr/>
          <p:nvPr/>
        </p:nvSpPr>
        <p:spPr>
          <a:xfrm>
            <a:off x="777240" y="1216152"/>
            <a:ext cx="10634472" cy="676656"/>
          </a:xfrm>
          <a:prstGeom prst="rect">
            <a:avLst/>
          </a:prstGeom>
          <a:noFill/>
          <a:ln/>
        </p:spPr>
        <p:txBody>
          <a:bodyPr wrap="square" rtlCol="0" anchor="ctr"/>
          <a:lstStyle/>
          <a:p>
            <a:pPr indent="0" marL="0">
              <a:buNone/>
            </a:pPr>
            <a:r>
              <a:rPr lang="en-US" sz="1700" dirty="0">
                <a:solidFill>
                  <a:srgbClr val="212121"/>
                </a:solidFill>
                <a:latin typeface="Arial" pitchFamily="34" charset="0"/>
                <a:ea typeface="Arial" pitchFamily="34" charset="-122"/>
                <a:cs typeface="Arial" pitchFamily="34" charset="-120"/>
              </a:rPr>
              <a:t>No tienes que escribir todo desde cero. El Marketplace contiene miles de Actions reutilizables de la comunidad y de empresas.</a:t>
            </a:r>
            <a:endParaRPr lang="en-US" sz="17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91672" cy="914400"/>
        </p:xfrm>
        <a:graphic>
          <a:graphicData uri="http://schemas.openxmlformats.org/drawingml/2006/table">
            <a:tbl>
              <a:tblPr/>
              <a:tblGrid>
                <a:gridCol w="3993002"/>
                <a:gridCol w="7098670"/>
              </a:tblGrid>
              <a:tr h="548640">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Action</a:t>
                      </a:r>
                      <a:endParaRPr lang="en-US" sz="17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Para qué sirve</a:t>
                      </a:r>
                      <a:endParaRPr lang="en-US" sz="17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r>
              <a:tr h="548640">
                <a:tc>
                  <a:txBody>
                    <a:bodyPr/>
                    <a:lstStyle/>
                    <a:p>
                      <a:pPr indent="0" marL="0">
                        <a:buNone/>
                      </a:pPr>
                      <a:r>
                        <a:rPr lang="en-US" sz="1500" b="1" dirty="0">
                          <a:solidFill>
                            <a:srgbClr val="212121"/>
                          </a:solidFill>
                          <a:latin typeface="Arial" pitchFamily="34" charset="0"/>
                          <a:ea typeface="Arial" pitchFamily="34" charset="-122"/>
                          <a:cs typeface="Arial" pitchFamily="34" charset="-120"/>
                        </a:rPr>
                        <a:t>actions/checkout@v7</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Clona el repositorio en el runner. Siempre el primer step.</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548640">
                <a:tc>
                  <a:txBody>
                    <a:bodyPr/>
                    <a:lstStyle/>
                    <a:p>
                      <a:pPr indent="0" marL="0">
                        <a:buNone/>
                      </a:pPr>
                      <a:r>
                        <a:rPr lang="en-US" sz="1500" b="1" dirty="0">
                          <a:solidFill>
                            <a:srgbClr val="212121"/>
                          </a:solidFill>
                          <a:latin typeface="Arial" pitchFamily="34" charset="0"/>
                          <a:ea typeface="Arial" pitchFamily="34" charset="-122"/>
                          <a:cs typeface="Arial" pitchFamily="34" charset="-120"/>
                        </a:rPr>
                        <a:t>actions/setup-java@v6</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Instala un JDK concreto (Temurin, Zulu, Corretto...).</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548640">
                <a:tc>
                  <a:txBody>
                    <a:bodyPr/>
                    <a:lstStyle/>
                    <a:p>
                      <a:pPr indent="0" marL="0">
                        <a:buNone/>
                      </a:pPr>
                      <a:r>
                        <a:rPr lang="en-US" sz="1500" b="1" dirty="0">
                          <a:solidFill>
                            <a:srgbClr val="212121"/>
                          </a:solidFill>
                          <a:latin typeface="Arial" pitchFamily="34" charset="0"/>
                          <a:ea typeface="Arial" pitchFamily="34" charset="-122"/>
                          <a:cs typeface="Arial" pitchFamily="34" charset="-120"/>
                        </a:rPr>
                        <a:t>actions/setup-node@v7</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Instala Node.js y npm.</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548640">
                <a:tc>
                  <a:txBody>
                    <a:bodyPr/>
                    <a:lstStyle/>
                    <a:p>
                      <a:pPr indent="0" marL="0">
                        <a:buNone/>
                      </a:pPr>
                      <a:r>
                        <a:rPr lang="en-US" sz="1500" b="1" dirty="0">
                          <a:solidFill>
                            <a:srgbClr val="212121"/>
                          </a:solidFill>
                          <a:latin typeface="Arial" pitchFamily="34" charset="0"/>
                          <a:ea typeface="Arial" pitchFamily="34" charset="-122"/>
                          <a:cs typeface="Arial" pitchFamily="34" charset="-120"/>
                        </a:rPr>
                        <a:t>actions/cache@v6</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Guarda en caché dependencias (Maven, npm...).</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548640">
                <a:tc>
                  <a:txBody>
                    <a:bodyPr/>
                    <a:lstStyle/>
                    <a:p>
                      <a:pPr indent="0" marL="0">
                        <a:buNone/>
                      </a:pPr>
                      <a:r>
                        <a:rPr lang="en-US" sz="1500" b="1" dirty="0">
                          <a:solidFill>
                            <a:srgbClr val="212121"/>
                          </a:solidFill>
                          <a:latin typeface="Arial" pitchFamily="34" charset="0"/>
                          <a:ea typeface="Arial" pitchFamily="34" charset="-122"/>
                          <a:cs typeface="Arial" pitchFamily="34" charset="-120"/>
                        </a:rPr>
                        <a:t>actions/upload-artifact@v7</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Guarda ficheros del runner para descargarlos después.</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5349240"/>
            <a:ext cx="11091672" cy="960120"/>
          </a:xfrm>
          <a:prstGeom prst="roundRect">
            <a:avLst/>
          </a:prstGeom>
          <a:solidFill>
            <a:srgbClr val="FBE9E7"/>
          </a:solidFill>
          <a:ln w="28575">
            <a:solidFill>
              <a:srgbClr val="E64A19"/>
            </a:solidFill>
            <a:prstDash val="solid"/>
          </a:ln>
        </p:spPr>
      </p:sp>
      <p:sp>
        <p:nvSpPr>
          <p:cNvPr id="9" name="Text 6"/>
          <p:cNvSpPr/>
          <p:nvPr/>
        </p:nvSpPr>
        <p:spPr>
          <a:xfrm>
            <a:off x="822960" y="5440680"/>
            <a:ext cx="10543032" cy="777240"/>
          </a:xfrm>
          <a:prstGeom prst="rect">
            <a:avLst/>
          </a:prstGeom>
          <a:noFill/>
          <a:ln/>
        </p:spPr>
        <p:txBody>
          <a:bodyPr wrap="square" rtlCol="0" anchor="ctr"/>
          <a:lstStyle/>
          <a:p>
            <a:pPr indent="0" marL="0">
              <a:buNone/>
            </a:pPr>
            <a:r>
              <a:rPr lang="en-US" sz="1600" b="1" dirty="0">
                <a:solidFill>
                  <a:srgbClr val="7F0000"/>
                </a:solidFill>
                <a:latin typeface="Arial" pitchFamily="34" charset="0"/>
                <a:ea typeface="Arial" pitchFamily="34" charset="-122"/>
                <a:cs typeface="Arial" pitchFamily="34" charset="-120"/>
              </a:rPr>
              <a:t>Verifica las Actions de terceros
</a:t>
            </a:r>
            <a:endParaRPr lang="en-US" sz="1600" dirty="0"/>
          </a:p>
          <a:p>
            <a:pPr indent="0" marL="0">
              <a:buNone/>
            </a:pPr>
            <a:r>
              <a:rPr lang="en-US" sz="1500" dirty="0">
                <a:solidFill>
                  <a:srgbClr val="212121"/>
                </a:solidFill>
                <a:latin typeface="Arial" pitchFamily="34" charset="0"/>
                <a:ea typeface="Arial" pitchFamily="34" charset="-122"/>
                <a:cs typeface="Arial" pitchFamily="34" charset="-120"/>
              </a:rPr>
              <a:t>Las oficiales (actions/...) son de confianza. Las de terceros ejecutan código en tu runner con acceso a tus secrets: comprueba que el repositorio es conocido.</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Secretos: credenciales sin exponer</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0: GitHub Actions</a:t>
            </a:r>
            <a:endParaRPr lang="en-US" sz="1100" dirty="0"/>
          </a:p>
        </p:txBody>
      </p:sp>
      <p:sp>
        <p:nvSpPr>
          <p:cNvPr id="5" name="Shape 3"/>
          <p:cNvSpPr/>
          <p:nvPr/>
        </p:nvSpPr>
        <p:spPr>
          <a:xfrm>
            <a:off x="548640" y="1143000"/>
            <a:ext cx="11091672" cy="1051560"/>
          </a:xfrm>
          <a:prstGeom prst="roundRect">
            <a:avLst/>
          </a:prstGeom>
          <a:solidFill>
            <a:srgbClr val="FBE9E7"/>
          </a:solidFill>
          <a:ln w="19050">
            <a:solidFill>
              <a:srgbClr val="E64A19"/>
            </a:solidFill>
            <a:prstDash val="solid"/>
          </a:ln>
        </p:spPr>
      </p:sp>
      <p:sp>
        <p:nvSpPr>
          <p:cNvPr id="6" name="Text 4"/>
          <p:cNvSpPr/>
          <p:nvPr/>
        </p:nvSpPr>
        <p:spPr>
          <a:xfrm>
            <a:off x="777240" y="1216152"/>
            <a:ext cx="10634472" cy="905256"/>
          </a:xfrm>
          <a:prstGeom prst="rect">
            <a:avLst/>
          </a:prstGeom>
          <a:noFill/>
          <a:ln/>
        </p:spPr>
        <p:txBody>
          <a:bodyPr wrap="square" rtlCol="0" anchor="ctr"/>
          <a:lstStyle/>
          <a:p>
            <a:pPr indent="0" marL="0">
              <a:buNone/>
            </a:pPr>
            <a:r>
              <a:rPr lang="en-US" sz="1600" dirty="0">
                <a:solidFill>
                  <a:srgbClr val="212121"/>
                </a:solidFill>
                <a:latin typeface="Arial" pitchFamily="34" charset="0"/>
                <a:ea typeface="Arial" pitchFamily="34" charset="-122"/>
                <a:cs typeface="Arial" pitchFamily="34" charset="-120"/>
              </a:rPr>
              <a:t>Nunca escribas contraseñas, tokens o claves API en el YAML: ese fichero vive en el repositorio y cualquiera que lo clone lo verá. Los Secrets son variables cifradas que el workflow puede usar sin que su valor aparezca en ningún log.</a:t>
            </a:r>
            <a:endParaRPr lang="en-US" sz="1600" dirty="0"/>
          </a:p>
        </p:txBody>
      </p:sp>
      <p:sp>
        <p:nvSpPr>
          <p:cNvPr id="7" name="Text 5"/>
          <p:cNvSpPr/>
          <p:nvPr/>
        </p:nvSpPr>
        <p:spPr>
          <a:xfrm>
            <a:off x="548640" y="2377440"/>
            <a:ext cx="5408676" cy="365760"/>
          </a:xfrm>
          <a:prstGeom prst="rect">
            <a:avLst/>
          </a:prstGeom>
          <a:noFill/>
          <a:ln/>
        </p:spPr>
        <p:txBody>
          <a:bodyPr wrap="square" rtlCol="0" anchor="ctr"/>
          <a:lstStyle/>
          <a:p>
            <a:pPr indent="0" marL="0">
              <a:buNone/>
            </a:pPr>
            <a:r>
              <a:rPr lang="en-US" sz="1500" b="1" dirty="0">
                <a:solidFill>
                  <a:srgbClr val="C62828"/>
                </a:solidFill>
                <a:latin typeface="Arial" pitchFamily="34" charset="0"/>
                <a:ea typeface="Arial" pitchFamily="34" charset="-122"/>
                <a:cs typeface="Arial" pitchFamily="34" charset="-120"/>
              </a:rPr>
              <a:t>Crear un secret</a:t>
            </a:r>
            <a:endParaRPr lang="en-US" sz="1500" dirty="0"/>
          </a:p>
        </p:txBody>
      </p:sp>
      <p:sp>
        <p:nvSpPr>
          <p:cNvPr id="8" name="Shape 6"/>
          <p:cNvSpPr/>
          <p:nvPr/>
        </p:nvSpPr>
        <p:spPr>
          <a:xfrm>
            <a:off x="548640" y="2761488"/>
            <a:ext cx="5454396" cy="1371600"/>
          </a:xfrm>
          <a:prstGeom prst="roundRect">
            <a:avLst/>
          </a:prstGeom>
          <a:solidFill>
            <a:srgbClr val="FBEAEA"/>
          </a:solidFill>
          <a:ln w="15875">
            <a:solidFill>
              <a:srgbClr val="C62828"/>
            </a:solidFill>
            <a:prstDash val="solid"/>
          </a:ln>
        </p:spPr>
      </p:sp>
      <p:sp>
        <p:nvSpPr>
          <p:cNvPr id="9" name="Text 7"/>
          <p:cNvSpPr/>
          <p:nvPr/>
        </p:nvSpPr>
        <p:spPr>
          <a:xfrm>
            <a:off x="685800" y="2852928"/>
            <a:ext cx="5180076" cy="548640"/>
          </a:xfrm>
          <a:prstGeom prst="rect">
            <a:avLst/>
          </a:prstGeom>
          <a:noFill/>
          <a:ln/>
        </p:spPr>
        <p:txBody>
          <a:bodyPr wrap="square" rtlCol="0" anchor="ctr"/>
          <a:lstStyle/>
          <a:p>
            <a:pPr algn="ctr" indent="0" marL="0">
              <a:buNone/>
            </a:pPr>
            <a:r>
              <a:rPr lang="en-US" sz="1500" b="1" dirty="0">
                <a:solidFill>
                  <a:srgbClr val="7F0000"/>
                </a:solidFill>
                <a:latin typeface="Arial" pitchFamily="34" charset="0"/>
                <a:ea typeface="Arial" pitchFamily="34" charset="-122"/>
                <a:cs typeface="Arial" pitchFamily="34" charset="-120"/>
              </a:rPr>
              <a:t>Settings → Secrets</a:t>
            </a:r>
            <a:endParaRPr lang="en-US" sz="1500" dirty="0"/>
          </a:p>
        </p:txBody>
      </p:sp>
      <p:sp>
        <p:nvSpPr>
          <p:cNvPr id="10" name="Text 8"/>
          <p:cNvSpPr/>
          <p:nvPr/>
        </p:nvSpPr>
        <p:spPr>
          <a:xfrm>
            <a:off x="731520" y="3447288"/>
            <a:ext cx="5088636" cy="594360"/>
          </a:xfrm>
          <a:prstGeom prst="rect">
            <a:avLst/>
          </a:prstGeom>
          <a:noFill/>
          <a:ln/>
        </p:spPr>
        <p:txBody>
          <a:bodyPr wrap="square" rtlCol="0" anchor="t"/>
          <a:lstStyle/>
          <a:p>
            <a:pPr algn="ctr" indent="0" marL="0">
              <a:buNone/>
            </a:pPr>
            <a:r>
              <a:rPr lang="en-US" sz="1300" dirty="0">
                <a:solidFill>
                  <a:srgbClr val="212121"/>
                </a:solidFill>
                <a:latin typeface="Arial" pitchFamily="34" charset="0"/>
                <a:ea typeface="Arial" pitchFamily="34" charset="-122"/>
                <a:cs typeface="Arial" pitchFamily="34" charset="-120"/>
              </a:rPr>
              <a:t>and variables → Actions</a:t>
            </a:r>
            <a:endParaRPr lang="en-US" sz="1300" dirty="0"/>
          </a:p>
        </p:txBody>
      </p:sp>
      <p:sp>
        <p:nvSpPr>
          <p:cNvPr id="11" name="Shape 9"/>
          <p:cNvSpPr/>
          <p:nvPr/>
        </p:nvSpPr>
        <p:spPr>
          <a:xfrm>
            <a:off x="6185916" y="2761488"/>
            <a:ext cx="5454396" cy="1371600"/>
          </a:xfrm>
          <a:prstGeom prst="roundRect">
            <a:avLst/>
          </a:prstGeom>
          <a:solidFill>
            <a:srgbClr val="FBEAEA"/>
          </a:solidFill>
          <a:ln w="15875">
            <a:solidFill>
              <a:srgbClr val="C62828"/>
            </a:solidFill>
            <a:prstDash val="solid"/>
          </a:ln>
        </p:spPr>
      </p:sp>
      <p:sp>
        <p:nvSpPr>
          <p:cNvPr id="12" name="Text 10"/>
          <p:cNvSpPr/>
          <p:nvPr/>
        </p:nvSpPr>
        <p:spPr>
          <a:xfrm>
            <a:off x="6323076" y="2852928"/>
            <a:ext cx="5180076" cy="548640"/>
          </a:xfrm>
          <a:prstGeom prst="rect">
            <a:avLst/>
          </a:prstGeom>
          <a:noFill/>
          <a:ln/>
        </p:spPr>
        <p:txBody>
          <a:bodyPr wrap="square" rtlCol="0" anchor="ctr"/>
          <a:lstStyle/>
          <a:p>
            <a:pPr algn="ctr" indent="0" marL="0">
              <a:buNone/>
            </a:pPr>
            <a:r>
              <a:rPr lang="en-US" sz="1500" b="1" dirty="0">
                <a:solidFill>
                  <a:srgbClr val="7F0000"/>
                </a:solidFill>
                <a:latin typeface="Arial" pitchFamily="34" charset="0"/>
                <a:ea typeface="Arial" pitchFamily="34" charset="-122"/>
                <a:cs typeface="Arial" pitchFamily="34" charset="-120"/>
              </a:rPr>
              <a:t>New repository secret</a:t>
            </a:r>
            <a:endParaRPr lang="en-US" sz="1500" dirty="0"/>
          </a:p>
        </p:txBody>
      </p:sp>
      <p:sp>
        <p:nvSpPr>
          <p:cNvPr id="13" name="Text 11"/>
          <p:cNvSpPr/>
          <p:nvPr/>
        </p:nvSpPr>
        <p:spPr>
          <a:xfrm>
            <a:off x="6368796" y="3447288"/>
            <a:ext cx="5088636" cy="594360"/>
          </a:xfrm>
          <a:prstGeom prst="rect">
            <a:avLst/>
          </a:prstGeom>
          <a:noFill/>
          <a:ln/>
        </p:spPr>
        <p:txBody>
          <a:bodyPr wrap="square" rtlCol="0" anchor="t"/>
          <a:lstStyle/>
          <a:p>
            <a:pPr algn="ctr" indent="0" marL="0">
              <a:buNone/>
            </a:pPr>
            <a:r>
              <a:rPr lang="en-US" sz="1300" dirty="0">
                <a:solidFill>
                  <a:srgbClr val="212121"/>
                </a:solidFill>
                <a:latin typeface="Arial" pitchFamily="34" charset="0"/>
                <a:ea typeface="Arial" pitchFamily="34" charset="-122"/>
                <a:cs typeface="Arial" pitchFamily="34" charset="-120"/>
              </a:rPr>
              <a:t>Nombre en mayúsculas</a:t>
            </a:r>
            <a:endParaRPr lang="en-US" sz="1300" dirty="0"/>
          </a:p>
        </p:txBody>
      </p:sp>
      <p:sp>
        <p:nvSpPr>
          <p:cNvPr id="14" name="Text 12"/>
          <p:cNvSpPr/>
          <p:nvPr/>
        </p:nvSpPr>
        <p:spPr>
          <a:xfrm>
            <a:off x="6231636" y="2377440"/>
            <a:ext cx="5408676" cy="365760"/>
          </a:xfrm>
          <a:prstGeom prst="rect">
            <a:avLst/>
          </a:prstGeom>
          <a:noFill/>
          <a:ln/>
        </p:spPr>
        <p:txBody>
          <a:bodyPr wrap="square" rtlCol="0" anchor="ctr"/>
          <a:lstStyle/>
          <a:p>
            <a:pPr indent="0" marL="0">
              <a:buNone/>
            </a:pPr>
            <a:r>
              <a:rPr lang="en-US" sz="1500" b="1" dirty="0">
                <a:solidFill>
                  <a:srgbClr val="C62828"/>
                </a:solidFill>
                <a:latin typeface="Arial" pitchFamily="34" charset="0"/>
                <a:ea typeface="Arial" pitchFamily="34" charset="-122"/>
                <a:cs typeface="Arial" pitchFamily="34" charset="-120"/>
              </a:rPr>
              <a:t>Usarlo en el workflow</a:t>
            </a:r>
            <a:endParaRPr lang="en-US" sz="1500" dirty="0"/>
          </a:p>
        </p:txBody>
      </p:sp>
      <p:sp>
        <p:nvSpPr>
          <p:cNvPr id="15" name="Shape 13"/>
          <p:cNvSpPr/>
          <p:nvPr/>
        </p:nvSpPr>
        <p:spPr>
          <a:xfrm>
            <a:off x="6231636" y="2761488"/>
            <a:ext cx="5408676" cy="1371600"/>
          </a:xfrm>
          <a:prstGeom prst="rect">
            <a:avLst/>
          </a:prstGeom>
          <a:solidFill>
            <a:srgbClr val="ECEFF1"/>
          </a:solidFill>
          <a:ln w="12700">
            <a:solidFill>
              <a:srgbClr val="EEEEEE"/>
            </a:solidFill>
            <a:prstDash val="solid"/>
          </a:ln>
        </p:spPr>
      </p:sp>
      <p:sp>
        <p:nvSpPr>
          <p:cNvPr id="16" name="Shape 14"/>
          <p:cNvSpPr/>
          <p:nvPr/>
        </p:nvSpPr>
        <p:spPr>
          <a:xfrm>
            <a:off x="6231636" y="2761488"/>
            <a:ext cx="73152" cy="1371600"/>
          </a:xfrm>
          <a:prstGeom prst="rect">
            <a:avLst/>
          </a:prstGeom>
          <a:solidFill>
            <a:srgbClr val="E64A19"/>
          </a:solidFill>
          <a:ln w="12700">
            <a:solidFill>
              <a:srgbClr val="E64A19"/>
            </a:solidFill>
            <a:prstDash val="solid"/>
          </a:ln>
        </p:spPr>
      </p:sp>
      <p:sp>
        <p:nvSpPr>
          <p:cNvPr id="17" name="Text 15"/>
          <p:cNvSpPr/>
          <p:nvPr/>
        </p:nvSpPr>
        <p:spPr>
          <a:xfrm>
            <a:off x="6505956" y="2852928"/>
            <a:ext cx="4951476" cy="1188720"/>
          </a:xfrm>
          <a:prstGeom prst="rect">
            <a:avLst/>
          </a:prstGeom>
          <a:noFill/>
          <a:ln/>
        </p:spPr>
        <p:txBody>
          <a:bodyPr wrap="square" rtlCol="0" anchor="t"/>
          <a:lstStyle/>
          <a:p>
            <a:pPr indent="0" marL="0">
              <a:buNone/>
            </a:pPr>
            <a:r>
              <a:rPr lang="en-US" sz="1250" b="1" dirty="0">
                <a:solidFill>
                  <a:srgbClr val="7F0000"/>
                </a:solidFill>
                <a:latin typeface="Courier New" pitchFamily="34" charset="0"/>
                <a:ea typeface="Courier New" pitchFamily="34" charset="-122"/>
                <a:cs typeface="Courier New" pitchFamily="34" charset="-120"/>
              </a:rPr>
              <a:t>env</a:t>
            </a:r>
            <a:pPr indent="0" marL="0">
              <a:buNone/>
            </a:pPr>
            <a:r>
              <a:rPr lang="en-US" sz="1250" dirty="0">
                <a:solidFill>
                  <a:srgbClr val="263238"/>
                </a:solidFill>
                <a:latin typeface="Courier New" pitchFamily="34" charset="0"/>
                <a:ea typeface="Courier New" pitchFamily="34" charset="-122"/>
                <a:cs typeface="Courier New" pitchFamily="34" charset="-120"/>
              </a:rPr>
              <a:t>:</a:t>
            </a:r>
            <a:endParaRPr lang="en-US" sz="1250" dirty="0"/>
          </a:p>
          <a:p>
            <a:pPr indent="0" marL="0">
              <a:buNone/>
            </a:pPr>
            <a:r>
              <a:rPr lang="en-US" sz="1250" b="1" dirty="0">
                <a:solidFill>
                  <a:srgbClr val="7F0000"/>
                </a:solidFill>
                <a:latin typeface="Courier New" pitchFamily="34" charset="0"/>
                <a:ea typeface="Courier New" pitchFamily="34" charset="-122"/>
                <a:cs typeface="Courier New" pitchFamily="34" charset="-120"/>
              </a:rPr>
              <a:t>  MAVEN_PASSWORD</a:t>
            </a:r>
            <a:pPr indent="0" marL="0">
              <a:buNone/>
            </a:pPr>
            <a:r>
              <a:rPr lang="en-US" sz="1250" dirty="0">
                <a:solidFill>
                  <a:srgbClr val="263238"/>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rgbClr val="263238"/>
                </a:solidFill>
                <a:latin typeface="Courier New" pitchFamily="34" charset="0"/>
                <a:ea typeface="Courier New" pitchFamily="34" charset="-122"/>
                <a:cs typeface="Courier New" pitchFamily="34" charset="-120"/>
              </a:rPr>
              <a:t>    ${{ secrets.MAVEN_PASSWORD }}</a:t>
            </a:r>
            <a:endParaRPr lang="en-US" sz="1250" dirty="0"/>
          </a:p>
        </p:txBody>
      </p:sp>
      <p:sp>
        <p:nvSpPr>
          <p:cNvPr id="18" name="Shape 16"/>
          <p:cNvSpPr/>
          <p:nvPr/>
        </p:nvSpPr>
        <p:spPr>
          <a:xfrm>
            <a:off x="548640" y="4434840"/>
            <a:ext cx="11091672" cy="1234440"/>
          </a:xfrm>
          <a:prstGeom prst="roundRect">
            <a:avLst/>
          </a:prstGeom>
          <a:solidFill>
            <a:srgbClr val="FBE9E7"/>
          </a:solidFill>
          <a:ln w="28575">
            <a:solidFill>
              <a:srgbClr val="E64A19"/>
            </a:solidFill>
            <a:prstDash val="solid"/>
          </a:ln>
        </p:spPr>
      </p:sp>
      <p:sp>
        <p:nvSpPr>
          <p:cNvPr id="19" name="Text 17"/>
          <p:cNvSpPr/>
          <p:nvPr/>
        </p:nvSpPr>
        <p:spPr>
          <a:xfrm>
            <a:off x="822960" y="4526280"/>
            <a:ext cx="10543032" cy="1051560"/>
          </a:xfrm>
          <a:prstGeom prst="rect">
            <a:avLst/>
          </a:prstGeom>
          <a:noFill/>
          <a:ln/>
        </p:spPr>
        <p:txBody>
          <a:bodyPr wrap="square" rtlCol="0" anchor="ctr"/>
          <a:lstStyle/>
          <a:p>
            <a:pPr indent="0" marL="0">
              <a:buNone/>
            </a:pPr>
            <a:r>
              <a:rPr lang="en-US" sz="1800" b="1" dirty="0">
                <a:solidFill>
                  <a:srgbClr val="7F0000"/>
                </a:solidFill>
                <a:latin typeface="Arial" pitchFamily="34" charset="0"/>
                <a:ea typeface="Arial" pitchFamily="34" charset="-122"/>
                <a:cs typeface="Arial" pitchFamily="34" charset="-120"/>
              </a:rPr>
              <a:t>Los secrets no llegan a PRs de forks externos
</a:t>
            </a:r>
            <a:endParaRPr lang="en-US" sz="1800" dirty="0"/>
          </a:p>
          <a:p>
            <a:pPr indent="0" marL="0">
              <a:buNone/>
            </a:pPr>
            <a:r>
              <a:rPr lang="en-US" sz="1700" dirty="0">
                <a:solidFill>
                  <a:srgbClr val="212121"/>
                </a:solidFill>
                <a:latin typeface="Arial" pitchFamily="34" charset="0"/>
                <a:ea typeface="Arial" pitchFamily="34" charset="-122"/>
                <a:cs typeface="Arial" pitchFamily="34" charset="-120"/>
              </a:rPr>
              <a:t>Por seguridad, evita que alguien cree un fork y extraiga tus credenciales con echo. En PRs de tu propio repositorio, sí funcionan.</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Ideas clave</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0: GitHub Actions</a:t>
            </a:r>
            <a:endParaRPr lang="en-US" sz="1100" dirty="0"/>
          </a:p>
        </p:txBody>
      </p:sp>
      <p:sp>
        <p:nvSpPr>
          <p:cNvPr id="5" name="Shape 3"/>
          <p:cNvSpPr/>
          <p:nvPr/>
        </p:nvSpPr>
        <p:spPr>
          <a:xfrm>
            <a:off x="548640" y="1234440"/>
            <a:ext cx="5431536" cy="1188720"/>
          </a:xfrm>
          <a:prstGeom prst="roundRect">
            <a:avLst/>
          </a:prstGeom>
          <a:solidFill>
            <a:srgbClr val="FBEAEA"/>
          </a:solidFill>
          <a:ln w="15875">
            <a:solidFill>
              <a:srgbClr val="C62828"/>
            </a:solidFill>
            <a:prstDash val="solid"/>
          </a:ln>
        </p:spPr>
      </p:sp>
      <p:sp>
        <p:nvSpPr>
          <p:cNvPr id="6" name="Shape 4"/>
          <p:cNvSpPr/>
          <p:nvPr/>
        </p:nvSpPr>
        <p:spPr>
          <a:xfrm>
            <a:off x="731520" y="1508760"/>
            <a:ext cx="640080" cy="640080"/>
          </a:xfrm>
          <a:prstGeom prst="ellipse">
            <a:avLst/>
          </a:prstGeom>
          <a:solidFill>
            <a:srgbClr val="C62828"/>
          </a:solidFill>
          <a:ln w="12700">
            <a:solidFill>
              <a:srgbClr val="C62828"/>
            </a:solidFill>
            <a:prstDash val="solid"/>
          </a:ln>
        </p:spPr>
      </p:sp>
      <p:sp>
        <p:nvSpPr>
          <p:cNvPr id="7" name="Text 5"/>
          <p:cNvSpPr/>
          <p:nvPr/>
        </p:nvSpPr>
        <p:spPr>
          <a:xfrm>
            <a:off x="731520" y="1508760"/>
            <a:ext cx="640080" cy="64008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8" name="Text 6"/>
          <p:cNvSpPr/>
          <p:nvPr/>
        </p:nvSpPr>
        <p:spPr>
          <a:xfrm>
            <a:off x="1508760" y="1234440"/>
            <a:ext cx="4288536" cy="118872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CI: ejecutar comprobaciones automáticas en cada cambio, antes de que lleguen a main.</a:t>
            </a:r>
            <a:endParaRPr lang="en-US" sz="1500" dirty="0"/>
          </a:p>
        </p:txBody>
      </p:sp>
      <p:sp>
        <p:nvSpPr>
          <p:cNvPr id="9" name="Shape 7"/>
          <p:cNvSpPr/>
          <p:nvPr/>
        </p:nvSpPr>
        <p:spPr>
          <a:xfrm>
            <a:off x="6208776" y="1234440"/>
            <a:ext cx="5431536" cy="1188720"/>
          </a:xfrm>
          <a:prstGeom prst="roundRect">
            <a:avLst/>
          </a:prstGeom>
          <a:solidFill>
            <a:srgbClr val="FBEAEA"/>
          </a:solidFill>
          <a:ln w="15875">
            <a:solidFill>
              <a:srgbClr val="C62828"/>
            </a:solidFill>
            <a:prstDash val="solid"/>
          </a:ln>
        </p:spPr>
      </p:sp>
      <p:sp>
        <p:nvSpPr>
          <p:cNvPr id="10" name="Shape 8"/>
          <p:cNvSpPr/>
          <p:nvPr/>
        </p:nvSpPr>
        <p:spPr>
          <a:xfrm>
            <a:off x="6391656" y="1508760"/>
            <a:ext cx="640080" cy="640080"/>
          </a:xfrm>
          <a:prstGeom prst="ellipse">
            <a:avLst/>
          </a:prstGeom>
          <a:solidFill>
            <a:srgbClr val="C62828"/>
          </a:solidFill>
          <a:ln w="12700">
            <a:solidFill>
              <a:srgbClr val="C62828"/>
            </a:solidFill>
            <a:prstDash val="solid"/>
          </a:ln>
        </p:spPr>
      </p:sp>
      <p:sp>
        <p:nvSpPr>
          <p:cNvPr id="11" name="Text 9"/>
          <p:cNvSpPr/>
          <p:nvPr/>
        </p:nvSpPr>
        <p:spPr>
          <a:xfrm>
            <a:off x="6391656" y="1508760"/>
            <a:ext cx="640080" cy="64008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12" name="Text 10"/>
          <p:cNvSpPr/>
          <p:nvPr/>
        </p:nvSpPr>
        <p:spPr>
          <a:xfrm>
            <a:off x="7168896" y="1234440"/>
            <a:ext cx="4288536" cy="118872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GitHub Actions se configura con ficheros YAML en .github/workflows/.</a:t>
            </a:r>
            <a:endParaRPr lang="en-US" sz="1500" dirty="0"/>
          </a:p>
        </p:txBody>
      </p:sp>
      <p:sp>
        <p:nvSpPr>
          <p:cNvPr id="13" name="Shape 11"/>
          <p:cNvSpPr/>
          <p:nvPr/>
        </p:nvSpPr>
        <p:spPr>
          <a:xfrm>
            <a:off x="548640" y="2651760"/>
            <a:ext cx="5431536" cy="1188720"/>
          </a:xfrm>
          <a:prstGeom prst="roundRect">
            <a:avLst/>
          </a:prstGeom>
          <a:solidFill>
            <a:srgbClr val="FBEAEA"/>
          </a:solidFill>
          <a:ln w="15875">
            <a:solidFill>
              <a:srgbClr val="C62828"/>
            </a:solidFill>
            <a:prstDash val="solid"/>
          </a:ln>
        </p:spPr>
      </p:sp>
      <p:sp>
        <p:nvSpPr>
          <p:cNvPr id="14" name="Shape 12"/>
          <p:cNvSpPr/>
          <p:nvPr/>
        </p:nvSpPr>
        <p:spPr>
          <a:xfrm>
            <a:off x="731520" y="2926080"/>
            <a:ext cx="640080" cy="640080"/>
          </a:xfrm>
          <a:prstGeom prst="ellipse">
            <a:avLst/>
          </a:prstGeom>
          <a:solidFill>
            <a:srgbClr val="C62828"/>
          </a:solidFill>
          <a:ln w="12700">
            <a:solidFill>
              <a:srgbClr val="C62828"/>
            </a:solidFill>
            <a:prstDash val="solid"/>
          </a:ln>
        </p:spPr>
      </p:sp>
      <p:sp>
        <p:nvSpPr>
          <p:cNvPr id="15" name="Text 13"/>
          <p:cNvSpPr/>
          <p:nvPr/>
        </p:nvSpPr>
        <p:spPr>
          <a:xfrm>
            <a:off x="731520" y="2926080"/>
            <a:ext cx="640080" cy="64008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16" name="Text 14"/>
          <p:cNvSpPr/>
          <p:nvPr/>
        </p:nvSpPr>
        <p:spPr>
          <a:xfrm>
            <a:off x="1508760" y="2651760"/>
            <a:ext cx="4288536" cy="118872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Un workflow se activa con un event, contiene jobs que corren en un runner, y cada job tiene steps.</a:t>
            </a:r>
            <a:endParaRPr lang="en-US" sz="1500" dirty="0"/>
          </a:p>
        </p:txBody>
      </p:sp>
      <p:sp>
        <p:nvSpPr>
          <p:cNvPr id="17" name="Shape 15"/>
          <p:cNvSpPr/>
          <p:nvPr/>
        </p:nvSpPr>
        <p:spPr>
          <a:xfrm>
            <a:off x="6208776" y="2651760"/>
            <a:ext cx="5431536" cy="1188720"/>
          </a:xfrm>
          <a:prstGeom prst="roundRect">
            <a:avLst/>
          </a:prstGeom>
          <a:solidFill>
            <a:srgbClr val="FBEAEA"/>
          </a:solidFill>
          <a:ln w="15875">
            <a:solidFill>
              <a:srgbClr val="C62828"/>
            </a:solidFill>
            <a:prstDash val="solid"/>
          </a:ln>
        </p:spPr>
      </p:sp>
      <p:sp>
        <p:nvSpPr>
          <p:cNvPr id="18" name="Shape 16"/>
          <p:cNvSpPr/>
          <p:nvPr/>
        </p:nvSpPr>
        <p:spPr>
          <a:xfrm>
            <a:off x="6391656" y="2926080"/>
            <a:ext cx="640080" cy="640080"/>
          </a:xfrm>
          <a:prstGeom prst="ellipse">
            <a:avLst/>
          </a:prstGeom>
          <a:solidFill>
            <a:srgbClr val="C62828"/>
          </a:solidFill>
          <a:ln w="12700">
            <a:solidFill>
              <a:srgbClr val="C62828"/>
            </a:solidFill>
            <a:prstDash val="solid"/>
          </a:ln>
        </p:spPr>
      </p:sp>
      <p:sp>
        <p:nvSpPr>
          <p:cNvPr id="19" name="Text 17"/>
          <p:cNvSpPr/>
          <p:nvPr/>
        </p:nvSpPr>
        <p:spPr>
          <a:xfrm>
            <a:off x="6391656" y="2926080"/>
            <a:ext cx="640080" cy="64008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4</a:t>
            </a:r>
            <a:endParaRPr lang="en-US" sz="2200" dirty="0"/>
          </a:p>
        </p:txBody>
      </p:sp>
      <p:sp>
        <p:nvSpPr>
          <p:cNvPr id="20" name="Text 18"/>
          <p:cNvSpPr/>
          <p:nvPr/>
        </p:nvSpPr>
        <p:spPr>
          <a:xfrm>
            <a:off x="7168896" y="2651760"/>
            <a:ext cx="4288536" cy="118872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Los steps usan uses: para invocar una Action del Marketplace, o run: para un comando de shell.</a:t>
            </a:r>
            <a:endParaRPr lang="en-US" sz="1500" dirty="0"/>
          </a:p>
        </p:txBody>
      </p:sp>
      <p:sp>
        <p:nvSpPr>
          <p:cNvPr id="21" name="Shape 19"/>
          <p:cNvSpPr/>
          <p:nvPr/>
        </p:nvSpPr>
        <p:spPr>
          <a:xfrm>
            <a:off x="548640" y="4069080"/>
            <a:ext cx="5431536" cy="1188720"/>
          </a:xfrm>
          <a:prstGeom prst="roundRect">
            <a:avLst/>
          </a:prstGeom>
          <a:solidFill>
            <a:srgbClr val="FBEAEA"/>
          </a:solidFill>
          <a:ln w="15875">
            <a:solidFill>
              <a:srgbClr val="C62828"/>
            </a:solidFill>
            <a:prstDash val="solid"/>
          </a:ln>
        </p:spPr>
      </p:sp>
      <p:sp>
        <p:nvSpPr>
          <p:cNvPr id="22" name="Shape 20"/>
          <p:cNvSpPr/>
          <p:nvPr/>
        </p:nvSpPr>
        <p:spPr>
          <a:xfrm>
            <a:off x="731520" y="4343400"/>
            <a:ext cx="640080" cy="640080"/>
          </a:xfrm>
          <a:prstGeom prst="ellipse">
            <a:avLst/>
          </a:prstGeom>
          <a:solidFill>
            <a:srgbClr val="C62828"/>
          </a:solidFill>
          <a:ln w="12700">
            <a:solidFill>
              <a:srgbClr val="C62828"/>
            </a:solidFill>
            <a:prstDash val="solid"/>
          </a:ln>
        </p:spPr>
      </p:sp>
      <p:sp>
        <p:nvSpPr>
          <p:cNvPr id="23" name="Text 21"/>
          <p:cNvSpPr/>
          <p:nvPr/>
        </p:nvSpPr>
        <p:spPr>
          <a:xfrm>
            <a:off x="731520" y="4343400"/>
            <a:ext cx="640080" cy="64008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5</a:t>
            </a:r>
            <a:endParaRPr lang="en-US" sz="2200" dirty="0"/>
          </a:p>
        </p:txBody>
      </p:sp>
      <p:sp>
        <p:nvSpPr>
          <p:cNvPr id="24" name="Text 22"/>
          <p:cNvSpPr/>
          <p:nvPr/>
        </p:nvSpPr>
        <p:spPr>
          <a:xfrm>
            <a:off x="1508760" y="4069080"/>
            <a:ext cx="4288536" cy="118872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Si falla: puede ser el código, el workflow (YAML) o el entorno del runner — cada uno se diagnostica distinto.</a:t>
            </a:r>
            <a:endParaRPr lang="en-US" sz="1500" dirty="0"/>
          </a:p>
        </p:txBody>
      </p:sp>
      <p:sp>
        <p:nvSpPr>
          <p:cNvPr id="25" name="Shape 23"/>
          <p:cNvSpPr/>
          <p:nvPr/>
        </p:nvSpPr>
        <p:spPr>
          <a:xfrm>
            <a:off x="6208776" y="4069080"/>
            <a:ext cx="5431536" cy="1188720"/>
          </a:xfrm>
          <a:prstGeom prst="roundRect">
            <a:avLst/>
          </a:prstGeom>
          <a:solidFill>
            <a:srgbClr val="FBEAEA"/>
          </a:solidFill>
          <a:ln w="15875">
            <a:solidFill>
              <a:srgbClr val="C62828"/>
            </a:solidFill>
            <a:prstDash val="solid"/>
          </a:ln>
        </p:spPr>
      </p:sp>
      <p:sp>
        <p:nvSpPr>
          <p:cNvPr id="26" name="Shape 24"/>
          <p:cNvSpPr/>
          <p:nvPr/>
        </p:nvSpPr>
        <p:spPr>
          <a:xfrm>
            <a:off x="6391656" y="4343400"/>
            <a:ext cx="640080" cy="640080"/>
          </a:xfrm>
          <a:prstGeom prst="ellipse">
            <a:avLst/>
          </a:prstGeom>
          <a:solidFill>
            <a:srgbClr val="C62828"/>
          </a:solidFill>
          <a:ln w="12700">
            <a:solidFill>
              <a:srgbClr val="C62828"/>
            </a:solidFill>
            <a:prstDash val="solid"/>
          </a:ln>
        </p:spPr>
      </p:sp>
      <p:sp>
        <p:nvSpPr>
          <p:cNvPr id="27" name="Text 25"/>
          <p:cNvSpPr/>
          <p:nvPr/>
        </p:nvSpPr>
        <p:spPr>
          <a:xfrm>
            <a:off x="6391656" y="4343400"/>
            <a:ext cx="640080" cy="64008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6</a:t>
            </a:r>
            <a:endParaRPr lang="en-US" sz="2200" dirty="0"/>
          </a:p>
        </p:txBody>
      </p:sp>
      <p:sp>
        <p:nvSpPr>
          <p:cNvPr id="28" name="Text 26"/>
          <p:cNvSpPr/>
          <p:nvPr/>
        </p:nvSpPr>
        <p:spPr>
          <a:xfrm>
            <a:off x="7168896" y="4069080"/>
            <a:ext cx="4288536" cy="118872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Los secrets guardan credenciales cifradas: nunca escribas contraseñas directamente en el YAML.</a:t>
            </a:r>
            <a:endParaRPr lang="en-US" sz="1500" dirty="0"/>
          </a:p>
        </p:txBody>
      </p:sp>
      <p:sp>
        <p:nvSpPr>
          <p:cNvPr id="29" name="Shape 27"/>
          <p:cNvSpPr/>
          <p:nvPr/>
        </p:nvSpPr>
        <p:spPr>
          <a:xfrm>
            <a:off x="548640" y="5486400"/>
            <a:ext cx="5431536" cy="1188720"/>
          </a:xfrm>
          <a:prstGeom prst="roundRect">
            <a:avLst/>
          </a:prstGeom>
          <a:solidFill>
            <a:srgbClr val="FBEAEA"/>
          </a:solidFill>
          <a:ln w="15875">
            <a:solidFill>
              <a:srgbClr val="C62828"/>
            </a:solidFill>
            <a:prstDash val="solid"/>
          </a:ln>
        </p:spPr>
      </p:sp>
      <p:sp>
        <p:nvSpPr>
          <p:cNvPr id="30" name="Shape 28"/>
          <p:cNvSpPr/>
          <p:nvPr/>
        </p:nvSpPr>
        <p:spPr>
          <a:xfrm>
            <a:off x="731520" y="5760720"/>
            <a:ext cx="640080" cy="640080"/>
          </a:xfrm>
          <a:prstGeom prst="ellipse">
            <a:avLst/>
          </a:prstGeom>
          <a:solidFill>
            <a:srgbClr val="C62828"/>
          </a:solidFill>
          <a:ln w="12700">
            <a:solidFill>
              <a:srgbClr val="C62828"/>
            </a:solidFill>
            <a:prstDash val="solid"/>
          </a:ln>
        </p:spPr>
      </p:sp>
      <p:sp>
        <p:nvSpPr>
          <p:cNvPr id="31" name="Text 29"/>
          <p:cNvSpPr/>
          <p:nvPr/>
        </p:nvSpPr>
        <p:spPr>
          <a:xfrm>
            <a:off x="731520" y="5760720"/>
            <a:ext cx="640080" cy="64008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7</a:t>
            </a:r>
            <a:endParaRPr lang="en-US" sz="2200" dirty="0"/>
          </a:p>
        </p:txBody>
      </p:sp>
      <p:sp>
        <p:nvSpPr>
          <p:cNvPr id="32" name="Text 30"/>
          <p:cNvSpPr/>
          <p:nvPr/>
        </p:nvSpPr>
        <p:spPr>
          <a:xfrm>
            <a:off x="1508760" y="5486400"/>
            <a:ext cx="4288536" cy="118872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if: always() en un step garantiza que se ejecute aunque los anteriores fallen — útil para guardar informes.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Integración Continua con GitHub Actions</dc:title>
  <dc:subject>PptxGenJS Presentation</dc:subject>
  <dc:creator>Acceso a Datos</dc:creator>
  <cp:lastModifiedBy>Acceso a Datos</cp:lastModifiedBy>
  <cp:revision>1</cp:revision>
  <dcterms:created xsi:type="dcterms:W3CDTF">2026-09-22T09:05:13Z</dcterms:created>
  <dcterms:modified xsi:type="dcterms:W3CDTF">2026-09-22T09:05:13Z</dcterms:modified>
</cp:coreProperties>
</file>