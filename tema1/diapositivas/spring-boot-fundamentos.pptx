
<file path=[Content_Types].xml><?xml version="1.0" encoding="utf-8"?>
<Types xmlns="http://schemas.openxmlformats.org/package/2006/content-types">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notesSlides/notesSlide20.xml" ContentType="application/vnd.openxmlformats-officedocument.presentationml.notesSlide+xml"/>
  <Override PartName="/ppt/notesSlides/notesSlide21.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officeDocument/2006/relationships/extended-properties" Target="docProps/app.xml"/><Relationship Id="rId2" Type="http://schemas.openxmlformats.org/package/2006/relationships/metadata/core-properties" Target="docProps/core.xml"/><Relationship Id="rId1"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notesMasterIdLst>
    <p:notesMasterId r:id="rId23"/>
  </p:notesMasterIdLst>
  <p:sldIdLst>
    <p:sldId id="256" r:id="rId2"/>
    <p:sldId id="257" r:id="rId3"/>
    <p:sldId id="258" r:id="rId4"/>
    <p:sldId id="259" r:id="rId5"/>
    <p:sldId id="260" r:id="rId6"/>
    <p:sldId id="261" r:id="rId7"/>
    <p:sldId id="262" r:id="rId8"/>
    <p:sldId id="263" r:id="rId9"/>
    <p:sldId id="264" r:id="rId10"/>
    <p:sldId id="265" r:id="rId11"/>
    <p:sldId id="266" r:id="rId12"/>
    <p:sldId id="267" r:id="rId13"/>
    <p:sldId id="268" r:id="rId14"/>
    <p:sldId id="269" r:id="rId15"/>
    <p:sldId id="270" r:id="rId16"/>
    <p:sldId id="271" r:id="rId17"/>
    <p:sldId id="272" r:id="rId18"/>
    <p:sldId id="273" r:id="rId19"/>
    <p:sldId id="274" r:id="rId20"/>
    <p:sldId id="275" r:id="rId21"/>
    <p:sldId id="276" r:id="rId22"/>
  </p:sldIdLst>
  <p:sldSz cx="12192000" cy="6858000"/>
  <p:notesSz cx="6858000" cy="12192000"/>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611"/>
    <p:restoredTop sz="94610"/>
  </p:normalViewPr>
  <p:slideViewPr>
    <p:cSldViewPr snapToGrid="0" snapToObjects="1">
      <p:cViewPr varScale="1">
        <p:scale>
          <a:sx n="82" d="100"/>
          <a:sy n="82" d="100"/>
        </p:scale>
        <p:origin x="691" y="72"/>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slide" Target="slides/slide12.xml"/><Relationship Id="rId18" Type="http://schemas.openxmlformats.org/officeDocument/2006/relationships/slide" Target="slides/slide17.xml"/><Relationship Id="rId26" Type="http://schemas.openxmlformats.org/officeDocument/2006/relationships/theme" Target="theme/theme1.xml"/><Relationship Id="rId3" Type="http://schemas.openxmlformats.org/officeDocument/2006/relationships/slide" Target="slides/slide2.xml"/><Relationship Id="rId21" Type="http://schemas.openxmlformats.org/officeDocument/2006/relationships/slide" Target="slides/slide20.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viewProps" Target="viewProps.xml"/><Relationship Id="rId2" Type="http://schemas.openxmlformats.org/officeDocument/2006/relationships/slide" Target="slides/slide1.xml"/><Relationship Id="rId16" Type="http://schemas.openxmlformats.org/officeDocument/2006/relationships/slide" Target="slides/slide15.xml"/><Relationship Id="rId20" Type="http://schemas.openxmlformats.org/officeDocument/2006/relationships/slide" Target="slides/slide19.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24" Type="http://schemas.openxmlformats.org/officeDocument/2006/relationships/presProps" Target="presProps.xml"/><Relationship Id="rId5" Type="http://schemas.openxmlformats.org/officeDocument/2006/relationships/slide" Target="slides/slide4.xml"/><Relationship Id="rId15" Type="http://schemas.openxmlformats.org/officeDocument/2006/relationships/slide" Target="slides/slide14.xml"/><Relationship Id="rId23" Type="http://schemas.openxmlformats.org/officeDocument/2006/relationships/notesMaster" Target="notesMasters/notesMaster1.xml"/><Relationship Id="rId10" Type="http://schemas.openxmlformats.org/officeDocument/2006/relationships/slide" Target="slides/slide9.xml"/><Relationship Id="rId19" Type="http://schemas.openxmlformats.org/officeDocument/2006/relationships/slide" Target="slides/slide18.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slide" Target="slides/slide21.xml"/><Relationship Id="rId27" Type="http://schemas.openxmlformats.org/officeDocument/2006/relationships/tableStyles" Target="tableStyles.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Tree>
    <p:extLst>
      <p:ext uri="{BB962C8B-B14F-4D97-AF65-F5344CB8AC3E}">
        <p14:creationId xmlns:p14="http://schemas.microsoft.com/office/powerpoint/2010/main" val="565200883"/>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10.xml"/><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2" Type="http://schemas.openxmlformats.org/officeDocument/2006/relationships/slide" Target="../slides/slide11.xml"/><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2" Type="http://schemas.openxmlformats.org/officeDocument/2006/relationships/slide" Target="../slides/slide12.xml"/><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2" Type="http://schemas.openxmlformats.org/officeDocument/2006/relationships/slide" Target="../slides/slide13.xml"/><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2" Type="http://schemas.openxmlformats.org/officeDocument/2006/relationships/slide" Target="../slides/slide14.xml"/><Relationship Id="rId1" Type="http://schemas.openxmlformats.org/officeDocument/2006/relationships/notesMaster" Target="../notesMasters/notesMaster1.xml"/></Relationships>
</file>

<file path=ppt/notesSlides/_rels/notesSlide15.xml.rels><?xml version="1.0" encoding="UTF-8" standalone="yes"?>
<Relationships xmlns="http://schemas.openxmlformats.org/package/2006/relationships"><Relationship Id="rId2" Type="http://schemas.openxmlformats.org/officeDocument/2006/relationships/slide" Target="../slides/slide15.xml"/><Relationship Id="rId1" Type="http://schemas.openxmlformats.org/officeDocument/2006/relationships/notesMaster" Target="../notesMasters/notesMaster1.xml"/></Relationships>
</file>

<file path=ppt/notesSlides/_rels/notesSlide16.xml.rels><?xml version="1.0" encoding="UTF-8" standalone="yes"?>
<Relationships xmlns="http://schemas.openxmlformats.org/package/2006/relationships"><Relationship Id="rId2" Type="http://schemas.openxmlformats.org/officeDocument/2006/relationships/slide" Target="../slides/slide16.xml"/><Relationship Id="rId1" Type="http://schemas.openxmlformats.org/officeDocument/2006/relationships/notesMaster" Target="../notesMasters/notesMaster1.xml"/></Relationships>
</file>

<file path=ppt/notesSlides/_rels/notesSlide17.xml.rels><?xml version="1.0" encoding="UTF-8" standalone="yes"?>
<Relationships xmlns="http://schemas.openxmlformats.org/package/2006/relationships"><Relationship Id="rId2" Type="http://schemas.openxmlformats.org/officeDocument/2006/relationships/slide" Target="../slides/slide17.xml"/><Relationship Id="rId1" Type="http://schemas.openxmlformats.org/officeDocument/2006/relationships/notesMaster" Target="../notesMasters/notesMaster1.xml"/></Relationships>
</file>

<file path=ppt/notesSlides/_rels/notesSlide18.xml.rels><?xml version="1.0" encoding="UTF-8" standalone="yes"?>
<Relationships xmlns="http://schemas.openxmlformats.org/package/2006/relationships"><Relationship Id="rId2" Type="http://schemas.openxmlformats.org/officeDocument/2006/relationships/slide" Target="../slides/slide18.xml"/><Relationship Id="rId1" Type="http://schemas.openxmlformats.org/officeDocument/2006/relationships/notesMaster" Target="../notesMasters/notesMaster1.xml"/></Relationships>
</file>

<file path=ppt/notesSlides/_rels/notesSlide19.xml.rels><?xml version="1.0" encoding="UTF-8" standalone="yes"?>
<Relationships xmlns="http://schemas.openxmlformats.org/package/2006/relationships"><Relationship Id="rId2" Type="http://schemas.openxmlformats.org/officeDocument/2006/relationships/slide" Target="../slides/slide19.xml"/><Relationship Id="rId1" Type="http://schemas.openxmlformats.org/officeDocument/2006/relationships/notesMaster" Target="../notesMasters/notesMaster1.xml"/></Relationships>
</file>

<file path=ppt/notesSlides/_rels/notesSlide20.xml.rels><?xml version="1.0" encoding="UTF-8" standalone="yes"?>
<Relationships xmlns="http://schemas.openxmlformats.org/package/2006/relationships"><Relationship Id="rId2" Type="http://schemas.openxmlformats.org/officeDocument/2006/relationships/slide" Target="../slides/slide20.xml"/><Relationship Id="rId1" Type="http://schemas.openxmlformats.org/officeDocument/2006/relationships/notesMaster" Target="../notesMasters/notesMaster1.xml"/></Relationships>
</file>

<file path=ppt/notesSlides/_rels/notesSlide21.xml.rels><?xml version="1.0" encoding="UTF-8" standalone="yes"?>
<Relationships xmlns="http://schemas.openxmlformats.org/package/2006/relationships"><Relationship Id="rId2" Type="http://schemas.openxmlformats.org/officeDocument/2006/relationships/slide" Target="../slides/slide21.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21</a:t>
            </a:fld>
            <a:endParaRPr lang="en-US"/>
          </a:p>
        </p:txBody>
      </p:sp>
    </p:spTree>
    <p:extLst>
      <p:ext uri="{BB962C8B-B14F-4D97-AF65-F5344CB8AC3E}">
        <p14:creationId xmlns:p14="http://schemas.microsoft.com/office/powerpoint/2010/main" val="102408699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Masters/_rels/slideMaster1.xml.rels><?xml version="1.0" encoding="UTF-8" standalone="yes"?>
<Relationships xmlns="http://schemas.openxmlformats.org/package/2006/relationships"><Relationship Id="rId2" Type="http://schemas.openxmlformats.org/officeDocument/2006/relationships/theme" Target="../theme/theme1.xml"/><Relationship Id="rId1" Type="http://schemas.openxmlformats.org/officeDocument/2006/relationships/slideLayout" Target="../slideLayouts/slideLayout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Tree>
  </p:cSld>
  <p:clrMap bg1="lt1" tx1="dk1" bg2="lt2" tx2="dk2" accent1="accent1" accent2="accent2" accent3="accent3" accent4="accent4" accent5="accent5" accent6="accent6" hlink="hlink" folHlink="folHlink"/>
  <p:sldLayoutIdLst>
    <p:sldLayoutId id="2147483649" r:id="rId1"/>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2" Type="http://schemas.openxmlformats.org/officeDocument/2006/relationships/notesSlide" Target="../notesSlides/notesSlide1.xml"/><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2" Type="http://schemas.openxmlformats.org/officeDocument/2006/relationships/notesSlide" Target="../notesSlides/notesSlide2.xml"/><Relationship Id="rId1" Type="http://schemas.openxmlformats.org/officeDocument/2006/relationships/slideLayout" Target="../slideLayouts/slideLayout1.xml"/></Relationships>
</file>

<file path=ppt/slides/_rels/slide3.xml.rels><?xml version="1.0" encoding="UTF-8" standalone="yes"?>
<Relationships xmlns="http://schemas.openxmlformats.org/package/2006/relationships"><Relationship Id="rId2" Type="http://schemas.openxmlformats.org/officeDocument/2006/relationships/notesSlide" Target="../notesSlides/notesSlide3.xml"/><Relationship Id="rId1" Type="http://schemas.openxmlformats.org/officeDocument/2006/relationships/slideLayout" Target="../slideLayouts/slideLayout1.xml"/></Relationships>
</file>

<file path=ppt/slides/_rels/slide4.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4.xml"/><Relationship Id="rId1" Type="http://schemas.openxmlformats.org/officeDocument/2006/relationships/slideLayout" Target="../slideLayouts/slideLayout1.xml"/></Relationships>
</file>

<file path=ppt/slides/_rels/slide5.xml.rels><?xml version="1.0" encoding="UTF-8" standalone="yes"?>
<Relationships xmlns="http://schemas.openxmlformats.org/package/2006/relationships"><Relationship Id="rId2" Type="http://schemas.openxmlformats.org/officeDocument/2006/relationships/notesSlide" Target="../notesSlides/notesSlide5.xml"/><Relationship Id="rId1" Type="http://schemas.openxmlformats.org/officeDocument/2006/relationships/slideLayout" Target="../slideLayouts/slideLayout1.xml"/></Relationships>
</file>

<file path=ppt/slides/_rels/slide6.xml.rels><?xml version="1.0" encoding="UTF-8" standalone="yes"?>
<Relationships xmlns="http://schemas.openxmlformats.org/package/2006/relationships"><Relationship Id="rId2" Type="http://schemas.openxmlformats.org/officeDocument/2006/relationships/notesSlide" Target="../notesSlides/notesSlide6.xml"/><Relationship Id="rId1" Type="http://schemas.openxmlformats.org/officeDocument/2006/relationships/slideLayout" Target="../slideLayouts/slideLayout1.xml"/></Relationships>
</file>

<file path=ppt/slides/_rels/slide7.xml.rels><?xml version="1.0" encoding="UTF-8" standalone="yes"?>
<Relationships xmlns="http://schemas.openxmlformats.org/package/2006/relationships"><Relationship Id="rId2" Type="http://schemas.openxmlformats.org/officeDocument/2006/relationships/notesSlide" Target="../notesSlides/notesSlide7.xml"/><Relationship Id="rId1" Type="http://schemas.openxmlformats.org/officeDocument/2006/relationships/slideLayout" Target="../slideLayouts/slideLayout1.xml"/></Relationships>
</file>

<file path=ppt/slides/_rels/slide8.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notesSlide" Target="../notesSlides/notesSlide8.xml"/><Relationship Id="rId1" Type="http://schemas.openxmlformats.org/officeDocument/2006/relationships/slideLayout" Target="../slideLayouts/slideLayout1.xml"/></Relationships>
</file>

<file path=ppt/slides/_rels/slide9.xml.rels><?xml version="1.0" encoding="UTF-8" standalone="yes"?>
<Relationships xmlns="http://schemas.openxmlformats.org/package/2006/relationships"><Relationship Id="rId2" Type="http://schemas.openxmlformats.org/officeDocument/2006/relationships/notesSlide" Target="../notesSlides/notesSlide9.xml"/><Relationship Id="rId1" Type="http://schemas.openxmlformats.org/officeDocument/2006/relationships/slideLayout" Target="../slideLayouts/slideLayout1.xml"/></Relationships>
</file>

<file path=ppt/slides/_rels/slide10.xml.rels><?xml version="1.0" encoding="UTF-8" standalone="yes"?>
<Relationships xmlns="http://schemas.openxmlformats.org/package/2006/relationships"><Relationship Id="rId2" Type="http://schemas.openxmlformats.org/officeDocument/2006/relationships/notesSlide" Target="../notesSlides/notesSlide10.xml"/><Relationship Id="rId1" Type="http://schemas.openxmlformats.org/officeDocument/2006/relationships/slideLayout" Target="../slideLayouts/slideLayout1.xml"/></Relationships>
</file>

<file path=ppt/slides/_rels/slide11.xml.rels><?xml version="1.0" encoding="UTF-8" standalone="yes"?>
<Relationships xmlns="http://schemas.openxmlformats.org/package/2006/relationships"><Relationship Id="rId2" Type="http://schemas.openxmlformats.org/officeDocument/2006/relationships/notesSlide" Target="../notesSlides/notesSlide11.xml"/><Relationship Id="rId1" Type="http://schemas.openxmlformats.org/officeDocument/2006/relationships/slideLayout" Target="../slideLayouts/slideLayout1.xml"/></Relationships>
</file>

<file path=ppt/slides/_rels/slide12.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notesSlide" Target="../notesSlides/notesSlide12.xml"/><Relationship Id="rId1" Type="http://schemas.openxmlformats.org/officeDocument/2006/relationships/slideLayout" Target="../slideLayouts/slideLayout1.xml"/></Relationships>
</file>

<file path=ppt/slides/_rels/slide13.xml.rels><?xml version="1.0" encoding="UTF-8" standalone="yes"?>
<Relationships xmlns="http://schemas.openxmlformats.org/package/2006/relationships"><Relationship Id="rId3" Type="http://schemas.openxmlformats.org/officeDocument/2006/relationships/image" Target="../media/image4.png"/><Relationship Id="rId2" Type="http://schemas.openxmlformats.org/officeDocument/2006/relationships/notesSlide" Target="../notesSlides/notesSlide13.xml"/><Relationship Id="rId1" Type="http://schemas.openxmlformats.org/officeDocument/2006/relationships/slideLayout" Target="../slideLayouts/slideLayout1.xml"/><Relationship Id="rId4" Type="http://schemas.openxmlformats.org/officeDocument/2006/relationships/image" Target="../media/image5.png"/></Relationships>
</file>

<file path=ppt/slides/_rels/slide14.xml.rels><?xml version="1.0" encoding="UTF-8" standalone="yes"?>
<Relationships xmlns="http://schemas.openxmlformats.org/package/2006/relationships"><Relationship Id="rId2" Type="http://schemas.openxmlformats.org/officeDocument/2006/relationships/notesSlide" Target="../notesSlides/notesSlide14.xml"/><Relationship Id="rId1" Type="http://schemas.openxmlformats.org/officeDocument/2006/relationships/slideLayout" Target="../slideLayouts/slideLayout1.xml"/></Relationships>
</file>

<file path=ppt/slides/_rels/slide15.xml.rels><?xml version="1.0" encoding="UTF-8" standalone="yes"?>
<Relationships xmlns="http://schemas.openxmlformats.org/package/2006/relationships"><Relationship Id="rId2" Type="http://schemas.openxmlformats.org/officeDocument/2006/relationships/notesSlide" Target="../notesSlides/notesSlide15.xml"/><Relationship Id="rId1" Type="http://schemas.openxmlformats.org/officeDocument/2006/relationships/slideLayout" Target="../slideLayouts/slideLayout1.xml"/></Relationships>
</file>

<file path=ppt/slides/_rels/slide16.xml.rels><?xml version="1.0" encoding="UTF-8" standalone="yes"?>
<Relationships xmlns="http://schemas.openxmlformats.org/package/2006/relationships"><Relationship Id="rId2" Type="http://schemas.openxmlformats.org/officeDocument/2006/relationships/notesSlide" Target="../notesSlides/notesSlide16.xml"/><Relationship Id="rId1" Type="http://schemas.openxmlformats.org/officeDocument/2006/relationships/slideLayout" Target="../slideLayouts/slideLayout1.xml"/></Relationships>
</file>

<file path=ppt/slides/_rels/slide17.xml.rels><?xml version="1.0" encoding="UTF-8" standalone="yes"?>
<Relationships xmlns="http://schemas.openxmlformats.org/package/2006/relationships"><Relationship Id="rId2" Type="http://schemas.openxmlformats.org/officeDocument/2006/relationships/notesSlide" Target="../notesSlides/notesSlide17.xml"/><Relationship Id="rId1" Type="http://schemas.openxmlformats.org/officeDocument/2006/relationships/slideLayout" Target="../slideLayouts/slideLayout1.xml"/></Relationships>
</file>

<file path=ppt/slides/_rels/slide18.xml.rels><?xml version="1.0" encoding="UTF-8" standalone="yes"?>
<Relationships xmlns="http://schemas.openxmlformats.org/package/2006/relationships"><Relationship Id="rId2" Type="http://schemas.openxmlformats.org/officeDocument/2006/relationships/notesSlide" Target="../notesSlides/notesSlide18.xml"/><Relationship Id="rId1" Type="http://schemas.openxmlformats.org/officeDocument/2006/relationships/slideLayout" Target="../slideLayouts/slideLayout1.xml"/></Relationships>
</file>

<file path=ppt/slides/_rels/slide19.xml.rels><?xml version="1.0" encoding="UTF-8" standalone="yes"?>
<Relationships xmlns="http://schemas.openxmlformats.org/package/2006/relationships"><Relationship Id="rId2" Type="http://schemas.openxmlformats.org/officeDocument/2006/relationships/notesSlide" Target="../notesSlides/notesSlide19.xml"/><Relationship Id="rId1" Type="http://schemas.openxmlformats.org/officeDocument/2006/relationships/slideLayout" Target="../slideLayouts/slideLayout1.xml"/></Relationships>
</file>

<file path=ppt/slides/_rels/slide20.xml.rels><?xml version="1.0" encoding="UTF-8" standalone="yes"?>
<Relationships xmlns="http://schemas.openxmlformats.org/package/2006/relationships"><Relationship Id="rId2" Type="http://schemas.openxmlformats.org/officeDocument/2006/relationships/notesSlide" Target="../notesSlides/notesSlide20.xml"/><Relationship Id="rId1" Type="http://schemas.openxmlformats.org/officeDocument/2006/relationships/slideLayout" Target="../slideLayouts/slideLayout1.xml"/></Relationships>
</file>

<file path=ppt/slides/_rels/slide21.xml.rels><?xml version="1.0" encoding="UTF-8" standalone="yes"?>
<Relationships xmlns="http://schemas.openxmlformats.org/package/2006/relationships"><Relationship Id="rId2" Type="http://schemas.openxmlformats.org/officeDocument/2006/relationships/notesSlide" Target="../notesSlides/notesSlide21.xml"/><Relationship Id="rId1" Type="http://schemas.openxmlformats.org/officeDocument/2006/relationships/slideLayout" Target="../slideLayouts/slideLayout1.xml"/></Relationships>
</file>

<file path=ppt/slides/slide1.xml><?xml version="1.0" encoding="utf-8"?>
<p:sld xmlns:a="http://schemas.openxmlformats.org/drawingml/2006/main" xmlns:r="http://schemas.openxmlformats.org/officeDocument/2006/relationships" xmlns:p="http://schemas.openxmlformats.org/presentationml/2006/main">
  <p:cSld name="Slide 1">
    <p:bg>
      <p:bgPr>
        <a:solidFill>
          <a:srgbClr val="7F0000"/>
        </a:solidFill>
        <a:effectLst/>
      </p:bgPr>
    </p:bg>
    <p:spTree>
      <p:nvGrpSpPr>
        <p:cNvPr id="1" name=""/>
        <p:cNvGrpSpPr/>
        <p:nvPr/>
      </p:nvGrpSpPr>
      <p:grpSpPr>
        <a:xfrm>
          <a:off x="0" y="0"/>
          <a:ext cx="0" cy="0"/>
          <a:chOff x="0" y="0"/>
          <a:chExt cx="0" cy="0"/>
        </a:xfrm>
      </p:grpSpPr>
      <p:sp>
        <p:nvSpPr>
          <p:cNvPr id="2" name="Text 0"/>
          <p:cNvSpPr/>
          <p:nvPr/>
        </p:nvSpPr>
        <p:spPr>
          <a:xfrm>
            <a:off x="548640" y="502920"/>
            <a:ext cx="11091672" cy="411480"/>
          </a:xfrm>
          <a:prstGeom prst="rect">
            <a:avLst/>
          </a:prstGeom>
          <a:noFill/>
          <a:ln/>
        </p:spPr>
        <p:txBody>
          <a:bodyPr wrap="square" rtlCol="0" anchor="ctr"/>
          <a:lstStyle/>
          <a:p>
            <a:pPr marL="0" indent="0">
              <a:buNone/>
            </a:pPr>
            <a:r>
              <a:rPr lang="en-US" sz="1400" dirty="0">
                <a:solidFill>
                  <a:srgbClr val="E0A8A8"/>
                </a:solidFill>
                <a:latin typeface="Arial" pitchFamily="34" charset="0"/>
                <a:ea typeface="Arial" pitchFamily="34" charset="-122"/>
                <a:cs typeface="Arial" pitchFamily="34" charset="-120"/>
              </a:rPr>
              <a:t>ACCESO A DATOS  —  TEMA 1: MANEJO DE CONECTORES Y HERRAMIENTAS ORM</a:t>
            </a:r>
            <a:endParaRPr lang="en-US" sz="1400" dirty="0"/>
          </a:p>
        </p:txBody>
      </p:sp>
      <p:sp>
        <p:nvSpPr>
          <p:cNvPr id="3" name="Text 1"/>
          <p:cNvSpPr/>
          <p:nvPr/>
        </p:nvSpPr>
        <p:spPr>
          <a:xfrm>
            <a:off x="548640" y="1554480"/>
            <a:ext cx="11091672" cy="2377440"/>
          </a:xfrm>
          <a:prstGeom prst="rect">
            <a:avLst/>
          </a:prstGeom>
          <a:noFill/>
          <a:ln/>
        </p:spPr>
        <p:txBody>
          <a:bodyPr wrap="square" rtlCol="0" anchor="ctr"/>
          <a:lstStyle/>
          <a:p>
            <a:pPr marL="0" indent="0" algn="l">
              <a:buNone/>
            </a:pPr>
            <a:r>
              <a:rPr lang="en-US" sz="4400" b="1" dirty="0">
                <a:solidFill>
                  <a:srgbClr val="FFFFFF"/>
                </a:solidFill>
                <a:latin typeface="Arial" pitchFamily="34" charset="0"/>
                <a:ea typeface="Arial" pitchFamily="34" charset="-122"/>
                <a:cs typeface="Arial" pitchFamily="34" charset="-120"/>
              </a:rPr>
              <a:t>Fundamentos de</a:t>
            </a:r>
            <a:endParaRPr lang="en-US" sz="4400" dirty="0"/>
          </a:p>
          <a:p>
            <a:pPr marL="0" indent="0" algn="l">
              <a:buNone/>
            </a:pPr>
            <a:r>
              <a:rPr lang="en-US" sz="4400" b="1" dirty="0">
                <a:solidFill>
                  <a:srgbClr val="FFFFFF"/>
                </a:solidFill>
                <a:latin typeface="Arial" pitchFamily="34" charset="0"/>
                <a:ea typeface="Arial" pitchFamily="34" charset="-122"/>
                <a:cs typeface="Arial" pitchFamily="34" charset="-120"/>
              </a:rPr>
              <a:t>Spring Boot</a:t>
            </a:r>
            <a:endParaRPr lang="en-US" sz="4400" dirty="0"/>
          </a:p>
        </p:txBody>
      </p:sp>
      <p:sp>
        <p:nvSpPr>
          <p:cNvPr id="4" name="Shape 2"/>
          <p:cNvSpPr/>
          <p:nvPr/>
        </p:nvSpPr>
        <p:spPr>
          <a:xfrm>
            <a:off x="0" y="5120640"/>
            <a:ext cx="12188952" cy="914400"/>
          </a:xfrm>
          <a:prstGeom prst="rect">
            <a:avLst/>
          </a:prstGeom>
          <a:solidFill>
            <a:srgbClr val="E64A19"/>
          </a:solidFill>
          <a:ln w="12700">
            <a:solidFill>
              <a:srgbClr val="E64A19"/>
            </a:solidFill>
            <a:prstDash val="solid"/>
          </a:ln>
        </p:spPr>
        <p:txBody>
          <a:bodyPr/>
          <a:lstStyle/>
          <a:p>
            <a:endParaRPr lang="es-ES"/>
          </a:p>
        </p:txBody>
      </p:sp>
      <p:sp>
        <p:nvSpPr>
          <p:cNvPr id="5" name="Text 3"/>
          <p:cNvSpPr/>
          <p:nvPr/>
        </p:nvSpPr>
        <p:spPr>
          <a:xfrm>
            <a:off x="548640" y="5120640"/>
            <a:ext cx="11091672" cy="914400"/>
          </a:xfrm>
          <a:prstGeom prst="rect">
            <a:avLst/>
          </a:prstGeom>
          <a:noFill/>
          <a:ln/>
        </p:spPr>
        <p:txBody>
          <a:bodyPr wrap="square" rtlCol="0" anchor="ctr"/>
          <a:lstStyle/>
          <a:p>
            <a:pPr marL="0" indent="0">
              <a:buNone/>
            </a:pPr>
            <a:r>
              <a:rPr lang="en-US" sz="2000" i="1" dirty="0">
                <a:solidFill>
                  <a:srgbClr val="FFFFFF"/>
                </a:solidFill>
                <a:latin typeface="Arial" pitchFamily="34" charset="0"/>
                <a:ea typeface="Arial" pitchFamily="34" charset="-122"/>
                <a:cs typeface="Arial" pitchFamily="34" charset="-120"/>
              </a:rPr>
              <a:t>1. Fundamentos de Spring Boot</a:t>
            </a:r>
            <a:endParaRPr lang="en-US" sz="2000" dirty="0"/>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name="Slide 2">
    <p:spTree>
      <p:nvGrpSpPr>
        <p:cNvPr id="1" name=""/>
        <p:cNvGrpSpPr/>
        <p:nvPr/>
      </p:nvGrpSpPr>
      <p:grpSpPr>
        <a:xfrm>
          <a:off x="0" y="0"/>
          <a:ext cx="0" cy="0"/>
          <a:chOff x="0" y="0"/>
          <a:chExt cx="0" cy="0"/>
        </a:xfrm>
      </p:grpSpPr>
      <p:sp>
        <p:nvSpPr>
          <p:cNvPr id="2" name="Shape 0"/>
          <p:cNvSpPr/>
          <p:nvPr/>
        </p:nvSpPr>
        <p:spPr>
          <a:xfrm>
            <a:off x="0" y="0"/>
            <a:ext cx="12188952" cy="777240"/>
          </a:xfrm>
          <a:prstGeom prst="rect">
            <a:avLst/>
          </a:prstGeom>
          <a:solidFill>
            <a:srgbClr val="7F0000"/>
          </a:solidFill>
          <a:ln w="12700">
            <a:solidFill>
              <a:srgbClr val="7F0000"/>
            </a:solidFill>
            <a:prstDash val="solid"/>
          </a:ln>
        </p:spPr>
        <p:txBody>
          <a:bodyPr/>
          <a:lstStyle/>
          <a:p>
            <a:endParaRPr lang="es-ES"/>
          </a:p>
        </p:txBody>
      </p:sp>
      <p:sp>
        <p:nvSpPr>
          <p:cNvPr id="3" name="Text 1"/>
          <p:cNvSpPr/>
          <p:nvPr/>
        </p:nvSpPr>
        <p:spPr>
          <a:xfrm>
            <a:off x="365760" y="0"/>
            <a:ext cx="11457432" cy="777240"/>
          </a:xfrm>
          <a:prstGeom prst="rect">
            <a:avLst/>
          </a:prstGeom>
          <a:noFill/>
          <a:ln/>
        </p:spPr>
        <p:txBody>
          <a:bodyPr wrap="square" rtlCol="0" anchor="ctr"/>
          <a:lstStyle/>
          <a:p>
            <a:pPr marL="0" indent="0">
              <a:buNone/>
            </a:pPr>
            <a:r>
              <a:rPr lang="en-US" sz="2600" b="1" dirty="0">
                <a:solidFill>
                  <a:srgbClr val="FFFFFF"/>
                </a:solidFill>
                <a:latin typeface="Arial" pitchFamily="34" charset="0"/>
                <a:ea typeface="Arial" pitchFamily="34" charset="-122"/>
                <a:cs typeface="Arial" pitchFamily="34" charset="-120"/>
              </a:rPr>
              <a:t>Fundamentos de Spring Boot</a:t>
            </a:r>
            <a:endParaRPr lang="en-US" sz="2600" dirty="0"/>
          </a:p>
        </p:txBody>
      </p:sp>
      <p:sp>
        <p:nvSpPr>
          <p:cNvPr id="4" name="Text 2"/>
          <p:cNvSpPr/>
          <p:nvPr/>
        </p:nvSpPr>
        <p:spPr>
          <a:xfrm>
            <a:off x="548640" y="6473952"/>
            <a:ext cx="11091672" cy="292608"/>
          </a:xfrm>
          <a:prstGeom prst="rect">
            <a:avLst/>
          </a:prstGeom>
          <a:noFill/>
          <a:ln/>
        </p:spPr>
        <p:txBody>
          <a:bodyPr wrap="square" rtlCol="0" anchor="ctr"/>
          <a:lstStyle/>
          <a:p>
            <a:pPr marL="0" indent="0" algn="r">
              <a:buNone/>
            </a:pPr>
            <a:r>
              <a:rPr lang="en-US" sz="1100" dirty="0">
                <a:solidFill>
                  <a:srgbClr val="757575"/>
                </a:solidFill>
                <a:latin typeface="Arial" pitchFamily="34" charset="0"/>
                <a:ea typeface="Arial" pitchFamily="34" charset="-122"/>
                <a:cs typeface="Arial" pitchFamily="34" charset="-120"/>
              </a:rPr>
              <a:t>Acceso a Datos — Tema 1: Fundamentos de Spring Boot</a:t>
            </a:r>
            <a:endParaRPr lang="en-US" sz="1100" dirty="0"/>
          </a:p>
        </p:txBody>
      </p:sp>
      <p:sp>
        <p:nvSpPr>
          <p:cNvPr id="5" name="Shape 3"/>
          <p:cNvSpPr/>
          <p:nvPr/>
        </p:nvSpPr>
        <p:spPr>
          <a:xfrm>
            <a:off x="548640" y="2011680"/>
            <a:ext cx="11091672" cy="2103120"/>
          </a:xfrm>
          <a:prstGeom prst="roundRect">
            <a:avLst/>
          </a:prstGeom>
          <a:solidFill>
            <a:srgbClr val="FBE9E7"/>
          </a:solidFill>
          <a:ln w="19050">
            <a:solidFill>
              <a:srgbClr val="E64A19"/>
            </a:solidFill>
            <a:prstDash val="solid"/>
          </a:ln>
        </p:spPr>
        <p:txBody>
          <a:bodyPr/>
          <a:lstStyle/>
          <a:p>
            <a:endParaRPr lang="es-ES"/>
          </a:p>
        </p:txBody>
      </p:sp>
      <p:sp>
        <p:nvSpPr>
          <p:cNvPr id="6" name="Text 4"/>
          <p:cNvSpPr/>
          <p:nvPr/>
        </p:nvSpPr>
        <p:spPr>
          <a:xfrm>
            <a:off x="822960" y="2103120"/>
            <a:ext cx="10543032" cy="1920240"/>
          </a:xfrm>
          <a:prstGeom prst="rect">
            <a:avLst/>
          </a:prstGeom>
          <a:noFill/>
          <a:ln/>
        </p:spPr>
        <p:txBody>
          <a:bodyPr wrap="square" rtlCol="0" anchor="ctr"/>
          <a:lstStyle/>
          <a:p>
            <a:pPr marL="0" indent="0">
              <a:buNone/>
            </a:pPr>
            <a:r>
              <a:rPr lang="en-US" sz="2300" dirty="0">
                <a:solidFill>
                  <a:srgbClr val="212121"/>
                </a:solidFill>
                <a:latin typeface="Arial" pitchFamily="34" charset="0"/>
                <a:ea typeface="Arial" pitchFamily="34" charset="-122"/>
                <a:cs typeface="Arial" pitchFamily="34" charset="-120"/>
              </a:rPr>
              <a:t>Hasta ahora todo lo que has programado en Java ha sido consola: el programa arranca, hace algo, y termina. A partir de aquí vas a construir un tipo de programa distinto — uno que arranca y se queda esperando, sin que tú le digas nada más, hasta que otro programa le hace una pregunta.</a:t>
            </a:r>
            <a:endParaRPr lang="en-US" sz="2300" dirty="0"/>
          </a:p>
        </p:txBody>
      </p:sp>
      <p:sp>
        <p:nvSpPr>
          <p:cNvPr id="7" name="Text 5"/>
          <p:cNvSpPr/>
          <p:nvPr/>
        </p:nvSpPr>
        <p:spPr>
          <a:xfrm>
            <a:off x="548640" y="4526280"/>
            <a:ext cx="11091672" cy="1005840"/>
          </a:xfrm>
          <a:prstGeom prst="rect">
            <a:avLst/>
          </a:prstGeom>
          <a:noFill/>
          <a:ln/>
        </p:spPr>
        <p:txBody>
          <a:bodyPr wrap="square" rtlCol="0" anchor="t"/>
          <a:lstStyle/>
          <a:p>
            <a:pPr marL="0" indent="0" algn="ctr">
              <a:buNone/>
            </a:pPr>
            <a:r>
              <a:rPr lang="en-US" sz="2200" i="1" dirty="0">
                <a:solidFill>
                  <a:srgbClr val="212121"/>
                </a:solidFill>
                <a:latin typeface="Arial" pitchFamily="34" charset="0"/>
                <a:ea typeface="Arial" pitchFamily="34" charset="-122"/>
                <a:cs typeface="Arial" pitchFamily="34" charset="-120"/>
              </a:rPr>
              <a:t>Este apartado es la base sin la que no vas a entender nada de lo que viene, ni en Acceso a Datos ni en Programación de Servicios y Procesos (PSP).</a:t>
            </a:r>
            <a:endParaRPr lang="en-US" sz="2200" dirty="0"/>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name="Slide 3">
    <p:spTree>
      <p:nvGrpSpPr>
        <p:cNvPr id="1" name=""/>
        <p:cNvGrpSpPr/>
        <p:nvPr/>
      </p:nvGrpSpPr>
      <p:grpSpPr>
        <a:xfrm>
          <a:off x="0" y="0"/>
          <a:ext cx="0" cy="0"/>
          <a:chOff x="0" y="0"/>
          <a:chExt cx="0" cy="0"/>
        </a:xfrm>
      </p:grpSpPr>
      <p:sp>
        <p:nvSpPr>
          <p:cNvPr id="2" name="Shape 0"/>
          <p:cNvSpPr/>
          <p:nvPr/>
        </p:nvSpPr>
        <p:spPr>
          <a:xfrm>
            <a:off x="0" y="0"/>
            <a:ext cx="12188952" cy="777240"/>
          </a:xfrm>
          <a:prstGeom prst="rect">
            <a:avLst/>
          </a:prstGeom>
          <a:solidFill>
            <a:srgbClr val="7F0000"/>
          </a:solidFill>
          <a:ln w="12700">
            <a:solidFill>
              <a:srgbClr val="7F0000"/>
            </a:solidFill>
            <a:prstDash val="solid"/>
          </a:ln>
        </p:spPr>
        <p:txBody>
          <a:bodyPr/>
          <a:lstStyle/>
          <a:p>
            <a:endParaRPr lang="es-ES"/>
          </a:p>
        </p:txBody>
      </p:sp>
      <p:sp>
        <p:nvSpPr>
          <p:cNvPr id="3" name="Text 1"/>
          <p:cNvSpPr/>
          <p:nvPr/>
        </p:nvSpPr>
        <p:spPr>
          <a:xfrm>
            <a:off x="365760" y="0"/>
            <a:ext cx="11457432" cy="777240"/>
          </a:xfrm>
          <a:prstGeom prst="rect">
            <a:avLst/>
          </a:prstGeom>
          <a:noFill/>
          <a:ln/>
        </p:spPr>
        <p:txBody>
          <a:bodyPr wrap="square" rtlCol="0" anchor="ctr"/>
          <a:lstStyle/>
          <a:p>
            <a:pPr marL="0" indent="0">
              <a:buNone/>
            </a:pPr>
            <a:r>
              <a:rPr lang="en-US" sz="2600" b="1" dirty="0">
                <a:solidFill>
                  <a:srgbClr val="FFFFFF"/>
                </a:solidFill>
                <a:latin typeface="Arial" pitchFamily="34" charset="0"/>
                <a:ea typeface="Arial" pitchFamily="34" charset="-122"/>
                <a:cs typeface="Arial" pitchFamily="34" charset="-120"/>
              </a:rPr>
              <a:t>De la consola al servidor</a:t>
            </a:r>
            <a:endParaRPr lang="en-US" sz="2600" dirty="0"/>
          </a:p>
        </p:txBody>
      </p:sp>
      <p:sp>
        <p:nvSpPr>
          <p:cNvPr id="4" name="Text 2"/>
          <p:cNvSpPr/>
          <p:nvPr/>
        </p:nvSpPr>
        <p:spPr>
          <a:xfrm>
            <a:off x="548640" y="6473952"/>
            <a:ext cx="11091672" cy="292608"/>
          </a:xfrm>
          <a:prstGeom prst="rect">
            <a:avLst/>
          </a:prstGeom>
          <a:noFill/>
          <a:ln/>
        </p:spPr>
        <p:txBody>
          <a:bodyPr wrap="square" rtlCol="0" anchor="ctr"/>
          <a:lstStyle/>
          <a:p>
            <a:pPr marL="0" indent="0" algn="r">
              <a:buNone/>
            </a:pPr>
            <a:r>
              <a:rPr lang="en-US" sz="1100" dirty="0">
                <a:solidFill>
                  <a:srgbClr val="757575"/>
                </a:solidFill>
                <a:latin typeface="Arial" pitchFamily="34" charset="0"/>
                <a:ea typeface="Arial" pitchFamily="34" charset="-122"/>
                <a:cs typeface="Arial" pitchFamily="34" charset="-120"/>
              </a:rPr>
              <a:t>Acceso a Datos — Tema 1: Fundamentos de Spring Boot</a:t>
            </a:r>
            <a:endParaRPr lang="en-US" sz="1100" dirty="0"/>
          </a:p>
        </p:txBody>
      </p:sp>
      <p:sp>
        <p:nvSpPr>
          <p:cNvPr id="5" name="Text 3"/>
          <p:cNvSpPr/>
          <p:nvPr/>
        </p:nvSpPr>
        <p:spPr>
          <a:xfrm>
            <a:off x="548640" y="1097280"/>
            <a:ext cx="11091672" cy="1554480"/>
          </a:xfrm>
          <a:prstGeom prst="rect">
            <a:avLst/>
          </a:prstGeom>
          <a:noFill/>
          <a:ln/>
        </p:spPr>
        <p:txBody>
          <a:bodyPr wrap="square" rtlCol="0" anchor="t"/>
          <a:lstStyle/>
          <a:p>
            <a:pPr marL="0" indent="0">
              <a:buNone/>
            </a:pPr>
            <a:r>
              <a:rPr lang="en-US" sz="2000" dirty="0">
                <a:solidFill>
                  <a:srgbClr val="212121"/>
                </a:solidFill>
                <a:latin typeface="Arial" pitchFamily="34" charset="0"/>
                <a:ea typeface="Arial" pitchFamily="34" charset="-122"/>
                <a:cs typeface="Arial" pitchFamily="34" charset="-120"/>
              </a:rPr>
              <a:t>Un programa de consola tiene un ciclo de vida corto: arranca, hace su trabajo, y termina. Una aplicación de servidor (backend) es distinta: arranca, se pone a escuchar en un puerto, y se queda ahí, viva, esperando. Su "usuario" es otro programa (un navegador, una app, otro servidor) que le habla por la red.</a:t>
            </a:r>
            <a:endParaRPr lang="en-US" sz="2000" dirty="0"/>
          </a:p>
        </p:txBody>
      </p:sp>
      <p:sp>
        <p:nvSpPr>
          <p:cNvPr id="6" name="Text 4"/>
          <p:cNvSpPr/>
          <p:nvPr/>
        </p:nvSpPr>
        <p:spPr>
          <a:xfrm>
            <a:off x="548640" y="2926080"/>
            <a:ext cx="11091672" cy="1280160"/>
          </a:xfrm>
          <a:prstGeom prst="rect">
            <a:avLst/>
          </a:prstGeom>
          <a:noFill/>
          <a:ln/>
        </p:spPr>
        <p:txBody>
          <a:bodyPr wrap="square" rtlCol="0" anchor="t"/>
          <a:lstStyle/>
          <a:p>
            <a:pPr marL="190500" indent="-190500">
              <a:spcAft>
                <a:spcPts val="1200"/>
              </a:spcAft>
              <a:buSzPct val="100000"/>
              <a:buChar char="•"/>
            </a:pPr>
            <a:r>
              <a:rPr lang="en-US" sz="1900" dirty="0">
                <a:solidFill>
                  <a:srgbClr val="212121"/>
                </a:solidFill>
                <a:latin typeface="Arial" pitchFamily="34" charset="0"/>
                <a:ea typeface="Arial" pitchFamily="34" charset="-122"/>
                <a:cs typeface="Arial" pitchFamily="34" charset="-120"/>
              </a:rPr>
              <a:t>Dirección IP — identifica la máquina dentro de la red (qué ordenador es).</a:t>
            </a:r>
            <a:endParaRPr lang="en-US" sz="1900" dirty="0"/>
          </a:p>
          <a:p>
            <a:pPr marL="190500" indent="-190500">
              <a:spcAft>
                <a:spcPts val="1200"/>
              </a:spcAft>
              <a:buSzPct val="100000"/>
              <a:buChar char="•"/>
            </a:pPr>
            <a:r>
              <a:rPr lang="en-US" sz="1900" dirty="0">
                <a:solidFill>
                  <a:srgbClr val="212121"/>
                </a:solidFill>
                <a:latin typeface="Arial" pitchFamily="34" charset="0"/>
                <a:ea typeface="Arial" pitchFamily="34" charset="-122"/>
                <a:cs typeface="Arial" pitchFamily="34" charset="-120"/>
              </a:rPr>
              <a:t>Puerto — identifica, dentro de esa máquina, a qué programa concreto va dirigido el mensaje.</a:t>
            </a:r>
            <a:endParaRPr lang="en-US" sz="1900" dirty="0"/>
          </a:p>
        </p:txBody>
      </p:sp>
      <p:sp>
        <p:nvSpPr>
          <p:cNvPr id="7" name="Shape 5"/>
          <p:cNvSpPr/>
          <p:nvPr/>
        </p:nvSpPr>
        <p:spPr>
          <a:xfrm>
            <a:off x="548640" y="4434840"/>
            <a:ext cx="11091672" cy="1737360"/>
          </a:xfrm>
          <a:prstGeom prst="roundRect">
            <a:avLst/>
          </a:prstGeom>
          <a:solidFill>
            <a:srgbClr val="FBE9E7"/>
          </a:solidFill>
          <a:ln w="19050">
            <a:solidFill>
              <a:srgbClr val="E64A19"/>
            </a:solidFill>
            <a:prstDash val="solid"/>
          </a:ln>
        </p:spPr>
        <p:txBody>
          <a:bodyPr/>
          <a:lstStyle/>
          <a:p>
            <a:endParaRPr lang="es-ES"/>
          </a:p>
        </p:txBody>
      </p:sp>
      <p:sp>
        <p:nvSpPr>
          <p:cNvPr id="8" name="Text 6"/>
          <p:cNvSpPr/>
          <p:nvPr/>
        </p:nvSpPr>
        <p:spPr>
          <a:xfrm>
            <a:off x="822960" y="4526280"/>
            <a:ext cx="10543032" cy="1554480"/>
          </a:xfrm>
          <a:prstGeom prst="rect">
            <a:avLst/>
          </a:prstGeom>
          <a:noFill/>
          <a:ln/>
        </p:spPr>
        <p:txBody>
          <a:bodyPr wrap="square" rtlCol="0" anchor="ctr"/>
          <a:lstStyle/>
          <a:p>
            <a:pPr marL="0" indent="0">
              <a:buNone/>
            </a:pPr>
            <a:r>
              <a:rPr lang="en-US" sz="1900" dirty="0">
                <a:solidFill>
                  <a:srgbClr val="212121"/>
                </a:solidFill>
                <a:latin typeface="Arial" pitchFamily="34" charset="0"/>
                <a:ea typeface="Arial" pitchFamily="34" charset="-122"/>
                <a:cs typeface="Arial" pitchFamily="34" charset="-120"/>
              </a:rPr>
              <a:t>Analogía del bloque de pisos: la IP es la dirección del edificio; el puerto es el número de piso. Sin el número de piso, el cartero llega al portal pero no sabe dónde dejar la carta. Un servidor "escuchando en el puerto 8080" espera mensajes dirigidos exactamente a ese número, en esa máquina.</a:t>
            </a:r>
            <a:endParaRPr lang="en-US" sz="1900" dirty="0"/>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name="Slide 4">
    <p:spTree>
      <p:nvGrpSpPr>
        <p:cNvPr id="1" name=""/>
        <p:cNvGrpSpPr/>
        <p:nvPr/>
      </p:nvGrpSpPr>
      <p:grpSpPr>
        <a:xfrm>
          <a:off x="0" y="0"/>
          <a:ext cx="0" cy="0"/>
          <a:chOff x="0" y="0"/>
          <a:chExt cx="0" cy="0"/>
        </a:xfrm>
      </p:grpSpPr>
      <p:sp>
        <p:nvSpPr>
          <p:cNvPr id="2" name="Shape 0"/>
          <p:cNvSpPr/>
          <p:nvPr/>
        </p:nvSpPr>
        <p:spPr>
          <a:xfrm>
            <a:off x="0" y="0"/>
            <a:ext cx="12188952" cy="777240"/>
          </a:xfrm>
          <a:prstGeom prst="rect">
            <a:avLst/>
          </a:prstGeom>
          <a:solidFill>
            <a:srgbClr val="7F0000"/>
          </a:solidFill>
          <a:ln w="12700">
            <a:solidFill>
              <a:srgbClr val="7F0000"/>
            </a:solidFill>
            <a:prstDash val="solid"/>
          </a:ln>
        </p:spPr>
        <p:txBody>
          <a:bodyPr/>
          <a:lstStyle/>
          <a:p>
            <a:endParaRPr lang="es-ES"/>
          </a:p>
        </p:txBody>
      </p:sp>
      <p:sp>
        <p:nvSpPr>
          <p:cNvPr id="3" name="Text 1"/>
          <p:cNvSpPr/>
          <p:nvPr/>
        </p:nvSpPr>
        <p:spPr>
          <a:xfrm>
            <a:off x="365760" y="0"/>
            <a:ext cx="11457432" cy="777240"/>
          </a:xfrm>
          <a:prstGeom prst="rect">
            <a:avLst/>
          </a:prstGeom>
          <a:noFill/>
          <a:ln/>
        </p:spPr>
        <p:txBody>
          <a:bodyPr wrap="square" rtlCol="0" anchor="ctr"/>
          <a:lstStyle/>
          <a:p>
            <a:pPr marL="0" indent="0">
              <a:buNone/>
            </a:pPr>
            <a:r>
              <a:rPr lang="en-US" sz="2600" b="1" dirty="0">
                <a:solidFill>
                  <a:srgbClr val="FFFFFF"/>
                </a:solidFill>
                <a:latin typeface="Arial" pitchFamily="34" charset="0"/>
                <a:ea typeface="Arial" pitchFamily="34" charset="-122"/>
                <a:cs typeface="Arial" pitchFamily="34" charset="-120"/>
              </a:rPr>
              <a:t>De la consola al servidor (cont.)</a:t>
            </a:r>
            <a:endParaRPr lang="en-US" sz="2600" dirty="0"/>
          </a:p>
        </p:txBody>
      </p:sp>
      <p:sp>
        <p:nvSpPr>
          <p:cNvPr id="4" name="Text 2"/>
          <p:cNvSpPr/>
          <p:nvPr/>
        </p:nvSpPr>
        <p:spPr>
          <a:xfrm>
            <a:off x="548640" y="6473952"/>
            <a:ext cx="11091672" cy="292608"/>
          </a:xfrm>
          <a:prstGeom prst="rect">
            <a:avLst/>
          </a:prstGeom>
          <a:noFill/>
          <a:ln/>
        </p:spPr>
        <p:txBody>
          <a:bodyPr wrap="square" rtlCol="0" anchor="ctr"/>
          <a:lstStyle/>
          <a:p>
            <a:pPr marL="0" indent="0" algn="r">
              <a:buNone/>
            </a:pPr>
            <a:r>
              <a:rPr lang="en-US" sz="1100" dirty="0">
                <a:solidFill>
                  <a:srgbClr val="757575"/>
                </a:solidFill>
                <a:latin typeface="Arial" pitchFamily="34" charset="0"/>
                <a:ea typeface="Arial" pitchFamily="34" charset="-122"/>
                <a:cs typeface="Arial" pitchFamily="34" charset="-120"/>
              </a:rPr>
              <a:t>Acceso a Datos — Tema 1: Fundamentos de Spring Boot</a:t>
            </a:r>
            <a:endParaRPr lang="en-US" sz="1100" dirty="0"/>
          </a:p>
        </p:txBody>
      </p:sp>
      <p:sp>
        <p:nvSpPr>
          <p:cNvPr id="5" name="Text 3"/>
          <p:cNvSpPr/>
          <p:nvPr/>
        </p:nvSpPr>
        <p:spPr>
          <a:xfrm>
            <a:off x="548640" y="1234440"/>
            <a:ext cx="11091672" cy="1097280"/>
          </a:xfrm>
          <a:prstGeom prst="rect">
            <a:avLst/>
          </a:prstGeom>
          <a:noFill/>
          <a:ln/>
        </p:spPr>
        <p:txBody>
          <a:bodyPr wrap="square" rtlCol="0" anchor="t"/>
          <a:lstStyle/>
          <a:p>
            <a:pPr marL="0" indent="0">
              <a:buNone/>
            </a:pPr>
            <a:r>
              <a:rPr lang="en-US" sz="2100" dirty="0">
                <a:solidFill>
                  <a:srgbClr val="212121"/>
                </a:solidFill>
                <a:latin typeface="Arial" pitchFamily="34" charset="0"/>
                <a:ea typeface="Arial" pitchFamily="34" charset="-122"/>
                <a:cs typeface="Arial" pitchFamily="34" charset="-120"/>
              </a:rPr>
              <a:t>Cliente y servidor necesitan hablar el mismo idioma: un formato de mensaje acordado de antemano, llamado protocolo. El que vas a usar todo el curso es HTTP — el mismo que usa tu navegador cada vez que visitas una página.</a:t>
            </a:r>
            <a:endParaRPr lang="en-US" sz="2100" dirty="0"/>
          </a:p>
        </p:txBody>
      </p:sp>
      <p:pic>
        <p:nvPicPr>
          <p:cNvPr id="6" name="Image 0" descr="C:/Users/Aitor/docxgen/img/spring-boot-fundamentos-cliente-servidor.png"/>
          <p:cNvPicPr>
            <a:picLocks noChangeAspect="1"/>
          </p:cNvPicPr>
          <p:nvPr/>
        </p:nvPicPr>
        <p:blipFill>
          <a:blip r:embed="rId3"/>
          <a:stretch>
            <a:fillRect/>
          </a:stretch>
        </p:blipFill>
        <p:spPr>
          <a:xfrm>
            <a:off x="2581818" y="2651760"/>
            <a:ext cx="7025316" cy="1051560"/>
          </a:xfrm>
          <a:prstGeom prst="rect">
            <a:avLst/>
          </a:prstGeom>
        </p:spPr>
      </p:pic>
      <p:sp>
        <p:nvSpPr>
          <p:cNvPr id="7" name="Shape 4"/>
          <p:cNvSpPr/>
          <p:nvPr/>
        </p:nvSpPr>
        <p:spPr>
          <a:xfrm>
            <a:off x="548640" y="4069080"/>
            <a:ext cx="11091672" cy="1097280"/>
          </a:xfrm>
          <a:prstGeom prst="roundRect">
            <a:avLst/>
          </a:prstGeom>
          <a:solidFill>
            <a:srgbClr val="FBE9E7"/>
          </a:solidFill>
          <a:ln w="19050">
            <a:solidFill>
              <a:srgbClr val="E64A19"/>
            </a:solidFill>
            <a:prstDash val="solid"/>
          </a:ln>
        </p:spPr>
        <p:txBody>
          <a:bodyPr/>
          <a:lstStyle/>
          <a:p>
            <a:endParaRPr lang="es-ES"/>
          </a:p>
        </p:txBody>
      </p:sp>
      <p:sp>
        <p:nvSpPr>
          <p:cNvPr id="8" name="Text 5"/>
          <p:cNvSpPr/>
          <p:nvPr/>
        </p:nvSpPr>
        <p:spPr>
          <a:xfrm>
            <a:off x="822960" y="4160520"/>
            <a:ext cx="10543032" cy="914400"/>
          </a:xfrm>
          <a:prstGeom prst="rect">
            <a:avLst/>
          </a:prstGeom>
          <a:noFill/>
          <a:ln/>
        </p:spPr>
        <p:txBody>
          <a:bodyPr wrap="square" rtlCol="0" anchor="ctr"/>
          <a:lstStyle/>
          <a:p>
            <a:pPr marL="0" indent="0">
              <a:buNone/>
            </a:pPr>
            <a:r>
              <a:rPr lang="en-US" sz="2000" dirty="0">
                <a:solidFill>
                  <a:srgbClr val="212121"/>
                </a:solidFill>
                <a:latin typeface="Arial" pitchFamily="34" charset="0"/>
                <a:ea typeface="Arial" pitchFamily="34" charset="-122"/>
                <a:cs typeface="Arial" pitchFamily="34" charset="-120"/>
              </a:rPr>
              <a:t>El servidor no decide cuándo actuar, el cliente sí: en un programa de consola tú controlas el ritmo; un servidor se queda a la espera y reacciona cada vez que llega una petición.</a:t>
            </a:r>
            <a:endParaRPr lang="en-US" sz="2000" dirty="0"/>
          </a:p>
        </p:txBody>
      </p:sp>
      <p:sp>
        <p:nvSpPr>
          <p:cNvPr id="9" name="Text 6"/>
          <p:cNvSpPr/>
          <p:nvPr/>
        </p:nvSpPr>
        <p:spPr>
          <a:xfrm>
            <a:off x="548640" y="5440680"/>
            <a:ext cx="11091672" cy="777240"/>
          </a:xfrm>
          <a:prstGeom prst="rect">
            <a:avLst/>
          </a:prstGeom>
          <a:noFill/>
          <a:ln/>
        </p:spPr>
        <p:txBody>
          <a:bodyPr wrap="square" rtlCol="0" anchor="t"/>
          <a:lstStyle/>
          <a:p>
            <a:pPr marL="0" indent="0">
              <a:buNone/>
            </a:pPr>
            <a:r>
              <a:rPr lang="en-US" sz="1800" i="1" dirty="0">
                <a:solidFill>
                  <a:srgbClr val="757575"/>
                </a:solidFill>
                <a:latin typeface="Arial" pitchFamily="34" charset="0"/>
                <a:ea typeface="Arial" pitchFamily="34" charset="-122"/>
                <a:cs typeface="Arial" pitchFamily="34" charset="-120"/>
              </a:rPr>
              <a:t>La aplicación que vas a construir es exactamente eso: un programa Java sin Scanner ni System.out.println esperando Intro — arranca, escucha en un puerto, y responde peticiones HTTP hasta que alguien lo detiene.</a:t>
            </a:r>
            <a:endParaRPr lang="en-US" sz="1800" dirty="0"/>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name="Slide 5">
    <p:spTree>
      <p:nvGrpSpPr>
        <p:cNvPr id="1" name=""/>
        <p:cNvGrpSpPr/>
        <p:nvPr/>
      </p:nvGrpSpPr>
      <p:grpSpPr>
        <a:xfrm>
          <a:off x="0" y="0"/>
          <a:ext cx="0" cy="0"/>
          <a:chOff x="0" y="0"/>
          <a:chExt cx="0" cy="0"/>
        </a:xfrm>
      </p:grpSpPr>
      <p:sp>
        <p:nvSpPr>
          <p:cNvPr id="2" name="Shape 0"/>
          <p:cNvSpPr/>
          <p:nvPr/>
        </p:nvSpPr>
        <p:spPr>
          <a:xfrm>
            <a:off x="0" y="0"/>
            <a:ext cx="12188952" cy="777240"/>
          </a:xfrm>
          <a:prstGeom prst="rect">
            <a:avLst/>
          </a:prstGeom>
          <a:solidFill>
            <a:srgbClr val="7F0000"/>
          </a:solidFill>
          <a:ln w="12700">
            <a:solidFill>
              <a:srgbClr val="7F0000"/>
            </a:solidFill>
            <a:prstDash val="solid"/>
          </a:ln>
        </p:spPr>
        <p:txBody>
          <a:bodyPr/>
          <a:lstStyle/>
          <a:p>
            <a:endParaRPr lang="es-ES"/>
          </a:p>
        </p:txBody>
      </p:sp>
      <p:sp>
        <p:nvSpPr>
          <p:cNvPr id="3" name="Text 1"/>
          <p:cNvSpPr/>
          <p:nvPr/>
        </p:nvSpPr>
        <p:spPr>
          <a:xfrm>
            <a:off x="365760" y="0"/>
            <a:ext cx="11457432" cy="777240"/>
          </a:xfrm>
          <a:prstGeom prst="rect">
            <a:avLst/>
          </a:prstGeom>
          <a:noFill/>
          <a:ln/>
        </p:spPr>
        <p:txBody>
          <a:bodyPr wrap="square" rtlCol="0" anchor="ctr"/>
          <a:lstStyle/>
          <a:p>
            <a:pPr marL="0" indent="0">
              <a:buNone/>
            </a:pPr>
            <a:r>
              <a:rPr lang="en-US" sz="2600" b="1" dirty="0">
                <a:solidFill>
                  <a:srgbClr val="FFFFFF"/>
                </a:solidFill>
                <a:latin typeface="Arial" pitchFamily="34" charset="0"/>
                <a:ea typeface="Arial" pitchFamily="34" charset="-122"/>
                <a:cs typeface="Arial" pitchFamily="34" charset="-120"/>
              </a:rPr>
              <a:t>Qué es un framework</a:t>
            </a:r>
            <a:endParaRPr lang="en-US" sz="2600" dirty="0"/>
          </a:p>
        </p:txBody>
      </p:sp>
      <p:sp>
        <p:nvSpPr>
          <p:cNvPr id="4" name="Text 2"/>
          <p:cNvSpPr/>
          <p:nvPr/>
        </p:nvSpPr>
        <p:spPr>
          <a:xfrm>
            <a:off x="548640" y="6473952"/>
            <a:ext cx="11091672" cy="292608"/>
          </a:xfrm>
          <a:prstGeom prst="rect">
            <a:avLst/>
          </a:prstGeom>
          <a:noFill/>
          <a:ln/>
        </p:spPr>
        <p:txBody>
          <a:bodyPr wrap="square" rtlCol="0" anchor="ctr"/>
          <a:lstStyle/>
          <a:p>
            <a:pPr marL="0" indent="0" algn="r">
              <a:buNone/>
            </a:pPr>
            <a:r>
              <a:rPr lang="en-US" sz="1100" dirty="0">
                <a:solidFill>
                  <a:srgbClr val="757575"/>
                </a:solidFill>
                <a:latin typeface="Arial" pitchFamily="34" charset="0"/>
                <a:ea typeface="Arial" pitchFamily="34" charset="-122"/>
                <a:cs typeface="Arial" pitchFamily="34" charset="-120"/>
              </a:rPr>
              <a:t>Acceso a Datos — Tema 1: Fundamentos de Spring Boot</a:t>
            </a:r>
            <a:endParaRPr lang="en-US" sz="1100" dirty="0"/>
          </a:p>
        </p:txBody>
      </p:sp>
      <p:sp>
        <p:nvSpPr>
          <p:cNvPr id="5" name="Text 3"/>
          <p:cNvSpPr/>
          <p:nvPr/>
        </p:nvSpPr>
        <p:spPr>
          <a:xfrm>
            <a:off x="548640" y="1234440"/>
            <a:ext cx="11091672" cy="1371600"/>
          </a:xfrm>
          <a:prstGeom prst="rect">
            <a:avLst/>
          </a:prstGeom>
          <a:noFill/>
          <a:ln/>
        </p:spPr>
        <p:txBody>
          <a:bodyPr wrap="square" rtlCol="0" anchor="t"/>
          <a:lstStyle/>
          <a:p>
            <a:pPr marL="0" indent="0">
              <a:buNone/>
            </a:pPr>
            <a:r>
              <a:rPr lang="en-US" sz="2000" dirty="0">
                <a:solidFill>
                  <a:srgbClr val="212121"/>
                </a:solidFill>
                <a:latin typeface="Arial" pitchFamily="34" charset="0"/>
                <a:ea typeface="Arial" pitchFamily="34" charset="-122"/>
                <a:cs typeface="Arial" pitchFamily="34" charset="-120"/>
              </a:rPr>
              <a:t>Hasta ahora, en tus programas, el flujo de control lo llevas tú: tu main() llama a tus clases, tus clases llaman a librerías cuando las necesitan. Un framework invierte esa relación: es la librería la que llama a tu código, cuando ella decide (inversión de control).</a:t>
            </a:r>
            <a:endParaRPr lang="en-US" sz="2000" dirty="0"/>
          </a:p>
        </p:txBody>
      </p:sp>
      <p:sp>
        <p:nvSpPr>
          <p:cNvPr id="6" name="Shape 4"/>
          <p:cNvSpPr/>
          <p:nvPr/>
        </p:nvSpPr>
        <p:spPr>
          <a:xfrm>
            <a:off x="548640" y="2880360"/>
            <a:ext cx="11091672" cy="1508760"/>
          </a:xfrm>
          <a:prstGeom prst="roundRect">
            <a:avLst/>
          </a:prstGeom>
          <a:solidFill>
            <a:srgbClr val="FBE9E7"/>
          </a:solidFill>
          <a:ln w="19050">
            <a:solidFill>
              <a:srgbClr val="E64A19"/>
            </a:solidFill>
            <a:prstDash val="solid"/>
          </a:ln>
        </p:spPr>
        <p:txBody>
          <a:bodyPr/>
          <a:lstStyle/>
          <a:p>
            <a:endParaRPr lang="es-ES"/>
          </a:p>
        </p:txBody>
      </p:sp>
      <p:sp>
        <p:nvSpPr>
          <p:cNvPr id="7" name="Text 5"/>
          <p:cNvSpPr/>
          <p:nvPr/>
        </p:nvSpPr>
        <p:spPr>
          <a:xfrm>
            <a:off x="822960" y="2971800"/>
            <a:ext cx="10543032" cy="1325880"/>
          </a:xfrm>
          <a:prstGeom prst="rect">
            <a:avLst/>
          </a:prstGeom>
          <a:noFill/>
          <a:ln/>
        </p:spPr>
        <p:txBody>
          <a:bodyPr wrap="square" rtlCol="0" anchor="ctr"/>
          <a:lstStyle/>
          <a:p>
            <a:pPr marL="0" indent="0">
              <a:buNone/>
            </a:pPr>
            <a:r>
              <a:rPr lang="en-US" sz="1900" dirty="0">
                <a:solidFill>
                  <a:srgbClr val="212121"/>
                </a:solidFill>
                <a:latin typeface="Arial" pitchFamily="34" charset="0"/>
                <a:ea typeface="Arial" pitchFamily="34" charset="-122"/>
                <a:cs typeface="Arial" pitchFamily="34" charset="-120"/>
              </a:rPr>
              <a:t>Analogía del restaurante: cocinar en casa es tu programa de consola — decides tú el orden. Trabajar con un framework es ser cocinero de restaurante: el camarero (el framework) avisa "mesa 4, primer plato" y tú escribes solo la receta. Cuándo se sirve y en qué orden lo decide el camarero.</a:t>
            </a:r>
            <a:endParaRPr lang="en-US" sz="1900" dirty="0"/>
          </a:p>
        </p:txBody>
      </p:sp>
      <p:sp>
        <p:nvSpPr>
          <p:cNvPr id="8" name="Text 6"/>
          <p:cNvSpPr/>
          <p:nvPr/>
        </p:nvSpPr>
        <p:spPr>
          <a:xfrm>
            <a:off x="548640" y="4663440"/>
            <a:ext cx="11091672" cy="1051560"/>
          </a:xfrm>
          <a:prstGeom prst="rect">
            <a:avLst/>
          </a:prstGeom>
          <a:noFill/>
          <a:ln/>
        </p:spPr>
        <p:txBody>
          <a:bodyPr wrap="square" rtlCol="0" anchor="t"/>
          <a:lstStyle/>
          <a:p>
            <a:pPr marL="0" indent="0">
              <a:buNone/>
            </a:pPr>
            <a:r>
              <a:rPr lang="en-US" sz="1900" dirty="0">
                <a:solidFill>
                  <a:srgbClr val="212121"/>
                </a:solidFill>
                <a:latin typeface="Arial" pitchFamily="34" charset="0"/>
                <a:ea typeface="Arial" pitchFamily="34" charset="-122"/>
                <a:cs typeface="Arial" pitchFamily="34" charset="-120"/>
              </a:rPr>
              <a:t>Spring es el framework de Java más usado para este tipo de aplicaciones. Spring Boot añade sobre Spring: servidor web ya integrado, configuración automática, y starters — paquetes que agrupan de golpe todas las dependencias que necesitas para una funcionalidad.</a:t>
            </a:r>
            <a:endParaRPr lang="en-US" sz="1900" dirty="0"/>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name="Slide 6">
    <p:spTree>
      <p:nvGrpSpPr>
        <p:cNvPr id="1" name=""/>
        <p:cNvGrpSpPr/>
        <p:nvPr/>
      </p:nvGrpSpPr>
      <p:grpSpPr>
        <a:xfrm>
          <a:off x="0" y="0"/>
          <a:ext cx="0" cy="0"/>
          <a:chOff x="0" y="0"/>
          <a:chExt cx="0" cy="0"/>
        </a:xfrm>
      </p:grpSpPr>
      <p:sp>
        <p:nvSpPr>
          <p:cNvPr id="2" name="Shape 0"/>
          <p:cNvSpPr/>
          <p:nvPr/>
        </p:nvSpPr>
        <p:spPr>
          <a:xfrm>
            <a:off x="0" y="0"/>
            <a:ext cx="12188952" cy="777240"/>
          </a:xfrm>
          <a:prstGeom prst="rect">
            <a:avLst/>
          </a:prstGeom>
          <a:solidFill>
            <a:srgbClr val="7F0000"/>
          </a:solidFill>
          <a:ln w="12700">
            <a:solidFill>
              <a:srgbClr val="7F0000"/>
            </a:solidFill>
            <a:prstDash val="solid"/>
          </a:ln>
        </p:spPr>
        <p:txBody>
          <a:bodyPr/>
          <a:lstStyle/>
          <a:p>
            <a:endParaRPr lang="es-ES"/>
          </a:p>
        </p:txBody>
      </p:sp>
      <p:sp>
        <p:nvSpPr>
          <p:cNvPr id="3" name="Text 1"/>
          <p:cNvSpPr/>
          <p:nvPr/>
        </p:nvSpPr>
        <p:spPr>
          <a:xfrm>
            <a:off x="365760" y="0"/>
            <a:ext cx="11457432" cy="777240"/>
          </a:xfrm>
          <a:prstGeom prst="rect">
            <a:avLst/>
          </a:prstGeom>
          <a:noFill/>
          <a:ln/>
        </p:spPr>
        <p:txBody>
          <a:bodyPr wrap="square" rtlCol="0" anchor="ctr"/>
          <a:lstStyle/>
          <a:p>
            <a:pPr marL="0" indent="0">
              <a:buNone/>
            </a:pPr>
            <a:r>
              <a:rPr lang="en-US" sz="2600" b="1" dirty="0">
                <a:solidFill>
                  <a:srgbClr val="FFFFFF"/>
                </a:solidFill>
                <a:latin typeface="Arial" pitchFamily="34" charset="0"/>
                <a:ea typeface="Arial" pitchFamily="34" charset="-122"/>
                <a:cs typeface="Arial" pitchFamily="34" charset="-120"/>
              </a:rPr>
              <a:t>Maven y el pom.xml</a:t>
            </a:r>
            <a:endParaRPr lang="en-US" sz="2600" dirty="0"/>
          </a:p>
        </p:txBody>
      </p:sp>
      <p:sp>
        <p:nvSpPr>
          <p:cNvPr id="4" name="Text 2"/>
          <p:cNvSpPr/>
          <p:nvPr/>
        </p:nvSpPr>
        <p:spPr>
          <a:xfrm>
            <a:off x="548640" y="6473952"/>
            <a:ext cx="11091672" cy="292608"/>
          </a:xfrm>
          <a:prstGeom prst="rect">
            <a:avLst/>
          </a:prstGeom>
          <a:noFill/>
          <a:ln/>
        </p:spPr>
        <p:txBody>
          <a:bodyPr wrap="square" rtlCol="0" anchor="ctr"/>
          <a:lstStyle/>
          <a:p>
            <a:pPr marL="0" indent="0" algn="r">
              <a:buNone/>
            </a:pPr>
            <a:r>
              <a:rPr lang="en-US" sz="1100" dirty="0">
                <a:solidFill>
                  <a:srgbClr val="757575"/>
                </a:solidFill>
                <a:latin typeface="Arial" pitchFamily="34" charset="0"/>
                <a:ea typeface="Arial" pitchFamily="34" charset="-122"/>
                <a:cs typeface="Arial" pitchFamily="34" charset="-120"/>
              </a:rPr>
              <a:t>Acceso a Datos — Tema 1: Fundamentos de Spring Boot</a:t>
            </a:r>
            <a:endParaRPr lang="en-US" sz="1100" dirty="0"/>
          </a:p>
        </p:txBody>
      </p:sp>
      <p:sp>
        <p:nvSpPr>
          <p:cNvPr id="5" name="Text 3"/>
          <p:cNvSpPr/>
          <p:nvPr/>
        </p:nvSpPr>
        <p:spPr>
          <a:xfrm>
            <a:off x="548640" y="1600200"/>
            <a:ext cx="11091672" cy="1463040"/>
          </a:xfrm>
          <a:prstGeom prst="rect">
            <a:avLst/>
          </a:prstGeom>
          <a:noFill/>
          <a:ln/>
        </p:spPr>
        <p:txBody>
          <a:bodyPr wrap="square" rtlCol="0" anchor="t"/>
          <a:lstStyle/>
          <a:p>
            <a:pPr marL="0" indent="0">
              <a:buNone/>
            </a:pPr>
            <a:r>
              <a:rPr lang="en-US" sz="2100" dirty="0">
                <a:solidFill>
                  <a:srgbClr val="212121"/>
                </a:solidFill>
                <a:latin typeface="Arial" pitchFamily="34" charset="0"/>
                <a:ea typeface="Arial" pitchFamily="34" charset="-122"/>
                <a:cs typeface="Arial" pitchFamily="34" charset="-120"/>
              </a:rPr>
              <a:t>Un proyecto Java real depende de librerías externas (Spring, el driver de PostgreSQL, Lombok...). Maven gestiona esas dependencias por ti: declaras qué necesitas en el pom.xml y Maven descarga cada .jar con la versión correcta, resolviendo también sus propias dependencias.</a:t>
            </a:r>
            <a:endParaRPr lang="en-US" sz="2100" dirty="0"/>
          </a:p>
        </p:txBody>
      </p:sp>
      <p:sp>
        <p:nvSpPr>
          <p:cNvPr id="6" name="Shape 4"/>
          <p:cNvSpPr/>
          <p:nvPr/>
        </p:nvSpPr>
        <p:spPr>
          <a:xfrm>
            <a:off x="548640" y="3429000"/>
            <a:ext cx="11091672" cy="1554480"/>
          </a:xfrm>
          <a:prstGeom prst="rect">
            <a:avLst/>
          </a:prstGeom>
          <a:solidFill>
            <a:srgbClr val="ECEFF1"/>
          </a:solidFill>
          <a:ln w="12700">
            <a:solidFill>
              <a:srgbClr val="EEEEEE"/>
            </a:solidFill>
            <a:prstDash val="solid"/>
          </a:ln>
        </p:spPr>
        <p:txBody>
          <a:bodyPr/>
          <a:lstStyle/>
          <a:p>
            <a:endParaRPr lang="es-ES"/>
          </a:p>
        </p:txBody>
      </p:sp>
      <p:sp>
        <p:nvSpPr>
          <p:cNvPr id="7" name="Shape 5"/>
          <p:cNvSpPr/>
          <p:nvPr/>
        </p:nvSpPr>
        <p:spPr>
          <a:xfrm>
            <a:off x="548640" y="3429000"/>
            <a:ext cx="73152" cy="1554480"/>
          </a:xfrm>
          <a:prstGeom prst="rect">
            <a:avLst/>
          </a:prstGeom>
          <a:solidFill>
            <a:srgbClr val="E64A19"/>
          </a:solidFill>
          <a:ln w="12700">
            <a:solidFill>
              <a:srgbClr val="E64A19"/>
            </a:solidFill>
            <a:prstDash val="solid"/>
          </a:ln>
        </p:spPr>
        <p:txBody>
          <a:bodyPr/>
          <a:lstStyle/>
          <a:p>
            <a:endParaRPr lang="es-ES"/>
          </a:p>
        </p:txBody>
      </p:sp>
      <p:sp>
        <p:nvSpPr>
          <p:cNvPr id="8" name="Text 6"/>
          <p:cNvSpPr/>
          <p:nvPr/>
        </p:nvSpPr>
        <p:spPr>
          <a:xfrm>
            <a:off x="822960" y="3538728"/>
            <a:ext cx="10588752" cy="1335024"/>
          </a:xfrm>
          <a:prstGeom prst="rect">
            <a:avLst/>
          </a:prstGeom>
          <a:noFill/>
          <a:ln/>
        </p:spPr>
        <p:txBody>
          <a:bodyPr wrap="square" rtlCol="0" anchor="t"/>
          <a:lstStyle/>
          <a:p>
            <a:pPr marL="0" indent="0">
              <a:buNone/>
            </a:pPr>
            <a:r>
              <a:rPr lang="en-US" sz="1900" dirty="0">
                <a:solidFill>
                  <a:srgbClr val="263238"/>
                </a:solidFill>
                <a:latin typeface="Courier New" pitchFamily="34" charset="0"/>
                <a:ea typeface="Courier New" pitchFamily="34" charset="-122"/>
                <a:cs typeface="Courier New" pitchFamily="34" charset="-120"/>
              </a:rPr>
              <a:t>&lt;dependency&gt;</a:t>
            </a:r>
            <a:endParaRPr lang="en-US" sz="1900" dirty="0"/>
          </a:p>
          <a:p>
            <a:pPr marL="0" indent="0">
              <a:buNone/>
            </a:pPr>
            <a:r>
              <a:rPr lang="en-US" sz="1900" dirty="0">
                <a:solidFill>
                  <a:srgbClr val="263238"/>
                </a:solidFill>
                <a:latin typeface="Courier New" pitchFamily="34" charset="0"/>
                <a:ea typeface="Courier New" pitchFamily="34" charset="-122"/>
                <a:cs typeface="Courier New" pitchFamily="34" charset="-120"/>
              </a:rPr>
              <a:t>    &lt;groupId&gt;org.springframework.boot&lt;/groupId&gt;</a:t>
            </a:r>
            <a:endParaRPr lang="en-US" sz="1900" dirty="0"/>
          </a:p>
          <a:p>
            <a:pPr marL="0" indent="0">
              <a:buNone/>
            </a:pPr>
            <a:r>
              <a:rPr lang="en-US" sz="1900" dirty="0">
                <a:solidFill>
                  <a:srgbClr val="263238"/>
                </a:solidFill>
                <a:latin typeface="Courier New" pitchFamily="34" charset="0"/>
                <a:ea typeface="Courier New" pitchFamily="34" charset="-122"/>
                <a:cs typeface="Courier New" pitchFamily="34" charset="-120"/>
              </a:rPr>
              <a:t>    &lt;artifactId&gt;spring-boot-starter-webmvc&lt;/artifactId&gt;</a:t>
            </a:r>
            <a:endParaRPr lang="en-US" sz="1900" dirty="0"/>
          </a:p>
          <a:p>
            <a:pPr marL="0" indent="0">
              <a:buNone/>
            </a:pPr>
            <a:r>
              <a:rPr lang="en-US" sz="1900" dirty="0">
                <a:solidFill>
                  <a:srgbClr val="263238"/>
                </a:solidFill>
                <a:latin typeface="Courier New" pitchFamily="34" charset="0"/>
                <a:ea typeface="Courier New" pitchFamily="34" charset="-122"/>
                <a:cs typeface="Courier New" pitchFamily="34" charset="-120"/>
              </a:rPr>
              <a:t>&lt;/dependency&gt;</a:t>
            </a:r>
            <a:endParaRPr lang="en-US" sz="1900" dirty="0"/>
          </a:p>
        </p:txBody>
      </p:sp>
      <p:sp>
        <p:nvSpPr>
          <p:cNvPr id="9" name="Text 7"/>
          <p:cNvSpPr/>
          <p:nvPr/>
        </p:nvSpPr>
        <p:spPr>
          <a:xfrm>
            <a:off x="548640" y="5349240"/>
            <a:ext cx="11091672" cy="1005840"/>
          </a:xfrm>
          <a:prstGeom prst="rect">
            <a:avLst/>
          </a:prstGeom>
          <a:noFill/>
          <a:ln/>
        </p:spPr>
        <p:txBody>
          <a:bodyPr wrap="square" rtlCol="0" anchor="t"/>
          <a:lstStyle/>
          <a:p>
            <a:pPr marL="0" indent="0">
              <a:buNone/>
            </a:pPr>
            <a:r>
              <a:rPr lang="en-US" sz="1900" dirty="0">
                <a:solidFill>
                  <a:srgbClr val="212121"/>
                </a:solidFill>
                <a:latin typeface="Arial" pitchFamily="34" charset="0"/>
                <a:ea typeface="Arial" pitchFamily="34" charset="-122"/>
                <a:cs typeface="Arial" pitchFamily="34" charset="-120"/>
              </a:rPr>
              <a:t>groupId identifica quién publica la librería; artifactId identifica cuál de sus paquetes quieres. Con esa entrada, Maven descarga ese starter y todo lo que necesita para funcionar.</a:t>
            </a:r>
            <a:endParaRPr lang="en-US" sz="1900" dirty="0"/>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name="Slide 7">
    <p:spTree>
      <p:nvGrpSpPr>
        <p:cNvPr id="1" name=""/>
        <p:cNvGrpSpPr/>
        <p:nvPr/>
      </p:nvGrpSpPr>
      <p:grpSpPr>
        <a:xfrm>
          <a:off x="0" y="0"/>
          <a:ext cx="0" cy="0"/>
          <a:chOff x="0" y="0"/>
          <a:chExt cx="0" cy="0"/>
        </a:xfrm>
      </p:grpSpPr>
      <p:sp>
        <p:nvSpPr>
          <p:cNvPr id="2" name="Shape 0"/>
          <p:cNvSpPr/>
          <p:nvPr/>
        </p:nvSpPr>
        <p:spPr>
          <a:xfrm>
            <a:off x="0" y="0"/>
            <a:ext cx="12188952" cy="777240"/>
          </a:xfrm>
          <a:prstGeom prst="rect">
            <a:avLst/>
          </a:prstGeom>
          <a:solidFill>
            <a:srgbClr val="7F0000"/>
          </a:solidFill>
          <a:ln w="12700">
            <a:solidFill>
              <a:srgbClr val="7F0000"/>
            </a:solidFill>
            <a:prstDash val="solid"/>
          </a:ln>
        </p:spPr>
        <p:txBody>
          <a:bodyPr/>
          <a:lstStyle/>
          <a:p>
            <a:endParaRPr lang="es-ES"/>
          </a:p>
        </p:txBody>
      </p:sp>
      <p:sp>
        <p:nvSpPr>
          <p:cNvPr id="3" name="Text 1"/>
          <p:cNvSpPr/>
          <p:nvPr/>
        </p:nvSpPr>
        <p:spPr>
          <a:xfrm>
            <a:off x="365760" y="0"/>
            <a:ext cx="11457432" cy="777240"/>
          </a:xfrm>
          <a:prstGeom prst="rect">
            <a:avLst/>
          </a:prstGeom>
          <a:noFill/>
          <a:ln/>
        </p:spPr>
        <p:txBody>
          <a:bodyPr wrap="square" rtlCol="0" anchor="ctr"/>
          <a:lstStyle/>
          <a:p>
            <a:pPr marL="0" indent="0">
              <a:buNone/>
            </a:pPr>
            <a:r>
              <a:rPr lang="en-US" sz="2600" b="1" dirty="0">
                <a:solidFill>
                  <a:srgbClr val="FFFFFF"/>
                </a:solidFill>
                <a:latin typeface="Arial" pitchFamily="34" charset="0"/>
                <a:ea typeface="Arial" pitchFamily="34" charset="-122"/>
                <a:cs typeface="Arial" pitchFamily="34" charset="-120"/>
              </a:rPr>
              <a:t>Maven y el pom.xml (cont.)</a:t>
            </a:r>
            <a:endParaRPr lang="en-US" sz="2600" dirty="0"/>
          </a:p>
        </p:txBody>
      </p:sp>
      <p:sp>
        <p:nvSpPr>
          <p:cNvPr id="4" name="Text 2"/>
          <p:cNvSpPr/>
          <p:nvPr/>
        </p:nvSpPr>
        <p:spPr>
          <a:xfrm>
            <a:off x="548640" y="6473952"/>
            <a:ext cx="11091672" cy="292608"/>
          </a:xfrm>
          <a:prstGeom prst="rect">
            <a:avLst/>
          </a:prstGeom>
          <a:noFill/>
          <a:ln/>
        </p:spPr>
        <p:txBody>
          <a:bodyPr wrap="square" rtlCol="0" anchor="ctr"/>
          <a:lstStyle/>
          <a:p>
            <a:pPr marL="0" indent="0" algn="r">
              <a:buNone/>
            </a:pPr>
            <a:r>
              <a:rPr lang="en-US" sz="1100" dirty="0">
                <a:solidFill>
                  <a:srgbClr val="757575"/>
                </a:solidFill>
                <a:latin typeface="Arial" pitchFamily="34" charset="0"/>
                <a:ea typeface="Arial" pitchFamily="34" charset="-122"/>
                <a:cs typeface="Arial" pitchFamily="34" charset="-120"/>
              </a:rPr>
              <a:t>Acceso a Datos — Tema 1: Fundamentos de Spring Boot</a:t>
            </a:r>
            <a:endParaRPr lang="en-US" sz="1100" dirty="0"/>
          </a:p>
        </p:txBody>
      </p:sp>
      <p:sp>
        <p:nvSpPr>
          <p:cNvPr id="5" name="Text 3"/>
          <p:cNvSpPr/>
          <p:nvPr/>
        </p:nvSpPr>
        <p:spPr>
          <a:xfrm>
            <a:off x="548640" y="1097280"/>
            <a:ext cx="11091672" cy="411480"/>
          </a:xfrm>
          <a:prstGeom prst="rect">
            <a:avLst/>
          </a:prstGeom>
          <a:noFill/>
          <a:ln/>
        </p:spPr>
        <p:txBody>
          <a:bodyPr wrap="square" rtlCol="0" anchor="t"/>
          <a:lstStyle/>
          <a:p>
            <a:pPr marL="0" indent="0">
              <a:buNone/>
            </a:pPr>
            <a:r>
              <a:rPr lang="en-US" sz="1900" b="1" dirty="0">
                <a:solidFill>
                  <a:srgbClr val="212121"/>
                </a:solidFill>
                <a:latin typeface="Arial" pitchFamily="34" charset="0"/>
                <a:ea typeface="Arial" pitchFamily="34" charset="-122"/>
                <a:cs typeface="Arial" pitchFamily="34" charset="-120"/>
              </a:rPr>
              <a:t>Las dos dependencias clave de este curso:</a:t>
            </a:r>
            <a:endParaRPr lang="en-US" sz="1900" dirty="0"/>
          </a:p>
        </p:txBody>
      </p:sp>
      <p:sp>
        <p:nvSpPr>
          <p:cNvPr id="6" name="Shape 4"/>
          <p:cNvSpPr/>
          <p:nvPr/>
        </p:nvSpPr>
        <p:spPr>
          <a:xfrm>
            <a:off x="548640" y="1645920"/>
            <a:ext cx="11091672" cy="2194560"/>
          </a:xfrm>
          <a:prstGeom prst="rect">
            <a:avLst/>
          </a:prstGeom>
          <a:solidFill>
            <a:srgbClr val="ECEFF1"/>
          </a:solidFill>
          <a:ln w="12700">
            <a:solidFill>
              <a:srgbClr val="EEEEEE"/>
            </a:solidFill>
            <a:prstDash val="solid"/>
          </a:ln>
        </p:spPr>
        <p:txBody>
          <a:bodyPr/>
          <a:lstStyle/>
          <a:p>
            <a:endParaRPr lang="es-ES"/>
          </a:p>
        </p:txBody>
      </p:sp>
      <p:sp>
        <p:nvSpPr>
          <p:cNvPr id="7" name="Shape 5"/>
          <p:cNvSpPr/>
          <p:nvPr/>
        </p:nvSpPr>
        <p:spPr>
          <a:xfrm>
            <a:off x="548640" y="1645920"/>
            <a:ext cx="73152" cy="2194560"/>
          </a:xfrm>
          <a:prstGeom prst="rect">
            <a:avLst/>
          </a:prstGeom>
          <a:solidFill>
            <a:srgbClr val="E64A19"/>
          </a:solidFill>
          <a:ln w="12700">
            <a:solidFill>
              <a:srgbClr val="E64A19"/>
            </a:solidFill>
            <a:prstDash val="solid"/>
          </a:ln>
        </p:spPr>
        <p:txBody>
          <a:bodyPr/>
          <a:lstStyle/>
          <a:p>
            <a:endParaRPr lang="es-ES"/>
          </a:p>
        </p:txBody>
      </p:sp>
      <p:sp>
        <p:nvSpPr>
          <p:cNvPr id="8" name="Text 6"/>
          <p:cNvSpPr/>
          <p:nvPr/>
        </p:nvSpPr>
        <p:spPr>
          <a:xfrm>
            <a:off x="822960" y="1755648"/>
            <a:ext cx="10588752" cy="1975104"/>
          </a:xfrm>
          <a:prstGeom prst="rect">
            <a:avLst/>
          </a:prstGeom>
          <a:noFill/>
          <a:ln/>
        </p:spPr>
        <p:txBody>
          <a:bodyPr wrap="square" rtlCol="0" anchor="t"/>
          <a:lstStyle/>
          <a:p>
            <a:pPr marL="0" indent="0">
              <a:buNone/>
            </a:pPr>
            <a:r>
              <a:rPr lang="en-US" sz="1600" dirty="0">
                <a:solidFill>
                  <a:srgbClr val="263238"/>
                </a:solidFill>
                <a:latin typeface="Courier New" pitchFamily="34" charset="0"/>
                <a:ea typeface="Courier New" pitchFamily="34" charset="-122"/>
                <a:cs typeface="Courier New" pitchFamily="34" charset="-120"/>
              </a:rPr>
              <a:t>&lt;dependency&gt;</a:t>
            </a:r>
            <a:endParaRPr lang="en-US" sz="1600" dirty="0"/>
          </a:p>
          <a:p>
            <a:pPr marL="0" indent="0">
              <a:buNone/>
            </a:pPr>
            <a:r>
              <a:rPr lang="en-US" sz="1600" dirty="0">
                <a:solidFill>
                  <a:srgbClr val="263238"/>
                </a:solidFill>
                <a:latin typeface="Courier New" pitchFamily="34" charset="0"/>
                <a:ea typeface="Courier New" pitchFamily="34" charset="-122"/>
                <a:cs typeface="Courier New" pitchFamily="34" charset="-120"/>
              </a:rPr>
              <a:t>    &lt;groupId&gt;org.springframework.boot&lt;/groupId&gt;</a:t>
            </a:r>
            <a:endParaRPr lang="en-US" sz="1600" dirty="0"/>
          </a:p>
          <a:p>
            <a:pPr marL="0" indent="0">
              <a:buNone/>
            </a:pPr>
            <a:r>
              <a:rPr lang="en-US" sz="1600" dirty="0">
                <a:solidFill>
                  <a:srgbClr val="263238"/>
                </a:solidFill>
                <a:latin typeface="Courier New" pitchFamily="34" charset="0"/>
                <a:ea typeface="Courier New" pitchFamily="34" charset="-122"/>
                <a:cs typeface="Courier New" pitchFamily="34" charset="-120"/>
              </a:rPr>
              <a:t>    &lt;artifactId&gt;spring-boot-starter-webmvc&lt;/artifactId&gt;</a:t>
            </a:r>
            <a:endParaRPr lang="en-US" sz="1600" dirty="0"/>
          </a:p>
          <a:p>
            <a:pPr marL="0" indent="0">
              <a:buNone/>
            </a:pPr>
            <a:r>
              <a:rPr lang="en-US" sz="1600" dirty="0">
                <a:solidFill>
                  <a:srgbClr val="263238"/>
                </a:solidFill>
                <a:latin typeface="Courier New" pitchFamily="34" charset="0"/>
                <a:ea typeface="Courier New" pitchFamily="34" charset="-122"/>
                <a:cs typeface="Courier New" pitchFamily="34" charset="-120"/>
              </a:rPr>
              <a:t>&lt;/dependency&gt;</a:t>
            </a:r>
            <a:endParaRPr lang="en-US" sz="1600" dirty="0"/>
          </a:p>
          <a:p>
            <a:pPr marL="0" indent="0">
              <a:buNone/>
            </a:pPr>
            <a:r>
              <a:rPr lang="en-US" sz="1600" dirty="0">
                <a:solidFill>
                  <a:srgbClr val="263238"/>
                </a:solidFill>
                <a:latin typeface="Courier New" pitchFamily="34" charset="0"/>
                <a:ea typeface="Courier New" pitchFamily="34" charset="-122"/>
                <a:cs typeface="Courier New" pitchFamily="34" charset="-120"/>
              </a:rPr>
              <a:t>&lt;dependency&gt;</a:t>
            </a:r>
            <a:endParaRPr lang="en-US" sz="1600" dirty="0"/>
          </a:p>
          <a:p>
            <a:pPr marL="0" indent="0">
              <a:buNone/>
            </a:pPr>
            <a:r>
              <a:rPr lang="en-US" sz="1600" dirty="0">
                <a:solidFill>
                  <a:srgbClr val="263238"/>
                </a:solidFill>
                <a:latin typeface="Courier New" pitchFamily="34" charset="0"/>
                <a:ea typeface="Courier New" pitchFamily="34" charset="-122"/>
                <a:cs typeface="Courier New" pitchFamily="34" charset="-120"/>
              </a:rPr>
              <a:t>    &lt;groupId&gt;org.springframework.boot&lt;/groupId&gt;</a:t>
            </a:r>
            <a:endParaRPr lang="en-US" sz="1600" dirty="0"/>
          </a:p>
          <a:p>
            <a:pPr marL="0" indent="0">
              <a:buNone/>
            </a:pPr>
            <a:r>
              <a:rPr lang="en-US" sz="1600" dirty="0">
                <a:solidFill>
                  <a:srgbClr val="263238"/>
                </a:solidFill>
                <a:latin typeface="Courier New" pitchFamily="34" charset="0"/>
                <a:ea typeface="Courier New" pitchFamily="34" charset="-122"/>
                <a:cs typeface="Courier New" pitchFamily="34" charset="-120"/>
              </a:rPr>
              <a:t>    &lt;artifactId&gt;spring-boot-starter-data-jpa&lt;/artifactId&gt;</a:t>
            </a:r>
            <a:endParaRPr lang="en-US" sz="1600" dirty="0"/>
          </a:p>
          <a:p>
            <a:pPr marL="0" indent="0">
              <a:buNone/>
            </a:pPr>
            <a:r>
              <a:rPr lang="en-US" sz="1600" dirty="0">
                <a:solidFill>
                  <a:srgbClr val="263238"/>
                </a:solidFill>
                <a:latin typeface="Courier New" pitchFamily="34" charset="0"/>
                <a:ea typeface="Courier New" pitchFamily="34" charset="-122"/>
                <a:cs typeface="Courier New" pitchFamily="34" charset="-120"/>
              </a:rPr>
              <a:t>&lt;/dependency&gt;</a:t>
            </a:r>
            <a:endParaRPr lang="en-US" sz="1600" dirty="0"/>
          </a:p>
        </p:txBody>
      </p:sp>
      <p:sp>
        <p:nvSpPr>
          <p:cNvPr id="9" name="Shape 7"/>
          <p:cNvSpPr/>
          <p:nvPr/>
        </p:nvSpPr>
        <p:spPr>
          <a:xfrm>
            <a:off x="548640" y="4114800"/>
            <a:ext cx="11091672" cy="1280160"/>
          </a:xfrm>
          <a:prstGeom prst="roundRect">
            <a:avLst/>
          </a:prstGeom>
          <a:solidFill>
            <a:srgbClr val="FBE9E7"/>
          </a:solidFill>
          <a:ln w="19050">
            <a:solidFill>
              <a:srgbClr val="E64A19"/>
            </a:solidFill>
            <a:prstDash val="solid"/>
          </a:ln>
        </p:spPr>
        <p:txBody>
          <a:bodyPr/>
          <a:lstStyle/>
          <a:p>
            <a:endParaRPr lang="es-ES"/>
          </a:p>
        </p:txBody>
      </p:sp>
      <p:sp>
        <p:nvSpPr>
          <p:cNvPr id="10" name="Text 8"/>
          <p:cNvSpPr/>
          <p:nvPr/>
        </p:nvSpPr>
        <p:spPr>
          <a:xfrm>
            <a:off x="822960" y="4206240"/>
            <a:ext cx="10543032" cy="1097280"/>
          </a:xfrm>
          <a:prstGeom prst="rect">
            <a:avLst/>
          </a:prstGeom>
          <a:noFill/>
          <a:ln/>
        </p:spPr>
        <p:txBody>
          <a:bodyPr wrap="square" rtlCol="0" anchor="ctr"/>
          <a:lstStyle/>
          <a:p>
            <a:pPr marL="0" indent="0">
              <a:buNone/>
            </a:pPr>
            <a:r>
              <a:rPr lang="en-US" sz="1700" dirty="0">
                <a:solidFill>
                  <a:srgbClr val="212121"/>
                </a:solidFill>
                <a:latin typeface="Arial" pitchFamily="34" charset="0"/>
                <a:ea typeface="Arial" pitchFamily="34" charset="-122"/>
                <a:cs typeface="Arial" pitchFamily="34" charset="-120"/>
              </a:rPr>
              <a:t>El nombre del starter web ha cambiado: en Spring Boot 4 se separó spring-boot-starter-web en spring-boot-starter-webmvc (el que vas a usar) y spring-boot-starter-webflux (reactivo, fuera de este curso). Si buscas spring-boot-starter-web a secas en tu pom.xml, no lo vas a encontrar.</a:t>
            </a:r>
            <a:endParaRPr lang="en-US" sz="1700" dirty="0"/>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name="Slide 8">
    <p:spTree>
      <p:nvGrpSpPr>
        <p:cNvPr id="1" name=""/>
        <p:cNvGrpSpPr/>
        <p:nvPr/>
      </p:nvGrpSpPr>
      <p:grpSpPr>
        <a:xfrm>
          <a:off x="0" y="0"/>
          <a:ext cx="0" cy="0"/>
          <a:chOff x="0" y="0"/>
          <a:chExt cx="0" cy="0"/>
        </a:xfrm>
      </p:grpSpPr>
      <p:sp>
        <p:nvSpPr>
          <p:cNvPr id="2" name="Shape 0"/>
          <p:cNvSpPr/>
          <p:nvPr/>
        </p:nvSpPr>
        <p:spPr>
          <a:xfrm>
            <a:off x="0" y="0"/>
            <a:ext cx="12188952" cy="777240"/>
          </a:xfrm>
          <a:prstGeom prst="rect">
            <a:avLst/>
          </a:prstGeom>
          <a:solidFill>
            <a:srgbClr val="7F0000"/>
          </a:solidFill>
          <a:ln w="12700">
            <a:solidFill>
              <a:srgbClr val="7F0000"/>
            </a:solidFill>
            <a:prstDash val="solid"/>
          </a:ln>
        </p:spPr>
        <p:txBody>
          <a:bodyPr/>
          <a:lstStyle/>
          <a:p>
            <a:endParaRPr lang="es-ES"/>
          </a:p>
        </p:txBody>
      </p:sp>
      <p:sp>
        <p:nvSpPr>
          <p:cNvPr id="3" name="Text 1"/>
          <p:cNvSpPr/>
          <p:nvPr/>
        </p:nvSpPr>
        <p:spPr>
          <a:xfrm>
            <a:off x="365760" y="0"/>
            <a:ext cx="11457432" cy="777240"/>
          </a:xfrm>
          <a:prstGeom prst="rect">
            <a:avLst/>
          </a:prstGeom>
          <a:noFill/>
          <a:ln/>
        </p:spPr>
        <p:txBody>
          <a:bodyPr wrap="square" rtlCol="0" anchor="ctr"/>
          <a:lstStyle/>
          <a:p>
            <a:pPr marL="0" indent="0">
              <a:buNone/>
            </a:pPr>
            <a:r>
              <a:rPr lang="en-US" sz="2600" b="1" dirty="0">
                <a:solidFill>
                  <a:srgbClr val="FFFFFF"/>
                </a:solidFill>
                <a:latin typeface="Arial" pitchFamily="34" charset="0"/>
                <a:ea typeface="Arial" pitchFamily="34" charset="-122"/>
                <a:cs typeface="Arial" pitchFamily="34" charset="-120"/>
              </a:rPr>
              <a:t>La arquitectura en capas</a:t>
            </a:r>
            <a:endParaRPr lang="en-US" sz="2600" dirty="0"/>
          </a:p>
        </p:txBody>
      </p:sp>
      <p:sp>
        <p:nvSpPr>
          <p:cNvPr id="4" name="Text 2"/>
          <p:cNvSpPr/>
          <p:nvPr/>
        </p:nvSpPr>
        <p:spPr>
          <a:xfrm>
            <a:off x="548640" y="6473952"/>
            <a:ext cx="11091672" cy="292608"/>
          </a:xfrm>
          <a:prstGeom prst="rect">
            <a:avLst/>
          </a:prstGeom>
          <a:noFill/>
          <a:ln/>
        </p:spPr>
        <p:txBody>
          <a:bodyPr wrap="square" rtlCol="0" anchor="ctr"/>
          <a:lstStyle/>
          <a:p>
            <a:pPr marL="0" indent="0" algn="r">
              <a:buNone/>
            </a:pPr>
            <a:r>
              <a:rPr lang="en-US" sz="1100" dirty="0">
                <a:solidFill>
                  <a:srgbClr val="757575"/>
                </a:solidFill>
                <a:latin typeface="Arial" pitchFamily="34" charset="0"/>
                <a:ea typeface="Arial" pitchFamily="34" charset="-122"/>
                <a:cs typeface="Arial" pitchFamily="34" charset="-120"/>
              </a:rPr>
              <a:t>Acceso a Datos — Tema 1: Fundamentos de Spring Boot</a:t>
            </a:r>
            <a:endParaRPr lang="en-US" sz="1100" dirty="0"/>
          </a:p>
        </p:txBody>
      </p:sp>
      <p:sp>
        <p:nvSpPr>
          <p:cNvPr id="5" name="Text 3"/>
          <p:cNvSpPr/>
          <p:nvPr/>
        </p:nvSpPr>
        <p:spPr>
          <a:xfrm>
            <a:off x="548640" y="1600200"/>
            <a:ext cx="11091672" cy="960120"/>
          </a:xfrm>
          <a:prstGeom prst="rect">
            <a:avLst/>
          </a:prstGeom>
          <a:noFill/>
          <a:ln/>
        </p:spPr>
        <p:txBody>
          <a:bodyPr wrap="square" rtlCol="0" anchor="t"/>
          <a:lstStyle/>
          <a:p>
            <a:pPr marL="0" indent="0">
              <a:buNone/>
            </a:pPr>
            <a:r>
              <a:rPr lang="en-US" sz="2200" dirty="0">
                <a:solidFill>
                  <a:srgbClr val="212121"/>
                </a:solidFill>
                <a:latin typeface="Arial" pitchFamily="34" charset="0"/>
                <a:ea typeface="Arial" pitchFamily="34" charset="-122"/>
                <a:cs typeface="Arial" pitchFamily="34" charset="-120"/>
              </a:rPr>
              <a:t>Una aplicación backend reparte el código en capas, cada una con una responsabilidad clara. El patrón más extendido — y el que vas a usar todo el curso — tiene tres:</a:t>
            </a:r>
            <a:endParaRPr lang="en-US" sz="2200" dirty="0"/>
          </a:p>
        </p:txBody>
      </p:sp>
      <p:pic>
        <p:nvPicPr>
          <p:cNvPr id="6" name="Image 0" descr="C:/Users/Aitor/docxgen/img/spring-boot-fundamentos-capas.png"/>
          <p:cNvPicPr>
            <a:picLocks noChangeAspect="1"/>
          </p:cNvPicPr>
          <p:nvPr/>
        </p:nvPicPr>
        <p:blipFill>
          <a:blip r:embed="rId3"/>
          <a:stretch>
            <a:fillRect/>
          </a:stretch>
        </p:blipFill>
        <p:spPr>
          <a:xfrm>
            <a:off x="1361970" y="2926080"/>
            <a:ext cx="9465013" cy="1280160"/>
          </a:xfrm>
          <a:prstGeom prst="rect">
            <a:avLst/>
          </a:prstGeom>
        </p:spPr>
      </p:pic>
      <p:sp>
        <p:nvSpPr>
          <p:cNvPr id="7" name="Text 4"/>
          <p:cNvSpPr/>
          <p:nvPr/>
        </p:nvSpPr>
        <p:spPr>
          <a:xfrm>
            <a:off x="548640" y="4617720"/>
            <a:ext cx="11091672" cy="960120"/>
          </a:xfrm>
          <a:prstGeom prst="rect">
            <a:avLst/>
          </a:prstGeom>
          <a:noFill/>
          <a:ln/>
        </p:spPr>
        <p:txBody>
          <a:bodyPr wrap="square" rtlCol="0" anchor="t"/>
          <a:lstStyle/>
          <a:p>
            <a:pPr marL="0" indent="0">
              <a:buNone/>
            </a:pPr>
            <a:r>
              <a:rPr lang="en-US" sz="1900" dirty="0">
                <a:solidFill>
                  <a:srgbClr val="757575"/>
                </a:solidFill>
                <a:latin typeface="Arial" pitchFamily="34" charset="0"/>
                <a:ea typeface="Arial" pitchFamily="34" charset="-122"/>
                <a:cs typeface="Arial" pitchFamily="34" charset="-120"/>
              </a:rPr>
              <a:t>Ejemplo — una aplicación que gestiona el catálogo de una librería (LibroController / LibroService / LibroRepository): el controller enruta, el service decide, el repository habla con la base de datos.</a:t>
            </a:r>
            <a:endParaRPr lang="en-US" sz="1900" dirty="0"/>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name="Slide 9">
    <p:spTree>
      <p:nvGrpSpPr>
        <p:cNvPr id="1" name=""/>
        <p:cNvGrpSpPr/>
        <p:nvPr/>
      </p:nvGrpSpPr>
      <p:grpSpPr>
        <a:xfrm>
          <a:off x="0" y="0"/>
          <a:ext cx="0" cy="0"/>
          <a:chOff x="0" y="0"/>
          <a:chExt cx="0" cy="0"/>
        </a:xfrm>
      </p:grpSpPr>
      <p:sp>
        <p:nvSpPr>
          <p:cNvPr id="2" name="Shape 0"/>
          <p:cNvSpPr/>
          <p:nvPr/>
        </p:nvSpPr>
        <p:spPr>
          <a:xfrm>
            <a:off x="0" y="0"/>
            <a:ext cx="12188952" cy="777240"/>
          </a:xfrm>
          <a:prstGeom prst="rect">
            <a:avLst/>
          </a:prstGeom>
          <a:solidFill>
            <a:srgbClr val="7F0000"/>
          </a:solidFill>
          <a:ln w="12700">
            <a:solidFill>
              <a:srgbClr val="7F0000"/>
            </a:solidFill>
            <a:prstDash val="solid"/>
          </a:ln>
        </p:spPr>
        <p:txBody>
          <a:bodyPr/>
          <a:lstStyle/>
          <a:p>
            <a:endParaRPr lang="es-ES"/>
          </a:p>
        </p:txBody>
      </p:sp>
      <p:sp>
        <p:nvSpPr>
          <p:cNvPr id="3" name="Text 1"/>
          <p:cNvSpPr/>
          <p:nvPr/>
        </p:nvSpPr>
        <p:spPr>
          <a:xfrm>
            <a:off x="365760" y="0"/>
            <a:ext cx="11457432" cy="777240"/>
          </a:xfrm>
          <a:prstGeom prst="rect">
            <a:avLst/>
          </a:prstGeom>
          <a:noFill/>
          <a:ln/>
        </p:spPr>
        <p:txBody>
          <a:bodyPr wrap="square" rtlCol="0" anchor="ctr"/>
          <a:lstStyle/>
          <a:p>
            <a:pPr marL="0" indent="0">
              <a:buNone/>
            </a:pPr>
            <a:r>
              <a:rPr lang="en-US" sz="2600" b="1" dirty="0">
                <a:solidFill>
                  <a:srgbClr val="FFFFFF"/>
                </a:solidFill>
                <a:latin typeface="Arial" pitchFamily="34" charset="0"/>
                <a:ea typeface="Arial" pitchFamily="34" charset="-122"/>
                <a:cs typeface="Arial" pitchFamily="34" charset="-120"/>
              </a:rPr>
              <a:t>La arquitectura en capas (cont.)</a:t>
            </a:r>
            <a:endParaRPr lang="en-US" sz="2600" dirty="0"/>
          </a:p>
        </p:txBody>
      </p:sp>
      <p:sp>
        <p:nvSpPr>
          <p:cNvPr id="4" name="Text 2"/>
          <p:cNvSpPr/>
          <p:nvPr/>
        </p:nvSpPr>
        <p:spPr>
          <a:xfrm>
            <a:off x="548640" y="6473952"/>
            <a:ext cx="11091672" cy="292608"/>
          </a:xfrm>
          <a:prstGeom prst="rect">
            <a:avLst/>
          </a:prstGeom>
          <a:noFill/>
          <a:ln/>
        </p:spPr>
        <p:txBody>
          <a:bodyPr wrap="square" rtlCol="0" anchor="ctr"/>
          <a:lstStyle/>
          <a:p>
            <a:pPr marL="0" indent="0" algn="r">
              <a:buNone/>
            </a:pPr>
            <a:r>
              <a:rPr lang="en-US" sz="1100" dirty="0">
                <a:solidFill>
                  <a:srgbClr val="757575"/>
                </a:solidFill>
                <a:latin typeface="Arial" pitchFamily="34" charset="0"/>
                <a:ea typeface="Arial" pitchFamily="34" charset="-122"/>
                <a:cs typeface="Arial" pitchFamily="34" charset="-120"/>
              </a:rPr>
              <a:t>Acceso a Datos — Tema 1: Fundamentos de Spring Boot</a:t>
            </a:r>
            <a:endParaRPr lang="en-US" sz="1100" dirty="0"/>
          </a:p>
        </p:txBody>
      </p:sp>
      <p:sp>
        <p:nvSpPr>
          <p:cNvPr id="5" name="Text 3"/>
          <p:cNvSpPr/>
          <p:nvPr/>
        </p:nvSpPr>
        <p:spPr>
          <a:xfrm>
            <a:off x="548640" y="1371600"/>
            <a:ext cx="11091672" cy="2286000"/>
          </a:xfrm>
          <a:prstGeom prst="rect">
            <a:avLst/>
          </a:prstGeom>
          <a:noFill/>
          <a:ln/>
        </p:spPr>
        <p:txBody>
          <a:bodyPr wrap="square" rtlCol="0" anchor="t"/>
          <a:lstStyle/>
          <a:p>
            <a:pPr marL="190500" indent="-190500">
              <a:spcAft>
                <a:spcPts val="1600"/>
              </a:spcAft>
              <a:buSzPct val="100000"/>
              <a:buChar char="•"/>
            </a:pPr>
            <a:r>
              <a:rPr lang="en-US" sz="1900" dirty="0">
                <a:solidFill>
                  <a:srgbClr val="212121"/>
                </a:solidFill>
                <a:latin typeface="Arial" pitchFamily="34" charset="0"/>
                <a:ea typeface="Arial" pitchFamily="34" charset="-122"/>
                <a:cs typeface="Arial" pitchFamily="34" charset="-120"/>
              </a:rPr>
              <a:t>Controller (LibroController) — recibe la petición HTTP y la traduce a una llamada Java. No contiene lógica de negocio, solo enruta.</a:t>
            </a:r>
            <a:endParaRPr lang="en-US" sz="1900" dirty="0"/>
          </a:p>
          <a:p>
            <a:pPr marL="190500" indent="-190500">
              <a:spcAft>
                <a:spcPts val="1600"/>
              </a:spcAft>
              <a:buSzPct val="100000"/>
              <a:buChar char="•"/>
            </a:pPr>
            <a:r>
              <a:rPr lang="en-US" sz="1900" dirty="0">
                <a:solidFill>
                  <a:srgbClr val="212121"/>
                </a:solidFill>
                <a:latin typeface="Arial" pitchFamily="34" charset="0"/>
                <a:ea typeface="Arial" pitchFamily="34" charset="-122"/>
                <a:cs typeface="Arial" pitchFamily="34" charset="-120"/>
              </a:rPr>
              <a:t>Service (LibroService) — contiene la lógica: qué hay que comprobar, qué hay que calcular, en qué orden.</a:t>
            </a:r>
            <a:endParaRPr lang="en-US" sz="1900" dirty="0"/>
          </a:p>
          <a:p>
            <a:pPr marL="190500" indent="-190500">
              <a:spcAft>
                <a:spcPts val="1600"/>
              </a:spcAft>
              <a:buSzPct val="100000"/>
              <a:buChar char="•"/>
            </a:pPr>
            <a:r>
              <a:rPr lang="en-US" sz="1900" dirty="0">
                <a:solidFill>
                  <a:srgbClr val="212121"/>
                </a:solidFill>
                <a:latin typeface="Arial" pitchFamily="34" charset="0"/>
                <a:ea typeface="Arial" pitchFamily="34" charset="-122"/>
                <a:cs typeface="Arial" pitchFamily="34" charset="-120"/>
              </a:rPr>
              <a:t>Repository (LibroRepository) — es quien habla con la base de datos.</a:t>
            </a:r>
            <a:endParaRPr lang="en-US" sz="1900" dirty="0"/>
          </a:p>
        </p:txBody>
      </p:sp>
      <p:sp>
        <p:nvSpPr>
          <p:cNvPr id="6" name="Shape 4"/>
          <p:cNvSpPr/>
          <p:nvPr/>
        </p:nvSpPr>
        <p:spPr>
          <a:xfrm>
            <a:off x="548640" y="3977640"/>
            <a:ext cx="11091672" cy="1371600"/>
          </a:xfrm>
          <a:prstGeom prst="roundRect">
            <a:avLst/>
          </a:prstGeom>
          <a:solidFill>
            <a:srgbClr val="FBE9E7"/>
          </a:solidFill>
          <a:ln w="19050">
            <a:solidFill>
              <a:srgbClr val="E64A19"/>
            </a:solidFill>
            <a:prstDash val="solid"/>
          </a:ln>
        </p:spPr>
        <p:txBody>
          <a:bodyPr/>
          <a:lstStyle/>
          <a:p>
            <a:endParaRPr lang="es-ES"/>
          </a:p>
        </p:txBody>
      </p:sp>
      <p:sp>
        <p:nvSpPr>
          <p:cNvPr id="7" name="Text 5"/>
          <p:cNvSpPr/>
          <p:nvPr/>
        </p:nvSpPr>
        <p:spPr>
          <a:xfrm>
            <a:off x="822960" y="4069080"/>
            <a:ext cx="10543032" cy="1188720"/>
          </a:xfrm>
          <a:prstGeom prst="rect">
            <a:avLst/>
          </a:prstGeom>
          <a:noFill/>
          <a:ln/>
        </p:spPr>
        <p:txBody>
          <a:bodyPr wrap="square" rtlCol="0" anchor="ctr"/>
          <a:lstStyle/>
          <a:p>
            <a:pPr marL="0" indent="0">
              <a:buNone/>
            </a:pPr>
            <a:r>
              <a:rPr lang="en-US" sz="1800" dirty="0">
                <a:solidFill>
                  <a:srgbClr val="212121"/>
                </a:solidFill>
                <a:latin typeface="Arial" pitchFamily="34" charset="0"/>
                <a:ea typeface="Arial" pitchFamily="34" charset="-122"/>
                <a:cs typeface="Arial" pitchFamily="34" charset="-120"/>
              </a:rPr>
              <a:t>¿Por qué separar así? Cada capa se puede entender, probar y cambiar sin tocar las demás: si cambia la base de datos, solo se toca el repository; si cambia una regla de negocio, solo el service. Regla: cada capa habla solo con la siguiente — el controller nunca accede directamente a la base de datos.</a:t>
            </a:r>
            <a:endParaRPr lang="en-US" sz="1800" dirty="0"/>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name="Slide 10">
    <p:spTree>
      <p:nvGrpSpPr>
        <p:cNvPr id="1" name=""/>
        <p:cNvGrpSpPr/>
        <p:nvPr/>
      </p:nvGrpSpPr>
      <p:grpSpPr>
        <a:xfrm>
          <a:off x="0" y="0"/>
          <a:ext cx="0" cy="0"/>
          <a:chOff x="0" y="0"/>
          <a:chExt cx="0" cy="0"/>
        </a:xfrm>
      </p:grpSpPr>
      <p:sp>
        <p:nvSpPr>
          <p:cNvPr id="2" name="Shape 0"/>
          <p:cNvSpPr/>
          <p:nvPr/>
        </p:nvSpPr>
        <p:spPr>
          <a:xfrm>
            <a:off x="0" y="0"/>
            <a:ext cx="12188952" cy="777240"/>
          </a:xfrm>
          <a:prstGeom prst="rect">
            <a:avLst/>
          </a:prstGeom>
          <a:solidFill>
            <a:srgbClr val="7F0000"/>
          </a:solidFill>
          <a:ln w="12700">
            <a:solidFill>
              <a:srgbClr val="7F0000"/>
            </a:solidFill>
            <a:prstDash val="solid"/>
          </a:ln>
        </p:spPr>
        <p:txBody>
          <a:bodyPr/>
          <a:lstStyle/>
          <a:p>
            <a:endParaRPr lang="es-ES"/>
          </a:p>
        </p:txBody>
      </p:sp>
      <p:sp>
        <p:nvSpPr>
          <p:cNvPr id="3" name="Text 1"/>
          <p:cNvSpPr/>
          <p:nvPr/>
        </p:nvSpPr>
        <p:spPr>
          <a:xfrm>
            <a:off x="365760" y="0"/>
            <a:ext cx="11457432" cy="777240"/>
          </a:xfrm>
          <a:prstGeom prst="rect">
            <a:avLst/>
          </a:prstGeom>
          <a:noFill/>
          <a:ln/>
        </p:spPr>
        <p:txBody>
          <a:bodyPr wrap="square" rtlCol="0" anchor="ctr"/>
          <a:lstStyle/>
          <a:p>
            <a:pPr marL="0" indent="0">
              <a:buNone/>
            </a:pPr>
            <a:r>
              <a:rPr lang="en-US" sz="2600" b="1" dirty="0">
                <a:solidFill>
                  <a:srgbClr val="FFFFFF"/>
                </a:solidFill>
                <a:latin typeface="Arial" pitchFamily="34" charset="0"/>
                <a:ea typeface="Arial" pitchFamily="34" charset="-122"/>
                <a:cs typeface="Arial" pitchFamily="34" charset="-120"/>
              </a:rPr>
              <a:t>Inyección de dependencias</a:t>
            </a:r>
            <a:endParaRPr lang="en-US" sz="2600" dirty="0"/>
          </a:p>
        </p:txBody>
      </p:sp>
      <p:sp>
        <p:nvSpPr>
          <p:cNvPr id="4" name="Text 2"/>
          <p:cNvSpPr/>
          <p:nvPr/>
        </p:nvSpPr>
        <p:spPr>
          <a:xfrm>
            <a:off x="548640" y="6473952"/>
            <a:ext cx="11091672" cy="292608"/>
          </a:xfrm>
          <a:prstGeom prst="rect">
            <a:avLst/>
          </a:prstGeom>
          <a:noFill/>
          <a:ln/>
        </p:spPr>
        <p:txBody>
          <a:bodyPr wrap="square" rtlCol="0" anchor="ctr"/>
          <a:lstStyle/>
          <a:p>
            <a:pPr marL="0" indent="0" algn="r">
              <a:buNone/>
            </a:pPr>
            <a:r>
              <a:rPr lang="en-US" sz="1100" dirty="0">
                <a:solidFill>
                  <a:srgbClr val="757575"/>
                </a:solidFill>
                <a:latin typeface="Arial" pitchFamily="34" charset="0"/>
                <a:ea typeface="Arial" pitchFamily="34" charset="-122"/>
                <a:cs typeface="Arial" pitchFamily="34" charset="-120"/>
              </a:rPr>
              <a:t>Acceso a Datos — Tema 1: Fundamentos de Spring Boot</a:t>
            </a:r>
            <a:endParaRPr lang="en-US" sz="1100" dirty="0"/>
          </a:p>
        </p:txBody>
      </p:sp>
      <p:sp>
        <p:nvSpPr>
          <p:cNvPr id="5" name="Text 3"/>
          <p:cNvSpPr/>
          <p:nvPr/>
        </p:nvSpPr>
        <p:spPr>
          <a:xfrm>
            <a:off x="548640" y="1554480"/>
            <a:ext cx="11091672" cy="1097280"/>
          </a:xfrm>
          <a:prstGeom prst="rect">
            <a:avLst/>
          </a:prstGeom>
          <a:noFill/>
          <a:ln/>
        </p:spPr>
        <p:txBody>
          <a:bodyPr wrap="square" rtlCol="0" anchor="t"/>
          <a:lstStyle/>
          <a:p>
            <a:pPr marL="0" indent="0">
              <a:buNone/>
            </a:pPr>
            <a:r>
              <a:rPr lang="en-US" sz="2100" dirty="0">
                <a:solidFill>
                  <a:srgbClr val="212121"/>
                </a:solidFill>
                <a:latin typeface="Arial" pitchFamily="34" charset="0"/>
                <a:ea typeface="Arial" pitchFamily="34" charset="-122"/>
                <a:cs typeface="Arial" pitchFamily="34" charset="-120"/>
              </a:rPr>
              <a:t>El controller necesita un service, y el service necesita un repository. ¿Quién crea esos objetos y los encaja unos dentro de otros — tu código, o el framework? La forma más directa es crearlos tú mismo:</a:t>
            </a:r>
            <a:endParaRPr lang="en-US" sz="2100" dirty="0"/>
          </a:p>
        </p:txBody>
      </p:sp>
      <p:sp>
        <p:nvSpPr>
          <p:cNvPr id="6" name="Shape 4"/>
          <p:cNvSpPr/>
          <p:nvPr/>
        </p:nvSpPr>
        <p:spPr>
          <a:xfrm>
            <a:off x="548640" y="2926080"/>
            <a:ext cx="11091672" cy="1188720"/>
          </a:xfrm>
          <a:prstGeom prst="rect">
            <a:avLst/>
          </a:prstGeom>
          <a:solidFill>
            <a:srgbClr val="ECEFF1"/>
          </a:solidFill>
          <a:ln w="12700">
            <a:solidFill>
              <a:srgbClr val="EEEEEE"/>
            </a:solidFill>
            <a:prstDash val="solid"/>
          </a:ln>
        </p:spPr>
        <p:txBody>
          <a:bodyPr/>
          <a:lstStyle/>
          <a:p>
            <a:endParaRPr lang="es-ES"/>
          </a:p>
        </p:txBody>
      </p:sp>
      <p:sp>
        <p:nvSpPr>
          <p:cNvPr id="7" name="Shape 5"/>
          <p:cNvSpPr/>
          <p:nvPr/>
        </p:nvSpPr>
        <p:spPr>
          <a:xfrm>
            <a:off x="548640" y="2926080"/>
            <a:ext cx="73152" cy="1188720"/>
          </a:xfrm>
          <a:prstGeom prst="rect">
            <a:avLst/>
          </a:prstGeom>
          <a:solidFill>
            <a:srgbClr val="E64A19"/>
          </a:solidFill>
          <a:ln w="12700">
            <a:solidFill>
              <a:srgbClr val="E64A19"/>
            </a:solidFill>
            <a:prstDash val="solid"/>
          </a:ln>
        </p:spPr>
        <p:txBody>
          <a:bodyPr/>
          <a:lstStyle/>
          <a:p>
            <a:endParaRPr lang="es-ES"/>
          </a:p>
        </p:txBody>
      </p:sp>
      <p:sp>
        <p:nvSpPr>
          <p:cNvPr id="8" name="Text 6"/>
          <p:cNvSpPr/>
          <p:nvPr/>
        </p:nvSpPr>
        <p:spPr>
          <a:xfrm>
            <a:off x="822960" y="3035808"/>
            <a:ext cx="10588752" cy="969264"/>
          </a:xfrm>
          <a:prstGeom prst="rect">
            <a:avLst/>
          </a:prstGeom>
          <a:noFill/>
          <a:ln/>
        </p:spPr>
        <p:txBody>
          <a:bodyPr wrap="square" rtlCol="0" anchor="t"/>
          <a:lstStyle/>
          <a:p>
            <a:pPr marL="0" indent="0">
              <a:buNone/>
            </a:pPr>
            <a:r>
              <a:rPr lang="en-US" sz="1900" dirty="0">
                <a:solidFill>
                  <a:srgbClr val="263238"/>
                </a:solidFill>
                <a:latin typeface="Courier New" pitchFamily="34" charset="0"/>
                <a:ea typeface="Courier New" pitchFamily="34" charset="-122"/>
                <a:cs typeface="Courier New" pitchFamily="34" charset="-120"/>
              </a:rPr>
              <a:t>public class LibroService {</a:t>
            </a:r>
            <a:endParaRPr lang="en-US" sz="1900" dirty="0"/>
          </a:p>
          <a:p>
            <a:pPr marL="0" indent="0">
              <a:buNone/>
            </a:pPr>
            <a:r>
              <a:rPr lang="en-US" sz="1900" dirty="0">
                <a:solidFill>
                  <a:srgbClr val="263238"/>
                </a:solidFill>
                <a:latin typeface="Courier New" pitchFamily="34" charset="0"/>
                <a:ea typeface="Courier New" pitchFamily="34" charset="-122"/>
                <a:cs typeface="Courier New" pitchFamily="34" charset="-120"/>
              </a:rPr>
              <a:t>    private LibroRepository repositorio = new LibroRepository();</a:t>
            </a:r>
            <a:endParaRPr lang="en-US" sz="1900" dirty="0"/>
          </a:p>
          <a:p>
            <a:pPr marL="0" indent="0">
              <a:buNone/>
            </a:pPr>
            <a:r>
              <a:rPr lang="en-US" sz="1900" dirty="0">
                <a:solidFill>
                  <a:srgbClr val="263238"/>
                </a:solidFill>
                <a:latin typeface="Courier New" pitchFamily="34" charset="0"/>
                <a:ea typeface="Courier New" pitchFamily="34" charset="-122"/>
                <a:cs typeface="Courier New" pitchFamily="34" charset="-120"/>
              </a:rPr>
              <a:t>}</a:t>
            </a:r>
            <a:endParaRPr lang="en-US" sz="1900" dirty="0"/>
          </a:p>
        </p:txBody>
      </p:sp>
      <p:sp>
        <p:nvSpPr>
          <p:cNvPr id="9" name="Shape 7"/>
          <p:cNvSpPr/>
          <p:nvPr/>
        </p:nvSpPr>
        <p:spPr>
          <a:xfrm>
            <a:off x="548640" y="4434840"/>
            <a:ext cx="11091672" cy="1280160"/>
          </a:xfrm>
          <a:prstGeom prst="roundRect">
            <a:avLst/>
          </a:prstGeom>
          <a:solidFill>
            <a:srgbClr val="FBE9E7"/>
          </a:solidFill>
          <a:ln w="19050">
            <a:solidFill>
              <a:srgbClr val="E64A19"/>
            </a:solidFill>
            <a:prstDash val="solid"/>
          </a:ln>
        </p:spPr>
        <p:txBody>
          <a:bodyPr/>
          <a:lstStyle/>
          <a:p>
            <a:endParaRPr lang="es-ES"/>
          </a:p>
        </p:txBody>
      </p:sp>
      <p:sp>
        <p:nvSpPr>
          <p:cNvPr id="10" name="Text 8"/>
          <p:cNvSpPr/>
          <p:nvPr/>
        </p:nvSpPr>
        <p:spPr>
          <a:xfrm>
            <a:off x="822960" y="4526280"/>
            <a:ext cx="10543032" cy="1097280"/>
          </a:xfrm>
          <a:prstGeom prst="rect">
            <a:avLst/>
          </a:prstGeom>
          <a:noFill/>
          <a:ln/>
        </p:spPr>
        <p:txBody>
          <a:bodyPr wrap="square" rtlCol="0" anchor="ctr"/>
          <a:lstStyle/>
          <a:p>
            <a:pPr marL="0" indent="0">
              <a:buNone/>
            </a:pPr>
            <a:r>
              <a:rPr lang="en-US" sz="1900" dirty="0">
                <a:solidFill>
                  <a:srgbClr val="212121"/>
                </a:solidFill>
                <a:latin typeface="Arial" pitchFamily="34" charset="0"/>
                <a:ea typeface="Arial" pitchFamily="34" charset="-122"/>
                <a:cs typeface="Arial" pitchFamily="34" charset="-120"/>
              </a:rPr>
              <a:t>Problema: el service queda unido a esa implementación concreta. Si durante un test quieres sustituir el repositorio real por uno simulado, no puedes — el new LibroRepository() está escrito dentro de la propia clase.</a:t>
            </a:r>
            <a:endParaRPr lang="en-US" sz="1900" dirty="0"/>
          </a:p>
        </p:txBody>
      </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name="Slide 11">
    <p:spTree>
      <p:nvGrpSpPr>
        <p:cNvPr id="1" name=""/>
        <p:cNvGrpSpPr/>
        <p:nvPr/>
      </p:nvGrpSpPr>
      <p:grpSpPr>
        <a:xfrm>
          <a:off x="0" y="0"/>
          <a:ext cx="0" cy="0"/>
          <a:chOff x="0" y="0"/>
          <a:chExt cx="0" cy="0"/>
        </a:xfrm>
      </p:grpSpPr>
      <p:sp>
        <p:nvSpPr>
          <p:cNvPr id="2" name="Shape 0"/>
          <p:cNvSpPr/>
          <p:nvPr/>
        </p:nvSpPr>
        <p:spPr>
          <a:xfrm>
            <a:off x="0" y="0"/>
            <a:ext cx="12188952" cy="777240"/>
          </a:xfrm>
          <a:prstGeom prst="rect">
            <a:avLst/>
          </a:prstGeom>
          <a:solidFill>
            <a:srgbClr val="7F0000"/>
          </a:solidFill>
          <a:ln w="12700">
            <a:solidFill>
              <a:srgbClr val="7F0000"/>
            </a:solidFill>
            <a:prstDash val="solid"/>
          </a:ln>
        </p:spPr>
        <p:txBody>
          <a:bodyPr/>
          <a:lstStyle/>
          <a:p>
            <a:endParaRPr lang="es-ES"/>
          </a:p>
        </p:txBody>
      </p:sp>
      <p:sp>
        <p:nvSpPr>
          <p:cNvPr id="3" name="Text 1"/>
          <p:cNvSpPr/>
          <p:nvPr/>
        </p:nvSpPr>
        <p:spPr>
          <a:xfrm>
            <a:off x="365760" y="0"/>
            <a:ext cx="11457432" cy="777240"/>
          </a:xfrm>
          <a:prstGeom prst="rect">
            <a:avLst/>
          </a:prstGeom>
          <a:noFill/>
          <a:ln/>
        </p:spPr>
        <p:txBody>
          <a:bodyPr wrap="square" rtlCol="0" anchor="ctr"/>
          <a:lstStyle/>
          <a:p>
            <a:pPr marL="0" indent="0">
              <a:buNone/>
            </a:pPr>
            <a:r>
              <a:rPr lang="en-US" sz="2600" b="1" dirty="0">
                <a:solidFill>
                  <a:srgbClr val="FFFFFF"/>
                </a:solidFill>
                <a:latin typeface="Arial" pitchFamily="34" charset="0"/>
                <a:ea typeface="Arial" pitchFamily="34" charset="-122"/>
                <a:cs typeface="Arial" pitchFamily="34" charset="-120"/>
              </a:rPr>
              <a:t>Inyección de dependencias (cont.)</a:t>
            </a:r>
            <a:endParaRPr lang="en-US" sz="2600" dirty="0"/>
          </a:p>
        </p:txBody>
      </p:sp>
      <p:sp>
        <p:nvSpPr>
          <p:cNvPr id="4" name="Text 2"/>
          <p:cNvSpPr/>
          <p:nvPr/>
        </p:nvSpPr>
        <p:spPr>
          <a:xfrm>
            <a:off x="548640" y="6473952"/>
            <a:ext cx="11091672" cy="292608"/>
          </a:xfrm>
          <a:prstGeom prst="rect">
            <a:avLst/>
          </a:prstGeom>
          <a:noFill/>
          <a:ln/>
        </p:spPr>
        <p:txBody>
          <a:bodyPr wrap="square" rtlCol="0" anchor="ctr"/>
          <a:lstStyle/>
          <a:p>
            <a:pPr marL="0" indent="0" algn="r">
              <a:buNone/>
            </a:pPr>
            <a:r>
              <a:rPr lang="en-US" sz="1100" dirty="0">
                <a:solidFill>
                  <a:srgbClr val="757575"/>
                </a:solidFill>
                <a:latin typeface="Arial" pitchFamily="34" charset="0"/>
                <a:ea typeface="Arial" pitchFamily="34" charset="-122"/>
                <a:cs typeface="Arial" pitchFamily="34" charset="-120"/>
              </a:rPr>
              <a:t>Acceso a Datos — Tema 1: Fundamentos de Spring Boot</a:t>
            </a:r>
            <a:endParaRPr lang="en-US" sz="1100" dirty="0"/>
          </a:p>
        </p:txBody>
      </p:sp>
      <p:sp>
        <p:nvSpPr>
          <p:cNvPr id="5" name="Text 3"/>
          <p:cNvSpPr/>
          <p:nvPr/>
        </p:nvSpPr>
        <p:spPr>
          <a:xfrm>
            <a:off x="548640" y="1325880"/>
            <a:ext cx="11091672" cy="868680"/>
          </a:xfrm>
          <a:prstGeom prst="rect">
            <a:avLst/>
          </a:prstGeom>
          <a:noFill/>
          <a:ln/>
        </p:spPr>
        <p:txBody>
          <a:bodyPr wrap="square" rtlCol="0" anchor="t"/>
          <a:lstStyle/>
          <a:p>
            <a:pPr marL="0" indent="0">
              <a:buNone/>
            </a:pPr>
            <a:r>
              <a:rPr lang="en-US" sz="2100" dirty="0">
                <a:solidFill>
                  <a:srgbClr val="212121"/>
                </a:solidFill>
                <a:latin typeface="Arial" pitchFamily="34" charset="0"/>
                <a:ea typeface="Arial" pitchFamily="34" charset="-122"/>
                <a:cs typeface="Arial" pitchFamily="34" charset="-120"/>
              </a:rPr>
              <a:t>Con inyección de dependencias (DI), el service deja de construir el objeto que necesita: lo declara como parámetro del constructor.</a:t>
            </a:r>
            <a:endParaRPr lang="en-US" sz="2100" dirty="0"/>
          </a:p>
        </p:txBody>
      </p:sp>
      <p:sp>
        <p:nvSpPr>
          <p:cNvPr id="6" name="Shape 4"/>
          <p:cNvSpPr/>
          <p:nvPr/>
        </p:nvSpPr>
        <p:spPr>
          <a:xfrm>
            <a:off x="548640" y="2468880"/>
            <a:ext cx="11091672" cy="2468880"/>
          </a:xfrm>
          <a:prstGeom prst="rect">
            <a:avLst/>
          </a:prstGeom>
          <a:solidFill>
            <a:srgbClr val="ECEFF1"/>
          </a:solidFill>
          <a:ln w="12700">
            <a:solidFill>
              <a:srgbClr val="EEEEEE"/>
            </a:solidFill>
            <a:prstDash val="solid"/>
          </a:ln>
        </p:spPr>
        <p:txBody>
          <a:bodyPr/>
          <a:lstStyle/>
          <a:p>
            <a:endParaRPr lang="es-ES"/>
          </a:p>
        </p:txBody>
      </p:sp>
      <p:sp>
        <p:nvSpPr>
          <p:cNvPr id="7" name="Shape 5"/>
          <p:cNvSpPr/>
          <p:nvPr/>
        </p:nvSpPr>
        <p:spPr>
          <a:xfrm>
            <a:off x="548640" y="2468880"/>
            <a:ext cx="73152" cy="2468880"/>
          </a:xfrm>
          <a:prstGeom prst="rect">
            <a:avLst/>
          </a:prstGeom>
          <a:solidFill>
            <a:srgbClr val="E64A19"/>
          </a:solidFill>
          <a:ln w="12700">
            <a:solidFill>
              <a:srgbClr val="E64A19"/>
            </a:solidFill>
            <a:prstDash val="solid"/>
          </a:ln>
        </p:spPr>
        <p:txBody>
          <a:bodyPr/>
          <a:lstStyle/>
          <a:p>
            <a:endParaRPr lang="es-ES"/>
          </a:p>
        </p:txBody>
      </p:sp>
      <p:sp>
        <p:nvSpPr>
          <p:cNvPr id="8" name="Text 6"/>
          <p:cNvSpPr/>
          <p:nvPr/>
        </p:nvSpPr>
        <p:spPr>
          <a:xfrm>
            <a:off x="822960" y="2578608"/>
            <a:ext cx="10588752" cy="2249424"/>
          </a:xfrm>
          <a:prstGeom prst="rect">
            <a:avLst/>
          </a:prstGeom>
          <a:noFill/>
          <a:ln/>
        </p:spPr>
        <p:txBody>
          <a:bodyPr wrap="square" rtlCol="0" anchor="t"/>
          <a:lstStyle/>
          <a:p>
            <a:pPr marL="0" indent="0">
              <a:buNone/>
            </a:pPr>
            <a:r>
              <a:rPr lang="en-US" sz="1800" dirty="0">
                <a:solidFill>
                  <a:srgbClr val="263238"/>
                </a:solidFill>
                <a:latin typeface="Courier New" pitchFamily="34" charset="0"/>
                <a:ea typeface="Courier New" pitchFamily="34" charset="-122"/>
                <a:cs typeface="Courier New" pitchFamily="34" charset="-120"/>
              </a:rPr>
              <a:t>public class LibroService {</a:t>
            </a:r>
            <a:endParaRPr lang="en-US" sz="1800" dirty="0"/>
          </a:p>
          <a:p>
            <a:pPr marL="0" indent="0">
              <a:buNone/>
            </a:pPr>
            <a:endParaRPr lang="en-US" sz="1800" dirty="0"/>
          </a:p>
          <a:p>
            <a:pPr marL="0" indent="0">
              <a:buNone/>
            </a:pPr>
            <a:r>
              <a:rPr lang="en-US" sz="1800" dirty="0">
                <a:solidFill>
                  <a:srgbClr val="263238"/>
                </a:solidFill>
                <a:latin typeface="Courier New" pitchFamily="34" charset="0"/>
                <a:ea typeface="Courier New" pitchFamily="34" charset="-122"/>
                <a:cs typeface="Courier New" pitchFamily="34" charset="-120"/>
              </a:rPr>
              <a:t>    private final LibroRepository repositorio;</a:t>
            </a:r>
            <a:endParaRPr lang="en-US" sz="1800" dirty="0"/>
          </a:p>
          <a:p>
            <a:pPr marL="0" indent="0">
              <a:buNone/>
            </a:pPr>
            <a:endParaRPr lang="en-US" sz="1800" dirty="0"/>
          </a:p>
          <a:p>
            <a:pPr marL="0" indent="0">
              <a:buNone/>
            </a:pPr>
            <a:r>
              <a:rPr lang="en-US" sz="1800" dirty="0">
                <a:solidFill>
                  <a:srgbClr val="263238"/>
                </a:solidFill>
                <a:latin typeface="Courier New" pitchFamily="34" charset="0"/>
                <a:ea typeface="Courier New" pitchFamily="34" charset="-122"/>
                <a:cs typeface="Courier New" pitchFamily="34" charset="-120"/>
              </a:rPr>
              <a:t>    public LibroService(LibroRepository repositorio) {</a:t>
            </a:r>
            <a:endParaRPr lang="en-US" sz="1800" dirty="0"/>
          </a:p>
          <a:p>
            <a:pPr marL="0" indent="0">
              <a:buNone/>
            </a:pPr>
            <a:r>
              <a:rPr lang="en-US" sz="1800" dirty="0">
                <a:solidFill>
                  <a:srgbClr val="263238"/>
                </a:solidFill>
                <a:latin typeface="Courier New" pitchFamily="34" charset="0"/>
                <a:ea typeface="Courier New" pitchFamily="34" charset="-122"/>
                <a:cs typeface="Courier New" pitchFamily="34" charset="-120"/>
              </a:rPr>
              <a:t>        this.repositorio = repositorio;</a:t>
            </a:r>
            <a:endParaRPr lang="en-US" sz="1800" dirty="0"/>
          </a:p>
          <a:p>
            <a:pPr marL="0" indent="0">
              <a:buNone/>
            </a:pPr>
            <a:r>
              <a:rPr lang="en-US" sz="1800" dirty="0">
                <a:solidFill>
                  <a:srgbClr val="263238"/>
                </a:solidFill>
                <a:latin typeface="Courier New" pitchFamily="34" charset="0"/>
                <a:ea typeface="Courier New" pitchFamily="34" charset="-122"/>
                <a:cs typeface="Courier New" pitchFamily="34" charset="-120"/>
              </a:rPr>
              <a:t>    }</a:t>
            </a:r>
            <a:endParaRPr lang="en-US" sz="1800" dirty="0"/>
          </a:p>
          <a:p>
            <a:pPr marL="0" indent="0">
              <a:buNone/>
            </a:pPr>
            <a:r>
              <a:rPr lang="en-US" sz="1800" dirty="0">
                <a:solidFill>
                  <a:srgbClr val="263238"/>
                </a:solidFill>
                <a:latin typeface="Courier New" pitchFamily="34" charset="0"/>
                <a:ea typeface="Courier New" pitchFamily="34" charset="-122"/>
                <a:cs typeface="Courier New" pitchFamily="34" charset="-120"/>
              </a:rPr>
              <a:t>}</a:t>
            </a:r>
            <a:endParaRPr lang="en-US" sz="1800" dirty="0"/>
          </a:p>
        </p:txBody>
      </p:sp>
      <p:sp>
        <p:nvSpPr>
          <p:cNvPr id="9" name="Text 7"/>
          <p:cNvSpPr/>
          <p:nvPr/>
        </p:nvSpPr>
        <p:spPr>
          <a:xfrm>
            <a:off x="548640" y="5257800"/>
            <a:ext cx="11091672" cy="822960"/>
          </a:xfrm>
          <a:prstGeom prst="rect">
            <a:avLst/>
          </a:prstGeom>
          <a:noFill/>
          <a:ln/>
        </p:spPr>
        <p:txBody>
          <a:bodyPr wrap="square" rtlCol="0" anchor="t"/>
          <a:lstStyle/>
          <a:p>
            <a:pPr marL="0" indent="0">
              <a:buNone/>
            </a:pPr>
            <a:r>
              <a:rPr lang="en-US" sz="1900" dirty="0">
                <a:solidFill>
                  <a:srgbClr val="757575"/>
                </a:solidFill>
                <a:latin typeface="Arial" pitchFamily="34" charset="0"/>
                <a:ea typeface="Arial" pitchFamily="34" charset="-122"/>
                <a:cs typeface="Arial" pitchFamily="34" charset="-120"/>
              </a:rPr>
              <a:t>LibroService sigue usando el repositorio igual, pero ya no decide cómo se crea ni qué implementación concreta recibe. Solo declara: «para funcionar necesito un LibroRepository».</a:t>
            </a:r>
            <a:endParaRPr lang="en-US" sz="1900" dirty="0"/>
          </a:p>
        </p:txBody>
      </p:sp>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name="Slide 12">
    <p:spTree>
      <p:nvGrpSpPr>
        <p:cNvPr id="1" name=""/>
        <p:cNvGrpSpPr/>
        <p:nvPr/>
      </p:nvGrpSpPr>
      <p:grpSpPr>
        <a:xfrm>
          <a:off x="0" y="0"/>
          <a:ext cx="0" cy="0"/>
          <a:chOff x="0" y="0"/>
          <a:chExt cx="0" cy="0"/>
        </a:xfrm>
      </p:grpSpPr>
      <p:sp>
        <p:nvSpPr>
          <p:cNvPr id="2" name="Shape 0"/>
          <p:cNvSpPr/>
          <p:nvPr/>
        </p:nvSpPr>
        <p:spPr>
          <a:xfrm>
            <a:off x="0" y="0"/>
            <a:ext cx="12188952" cy="777240"/>
          </a:xfrm>
          <a:prstGeom prst="rect">
            <a:avLst/>
          </a:prstGeom>
          <a:solidFill>
            <a:srgbClr val="7F0000"/>
          </a:solidFill>
          <a:ln w="12700">
            <a:solidFill>
              <a:srgbClr val="7F0000"/>
            </a:solidFill>
            <a:prstDash val="solid"/>
          </a:ln>
        </p:spPr>
        <p:txBody>
          <a:bodyPr/>
          <a:lstStyle/>
          <a:p>
            <a:endParaRPr lang="es-ES"/>
          </a:p>
        </p:txBody>
      </p:sp>
      <p:sp>
        <p:nvSpPr>
          <p:cNvPr id="3" name="Text 1"/>
          <p:cNvSpPr/>
          <p:nvPr/>
        </p:nvSpPr>
        <p:spPr>
          <a:xfrm>
            <a:off x="365760" y="0"/>
            <a:ext cx="11457432" cy="777240"/>
          </a:xfrm>
          <a:prstGeom prst="rect">
            <a:avLst/>
          </a:prstGeom>
          <a:noFill/>
          <a:ln/>
        </p:spPr>
        <p:txBody>
          <a:bodyPr wrap="square" rtlCol="0" anchor="ctr"/>
          <a:lstStyle/>
          <a:p>
            <a:pPr marL="0" indent="0">
              <a:buNone/>
            </a:pPr>
            <a:r>
              <a:rPr lang="en-US" sz="2600" b="1" dirty="0">
                <a:solidFill>
                  <a:srgbClr val="FFFFFF"/>
                </a:solidFill>
                <a:latin typeface="Arial" pitchFamily="34" charset="0"/>
                <a:ea typeface="Arial" pitchFamily="34" charset="-122"/>
                <a:cs typeface="Arial" pitchFamily="34" charset="-120"/>
              </a:rPr>
              <a:t>Inyección de dependencias (cont.)</a:t>
            </a:r>
            <a:endParaRPr lang="en-US" sz="2600" dirty="0"/>
          </a:p>
        </p:txBody>
      </p:sp>
      <p:sp>
        <p:nvSpPr>
          <p:cNvPr id="4" name="Text 2"/>
          <p:cNvSpPr/>
          <p:nvPr/>
        </p:nvSpPr>
        <p:spPr>
          <a:xfrm>
            <a:off x="548640" y="6473952"/>
            <a:ext cx="11091672" cy="292608"/>
          </a:xfrm>
          <a:prstGeom prst="rect">
            <a:avLst/>
          </a:prstGeom>
          <a:noFill/>
          <a:ln/>
        </p:spPr>
        <p:txBody>
          <a:bodyPr wrap="square" rtlCol="0" anchor="ctr"/>
          <a:lstStyle/>
          <a:p>
            <a:pPr marL="0" indent="0" algn="r">
              <a:buNone/>
            </a:pPr>
            <a:r>
              <a:rPr lang="en-US" sz="1100" dirty="0">
                <a:solidFill>
                  <a:srgbClr val="757575"/>
                </a:solidFill>
                <a:latin typeface="Arial" pitchFamily="34" charset="0"/>
                <a:ea typeface="Arial" pitchFamily="34" charset="-122"/>
                <a:cs typeface="Arial" pitchFamily="34" charset="-120"/>
              </a:rPr>
              <a:t>Acceso a Datos — Tema 1: Fundamentos de Spring Boot</a:t>
            </a:r>
            <a:endParaRPr lang="en-US" sz="1100" dirty="0"/>
          </a:p>
        </p:txBody>
      </p:sp>
      <p:sp>
        <p:nvSpPr>
          <p:cNvPr id="5" name="Text 3"/>
          <p:cNvSpPr/>
          <p:nvPr/>
        </p:nvSpPr>
        <p:spPr>
          <a:xfrm>
            <a:off x="548640" y="1188720"/>
            <a:ext cx="11091672" cy="822960"/>
          </a:xfrm>
          <a:prstGeom prst="rect">
            <a:avLst/>
          </a:prstGeom>
          <a:noFill/>
          <a:ln/>
        </p:spPr>
        <p:txBody>
          <a:bodyPr wrap="square" rtlCol="0" anchor="t"/>
          <a:lstStyle/>
          <a:p>
            <a:pPr marL="0" indent="0">
              <a:buNone/>
            </a:pPr>
            <a:r>
              <a:rPr lang="en-US" sz="1900" dirty="0">
                <a:solidFill>
                  <a:srgbClr val="212121"/>
                </a:solidFill>
                <a:latin typeface="Arial" pitchFamily="34" charset="0"/>
                <a:ea typeface="Arial" pitchFamily="34" charset="-122"/>
                <a:cs typeface="Arial" pitchFamily="34" charset="-120"/>
              </a:rPr>
              <a:t>Esto permite cambiar la dependencia sin modificar el código del service: en la aplicación normal recibe el repositorio real; durante un test, uno simulado.</a:t>
            </a:r>
            <a:endParaRPr lang="en-US" sz="1900" dirty="0"/>
          </a:p>
        </p:txBody>
      </p:sp>
      <p:pic>
        <p:nvPicPr>
          <p:cNvPr id="6" name="Image 0" descr="C:/Users/Aitor/docxgen/img/spring-boot-fundamentos-di-real-test.png"/>
          <p:cNvPicPr>
            <a:picLocks noChangeAspect="1"/>
          </p:cNvPicPr>
          <p:nvPr/>
        </p:nvPicPr>
        <p:blipFill>
          <a:blip r:embed="rId3"/>
          <a:stretch>
            <a:fillRect/>
          </a:stretch>
        </p:blipFill>
        <p:spPr>
          <a:xfrm>
            <a:off x="2463152" y="2331720"/>
            <a:ext cx="7262648" cy="1828800"/>
          </a:xfrm>
          <a:prstGeom prst="rect">
            <a:avLst/>
          </a:prstGeom>
        </p:spPr>
      </p:pic>
      <p:sp>
        <p:nvSpPr>
          <p:cNvPr id="7" name="Shape 4"/>
          <p:cNvSpPr/>
          <p:nvPr/>
        </p:nvSpPr>
        <p:spPr>
          <a:xfrm>
            <a:off x="548640" y="4480560"/>
            <a:ext cx="11091672" cy="914400"/>
          </a:xfrm>
          <a:prstGeom prst="roundRect">
            <a:avLst/>
          </a:prstGeom>
          <a:solidFill>
            <a:srgbClr val="FBE9E7"/>
          </a:solidFill>
          <a:ln w="19050">
            <a:solidFill>
              <a:srgbClr val="E64A19"/>
            </a:solidFill>
            <a:prstDash val="solid"/>
          </a:ln>
        </p:spPr>
        <p:txBody>
          <a:bodyPr/>
          <a:lstStyle/>
          <a:p>
            <a:endParaRPr lang="es-ES"/>
          </a:p>
        </p:txBody>
      </p:sp>
      <p:sp>
        <p:nvSpPr>
          <p:cNvPr id="8" name="Text 5"/>
          <p:cNvSpPr/>
          <p:nvPr/>
        </p:nvSpPr>
        <p:spPr>
          <a:xfrm>
            <a:off x="822960" y="4572000"/>
            <a:ext cx="10543032" cy="731520"/>
          </a:xfrm>
          <a:prstGeom prst="rect">
            <a:avLst/>
          </a:prstGeom>
          <a:noFill/>
          <a:ln/>
        </p:spPr>
        <p:txBody>
          <a:bodyPr wrap="square" rtlCol="0" anchor="ctr"/>
          <a:lstStyle/>
          <a:p>
            <a:pPr marL="0" indent="0">
              <a:buNone/>
            </a:pPr>
            <a:r>
              <a:rPr lang="en-US" sz="1800" dirty="0">
                <a:solidFill>
                  <a:srgbClr val="212121"/>
                </a:solidFill>
                <a:latin typeface="Arial" pitchFamily="34" charset="0"/>
                <a:ea typeface="Arial" pitchFamily="34" charset="-122"/>
                <a:cs typeface="Arial" pitchFamily="34" charset="-120"/>
              </a:rPr>
              <a:t>La inyección de dependencias consiste en que una clase reciba desde fuera los objetos que necesita, en vez de construirlos ella misma. Es una aplicación concreta de la inversión de control.</a:t>
            </a:r>
            <a:endParaRPr lang="en-US" sz="1800" dirty="0"/>
          </a:p>
        </p:txBody>
      </p:sp>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name="Slide 13">
    <p:spTree>
      <p:nvGrpSpPr>
        <p:cNvPr id="1" name=""/>
        <p:cNvGrpSpPr/>
        <p:nvPr/>
      </p:nvGrpSpPr>
      <p:grpSpPr>
        <a:xfrm>
          <a:off x="0" y="0"/>
          <a:ext cx="0" cy="0"/>
          <a:chOff x="0" y="0"/>
          <a:chExt cx="0" cy="0"/>
        </a:xfrm>
      </p:grpSpPr>
      <p:sp>
        <p:nvSpPr>
          <p:cNvPr id="2" name="Shape 0"/>
          <p:cNvSpPr/>
          <p:nvPr/>
        </p:nvSpPr>
        <p:spPr>
          <a:xfrm>
            <a:off x="0" y="0"/>
            <a:ext cx="12188952" cy="777240"/>
          </a:xfrm>
          <a:prstGeom prst="rect">
            <a:avLst/>
          </a:prstGeom>
          <a:solidFill>
            <a:srgbClr val="7F0000"/>
          </a:solidFill>
          <a:ln w="12700">
            <a:solidFill>
              <a:srgbClr val="7F0000"/>
            </a:solidFill>
            <a:prstDash val="solid"/>
          </a:ln>
        </p:spPr>
        <p:txBody>
          <a:bodyPr/>
          <a:lstStyle/>
          <a:p>
            <a:endParaRPr lang="es-ES"/>
          </a:p>
        </p:txBody>
      </p:sp>
      <p:sp>
        <p:nvSpPr>
          <p:cNvPr id="3" name="Text 1"/>
          <p:cNvSpPr/>
          <p:nvPr/>
        </p:nvSpPr>
        <p:spPr>
          <a:xfrm>
            <a:off x="365760" y="0"/>
            <a:ext cx="11457432" cy="777240"/>
          </a:xfrm>
          <a:prstGeom prst="rect">
            <a:avLst/>
          </a:prstGeom>
          <a:noFill/>
          <a:ln/>
        </p:spPr>
        <p:txBody>
          <a:bodyPr wrap="square" rtlCol="0" anchor="ctr"/>
          <a:lstStyle/>
          <a:p>
            <a:pPr marL="0" indent="0">
              <a:buNone/>
            </a:pPr>
            <a:r>
              <a:rPr lang="en-US" sz="2600" b="1" dirty="0">
                <a:solidFill>
                  <a:srgbClr val="FFFFFF"/>
                </a:solidFill>
                <a:latin typeface="Arial" pitchFamily="34" charset="0"/>
                <a:ea typeface="Arial" pitchFamily="34" charset="-122"/>
                <a:cs typeface="Arial" pitchFamily="34" charset="-120"/>
              </a:rPr>
              <a:t>Inyección de dependencias (cont.)</a:t>
            </a:r>
            <a:endParaRPr lang="en-US" sz="2600" dirty="0"/>
          </a:p>
        </p:txBody>
      </p:sp>
      <p:sp>
        <p:nvSpPr>
          <p:cNvPr id="4" name="Text 2"/>
          <p:cNvSpPr/>
          <p:nvPr/>
        </p:nvSpPr>
        <p:spPr>
          <a:xfrm>
            <a:off x="548640" y="6473952"/>
            <a:ext cx="11091672" cy="292608"/>
          </a:xfrm>
          <a:prstGeom prst="rect">
            <a:avLst/>
          </a:prstGeom>
          <a:noFill/>
          <a:ln/>
        </p:spPr>
        <p:txBody>
          <a:bodyPr wrap="square" rtlCol="0" anchor="ctr"/>
          <a:lstStyle/>
          <a:p>
            <a:pPr marL="0" indent="0" algn="r">
              <a:buNone/>
            </a:pPr>
            <a:r>
              <a:rPr lang="en-US" sz="1100" dirty="0">
                <a:solidFill>
                  <a:srgbClr val="757575"/>
                </a:solidFill>
                <a:latin typeface="Arial" pitchFamily="34" charset="0"/>
                <a:ea typeface="Arial" pitchFamily="34" charset="-122"/>
                <a:cs typeface="Arial" pitchFamily="34" charset="-120"/>
              </a:rPr>
              <a:t>Acceso a Datos — Tema 1: Fundamentos de Spring Boot</a:t>
            </a:r>
            <a:endParaRPr lang="en-US" sz="1100" dirty="0"/>
          </a:p>
        </p:txBody>
      </p:sp>
      <p:sp>
        <p:nvSpPr>
          <p:cNvPr id="5" name="Text 3"/>
          <p:cNvSpPr/>
          <p:nvPr/>
        </p:nvSpPr>
        <p:spPr>
          <a:xfrm>
            <a:off x="548640" y="1097280"/>
            <a:ext cx="11091672" cy="1325880"/>
          </a:xfrm>
          <a:prstGeom prst="rect">
            <a:avLst/>
          </a:prstGeom>
          <a:noFill/>
          <a:ln/>
        </p:spPr>
        <p:txBody>
          <a:bodyPr wrap="square" rtlCol="0" anchor="t"/>
          <a:lstStyle/>
          <a:p>
            <a:pPr marL="0" indent="0">
              <a:buNone/>
            </a:pPr>
            <a:r>
              <a:rPr lang="en-US" sz="1900" dirty="0">
                <a:solidFill>
                  <a:srgbClr val="212121"/>
                </a:solidFill>
                <a:latin typeface="Arial" pitchFamily="34" charset="0"/>
                <a:ea typeface="Arial" pitchFamily="34" charset="-122"/>
                <a:cs typeface="Arial" pitchFamily="34" charset="-120"/>
              </a:rPr>
              <a:t>¿Quién construye el LibroRepository y decide dárselo al LibroService? La respuesta es Spring. Al arrancar, Spring crea y guarda en un contenedor interno — el contexto de la aplicación — una instancia de cada clase gestionada: esas instancias son los beans.</a:t>
            </a:r>
            <a:endParaRPr lang="en-US" sz="1900" dirty="0"/>
          </a:p>
        </p:txBody>
      </p:sp>
      <p:sp>
        <p:nvSpPr>
          <p:cNvPr id="6" name="Shape 4"/>
          <p:cNvSpPr/>
          <p:nvPr/>
        </p:nvSpPr>
        <p:spPr>
          <a:xfrm>
            <a:off x="548640" y="2315862"/>
            <a:ext cx="11091672" cy="1051560"/>
          </a:xfrm>
          <a:prstGeom prst="roundRect">
            <a:avLst/>
          </a:prstGeom>
          <a:solidFill>
            <a:srgbClr val="FBE9E7"/>
          </a:solidFill>
          <a:ln w="19050">
            <a:solidFill>
              <a:srgbClr val="E64A19"/>
            </a:solidFill>
            <a:prstDash val="solid"/>
          </a:ln>
        </p:spPr>
        <p:txBody>
          <a:bodyPr/>
          <a:lstStyle/>
          <a:p>
            <a:endParaRPr lang="es-ES"/>
          </a:p>
        </p:txBody>
      </p:sp>
      <p:sp>
        <p:nvSpPr>
          <p:cNvPr id="7" name="Text 5"/>
          <p:cNvSpPr/>
          <p:nvPr/>
        </p:nvSpPr>
        <p:spPr>
          <a:xfrm>
            <a:off x="822960" y="2407302"/>
            <a:ext cx="10543032" cy="868680"/>
          </a:xfrm>
          <a:prstGeom prst="rect">
            <a:avLst/>
          </a:prstGeom>
          <a:noFill/>
          <a:ln/>
        </p:spPr>
        <p:txBody>
          <a:bodyPr wrap="square" rtlCol="0" anchor="ctr"/>
          <a:lstStyle/>
          <a:p>
            <a:pPr marL="0" indent="0">
              <a:buNone/>
            </a:pPr>
            <a:r>
              <a:rPr lang="en-US" sz="1800" dirty="0">
                <a:solidFill>
                  <a:srgbClr val="212121"/>
                </a:solidFill>
                <a:latin typeface="Arial" pitchFamily="34" charset="0"/>
                <a:ea typeface="Arial" pitchFamily="34" charset="-122"/>
                <a:cs typeface="Arial" pitchFamily="34" charset="-120"/>
              </a:rPr>
              <a:t>La misma analogía del restaurante, un paso más: no vas tú al almacén a buscar los ingredientes — te los traen a la mesa de trabajo, ya listos. LibroService no va a buscar su LibroRepository: se lo entregan.</a:t>
            </a:r>
            <a:endParaRPr lang="en-US" sz="1800" dirty="0"/>
          </a:p>
        </p:txBody>
      </p:sp>
      <p:sp>
        <p:nvSpPr>
          <p:cNvPr id="8" name="Text 6"/>
          <p:cNvSpPr/>
          <p:nvPr/>
        </p:nvSpPr>
        <p:spPr>
          <a:xfrm>
            <a:off x="548640" y="3662259"/>
            <a:ext cx="11091672" cy="274320"/>
          </a:xfrm>
          <a:prstGeom prst="rect">
            <a:avLst/>
          </a:prstGeom>
          <a:noFill/>
          <a:ln/>
        </p:spPr>
        <p:txBody>
          <a:bodyPr wrap="square" rtlCol="0" anchor="t"/>
          <a:lstStyle/>
          <a:p>
            <a:pPr marL="0" indent="0">
              <a:buNone/>
            </a:pPr>
            <a:r>
              <a:rPr lang="en-US" sz="1600" b="1" dirty="0">
                <a:solidFill>
                  <a:srgbClr val="757575"/>
                </a:solidFill>
                <a:latin typeface="Arial" pitchFamily="34" charset="0"/>
                <a:ea typeface="Arial" pitchFamily="34" charset="-122"/>
                <a:cs typeface="Arial" pitchFamily="34" charset="-120"/>
              </a:rPr>
              <a:t>Sin inyección de dependencias:</a:t>
            </a:r>
            <a:endParaRPr lang="en-US" sz="1600" dirty="0"/>
          </a:p>
        </p:txBody>
      </p:sp>
      <p:pic>
        <p:nvPicPr>
          <p:cNvPr id="9" name="Image 0" descr="C:/Users/Aitor/docxgen/img/spring-boot-fundamentos-sin-di.png"/>
          <p:cNvPicPr>
            <a:picLocks noChangeAspect="1"/>
          </p:cNvPicPr>
          <p:nvPr/>
        </p:nvPicPr>
        <p:blipFill>
          <a:blip r:embed="rId3"/>
          <a:stretch>
            <a:fillRect/>
          </a:stretch>
        </p:blipFill>
        <p:spPr>
          <a:xfrm>
            <a:off x="3085447" y="4102294"/>
            <a:ext cx="6018058" cy="777240"/>
          </a:xfrm>
          <a:prstGeom prst="rect">
            <a:avLst/>
          </a:prstGeom>
        </p:spPr>
      </p:pic>
      <p:sp>
        <p:nvSpPr>
          <p:cNvPr id="10" name="Text 7"/>
          <p:cNvSpPr/>
          <p:nvPr/>
        </p:nvSpPr>
        <p:spPr>
          <a:xfrm>
            <a:off x="548640" y="4950076"/>
            <a:ext cx="11091672" cy="274320"/>
          </a:xfrm>
          <a:prstGeom prst="rect">
            <a:avLst/>
          </a:prstGeom>
          <a:noFill/>
          <a:ln/>
        </p:spPr>
        <p:txBody>
          <a:bodyPr wrap="square" rtlCol="0" anchor="t"/>
          <a:lstStyle/>
          <a:p>
            <a:pPr marL="0" indent="0">
              <a:buNone/>
            </a:pPr>
            <a:r>
              <a:rPr lang="en-US" sz="1600" b="1" dirty="0">
                <a:solidFill>
                  <a:srgbClr val="757575"/>
                </a:solidFill>
                <a:latin typeface="Arial" pitchFamily="34" charset="0"/>
                <a:ea typeface="Arial" pitchFamily="34" charset="-122"/>
                <a:cs typeface="Arial" pitchFamily="34" charset="-120"/>
              </a:rPr>
              <a:t>Con inyección de dependencias:</a:t>
            </a:r>
            <a:endParaRPr lang="en-US" sz="1600" dirty="0"/>
          </a:p>
        </p:txBody>
      </p:sp>
      <p:pic>
        <p:nvPicPr>
          <p:cNvPr id="11" name="Image 1" descr="C:/Users/Aitor/docxgen/img/spring-boot-fundamentos-con-di.png"/>
          <p:cNvPicPr>
            <a:picLocks noChangeAspect="1"/>
          </p:cNvPicPr>
          <p:nvPr/>
        </p:nvPicPr>
        <p:blipFill>
          <a:blip r:embed="rId4"/>
          <a:stretch>
            <a:fillRect/>
          </a:stretch>
        </p:blipFill>
        <p:spPr>
          <a:xfrm>
            <a:off x="2642373" y="5483412"/>
            <a:ext cx="6904206" cy="777240"/>
          </a:xfrm>
          <a:prstGeom prst="rect">
            <a:avLst/>
          </a:prstGeom>
        </p:spPr>
      </p:pic>
    </p:spTree>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name="Slide 14">
    <p:spTree>
      <p:nvGrpSpPr>
        <p:cNvPr id="1" name=""/>
        <p:cNvGrpSpPr/>
        <p:nvPr/>
      </p:nvGrpSpPr>
      <p:grpSpPr>
        <a:xfrm>
          <a:off x="0" y="0"/>
          <a:ext cx="0" cy="0"/>
          <a:chOff x="0" y="0"/>
          <a:chExt cx="0" cy="0"/>
        </a:xfrm>
      </p:grpSpPr>
      <p:sp>
        <p:nvSpPr>
          <p:cNvPr id="2" name="Shape 0"/>
          <p:cNvSpPr/>
          <p:nvPr/>
        </p:nvSpPr>
        <p:spPr>
          <a:xfrm>
            <a:off x="0" y="0"/>
            <a:ext cx="12188952" cy="777240"/>
          </a:xfrm>
          <a:prstGeom prst="rect">
            <a:avLst/>
          </a:prstGeom>
          <a:solidFill>
            <a:srgbClr val="7F0000"/>
          </a:solidFill>
          <a:ln w="12700">
            <a:solidFill>
              <a:srgbClr val="7F0000"/>
            </a:solidFill>
            <a:prstDash val="solid"/>
          </a:ln>
        </p:spPr>
        <p:txBody>
          <a:bodyPr/>
          <a:lstStyle/>
          <a:p>
            <a:endParaRPr lang="es-ES"/>
          </a:p>
        </p:txBody>
      </p:sp>
      <p:sp>
        <p:nvSpPr>
          <p:cNvPr id="3" name="Text 1"/>
          <p:cNvSpPr/>
          <p:nvPr/>
        </p:nvSpPr>
        <p:spPr>
          <a:xfrm>
            <a:off x="365760" y="0"/>
            <a:ext cx="11457432" cy="777240"/>
          </a:xfrm>
          <a:prstGeom prst="rect">
            <a:avLst/>
          </a:prstGeom>
          <a:noFill/>
          <a:ln/>
        </p:spPr>
        <p:txBody>
          <a:bodyPr wrap="square" rtlCol="0" anchor="ctr"/>
          <a:lstStyle/>
          <a:p>
            <a:pPr marL="0" indent="0">
              <a:buNone/>
            </a:pPr>
            <a:r>
              <a:rPr lang="en-US" sz="2600" b="1" dirty="0">
                <a:solidFill>
                  <a:srgbClr val="FFFFFF"/>
                </a:solidFill>
                <a:latin typeface="Arial" pitchFamily="34" charset="0"/>
                <a:ea typeface="Arial" pitchFamily="34" charset="-122"/>
                <a:cs typeface="Arial" pitchFamily="34" charset="-120"/>
              </a:rPr>
              <a:t>Inyección de dependencias (cont.)</a:t>
            </a:r>
            <a:endParaRPr lang="en-US" sz="2600" dirty="0"/>
          </a:p>
        </p:txBody>
      </p:sp>
      <p:sp>
        <p:nvSpPr>
          <p:cNvPr id="4" name="Text 2"/>
          <p:cNvSpPr/>
          <p:nvPr/>
        </p:nvSpPr>
        <p:spPr>
          <a:xfrm>
            <a:off x="548640" y="6473952"/>
            <a:ext cx="11091672" cy="292608"/>
          </a:xfrm>
          <a:prstGeom prst="rect">
            <a:avLst/>
          </a:prstGeom>
          <a:noFill/>
          <a:ln/>
        </p:spPr>
        <p:txBody>
          <a:bodyPr wrap="square" rtlCol="0" anchor="ctr"/>
          <a:lstStyle/>
          <a:p>
            <a:pPr marL="0" indent="0" algn="r">
              <a:buNone/>
            </a:pPr>
            <a:r>
              <a:rPr lang="en-US" sz="1100" dirty="0">
                <a:solidFill>
                  <a:srgbClr val="757575"/>
                </a:solidFill>
                <a:latin typeface="Arial" pitchFamily="34" charset="0"/>
                <a:ea typeface="Arial" pitchFamily="34" charset="-122"/>
                <a:cs typeface="Arial" pitchFamily="34" charset="-120"/>
              </a:rPr>
              <a:t>Acceso a Datos — Tema 1: Fundamentos de Spring Boot</a:t>
            </a:r>
            <a:endParaRPr lang="en-US" sz="1100" dirty="0"/>
          </a:p>
        </p:txBody>
      </p:sp>
      <p:sp>
        <p:nvSpPr>
          <p:cNvPr id="5" name="Text 3"/>
          <p:cNvSpPr/>
          <p:nvPr/>
        </p:nvSpPr>
        <p:spPr>
          <a:xfrm>
            <a:off x="548640" y="1188720"/>
            <a:ext cx="11091672" cy="548640"/>
          </a:xfrm>
          <a:prstGeom prst="rect">
            <a:avLst/>
          </a:prstGeom>
          <a:noFill/>
          <a:ln/>
        </p:spPr>
        <p:txBody>
          <a:bodyPr wrap="square" rtlCol="0" anchor="t"/>
          <a:lstStyle/>
          <a:p>
            <a:pPr marL="0" indent="0">
              <a:buNone/>
            </a:pPr>
            <a:r>
              <a:rPr lang="en-US" sz="2000" dirty="0">
                <a:solidFill>
                  <a:srgbClr val="212121"/>
                </a:solidFill>
                <a:latin typeface="Arial" pitchFamily="34" charset="0"/>
                <a:ea typeface="Arial" pitchFamily="34" charset="-122"/>
                <a:cs typeface="Arial" pitchFamily="34" charset="-120"/>
              </a:rPr>
              <a:t>Para que Spring sepa qué clases debe gestionar como beans, se marcan con anotaciones:</a:t>
            </a:r>
            <a:endParaRPr lang="en-US" sz="2000" dirty="0"/>
          </a:p>
        </p:txBody>
      </p:sp>
      <p:graphicFrame>
        <p:nvGraphicFramePr>
          <p:cNvPr id="15" name="Table 0"/>
          <p:cNvGraphicFramePr>
            <a:graphicFrameLocks noGrp="1"/>
          </p:cNvGraphicFramePr>
          <p:nvPr>
            <p:extLst>
              <p:ext uri="{D42A27DB-BD31-4B8C-83A1-F6EECF244321}">
                <p14:modId xmlns:p14="http://schemas.microsoft.com/office/powerpoint/2010/main" val="2417869348"/>
              </p:ext>
            </p:extLst>
          </p:nvPr>
        </p:nvGraphicFramePr>
        <p:xfrm>
          <a:off x="548640" y="2011679"/>
          <a:ext cx="11091672" cy="3002818"/>
        </p:xfrm>
        <a:graphic>
          <a:graphicData uri="http://schemas.openxmlformats.org/drawingml/2006/table">
            <a:tbl>
              <a:tblPr/>
              <a:tblGrid>
                <a:gridCol w="3105668">
                  <a:extLst>
                    <a:ext uri="{9D8B030D-6E8A-4147-A177-3AD203B41FA5}">
                      <a16:colId xmlns:a16="http://schemas.microsoft.com/office/drawing/2014/main" val="20000"/>
                    </a:ext>
                  </a:extLst>
                </a:gridCol>
                <a:gridCol w="7986004">
                  <a:extLst>
                    <a:ext uri="{9D8B030D-6E8A-4147-A177-3AD203B41FA5}">
                      <a16:colId xmlns:a16="http://schemas.microsoft.com/office/drawing/2014/main" val="20001"/>
                    </a:ext>
                  </a:extLst>
                </a:gridCol>
              </a:tblGrid>
              <a:tr h="587009">
                <a:tc>
                  <a:txBody>
                    <a:bodyPr/>
                    <a:lstStyle/>
                    <a:p>
                      <a:pPr marL="0" indent="0" algn="ctr">
                        <a:buNone/>
                      </a:pPr>
                      <a:r>
                        <a:rPr lang="en-US" sz="1900" b="1" dirty="0">
                          <a:solidFill>
                            <a:srgbClr val="FFFFFF"/>
                          </a:solidFill>
                          <a:latin typeface="Arial" pitchFamily="34" charset="0"/>
                          <a:ea typeface="Arial" pitchFamily="34" charset="-122"/>
                          <a:cs typeface="Arial" pitchFamily="34" charset="-120"/>
                        </a:rPr>
                        <a:t>Anotación</a:t>
                      </a:r>
                      <a:endParaRPr lang="en-US" sz="1900" dirty="0">
                        <a:latin typeface="Arial" charset="0"/>
                        <a:ea typeface="Arial" charset="0"/>
                        <a:cs typeface="Arial" charset="0"/>
                      </a:endParaRPr>
                    </a:p>
                  </a:txBody>
                  <a:tcPr anchor="ctr">
                    <a:lnL w="12700" cap="flat" cmpd="sng" algn="ctr">
                      <a:solidFill>
                        <a:srgbClr val="EEEEEE"/>
                      </a:solidFill>
                      <a:prstDash val="solid"/>
                      <a:round/>
                      <a:headEnd type="none" w="med" len="med"/>
                      <a:tailEnd type="none" w="med" len="med"/>
                    </a:lnL>
                    <a:lnR w="12700" cap="flat" cmpd="sng" algn="ctr">
                      <a:solidFill>
                        <a:srgbClr val="EEEEEE"/>
                      </a:solidFill>
                      <a:prstDash val="solid"/>
                      <a:round/>
                      <a:headEnd type="none" w="med" len="med"/>
                      <a:tailEnd type="none" w="med" len="med"/>
                    </a:lnR>
                    <a:lnT w="12700" cap="flat" cmpd="sng" algn="ctr">
                      <a:solidFill>
                        <a:srgbClr val="EEEEEE"/>
                      </a:solidFill>
                      <a:prstDash val="solid"/>
                      <a:round/>
                      <a:headEnd type="none" w="med" len="med"/>
                      <a:tailEnd type="none" w="med" len="med"/>
                    </a:lnT>
                    <a:lnB w="12700" cap="flat" cmpd="sng" algn="ctr">
                      <a:solidFill>
                        <a:srgbClr val="EEEEEE"/>
                      </a:solidFill>
                      <a:prstDash val="solid"/>
                      <a:round/>
                      <a:headEnd type="none" w="med" len="med"/>
                      <a:tailEnd type="none" w="med" len="med"/>
                    </a:lnB>
                    <a:solidFill>
                      <a:srgbClr val="C62828"/>
                    </a:solidFill>
                  </a:tcPr>
                </a:tc>
                <a:tc>
                  <a:txBody>
                    <a:bodyPr/>
                    <a:lstStyle/>
                    <a:p>
                      <a:pPr marL="0" indent="0" algn="ctr">
                        <a:buNone/>
                      </a:pPr>
                      <a:r>
                        <a:rPr lang="en-US" sz="1900" b="1" dirty="0">
                          <a:solidFill>
                            <a:srgbClr val="FFFFFF"/>
                          </a:solidFill>
                          <a:latin typeface="Arial" pitchFamily="34" charset="0"/>
                          <a:ea typeface="Arial" pitchFamily="34" charset="-122"/>
                          <a:cs typeface="Arial" pitchFamily="34" charset="-120"/>
                        </a:rPr>
                        <a:t>Qué declara</a:t>
                      </a:r>
                      <a:endParaRPr lang="en-US" sz="1900" dirty="0">
                        <a:latin typeface="Arial" charset="0"/>
                        <a:ea typeface="Arial" charset="0"/>
                        <a:cs typeface="Arial" charset="0"/>
                      </a:endParaRPr>
                    </a:p>
                  </a:txBody>
                  <a:tcPr anchor="ctr">
                    <a:lnL w="12700" cap="flat" cmpd="sng" algn="ctr">
                      <a:solidFill>
                        <a:srgbClr val="EEEEEE"/>
                      </a:solidFill>
                      <a:prstDash val="solid"/>
                      <a:round/>
                      <a:headEnd type="none" w="med" len="med"/>
                      <a:tailEnd type="none" w="med" len="med"/>
                    </a:lnL>
                    <a:lnR w="12700" cap="flat" cmpd="sng" algn="ctr">
                      <a:solidFill>
                        <a:srgbClr val="EEEEEE"/>
                      </a:solidFill>
                      <a:prstDash val="solid"/>
                      <a:round/>
                      <a:headEnd type="none" w="med" len="med"/>
                      <a:tailEnd type="none" w="med" len="med"/>
                    </a:lnR>
                    <a:lnT w="12700" cap="flat" cmpd="sng" algn="ctr">
                      <a:solidFill>
                        <a:srgbClr val="EEEEEE"/>
                      </a:solidFill>
                      <a:prstDash val="solid"/>
                      <a:round/>
                      <a:headEnd type="none" w="med" len="med"/>
                      <a:tailEnd type="none" w="med" len="med"/>
                    </a:lnT>
                    <a:lnB w="12700" cap="flat" cmpd="sng" algn="ctr">
                      <a:solidFill>
                        <a:srgbClr val="EEEEEE"/>
                      </a:solidFill>
                      <a:prstDash val="solid"/>
                      <a:round/>
                      <a:headEnd type="none" w="med" len="med"/>
                      <a:tailEnd type="none" w="med" len="med"/>
                    </a:lnB>
                    <a:solidFill>
                      <a:srgbClr val="C62828"/>
                    </a:solidFill>
                  </a:tcPr>
                </a:tc>
                <a:extLst>
                  <a:ext uri="{0D108BD9-81ED-4DB2-BD59-A6C34878D82A}">
                    <a16:rowId xmlns:a16="http://schemas.microsoft.com/office/drawing/2014/main" val="10000"/>
                  </a:ext>
                </a:extLst>
              </a:tr>
              <a:tr h="587009">
                <a:tc>
                  <a:txBody>
                    <a:bodyPr/>
                    <a:lstStyle/>
                    <a:p>
                      <a:pPr marL="0" indent="0">
                        <a:buNone/>
                      </a:pPr>
                      <a:r>
                        <a:rPr lang="en-US" sz="1700" b="1" dirty="0">
                          <a:solidFill>
                            <a:srgbClr val="212121"/>
                          </a:solidFill>
                          <a:latin typeface="Arial" pitchFamily="34" charset="0"/>
                          <a:ea typeface="Arial" pitchFamily="34" charset="-122"/>
                          <a:cs typeface="Arial" pitchFamily="34" charset="-120"/>
                        </a:rPr>
                        <a:t>@Service</a:t>
                      </a:r>
                      <a:endParaRPr lang="en-US" sz="1700" dirty="0">
                        <a:latin typeface="Arial" charset="0"/>
                        <a:ea typeface="Arial" charset="0"/>
                        <a:cs typeface="Arial" charset="0"/>
                      </a:endParaRPr>
                    </a:p>
                  </a:txBody>
                  <a:tcPr anchor="ctr">
                    <a:lnL w="12700" cap="flat" cmpd="sng" algn="ctr">
                      <a:solidFill>
                        <a:srgbClr val="EEEEEE"/>
                      </a:solidFill>
                      <a:prstDash val="solid"/>
                      <a:round/>
                      <a:headEnd type="none" w="med" len="med"/>
                      <a:tailEnd type="none" w="med" len="med"/>
                    </a:lnL>
                    <a:lnR w="12700" cap="flat" cmpd="sng" algn="ctr">
                      <a:solidFill>
                        <a:srgbClr val="EEEEEE"/>
                      </a:solidFill>
                      <a:prstDash val="solid"/>
                      <a:round/>
                      <a:headEnd type="none" w="med" len="med"/>
                      <a:tailEnd type="none" w="med" len="med"/>
                    </a:lnR>
                    <a:lnT w="12700" cap="flat" cmpd="sng" algn="ctr">
                      <a:solidFill>
                        <a:srgbClr val="EEEEEE"/>
                      </a:solidFill>
                      <a:prstDash val="solid"/>
                      <a:round/>
                      <a:headEnd type="none" w="med" len="med"/>
                      <a:tailEnd type="none" w="med" len="med"/>
                    </a:lnT>
                    <a:lnB w="12700" cap="flat" cmpd="sng" algn="ctr">
                      <a:solidFill>
                        <a:srgbClr val="EEEEEE"/>
                      </a:solidFill>
                      <a:prstDash val="solid"/>
                      <a:round/>
                      <a:headEnd type="none" w="med" len="med"/>
                      <a:tailEnd type="none" w="med" len="med"/>
                    </a:lnB>
                    <a:solidFill>
                      <a:srgbClr val="FFFFFF"/>
                    </a:solidFill>
                  </a:tcPr>
                </a:tc>
                <a:tc>
                  <a:txBody>
                    <a:bodyPr/>
                    <a:lstStyle/>
                    <a:p>
                      <a:pPr marL="0" indent="0">
                        <a:buNone/>
                      </a:pPr>
                      <a:r>
                        <a:rPr lang="en-US" sz="1700" dirty="0">
                          <a:solidFill>
                            <a:srgbClr val="212121"/>
                          </a:solidFill>
                          <a:latin typeface="Arial" pitchFamily="34" charset="0"/>
                          <a:ea typeface="Arial" pitchFamily="34" charset="-122"/>
                          <a:cs typeface="Arial" pitchFamily="34" charset="-120"/>
                        </a:rPr>
                        <a:t>Un bean con lógica de negocio (capa intermedia entre controlador y datos).</a:t>
                      </a:r>
                      <a:endParaRPr lang="en-US" sz="1700" dirty="0">
                        <a:latin typeface="Arial" charset="0"/>
                        <a:ea typeface="Arial" charset="0"/>
                        <a:cs typeface="Arial" charset="0"/>
                      </a:endParaRPr>
                    </a:p>
                  </a:txBody>
                  <a:tcPr anchor="ctr">
                    <a:lnL w="12700" cap="flat" cmpd="sng" algn="ctr">
                      <a:solidFill>
                        <a:srgbClr val="EEEEEE"/>
                      </a:solidFill>
                      <a:prstDash val="solid"/>
                      <a:round/>
                      <a:headEnd type="none" w="med" len="med"/>
                      <a:tailEnd type="none" w="med" len="med"/>
                    </a:lnL>
                    <a:lnR w="12700" cap="flat" cmpd="sng" algn="ctr">
                      <a:solidFill>
                        <a:srgbClr val="EEEEEE"/>
                      </a:solidFill>
                      <a:prstDash val="solid"/>
                      <a:round/>
                      <a:headEnd type="none" w="med" len="med"/>
                      <a:tailEnd type="none" w="med" len="med"/>
                    </a:lnR>
                    <a:lnT w="12700" cap="flat" cmpd="sng" algn="ctr">
                      <a:solidFill>
                        <a:srgbClr val="EEEEEE"/>
                      </a:solidFill>
                      <a:prstDash val="solid"/>
                      <a:round/>
                      <a:headEnd type="none" w="med" len="med"/>
                      <a:tailEnd type="none" w="med" len="med"/>
                    </a:lnT>
                    <a:lnB w="12700" cap="flat" cmpd="sng" algn="ctr">
                      <a:solidFill>
                        <a:srgbClr val="EEEEEE"/>
                      </a:solidFill>
                      <a:prstDash val="solid"/>
                      <a:round/>
                      <a:headEnd type="none" w="med" len="med"/>
                      <a:tailEnd type="none" w="med" len="med"/>
                    </a:lnB>
                    <a:solidFill>
                      <a:srgbClr val="FFFFFF"/>
                    </a:solidFill>
                  </a:tcPr>
                </a:tc>
                <a:extLst>
                  <a:ext uri="{0D108BD9-81ED-4DB2-BD59-A6C34878D82A}">
                    <a16:rowId xmlns:a16="http://schemas.microsoft.com/office/drawing/2014/main" val="10001"/>
                  </a:ext>
                </a:extLst>
              </a:tr>
              <a:tr h="602060">
                <a:tc>
                  <a:txBody>
                    <a:bodyPr/>
                    <a:lstStyle/>
                    <a:p>
                      <a:pPr marL="0" indent="0">
                        <a:buNone/>
                      </a:pPr>
                      <a:r>
                        <a:rPr lang="en-US" sz="1700" b="1" dirty="0">
                          <a:solidFill>
                            <a:srgbClr val="212121"/>
                          </a:solidFill>
                          <a:latin typeface="Arial" pitchFamily="34" charset="0"/>
                          <a:ea typeface="Arial" pitchFamily="34" charset="-122"/>
                          <a:cs typeface="Arial" pitchFamily="34" charset="-120"/>
                        </a:rPr>
                        <a:t>@Repository</a:t>
                      </a:r>
                      <a:endParaRPr lang="en-US" sz="1700" dirty="0">
                        <a:latin typeface="Arial" charset="0"/>
                        <a:ea typeface="Arial" charset="0"/>
                        <a:cs typeface="Arial" charset="0"/>
                      </a:endParaRPr>
                    </a:p>
                  </a:txBody>
                  <a:tcPr anchor="ctr">
                    <a:lnL w="12700" cap="flat" cmpd="sng" algn="ctr">
                      <a:solidFill>
                        <a:srgbClr val="EEEEEE"/>
                      </a:solidFill>
                      <a:prstDash val="solid"/>
                      <a:round/>
                      <a:headEnd type="none" w="med" len="med"/>
                      <a:tailEnd type="none" w="med" len="med"/>
                    </a:lnL>
                    <a:lnR w="12700" cap="flat" cmpd="sng" algn="ctr">
                      <a:solidFill>
                        <a:srgbClr val="EEEEEE"/>
                      </a:solidFill>
                      <a:prstDash val="solid"/>
                      <a:round/>
                      <a:headEnd type="none" w="med" len="med"/>
                      <a:tailEnd type="none" w="med" len="med"/>
                    </a:lnR>
                    <a:lnT w="12700" cap="flat" cmpd="sng" algn="ctr">
                      <a:solidFill>
                        <a:srgbClr val="EEEEEE"/>
                      </a:solidFill>
                      <a:prstDash val="solid"/>
                      <a:round/>
                      <a:headEnd type="none" w="med" len="med"/>
                      <a:tailEnd type="none" w="med" len="med"/>
                    </a:lnT>
                    <a:lnB w="12700" cap="flat" cmpd="sng" algn="ctr">
                      <a:solidFill>
                        <a:srgbClr val="EEEEEE"/>
                      </a:solidFill>
                      <a:prstDash val="solid"/>
                      <a:round/>
                      <a:headEnd type="none" w="med" len="med"/>
                      <a:tailEnd type="none" w="med" len="med"/>
                    </a:lnB>
                    <a:solidFill>
                      <a:srgbClr val="F5F5F5"/>
                    </a:solidFill>
                  </a:tcPr>
                </a:tc>
                <a:tc>
                  <a:txBody>
                    <a:bodyPr/>
                    <a:lstStyle/>
                    <a:p>
                      <a:pPr marL="0" indent="0">
                        <a:buNone/>
                      </a:pPr>
                      <a:r>
                        <a:rPr lang="en-US" sz="1700" dirty="0">
                          <a:solidFill>
                            <a:srgbClr val="212121"/>
                          </a:solidFill>
                          <a:latin typeface="Arial" pitchFamily="34" charset="0"/>
                          <a:ea typeface="Arial" pitchFamily="34" charset="-122"/>
                          <a:cs typeface="Arial" pitchFamily="34" charset="-120"/>
                        </a:rPr>
                        <a:t>Un bean que accede a datos (normalmente, una interfaz que Spring Data implementa por ti).</a:t>
                      </a:r>
                      <a:endParaRPr lang="en-US" sz="1700" dirty="0">
                        <a:latin typeface="Arial" charset="0"/>
                        <a:ea typeface="Arial" charset="0"/>
                        <a:cs typeface="Arial" charset="0"/>
                      </a:endParaRPr>
                    </a:p>
                  </a:txBody>
                  <a:tcPr anchor="ctr">
                    <a:lnL w="12700" cap="flat" cmpd="sng" algn="ctr">
                      <a:solidFill>
                        <a:srgbClr val="EEEEEE"/>
                      </a:solidFill>
                      <a:prstDash val="solid"/>
                      <a:round/>
                      <a:headEnd type="none" w="med" len="med"/>
                      <a:tailEnd type="none" w="med" len="med"/>
                    </a:lnL>
                    <a:lnR w="12700" cap="flat" cmpd="sng" algn="ctr">
                      <a:solidFill>
                        <a:srgbClr val="EEEEEE"/>
                      </a:solidFill>
                      <a:prstDash val="solid"/>
                      <a:round/>
                      <a:headEnd type="none" w="med" len="med"/>
                      <a:tailEnd type="none" w="med" len="med"/>
                    </a:lnR>
                    <a:lnT w="12700" cap="flat" cmpd="sng" algn="ctr">
                      <a:solidFill>
                        <a:srgbClr val="EEEEEE"/>
                      </a:solidFill>
                      <a:prstDash val="solid"/>
                      <a:round/>
                      <a:headEnd type="none" w="med" len="med"/>
                      <a:tailEnd type="none" w="med" len="med"/>
                    </a:lnT>
                    <a:lnB w="12700" cap="flat" cmpd="sng" algn="ctr">
                      <a:solidFill>
                        <a:srgbClr val="EEEEEE"/>
                      </a:solidFill>
                      <a:prstDash val="solid"/>
                      <a:round/>
                      <a:headEnd type="none" w="med" len="med"/>
                      <a:tailEnd type="none" w="med" len="med"/>
                    </a:lnB>
                    <a:solidFill>
                      <a:srgbClr val="F5F5F5"/>
                    </a:solidFill>
                  </a:tcPr>
                </a:tc>
                <a:extLst>
                  <a:ext uri="{0D108BD9-81ED-4DB2-BD59-A6C34878D82A}">
                    <a16:rowId xmlns:a16="http://schemas.microsoft.com/office/drawing/2014/main" val="10002"/>
                  </a:ext>
                </a:extLst>
              </a:tr>
              <a:tr h="602060">
                <a:tc>
                  <a:txBody>
                    <a:bodyPr/>
                    <a:lstStyle/>
                    <a:p>
                      <a:pPr marL="0" indent="0">
                        <a:buNone/>
                      </a:pPr>
                      <a:r>
                        <a:rPr lang="en-US" sz="1700" b="1" dirty="0">
                          <a:solidFill>
                            <a:srgbClr val="212121"/>
                          </a:solidFill>
                          <a:latin typeface="Arial" pitchFamily="34" charset="0"/>
                          <a:ea typeface="Arial" pitchFamily="34" charset="-122"/>
                          <a:cs typeface="Arial" pitchFamily="34" charset="-120"/>
                        </a:rPr>
                        <a:t>@RestController</a:t>
                      </a:r>
                      <a:endParaRPr lang="en-US" sz="1700" dirty="0">
                        <a:latin typeface="Arial" charset="0"/>
                        <a:ea typeface="Arial" charset="0"/>
                        <a:cs typeface="Arial" charset="0"/>
                      </a:endParaRPr>
                    </a:p>
                  </a:txBody>
                  <a:tcPr anchor="ctr">
                    <a:lnL w="12700" cap="flat" cmpd="sng" algn="ctr">
                      <a:solidFill>
                        <a:srgbClr val="EEEEEE"/>
                      </a:solidFill>
                      <a:prstDash val="solid"/>
                      <a:round/>
                      <a:headEnd type="none" w="med" len="med"/>
                      <a:tailEnd type="none" w="med" len="med"/>
                    </a:lnL>
                    <a:lnR w="12700" cap="flat" cmpd="sng" algn="ctr">
                      <a:solidFill>
                        <a:srgbClr val="EEEEEE"/>
                      </a:solidFill>
                      <a:prstDash val="solid"/>
                      <a:round/>
                      <a:headEnd type="none" w="med" len="med"/>
                      <a:tailEnd type="none" w="med" len="med"/>
                    </a:lnR>
                    <a:lnT w="12700" cap="flat" cmpd="sng" algn="ctr">
                      <a:solidFill>
                        <a:srgbClr val="EEEEEE"/>
                      </a:solidFill>
                      <a:prstDash val="solid"/>
                      <a:round/>
                      <a:headEnd type="none" w="med" len="med"/>
                      <a:tailEnd type="none" w="med" len="med"/>
                    </a:lnT>
                    <a:lnB w="12700" cap="flat" cmpd="sng" algn="ctr">
                      <a:solidFill>
                        <a:srgbClr val="EEEEEE"/>
                      </a:solidFill>
                      <a:prstDash val="solid"/>
                      <a:round/>
                      <a:headEnd type="none" w="med" len="med"/>
                      <a:tailEnd type="none" w="med" len="med"/>
                    </a:lnB>
                    <a:solidFill>
                      <a:srgbClr val="FFFFFF"/>
                    </a:solidFill>
                  </a:tcPr>
                </a:tc>
                <a:tc>
                  <a:txBody>
                    <a:bodyPr/>
                    <a:lstStyle/>
                    <a:p>
                      <a:pPr marL="0" indent="0">
                        <a:buNone/>
                      </a:pPr>
                      <a:r>
                        <a:rPr lang="en-US" sz="1700" dirty="0">
                          <a:solidFill>
                            <a:srgbClr val="212121"/>
                          </a:solidFill>
                          <a:latin typeface="Arial" pitchFamily="34" charset="0"/>
                          <a:ea typeface="Arial" pitchFamily="34" charset="-122"/>
                          <a:cs typeface="Arial" pitchFamily="34" charset="-120"/>
                        </a:rPr>
                        <a:t>Un bean que expone endpoints HTTP y devuelve las respuestas en el cuerpo (JSON).</a:t>
                      </a:r>
                      <a:endParaRPr lang="en-US" sz="1700" dirty="0">
                        <a:latin typeface="Arial" charset="0"/>
                        <a:ea typeface="Arial" charset="0"/>
                        <a:cs typeface="Arial" charset="0"/>
                      </a:endParaRPr>
                    </a:p>
                  </a:txBody>
                  <a:tcPr anchor="ctr">
                    <a:lnL w="12700" cap="flat" cmpd="sng" algn="ctr">
                      <a:solidFill>
                        <a:srgbClr val="EEEEEE"/>
                      </a:solidFill>
                      <a:prstDash val="solid"/>
                      <a:round/>
                      <a:headEnd type="none" w="med" len="med"/>
                      <a:tailEnd type="none" w="med" len="med"/>
                    </a:lnL>
                    <a:lnR w="12700" cap="flat" cmpd="sng" algn="ctr">
                      <a:solidFill>
                        <a:srgbClr val="EEEEEE"/>
                      </a:solidFill>
                      <a:prstDash val="solid"/>
                      <a:round/>
                      <a:headEnd type="none" w="med" len="med"/>
                      <a:tailEnd type="none" w="med" len="med"/>
                    </a:lnR>
                    <a:lnT w="12700" cap="flat" cmpd="sng" algn="ctr">
                      <a:solidFill>
                        <a:srgbClr val="EEEEEE"/>
                      </a:solidFill>
                      <a:prstDash val="solid"/>
                      <a:round/>
                      <a:headEnd type="none" w="med" len="med"/>
                      <a:tailEnd type="none" w="med" len="med"/>
                    </a:lnT>
                    <a:lnB w="12700" cap="flat" cmpd="sng" algn="ctr">
                      <a:solidFill>
                        <a:srgbClr val="EEEEEE"/>
                      </a:solidFill>
                      <a:prstDash val="solid"/>
                      <a:round/>
                      <a:headEnd type="none" w="med" len="med"/>
                      <a:tailEnd type="none" w="med" len="med"/>
                    </a:lnB>
                    <a:solidFill>
                      <a:srgbClr val="FFFFFF"/>
                    </a:solidFill>
                  </a:tcPr>
                </a:tc>
                <a:extLst>
                  <a:ext uri="{0D108BD9-81ED-4DB2-BD59-A6C34878D82A}">
                    <a16:rowId xmlns:a16="http://schemas.microsoft.com/office/drawing/2014/main" val="10003"/>
                  </a:ext>
                </a:extLst>
              </a:tr>
              <a:tr h="602060">
                <a:tc>
                  <a:txBody>
                    <a:bodyPr/>
                    <a:lstStyle/>
                    <a:p>
                      <a:pPr marL="0" indent="0">
                        <a:buNone/>
                      </a:pPr>
                      <a:r>
                        <a:rPr lang="en-US" sz="1700" b="1" dirty="0">
                          <a:solidFill>
                            <a:srgbClr val="212121"/>
                          </a:solidFill>
                          <a:latin typeface="Arial" pitchFamily="34" charset="0"/>
                          <a:ea typeface="Arial" pitchFamily="34" charset="-122"/>
                          <a:cs typeface="Arial" pitchFamily="34" charset="-120"/>
                        </a:rPr>
                        <a:t>@Configuration</a:t>
                      </a:r>
                      <a:endParaRPr lang="en-US" sz="1700" dirty="0">
                        <a:latin typeface="Arial" charset="0"/>
                        <a:ea typeface="Arial" charset="0"/>
                        <a:cs typeface="Arial" charset="0"/>
                      </a:endParaRPr>
                    </a:p>
                  </a:txBody>
                  <a:tcPr anchor="ctr">
                    <a:lnL w="12700" cap="flat" cmpd="sng" algn="ctr">
                      <a:solidFill>
                        <a:srgbClr val="EEEEEE"/>
                      </a:solidFill>
                      <a:prstDash val="solid"/>
                      <a:round/>
                      <a:headEnd type="none" w="med" len="med"/>
                      <a:tailEnd type="none" w="med" len="med"/>
                    </a:lnL>
                    <a:lnR w="12700" cap="flat" cmpd="sng" algn="ctr">
                      <a:solidFill>
                        <a:srgbClr val="EEEEEE"/>
                      </a:solidFill>
                      <a:prstDash val="solid"/>
                      <a:round/>
                      <a:headEnd type="none" w="med" len="med"/>
                      <a:tailEnd type="none" w="med" len="med"/>
                    </a:lnR>
                    <a:lnT w="12700" cap="flat" cmpd="sng" algn="ctr">
                      <a:solidFill>
                        <a:srgbClr val="EEEEEE"/>
                      </a:solidFill>
                      <a:prstDash val="solid"/>
                      <a:round/>
                      <a:headEnd type="none" w="med" len="med"/>
                      <a:tailEnd type="none" w="med" len="med"/>
                    </a:lnT>
                    <a:lnB w="12700" cap="flat" cmpd="sng" algn="ctr">
                      <a:solidFill>
                        <a:srgbClr val="EEEEEE"/>
                      </a:solidFill>
                      <a:prstDash val="solid"/>
                      <a:round/>
                      <a:headEnd type="none" w="med" len="med"/>
                      <a:tailEnd type="none" w="med" len="med"/>
                    </a:lnB>
                    <a:solidFill>
                      <a:srgbClr val="F5F5F5"/>
                    </a:solidFill>
                  </a:tcPr>
                </a:tc>
                <a:tc>
                  <a:txBody>
                    <a:bodyPr/>
                    <a:lstStyle/>
                    <a:p>
                      <a:pPr marL="0" indent="0">
                        <a:buNone/>
                      </a:pPr>
                      <a:r>
                        <a:rPr lang="en-US" sz="1700" dirty="0">
                          <a:solidFill>
                            <a:srgbClr val="212121"/>
                          </a:solidFill>
                          <a:latin typeface="Arial" pitchFamily="34" charset="0"/>
                          <a:ea typeface="Arial" pitchFamily="34" charset="-122"/>
                          <a:cs typeface="Arial" pitchFamily="34" charset="-120"/>
                        </a:rPr>
                        <a:t>Una clase que define manualmente uno o varios beans, para casos que no encajan arriba.</a:t>
                      </a:r>
                      <a:endParaRPr lang="en-US" sz="1700" dirty="0">
                        <a:latin typeface="Arial" charset="0"/>
                        <a:ea typeface="Arial" charset="0"/>
                        <a:cs typeface="Arial" charset="0"/>
                      </a:endParaRPr>
                    </a:p>
                  </a:txBody>
                  <a:tcPr anchor="ctr">
                    <a:lnL w="12700" cap="flat" cmpd="sng" algn="ctr">
                      <a:solidFill>
                        <a:srgbClr val="EEEEEE"/>
                      </a:solidFill>
                      <a:prstDash val="solid"/>
                      <a:round/>
                      <a:headEnd type="none" w="med" len="med"/>
                      <a:tailEnd type="none" w="med" len="med"/>
                    </a:lnL>
                    <a:lnR w="12700" cap="flat" cmpd="sng" algn="ctr">
                      <a:solidFill>
                        <a:srgbClr val="EEEEEE"/>
                      </a:solidFill>
                      <a:prstDash val="solid"/>
                      <a:round/>
                      <a:headEnd type="none" w="med" len="med"/>
                      <a:tailEnd type="none" w="med" len="med"/>
                    </a:lnR>
                    <a:lnT w="12700" cap="flat" cmpd="sng" algn="ctr">
                      <a:solidFill>
                        <a:srgbClr val="EEEEEE"/>
                      </a:solidFill>
                      <a:prstDash val="solid"/>
                      <a:round/>
                      <a:headEnd type="none" w="med" len="med"/>
                      <a:tailEnd type="none" w="med" len="med"/>
                    </a:lnT>
                    <a:lnB w="12700" cap="flat" cmpd="sng" algn="ctr">
                      <a:solidFill>
                        <a:srgbClr val="EEEEEE"/>
                      </a:solidFill>
                      <a:prstDash val="solid"/>
                      <a:round/>
                      <a:headEnd type="none" w="med" len="med"/>
                      <a:tailEnd type="none" w="med" len="med"/>
                    </a:lnB>
                    <a:solidFill>
                      <a:srgbClr val="F5F5F5"/>
                    </a:solidFill>
                  </a:tcPr>
                </a:tc>
                <a:extLst>
                  <a:ext uri="{0D108BD9-81ED-4DB2-BD59-A6C34878D82A}">
                    <a16:rowId xmlns:a16="http://schemas.microsoft.com/office/drawing/2014/main" val="10004"/>
                  </a:ext>
                </a:extLst>
              </a:tr>
            </a:tbl>
          </a:graphicData>
        </a:graphic>
      </p:graphicFrame>
      <p:sp>
        <p:nvSpPr>
          <p:cNvPr id="7" name="Shape 4"/>
          <p:cNvSpPr/>
          <p:nvPr/>
        </p:nvSpPr>
        <p:spPr>
          <a:xfrm>
            <a:off x="548640" y="5257800"/>
            <a:ext cx="11091672" cy="777240"/>
          </a:xfrm>
          <a:prstGeom prst="roundRect">
            <a:avLst/>
          </a:prstGeom>
          <a:solidFill>
            <a:srgbClr val="FBE9E7"/>
          </a:solidFill>
          <a:ln w="19050">
            <a:solidFill>
              <a:srgbClr val="E64A19"/>
            </a:solidFill>
            <a:prstDash val="solid"/>
          </a:ln>
        </p:spPr>
        <p:txBody>
          <a:bodyPr/>
          <a:lstStyle/>
          <a:p>
            <a:endParaRPr lang="es-ES"/>
          </a:p>
        </p:txBody>
      </p:sp>
      <p:sp>
        <p:nvSpPr>
          <p:cNvPr id="8" name="Text 5"/>
          <p:cNvSpPr/>
          <p:nvPr/>
        </p:nvSpPr>
        <p:spPr>
          <a:xfrm>
            <a:off x="822960" y="5349240"/>
            <a:ext cx="10543032" cy="594360"/>
          </a:xfrm>
          <a:prstGeom prst="rect">
            <a:avLst/>
          </a:prstGeom>
          <a:noFill/>
          <a:ln/>
        </p:spPr>
        <p:txBody>
          <a:bodyPr wrap="square" rtlCol="0" anchor="ctr"/>
          <a:lstStyle/>
          <a:p>
            <a:pPr marL="0" indent="0">
              <a:buNone/>
            </a:pPr>
            <a:r>
              <a:rPr lang="en-US" sz="1800" dirty="0">
                <a:solidFill>
                  <a:srgbClr val="212121"/>
                </a:solidFill>
                <a:latin typeface="Arial" pitchFamily="34" charset="0"/>
                <a:ea typeface="Arial" pitchFamily="34" charset="-122"/>
                <a:cs typeface="Arial" pitchFamily="34" charset="-120"/>
              </a:rPr>
              <a:t>Las cuatro tienen algo en común: todas le dicen a Spring "esto es un bean, gestióname el ciclo de vida y pásame lo que necesite por inyección".</a:t>
            </a:r>
            <a:endParaRPr lang="en-US" sz="1800" dirty="0"/>
          </a:p>
        </p:txBody>
      </p:sp>
    </p:spTree>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name="Slide 15">
    <p:spTree>
      <p:nvGrpSpPr>
        <p:cNvPr id="1" name=""/>
        <p:cNvGrpSpPr/>
        <p:nvPr/>
      </p:nvGrpSpPr>
      <p:grpSpPr>
        <a:xfrm>
          <a:off x="0" y="0"/>
          <a:ext cx="0" cy="0"/>
          <a:chOff x="0" y="0"/>
          <a:chExt cx="0" cy="0"/>
        </a:xfrm>
      </p:grpSpPr>
      <p:sp>
        <p:nvSpPr>
          <p:cNvPr id="2" name="Shape 0"/>
          <p:cNvSpPr/>
          <p:nvPr/>
        </p:nvSpPr>
        <p:spPr>
          <a:xfrm>
            <a:off x="0" y="0"/>
            <a:ext cx="12188952" cy="777240"/>
          </a:xfrm>
          <a:prstGeom prst="rect">
            <a:avLst/>
          </a:prstGeom>
          <a:solidFill>
            <a:srgbClr val="7F0000"/>
          </a:solidFill>
          <a:ln w="12700">
            <a:solidFill>
              <a:srgbClr val="7F0000"/>
            </a:solidFill>
            <a:prstDash val="solid"/>
          </a:ln>
        </p:spPr>
        <p:txBody>
          <a:bodyPr/>
          <a:lstStyle/>
          <a:p>
            <a:endParaRPr lang="es-ES"/>
          </a:p>
        </p:txBody>
      </p:sp>
      <p:sp>
        <p:nvSpPr>
          <p:cNvPr id="3" name="Text 1"/>
          <p:cNvSpPr/>
          <p:nvPr/>
        </p:nvSpPr>
        <p:spPr>
          <a:xfrm>
            <a:off x="365760" y="0"/>
            <a:ext cx="11457432" cy="777240"/>
          </a:xfrm>
          <a:prstGeom prst="rect">
            <a:avLst/>
          </a:prstGeom>
          <a:noFill/>
          <a:ln/>
        </p:spPr>
        <p:txBody>
          <a:bodyPr wrap="square" rtlCol="0" anchor="ctr"/>
          <a:lstStyle/>
          <a:p>
            <a:pPr marL="0" indent="0">
              <a:buNone/>
            </a:pPr>
            <a:r>
              <a:rPr lang="en-US" sz="2600" b="1" dirty="0">
                <a:solidFill>
                  <a:srgbClr val="FFFFFF"/>
                </a:solidFill>
                <a:latin typeface="Arial" pitchFamily="34" charset="0"/>
                <a:ea typeface="Arial" pitchFamily="34" charset="-122"/>
                <a:cs typeface="Arial" pitchFamily="34" charset="-120"/>
              </a:rPr>
              <a:t>Inyección de dependencias (cont.)</a:t>
            </a:r>
            <a:endParaRPr lang="en-US" sz="2600" dirty="0"/>
          </a:p>
        </p:txBody>
      </p:sp>
      <p:sp>
        <p:nvSpPr>
          <p:cNvPr id="4" name="Text 2"/>
          <p:cNvSpPr/>
          <p:nvPr/>
        </p:nvSpPr>
        <p:spPr>
          <a:xfrm>
            <a:off x="548640" y="6473952"/>
            <a:ext cx="11091672" cy="292608"/>
          </a:xfrm>
          <a:prstGeom prst="rect">
            <a:avLst/>
          </a:prstGeom>
          <a:noFill/>
          <a:ln/>
        </p:spPr>
        <p:txBody>
          <a:bodyPr wrap="square" rtlCol="0" anchor="ctr"/>
          <a:lstStyle/>
          <a:p>
            <a:pPr marL="0" indent="0" algn="r">
              <a:buNone/>
            </a:pPr>
            <a:r>
              <a:rPr lang="en-US" sz="1100" dirty="0">
                <a:solidFill>
                  <a:srgbClr val="757575"/>
                </a:solidFill>
                <a:latin typeface="Arial" pitchFamily="34" charset="0"/>
                <a:ea typeface="Arial" pitchFamily="34" charset="-122"/>
                <a:cs typeface="Arial" pitchFamily="34" charset="-120"/>
              </a:rPr>
              <a:t>Acceso a Datos — Tema 1: Fundamentos de Spring Boot</a:t>
            </a:r>
            <a:endParaRPr lang="en-US" sz="1100" dirty="0"/>
          </a:p>
        </p:txBody>
      </p:sp>
      <p:sp>
        <p:nvSpPr>
          <p:cNvPr id="5" name="Text 3"/>
          <p:cNvSpPr/>
          <p:nvPr/>
        </p:nvSpPr>
        <p:spPr>
          <a:xfrm>
            <a:off x="548640" y="1097280"/>
            <a:ext cx="11091672" cy="502920"/>
          </a:xfrm>
          <a:prstGeom prst="rect">
            <a:avLst/>
          </a:prstGeom>
          <a:noFill/>
          <a:ln/>
        </p:spPr>
        <p:txBody>
          <a:bodyPr wrap="square" rtlCol="0" anchor="t"/>
          <a:lstStyle/>
          <a:p>
            <a:pPr marL="0" indent="0">
              <a:buNone/>
            </a:pPr>
            <a:r>
              <a:rPr lang="en-US" sz="1900" dirty="0">
                <a:solidFill>
                  <a:srgbClr val="212121"/>
                </a:solidFill>
                <a:latin typeface="Arial" pitchFamily="34" charset="0"/>
                <a:ea typeface="Arial" pitchFamily="34" charset="-122"/>
                <a:cs typeface="Arial" pitchFamily="34" charset="-120"/>
              </a:rPr>
              <a:t>El mecanismo se repite hacia arriba. Así se ve la cadena completa en el controller de la librería:</a:t>
            </a:r>
            <a:endParaRPr lang="en-US" sz="1900" dirty="0"/>
          </a:p>
        </p:txBody>
      </p:sp>
      <p:sp>
        <p:nvSpPr>
          <p:cNvPr id="6" name="Shape 4"/>
          <p:cNvSpPr/>
          <p:nvPr/>
        </p:nvSpPr>
        <p:spPr>
          <a:xfrm>
            <a:off x="548640" y="1783080"/>
            <a:ext cx="11091672" cy="3200400"/>
          </a:xfrm>
          <a:prstGeom prst="rect">
            <a:avLst/>
          </a:prstGeom>
          <a:solidFill>
            <a:srgbClr val="ECEFF1"/>
          </a:solidFill>
          <a:ln w="12700">
            <a:solidFill>
              <a:srgbClr val="EEEEEE"/>
            </a:solidFill>
            <a:prstDash val="solid"/>
          </a:ln>
        </p:spPr>
        <p:txBody>
          <a:bodyPr/>
          <a:lstStyle/>
          <a:p>
            <a:endParaRPr lang="es-ES"/>
          </a:p>
        </p:txBody>
      </p:sp>
      <p:sp>
        <p:nvSpPr>
          <p:cNvPr id="7" name="Shape 5"/>
          <p:cNvSpPr/>
          <p:nvPr/>
        </p:nvSpPr>
        <p:spPr>
          <a:xfrm>
            <a:off x="548640" y="1783080"/>
            <a:ext cx="73152" cy="3200400"/>
          </a:xfrm>
          <a:prstGeom prst="rect">
            <a:avLst/>
          </a:prstGeom>
          <a:solidFill>
            <a:srgbClr val="E64A19"/>
          </a:solidFill>
          <a:ln w="12700">
            <a:solidFill>
              <a:srgbClr val="E64A19"/>
            </a:solidFill>
            <a:prstDash val="solid"/>
          </a:ln>
        </p:spPr>
        <p:txBody>
          <a:bodyPr/>
          <a:lstStyle/>
          <a:p>
            <a:endParaRPr lang="es-ES"/>
          </a:p>
        </p:txBody>
      </p:sp>
      <p:sp>
        <p:nvSpPr>
          <p:cNvPr id="8" name="Text 6"/>
          <p:cNvSpPr/>
          <p:nvPr/>
        </p:nvSpPr>
        <p:spPr>
          <a:xfrm>
            <a:off x="822960" y="1892808"/>
            <a:ext cx="10588752" cy="2980944"/>
          </a:xfrm>
          <a:prstGeom prst="rect">
            <a:avLst/>
          </a:prstGeom>
          <a:noFill/>
          <a:ln/>
        </p:spPr>
        <p:txBody>
          <a:bodyPr wrap="square" rtlCol="0" anchor="t"/>
          <a:lstStyle/>
          <a:p>
            <a:pPr marL="0" indent="0">
              <a:buNone/>
            </a:pPr>
            <a:r>
              <a:rPr lang="en-US" sz="1600" dirty="0">
                <a:solidFill>
                  <a:srgbClr val="263238"/>
                </a:solidFill>
                <a:latin typeface="Courier New" pitchFamily="34" charset="0"/>
                <a:ea typeface="Courier New" pitchFamily="34" charset="-122"/>
                <a:cs typeface="Courier New" pitchFamily="34" charset="-120"/>
              </a:rPr>
              <a:t>@RestController</a:t>
            </a:r>
            <a:endParaRPr lang="en-US" sz="1600" dirty="0"/>
          </a:p>
          <a:p>
            <a:pPr marL="0" indent="0">
              <a:buNone/>
            </a:pPr>
            <a:r>
              <a:rPr lang="en-US" sz="1600" dirty="0">
                <a:solidFill>
                  <a:srgbClr val="263238"/>
                </a:solidFill>
                <a:latin typeface="Courier New" pitchFamily="34" charset="0"/>
                <a:ea typeface="Courier New" pitchFamily="34" charset="-122"/>
                <a:cs typeface="Courier New" pitchFamily="34" charset="-120"/>
              </a:rPr>
              <a:t>@RequestMapping("/api/v1/libros")</a:t>
            </a:r>
            <a:endParaRPr lang="en-US" sz="1600" dirty="0"/>
          </a:p>
          <a:p>
            <a:pPr marL="0" indent="0">
              <a:buNone/>
            </a:pPr>
            <a:r>
              <a:rPr lang="en-US" sz="1600" dirty="0">
                <a:solidFill>
                  <a:srgbClr val="263238"/>
                </a:solidFill>
                <a:latin typeface="Courier New" pitchFamily="34" charset="0"/>
                <a:ea typeface="Courier New" pitchFamily="34" charset="-122"/>
                <a:cs typeface="Courier New" pitchFamily="34" charset="-120"/>
              </a:rPr>
              <a:t>public class LibroController {</a:t>
            </a:r>
            <a:endParaRPr lang="en-US" sz="1600" dirty="0"/>
          </a:p>
          <a:p>
            <a:pPr marL="0" indent="0">
              <a:buNone/>
            </a:pPr>
            <a:r>
              <a:rPr lang="en-US" sz="1600" dirty="0">
                <a:solidFill>
                  <a:srgbClr val="263238"/>
                </a:solidFill>
                <a:latin typeface="Courier New" pitchFamily="34" charset="0"/>
                <a:ea typeface="Courier New" pitchFamily="34" charset="-122"/>
                <a:cs typeface="Courier New" pitchFamily="34" charset="-120"/>
              </a:rPr>
              <a:t>    private final LibroService libroService;</a:t>
            </a:r>
            <a:endParaRPr lang="en-US" sz="1600" dirty="0"/>
          </a:p>
          <a:p>
            <a:pPr marL="0" indent="0">
              <a:buNone/>
            </a:pPr>
            <a:r>
              <a:rPr lang="en-US" sz="1600" dirty="0">
                <a:solidFill>
                  <a:srgbClr val="263238"/>
                </a:solidFill>
                <a:latin typeface="Courier New" pitchFamily="34" charset="0"/>
                <a:ea typeface="Courier New" pitchFamily="34" charset="-122"/>
                <a:cs typeface="Courier New" pitchFamily="34" charset="-120"/>
              </a:rPr>
              <a:t>    public LibroController(LibroService libroService) {</a:t>
            </a:r>
            <a:endParaRPr lang="en-US" sz="1600" dirty="0"/>
          </a:p>
          <a:p>
            <a:pPr marL="0" indent="0">
              <a:buNone/>
            </a:pPr>
            <a:r>
              <a:rPr lang="en-US" sz="1600" dirty="0">
                <a:solidFill>
                  <a:srgbClr val="263238"/>
                </a:solidFill>
                <a:latin typeface="Courier New" pitchFamily="34" charset="0"/>
                <a:ea typeface="Courier New" pitchFamily="34" charset="-122"/>
                <a:cs typeface="Courier New" pitchFamily="34" charset="-120"/>
              </a:rPr>
              <a:t>        this.libroService = libroService;</a:t>
            </a:r>
            <a:endParaRPr lang="en-US" sz="1600" dirty="0"/>
          </a:p>
          <a:p>
            <a:pPr marL="0" indent="0">
              <a:buNone/>
            </a:pPr>
            <a:r>
              <a:rPr lang="en-US" sz="1600" dirty="0">
                <a:solidFill>
                  <a:srgbClr val="263238"/>
                </a:solidFill>
                <a:latin typeface="Courier New" pitchFamily="34" charset="0"/>
                <a:ea typeface="Courier New" pitchFamily="34" charset="-122"/>
                <a:cs typeface="Courier New" pitchFamily="34" charset="-120"/>
              </a:rPr>
              <a:t>    }</a:t>
            </a:r>
            <a:endParaRPr lang="en-US" sz="1600" dirty="0"/>
          </a:p>
          <a:p>
            <a:pPr marL="0" indent="0">
              <a:buNone/>
            </a:pPr>
            <a:r>
              <a:rPr lang="en-US" sz="1600" dirty="0">
                <a:solidFill>
                  <a:srgbClr val="263238"/>
                </a:solidFill>
                <a:latin typeface="Courier New" pitchFamily="34" charset="0"/>
                <a:ea typeface="Courier New" pitchFamily="34" charset="-122"/>
                <a:cs typeface="Courier New" pitchFamily="34" charset="-120"/>
              </a:rPr>
              <a:t>    @GetMapping("/{id}")</a:t>
            </a:r>
            <a:endParaRPr lang="en-US" sz="1600" dirty="0"/>
          </a:p>
          <a:p>
            <a:pPr marL="0" indent="0">
              <a:buNone/>
            </a:pPr>
            <a:r>
              <a:rPr lang="en-US" sz="1600" dirty="0">
                <a:solidFill>
                  <a:srgbClr val="263238"/>
                </a:solidFill>
                <a:latin typeface="Courier New" pitchFamily="34" charset="0"/>
                <a:ea typeface="Courier New" pitchFamily="34" charset="-122"/>
                <a:cs typeface="Courier New" pitchFamily="34" charset="-120"/>
              </a:rPr>
              <a:t>    public ResponseEntity&lt;LibroDTO&gt; getById(@PathVariable Long id) {</a:t>
            </a:r>
            <a:endParaRPr lang="en-US" sz="1600" dirty="0"/>
          </a:p>
          <a:p>
            <a:pPr marL="0" indent="0">
              <a:buNone/>
            </a:pPr>
            <a:r>
              <a:rPr lang="en-US" sz="1600" dirty="0">
                <a:solidFill>
                  <a:srgbClr val="263238"/>
                </a:solidFill>
                <a:latin typeface="Courier New" pitchFamily="34" charset="0"/>
                <a:ea typeface="Courier New" pitchFamily="34" charset="-122"/>
                <a:cs typeface="Courier New" pitchFamily="34" charset="-120"/>
              </a:rPr>
              <a:t>        return ResponseEntity.ok(libroService.findById(id));</a:t>
            </a:r>
            <a:endParaRPr lang="en-US" sz="1600" dirty="0"/>
          </a:p>
          <a:p>
            <a:pPr marL="0" indent="0">
              <a:buNone/>
            </a:pPr>
            <a:r>
              <a:rPr lang="en-US" sz="1600" dirty="0">
                <a:solidFill>
                  <a:srgbClr val="263238"/>
                </a:solidFill>
                <a:latin typeface="Courier New" pitchFamily="34" charset="0"/>
                <a:ea typeface="Courier New" pitchFamily="34" charset="-122"/>
                <a:cs typeface="Courier New" pitchFamily="34" charset="-120"/>
              </a:rPr>
              <a:t>    }</a:t>
            </a:r>
            <a:endParaRPr lang="en-US" sz="1600" dirty="0"/>
          </a:p>
          <a:p>
            <a:pPr marL="0" indent="0">
              <a:buNone/>
            </a:pPr>
            <a:r>
              <a:rPr lang="en-US" sz="1600" dirty="0">
                <a:solidFill>
                  <a:srgbClr val="263238"/>
                </a:solidFill>
                <a:latin typeface="Courier New" pitchFamily="34" charset="0"/>
                <a:ea typeface="Courier New" pitchFamily="34" charset="-122"/>
                <a:cs typeface="Courier New" pitchFamily="34" charset="-120"/>
              </a:rPr>
              <a:t>}</a:t>
            </a:r>
            <a:endParaRPr lang="en-US" sz="1600" dirty="0"/>
          </a:p>
        </p:txBody>
      </p:sp>
      <p:sp>
        <p:nvSpPr>
          <p:cNvPr id="9" name="Text 7"/>
          <p:cNvSpPr/>
          <p:nvPr/>
        </p:nvSpPr>
        <p:spPr>
          <a:xfrm>
            <a:off x="548640" y="5257800"/>
            <a:ext cx="11091672" cy="777240"/>
          </a:xfrm>
          <a:prstGeom prst="rect">
            <a:avLst/>
          </a:prstGeom>
          <a:noFill/>
          <a:ln/>
        </p:spPr>
        <p:txBody>
          <a:bodyPr wrap="square" rtlCol="0" anchor="t"/>
          <a:lstStyle/>
          <a:p>
            <a:pPr marL="0" indent="0">
              <a:buNone/>
            </a:pPr>
            <a:r>
              <a:rPr lang="en-US" sz="1600" dirty="0">
                <a:solidFill>
                  <a:srgbClr val="757575"/>
                </a:solidFill>
                <a:latin typeface="Arial" pitchFamily="34" charset="0"/>
                <a:ea typeface="Arial" pitchFamily="34" charset="-122"/>
                <a:cs typeface="Arial" pitchFamily="34" charset="-120"/>
              </a:rPr>
              <a:t>No hace falta entender todavía @GetMapping, @PathVariable ni ResponseEntity — son de HTTP/REST y las verás en detalle en PSP. Aquí solo interesa la forma: controller → service → repository, cada uno con su responsabilidad, sin saltarse capas.</a:t>
            </a:r>
            <a:endParaRPr lang="en-US" sz="1600" dirty="0"/>
          </a:p>
        </p:txBody>
      </p:sp>
    </p:spTree>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name="Slide 16">
    <p:spTree>
      <p:nvGrpSpPr>
        <p:cNvPr id="1" name=""/>
        <p:cNvGrpSpPr/>
        <p:nvPr/>
      </p:nvGrpSpPr>
      <p:grpSpPr>
        <a:xfrm>
          <a:off x="0" y="0"/>
          <a:ext cx="0" cy="0"/>
          <a:chOff x="0" y="0"/>
          <a:chExt cx="0" cy="0"/>
        </a:xfrm>
      </p:grpSpPr>
      <p:sp>
        <p:nvSpPr>
          <p:cNvPr id="2" name="Shape 0"/>
          <p:cNvSpPr/>
          <p:nvPr/>
        </p:nvSpPr>
        <p:spPr>
          <a:xfrm>
            <a:off x="0" y="0"/>
            <a:ext cx="12188952" cy="777240"/>
          </a:xfrm>
          <a:prstGeom prst="rect">
            <a:avLst/>
          </a:prstGeom>
          <a:solidFill>
            <a:srgbClr val="7F0000"/>
          </a:solidFill>
          <a:ln w="12700">
            <a:solidFill>
              <a:srgbClr val="7F0000"/>
            </a:solidFill>
            <a:prstDash val="solid"/>
          </a:ln>
        </p:spPr>
        <p:txBody>
          <a:bodyPr/>
          <a:lstStyle/>
          <a:p>
            <a:endParaRPr lang="es-ES"/>
          </a:p>
        </p:txBody>
      </p:sp>
      <p:sp>
        <p:nvSpPr>
          <p:cNvPr id="3" name="Text 1"/>
          <p:cNvSpPr/>
          <p:nvPr/>
        </p:nvSpPr>
        <p:spPr>
          <a:xfrm>
            <a:off x="365760" y="0"/>
            <a:ext cx="11457432" cy="777240"/>
          </a:xfrm>
          <a:prstGeom prst="rect">
            <a:avLst/>
          </a:prstGeom>
          <a:noFill/>
          <a:ln/>
        </p:spPr>
        <p:txBody>
          <a:bodyPr wrap="square" rtlCol="0" anchor="ctr"/>
          <a:lstStyle/>
          <a:p>
            <a:pPr marL="0" indent="0">
              <a:buNone/>
            </a:pPr>
            <a:r>
              <a:rPr lang="en-US" sz="2600" b="1" dirty="0">
                <a:solidFill>
                  <a:srgbClr val="FFFFFF"/>
                </a:solidFill>
                <a:latin typeface="Arial" pitchFamily="34" charset="0"/>
                <a:ea typeface="Arial" pitchFamily="34" charset="-122"/>
                <a:cs typeface="Arial" pitchFamily="34" charset="-120"/>
              </a:rPr>
              <a:t>El punto de arranque de la aplicación</a:t>
            </a:r>
            <a:endParaRPr lang="en-US" sz="2600" dirty="0"/>
          </a:p>
        </p:txBody>
      </p:sp>
      <p:sp>
        <p:nvSpPr>
          <p:cNvPr id="4" name="Text 2"/>
          <p:cNvSpPr/>
          <p:nvPr/>
        </p:nvSpPr>
        <p:spPr>
          <a:xfrm>
            <a:off x="548640" y="6473952"/>
            <a:ext cx="11091672" cy="292608"/>
          </a:xfrm>
          <a:prstGeom prst="rect">
            <a:avLst/>
          </a:prstGeom>
          <a:noFill/>
          <a:ln/>
        </p:spPr>
        <p:txBody>
          <a:bodyPr wrap="square" rtlCol="0" anchor="ctr"/>
          <a:lstStyle/>
          <a:p>
            <a:pPr marL="0" indent="0" algn="r">
              <a:buNone/>
            </a:pPr>
            <a:r>
              <a:rPr lang="en-US" sz="1100" dirty="0">
                <a:solidFill>
                  <a:srgbClr val="757575"/>
                </a:solidFill>
                <a:latin typeface="Arial" pitchFamily="34" charset="0"/>
                <a:ea typeface="Arial" pitchFamily="34" charset="-122"/>
                <a:cs typeface="Arial" pitchFamily="34" charset="-120"/>
              </a:rPr>
              <a:t>Acceso a Datos — Tema 1: Fundamentos de Spring Boot</a:t>
            </a:r>
            <a:endParaRPr lang="en-US" sz="1100" dirty="0"/>
          </a:p>
        </p:txBody>
      </p:sp>
      <p:sp>
        <p:nvSpPr>
          <p:cNvPr id="5" name="Text 3"/>
          <p:cNvSpPr/>
          <p:nvPr/>
        </p:nvSpPr>
        <p:spPr>
          <a:xfrm>
            <a:off x="548640" y="1280160"/>
            <a:ext cx="11091672" cy="502920"/>
          </a:xfrm>
          <a:prstGeom prst="rect">
            <a:avLst/>
          </a:prstGeom>
          <a:noFill/>
          <a:ln/>
        </p:spPr>
        <p:txBody>
          <a:bodyPr wrap="square" rtlCol="0" anchor="t"/>
          <a:lstStyle/>
          <a:p>
            <a:pPr marL="0" indent="0">
              <a:buNone/>
            </a:pPr>
            <a:r>
              <a:rPr lang="en-US" sz="2000" dirty="0">
                <a:solidFill>
                  <a:srgbClr val="212121"/>
                </a:solidFill>
                <a:latin typeface="Arial" pitchFamily="34" charset="0"/>
                <a:ea typeface="Arial" pitchFamily="34" charset="-122"/>
                <a:cs typeface="Arial" pitchFamily="34" charset="-120"/>
              </a:rPr>
              <a:t>Toda aplicación Spring Boot tiene una clase con un main() que la arranca:</a:t>
            </a:r>
            <a:endParaRPr lang="en-US" sz="2000" dirty="0"/>
          </a:p>
        </p:txBody>
      </p:sp>
      <p:sp>
        <p:nvSpPr>
          <p:cNvPr id="6" name="Shape 4"/>
          <p:cNvSpPr/>
          <p:nvPr/>
        </p:nvSpPr>
        <p:spPr>
          <a:xfrm>
            <a:off x="548640" y="2057400"/>
            <a:ext cx="11091672" cy="2377440"/>
          </a:xfrm>
          <a:prstGeom prst="rect">
            <a:avLst/>
          </a:prstGeom>
          <a:solidFill>
            <a:srgbClr val="ECEFF1"/>
          </a:solidFill>
          <a:ln w="12700">
            <a:solidFill>
              <a:srgbClr val="EEEEEE"/>
            </a:solidFill>
            <a:prstDash val="solid"/>
          </a:ln>
        </p:spPr>
        <p:txBody>
          <a:bodyPr/>
          <a:lstStyle/>
          <a:p>
            <a:endParaRPr lang="es-ES"/>
          </a:p>
        </p:txBody>
      </p:sp>
      <p:sp>
        <p:nvSpPr>
          <p:cNvPr id="7" name="Shape 5"/>
          <p:cNvSpPr/>
          <p:nvPr/>
        </p:nvSpPr>
        <p:spPr>
          <a:xfrm>
            <a:off x="548640" y="2057400"/>
            <a:ext cx="73152" cy="2377440"/>
          </a:xfrm>
          <a:prstGeom prst="rect">
            <a:avLst/>
          </a:prstGeom>
          <a:solidFill>
            <a:srgbClr val="E64A19"/>
          </a:solidFill>
          <a:ln w="12700">
            <a:solidFill>
              <a:srgbClr val="E64A19"/>
            </a:solidFill>
            <a:prstDash val="solid"/>
          </a:ln>
        </p:spPr>
        <p:txBody>
          <a:bodyPr/>
          <a:lstStyle/>
          <a:p>
            <a:endParaRPr lang="es-ES"/>
          </a:p>
        </p:txBody>
      </p:sp>
      <p:sp>
        <p:nvSpPr>
          <p:cNvPr id="8" name="Text 6"/>
          <p:cNvSpPr/>
          <p:nvPr/>
        </p:nvSpPr>
        <p:spPr>
          <a:xfrm>
            <a:off x="822960" y="2167128"/>
            <a:ext cx="10588752" cy="2157984"/>
          </a:xfrm>
          <a:prstGeom prst="rect">
            <a:avLst/>
          </a:prstGeom>
          <a:noFill/>
          <a:ln/>
        </p:spPr>
        <p:txBody>
          <a:bodyPr wrap="square" rtlCol="0" anchor="t"/>
          <a:lstStyle/>
          <a:p>
            <a:pPr marL="0" indent="0">
              <a:buNone/>
            </a:pPr>
            <a:r>
              <a:rPr lang="en-US" sz="1900" dirty="0">
                <a:solidFill>
                  <a:srgbClr val="263238"/>
                </a:solidFill>
                <a:latin typeface="Courier New" pitchFamily="34" charset="0"/>
                <a:ea typeface="Courier New" pitchFamily="34" charset="-122"/>
                <a:cs typeface="Courier New" pitchFamily="34" charset="-120"/>
              </a:rPr>
              <a:t>@SpringBootApplication</a:t>
            </a:r>
            <a:endParaRPr lang="en-US" sz="1900" dirty="0"/>
          </a:p>
          <a:p>
            <a:pPr marL="0" indent="0">
              <a:buNone/>
            </a:pPr>
            <a:r>
              <a:rPr lang="en-US" sz="1900" dirty="0">
                <a:solidFill>
                  <a:srgbClr val="263238"/>
                </a:solidFill>
                <a:latin typeface="Courier New" pitchFamily="34" charset="0"/>
                <a:ea typeface="Courier New" pitchFamily="34" charset="-122"/>
                <a:cs typeface="Courier New" pitchFamily="34" charset="-120"/>
              </a:rPr>
              <a:t>public class LibreriaApplication {</a:t>
            </a:r>
            <a:endParaRPr lang="en-US" sz="1900" dirty="0"/>
          </a:p>
          <a:p>
            <a:pPr marL="0" indent="0">
              <a:buNone/>
            </a:pPr>
            <a:endParaRPr lang="en-US" sz="1900" dirty="0"/>
          </a:p>
          <a:p>
            <a:pPr marL="0" indent="0">
              <a:buNone/>
            </a:pPr>
            <a:r>
              <a:rPr lang="en-US" sz="1900" dirty="0">
                <a:solidFill>
                  <a:srgbClr val="263238"/>
                </a:solidFill>
                <a:latin typeface="Courier New" pitchFamily="34" charset="0"/>
                <a:ea typeface="Courier New" pitchFamily="34" charset="-122"/>
                <a:cs typeface="Courier New" pitchFamily="34" charset="-120"/>
              </a:rPr>
              <a:t>    static void main(String[] args) {</a:t>
            </a:r>
            <a:endParaRPr lang="en-US" sz="1900" dirty="0"/>
          </a:p>
          <a:p>
            <a:pPr marL="0" indent="0">
              <a:buNone/>
            </a:pPr>
            <a:r>
              <a:rPr lang="en-US" sz="1900" dirty="0">
                <a:solidFill>
                  <a:srgbClr val="263238"/>
                </a:solidFill>
                <a:latin typeface="Courier New" pitchFamily="34" charset="0"/>
                <a:ea typeface="Courier New" pitchFamily="34" charset="-122"/>
                <a:cs typeface="Courier New" pitchFamily="34" charset="-120"/>
              </a:rPr>
              <a:t>        SpringApplication.run(LibreriaApplication.class, args);</a:t>
            </a:r>
            <a:endParaRPr lang="en-US" sz="1900" dirty="0"/>
          </a:p>
          <a:p>
            <a:pPr marL="0" indent="0">
              <a:buNone/>
            </a:pPr>
            <a:r>
              <a:rPr lang="en-US" sz="1900" dirty="0">
                <a:solidFill>
                  <a:srgbClr val="263238"/>
                </a:solidFill>
                <a:latin typeface="Courier New" pitchFamily="34" charset="0"/>
                <a:ea typeface="Courier New" pitchFamily="34" charset="-122"/>
                <a:cs typeface="Courier New" pitchFamily="34" charset="-120"/>
              </a:rPr>
              <a:t>    }</a:t>
            </a:r>
            <a:endParaRPr lang="en-US" sz="1900" dirty="0"/>
          </a:p>
          <a:p>
            <a:pPr marL="0" indent="0">
              <a:buNone/>
            </a:pPr>
            <a:r>
              <a:rPr lang="en-US" sz="1900" dirty="0">
                <a:solidFill>
                  <a:srgbClr val="263238"/>
                </a:solidFill>
                <a:latin typeface="Courier New" pitchFamily="34" charset="0"/>
                <a:ea typeface="Courier New" pitchFamily="34" charset="-122"/>
                <a:cs typeface="Courier New" pitchFamily="34" charset="-120"/>
              </a:rPr>
              <a:t>}</a:t>
            </a:r>
            <a:endParaRPr lang="en-US" sz="1900" dirty="0"/>
          </a:p>
        </p:txBody>
      </p:sp>
      <p:sp>
        <p:nvSpPr>
          <p:cNvPr id="9" name="Shape 7"/>
          <p:cNvSpPr/>
          <p:nvPr/>
        </p:nvSpPr>
        <p:spPr>
          <a:xfrm>
            <a:off x="548640" y="4754880"/>
            <a:ext cx="11091672" cy="1188720"/>
          </a:xfrm>
          <a:prstGeom prst="roundRect">
            <a:avLst/>
          </a:prstGeom>
          <a:solidFill>
            <a:srgbClr val="FBE9E7"/>
          </a:solidFill>
          <a:ln w="19050">
            <a:solidFill>
              <a:srgbClr val="E64A19"/>
            </a:solidFill>
            <a:prstDash val="solid"/>
          </a:ln>
        </p:spPr>
        <p:txBody>
          <a:bodyPr/>
          <a:lstStyle/>
          <a:p>
            <a:endParaRPr lang="es-ES"/>
          </a:p>
        </p:txBody>
      </p:sp>
      <p:sp>
        <p:nvSpPr>
          <p:cNvPr id="10" name="Text 8"/>
          <p:cNvSpPr/>
          <p:nvPr/>
        </p:nvSpPr>
        <p:spPr>
          <a:xfrm>
            <a:off x="822960" y="4846320"/>
            <a:ext cx="10543032" cy="1005840"/>
          </a:xfrm>
          <a:prstGeom prst="rect">
            <a:avLst/>
          </a:prstGeom>
          <a:noFill/>
          <a:ln/>
        </p:spPr>
        <p:txBody>
          <a:bodyPr wrap="square" rtlCol="0" anchor="ctr"/>
          <a:lstStyle/>
          <a:p>
            <a:pPr marL="0" indent="0">
              <a:buNone/>
            </a:pPr>
            <a:r>
              <a:rPr lang="en-US" sz="1800" dirty="0">
                <a:solidFill>
                  <a:srgbClr val="212121"/>
                </a:solidFill>
                <a:latin typeface="Arial" pitchFamily="34" charset="0"/>
                <a:ea typeface="Arial" pitchFamily="34" charset="-122"/>
                <a:cs typeface="Arial" pitchFamily="34" charset="-120"/>
              </a:rPr>
              <a:t>@SpringBootApplication le dice a Spring Boot "escanea este paquete y los que cuelgan de él buscando beans, y configúrate automáticamente según lo que encuentres en el classpath". SpringApplication.run(...) arranca de verdad el servidor embebido y deja la aplicación escuchando.</a:t>
            </a:r>
            <a:endParaRPr lang="en-US" sz="1800" dirty="0"/>
          </a:p>
        </p:txBody>
      </p:sp>
    </p:spTree>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name="Slide 17">
    <p:spTree>
      <p:nvGrpSpPr>
        <p:cNvPr id="1" name=""/>
        <p:cNvGrpSpPr/>
        <p:nvPr/>
      </p:nvGrpSpPr>
      <p:grpSpPr>
        <a:xfrm>
          <a:off x="0" y="0"/>
          <a:ext cx="0" cy="0"/>
          <a:chOff x="0" y="0"/>
          <a:chExt cx="0" cy="0"/>
        </a:xfrm>
      </p:grpSpPr>
      <p:sp>
        <p:nvSpPr>
          <p:cNvPr id="2" name="Shape 0"/>
          <p:cNvSpPr/>
          <p:nvPr/>
        </p:nvSpPr>
        <p:spPr>
          <a:xfrm>
            <a:off x="0" y="0"/>
            <a:ext cx="12188952" cy="777240"/>
          </a:xfrm>
          <a:prstGeom prst="rect">
            <a:avLst/>
          </a:prstGeom>
          <a:solidFill>
            <a:srgbClr val="7F0000"/>
          </a:solidFill>
          <a:ln w="12700">
            <a:solidFill>
              <a:srgbClr val="7F0000"/>
            </a:solidFill>
            <a:prstDash val="solid"/>
          </a:ln>
        </p:spPr>
        <p:txBody>
          <a:bodyPr/>
          <a:lstStyle/>
          <a:p>
            <a:endParaRPr lang="es-ES"/>
          </a:p>
        </p:txBody>
      </p:sp>
      <p:sp>
        <p:nvSpPr>
          <p:cNvPr id="3" name="Text 1"/>
          <p:cNvSpPr/>
          <p:nvPr/>
        </p:nvSpPr>
        <p:spPr>
          <a:xfrm>
            <a:off x="365760" y="0"/>
            <a:ext cx="11457432" cy="777240"/>
          </a:xfrm>
          <a:prstGeom prst="rect">
            <a:avLst/>
          </a:prstGeom>
          <a:noFill/>
          <a:ln/>
        </p:spPr>
        <p:txBody>
          <a:bodyPr wrap="square" rtlCol="0" anchor="ctr"/>
          <a:lstStyle/>
          <a:p>
            <a:pPr marL="0" indent="0">
              <a:buNone/>
            </a:pPr>
            <a:r>
              <a:rPr lang="en-US" sz="2600" b="1" dirty="0">
                <a:solidFill>
                  <a:srgbClr val="FFFFFF"/>
                </a:solidFill>
                <a:latin typeface="Arial" pitchFamily="34" charset="0"/>
                <a:ea typeface="Arial" pitchFamily="34" charset="-122"/>
                <a:cs typeface="Arial" pitchFamily="34" charset="-120"/>
              </a:rPr>
              <a:t>El @RequiredArgsConstructor de Lombok</a:t>
            </a:r>
            <a:endParaRPr lang="en-US" sz="2600" dirty="0"/>
          </a:p>
        </p:txBody>
      </p:sp>
      <p:sp>
        <p:nvSpPr>
          <p:cNvPr id="4" name="Text 2"/>
          <p:cNvSpPr/>
          <p:nvPr/>
        </p:nvSpPr>
        <p:spPr>
          <a:xfrm>
            <a:off x="548640" y="6473952"/>
            <a:ext cx="11091672" cy="292608"/>
          </a:xfrm>
          <a:prstGeom prst="rect">
            <a:avLst/>
          </a:prstGeom>
          <a:noFill/>
          <a:ln/>
        </p:spPr>
        <p:txBody>
          <a:bodyPr wrap="square" rtlCol="0" anchor="ctr"/>
          <a:lstStyle/>
          <a:p>
            <a:pPr marL="0" indent="0" algn="r">
              <a:buNone/>
            </a:pPr>
            <a:r>
              <a:rPr lang="en-US" sz="1100" dirty="0">
                <a:solidFill>
                  <a:srgbClr val="757575"/>
                </a:solidFill>
                <a:latin typeface="Arial" pitchFamily="34" charset="0"/>
                <a:ea typeface="Arial" pitchFamily="34" charset="-122"/>
                <a:cs typeface="Arial" pitchFamily="34" charset="-120"/>
              </a:rPr>
              <a:t>Acceso a Datos — Tema 1: Fundamentos de Spring Boot</a:t>
            </a:r>
            <a:endParaRPr lang="en-US" sz="1100" dirty="0"/>
          </a:p>
        </p:txBody>
      </p:sp>
      <p:sp>
        <p:nvSpPr>
          <p:cNvPr id="5" name="Text 3"/>
          <p:cNvSpPr/>
          <p:nvPr/>
        </p:nvSpPr>
        <p:spPr>
          <a:xfrm>
            <a:off x="548640" y="1280160"/>
            <a:ext cx="11091672" cy="1188720"/>
          </a:xfrm>
          <a:prstGeom prst="rect">
            <a:avLst/>
          </a:prstGeom>
          <a:noFill/>
          <a:ln/>
        </p:spPr>
        <p:txBody>
          <a:bodyPr wrap="square" rtlCol="0" anchor="t"/>
          <a:lstStyle/>
          <a:p>
            <a:pPr marL="0" indent="0">
              <a:buNone/>
            </a:pPr>
            <a:r>
              <a:rPr lang="en-US" sz="1900" dirty="0">
                <a:solidFill>
                  <a:srgbClr val="212121"/>
                </a:solidFill>
                <a:latin typeface="Arial" pitchFamily="34" charset="0"/>
                <a:ea typeface="Arial" pitchFamily="34" charset="-122"/>
                <a:cs typeface="Arial" pitchFamily="34" charset="-120"/>
              </a:rPr>
              <a:t>Escribir a mano el constructor de inyección de cada clase se vuelve repetitivo enseguida. Lombok genera código repetitivo por ti a partir de anotaciones; @RequiredArgsConstructor genera automáticamente un constructor con un parámetro por cada campo final de la clase:</a:t>
            </a:r>
            <a:endParaRPr lang="en-US" sz="1900" dirty="0"/>
          </a:p>
        </p:txBody>
      </p:sp>
      <p:sp>
        <p:nvSpPr>
          <p:cNvPr id="6" name="Shape 4"/>
          <p:cNvSpPr/>
          <p:nvPr/>
        </p:nvSpPr>
        <p:spPr>
          <a:xfrm>
            <a:off x="548640" y="2743200"/>
            <a:ext cx="11091672" cy="2468880"/>
          </a:xfrm>
          <a:prstGeom prst="rect">
            <a:avLst/>
          </a:prstGeom>
          <a:solidFill>
            <a:srgbClr val="ECEFF1"/>
          </a:solidFill>
          <a:ln w="12700">
            <a:solidFill>
              <a:srgbClr val="EEEEEE"/>
            </a:solidFill>
            <a:prstDash val="solid"/>
          </a:ln>
        </p:spPr>
        <p:txBody>
          <a:bodyPr/>
          <a:lstStyle/>
          <a:p>
            <a:endParaRPr lang="es-ES"/>
          </a:p>
        </p:txBody>
      </p:sp>
      <p:sp>
        <p:nvSpPr>
          <p:cNvPr id="7" name="Shape 5"/>
          <p:cNvSpPr/>
          <p:nvPr/>
        </p:nvSpPr>
        <p:spPr>
          <a:xfrm>
            <a:off x="548640" y="2743200"/>
            <a:ext cx="73152" cy="2468880"/>
          </a:xfrm>
          <a:prstGeom prst="rect">
            <a:avLst/>
          </a:prstGeom>
          <a:solidFill>
            <a:srgbClr val="E64A19"/>
          </a:solidFill>
          <a:ln w="12700">
            <a:solidFill>
              <a:srgbClr val="E64A19"/>
            </a:solidFill>
            <a:prstDash val="solid"/>
          </a:ln>
        </p:spPr>
        <p:txBody>
          <a:bodyPr/>
          <a:lstStyle/>
          <a:p>
            <a:endParaRPr lang="es-ES"/>
          </a:p>
        </p:txBody>
      </p:sp>
      <p:sp>
        <p:nvSpPr>
          <p:cNvPr id="8" name="Text 6"/>
          <p:cNvSpPr/>
          <p:nvPr/>
        </p:nvSpPr>
        <p:spPr>
          <a:xfrm>
            <a:off x="822960" y="2852928"/>
            <a:ext cx="10588752" cy="2249424"/>
          </a:xfrm>
          <a:prstGeom prst="rect">
            <a:avLst/>
          </a:prstGeom>
          <a:noFill/>
          <a:ln/>
        </p:spPr>
        <p:txBody>
          <a:bodyPr wrap="square" rtlCol="0" anchor="t"/>
          <a:lstStyle/>
          <a:p>
            <a:pPr marL="0" indent="0">
              <a:buNone/>
            </a:pPr>
            <a:r>
              <a:rPr lang="en-US" sz="1700" dirty="0">
                <a:solidFill>
                  <a:srgbClr val="263238"/>
                </a:solidFill>
                <a:latin typeface="Courier New" pitchFamily="34" charset="0"/>
                <a:ea typeface="Courier New" pitchFamily="34" charset="-122"/>
                <a:cs typeface="Courier New" pitchFamily="34" charset="-120"/>
              </a:rPr>
              <a:t>@Service</a:t>
            </a:r>
            <a:endParaRPr lang="en-US" sz="1700" dirty="0"/>
          </a:p>
          <a:p>
            <a:pPr marL="0" indent="0">
              <a:buNone/>
            </a:pPr>
            <a:r>
              <a:rPr lang="en-US" sz="1700" dirty="0">
                <a:solidFill>
                  <a:srgbClr val="263238"/>
                </a:solidFill>
                <a:latin typeface="Courier New" pitchFamily="34" charset="0"/>
                <a:ea typeface="Courier New" pitchFamily="34" charset="-122"/>
                <a:cs typeface="Courier New" pitchFamily="34" charset="-120"/>
              </a:rPr>
              <a:t>@RequiredArgsConstructor</a:t>
            </a:r>
            <a:endParaRPr lang="en-US" sz="1700" dirty="0"/>
          </a:p>
          <a:p>
            <a:pPr marL="0" indent="0">
              <a:buNone/>
            </a:pPr>
            <a:r>
              <a:rPr lang="en-US" sz="1700" dirty="0">
                <a:solidFill>
                  <a:srgbClr val="263238"/>
                </a:solidFill>
                <a:latin typeface="Courier New" pitchFamily="34" charset="0"/>
                <a:ea typeface="Courier New" pitchFamily="34" charset="-122"/>
                <a:cs typeface="Courier New" pitchFamily="34" charset="-120"/>
              </a:rPr>
              <a:t>public class LibroService {</a:t>
            </a:r>
            <a:endParaRPr lang="en-US" sz="1700" dirty="0"/>
          </a:p>
          <a:p>
            <a:pPr marL="0" indent="0">
              <a:buNone/>
            </a:pPr>
            <a:r>
              <a:rPr lang="en-US" sz="1700" dirty="0">
                <a:solidFill>
                  <a:srgbClr val="263238"/>
                </a:solidFill>
                <a:latin typeface="Courier New" pitchFamily="34" charset="0"/>
                <a:ea typeface="Courier New" pitchFamily="34" charset="-122"/>
                <a:cs typeface="Courier New" pitchFamily="34" charset="-120"/>
              </a:rPr>
              <a:t>    private final LibroRepository libroRepository;</a:t>
            </a:r>
            <a:endParaRPr lang="en-US" sz="1700" dirty="0"/>
          </a:p>
          <a:p>
            <a:pPr marL="0" indent="0">
              <a:buNone/>
            </a:pPr>
            <a:r>
              <a:rPr lang="en-US" sz="1700" dirty="0">
                <a:solidFill>
                  <a:srgbClr val="263238"/>
                </a:solidFill>
                <a:latin typeface="Courier New" pitchFamily="34" charset="0"/>
                <a:ea typeface="Courier New" pitchFamily="34" charset="-122"/>
                <a:cs typeface="Courier New" pitchFamily="34" charset="-120"/>
              </a:rPr>
              <a:t>    private final EditorialRepository editorialRepository;</a:t>
            </a:r>
            <a:endParaRPr lang="en-US" sz="1700" dirty="0"/>
          </a:p>
          <a:p>
            <a:pPr marL="0" indent="0">
              <a:buNone/>
            </a:pPr>
            <a:r>
              <a:rPr lang="en-US" sz="1700" dirty="0">
                <a:solidFill>
                  <a:srgbClr val="263238"/>
                </a:solidFill>
                <a:latin typeface="Courier New" pitchFamily="34" charset="0"/>
                <a:ea typeface="Courier New" pitchFamily="34" charset="-122"/>
                <a:cs typeface="Courier New" pitchFamily="34" charset="-120"/>
              </a:rPr>
              <a:t>    // Lombok genera aquí, en tiempo de compilación,</a:t>
            </a:r>
            <a:endParaRPr lang="en-US" sz="1700" dirty="0"/>
          </a:p>
          <a:p>
            <a:pPr marL="0" indent="0">
              <a:buNone/>
            </a:pPr>
            <a:r>
              <a:rPr lang="en-US" sz="1700" dirty="0">
                <a:solidFill>
                  <a:srgbClr val="263238"/>
                </a:solidFill>
                <a:latin typeface="Courier New" pitchFamily="34" charset="0"/>
                <a:ea typeface="Courier New" pitchFamily="34" charset="-122"/>
                <a:cs typeface="Courier New" pitchFamily="34" charset="-120"/>
              </a:rPr>
              <a:t>    // un constructor con ambos repositorios.</a:t>
            </a:r>
            <a:endParaRPr lang="en-US" sz="1700" dirty="0"/>
          </a:p>
          <a:p>
            <a:pPr marL="0" indent="0">
              <a:buNone/>
            </a:pPr>
            <a:r>
              <a:rPr lang="en-US" sz="1700" dirty="0">
                <a:solidFill>
                  <a:srgbClr val="263238"/>
                </a:solidFill>
                <a:latin typeface="Courier New" pitchFamily="34" charset="0"/>
                <a:ea typeface="Courier New" pitchFamily="34" charset="-122"/>
                <a:cs typeface="Courier New" pitchFamily="34" charset="-120"/>
              </a:rPr>
              <a:t>}</a:t>
            </a:r>
            <a:endParaRPr lang="en-US" sz="1700" dirty="0"/>
          </a:p>
        </p:txBody>
      </p:sp>
      <p:sp>
        <p:nvSpPr>
          <p:cNvPr id="9" name="Text 7"/>
          <p:cNvSpPr/>
          <p:nvPr/>
        </p:nvSpPr>
        <p:spPr>
          <a:xfrm>
            <a:off x="548640" y="5486400"/>
            <a:ext cx="11091672" cy="685800"/>
          </a:xfrm>
          <a:prstGeom prst="rect">
            <a:avLst/>
          </a:prstGeom>
          <a:noFill/>
          <a:ln/>
        </p:spPr>
        <p:txBody>
          <a:bodyPr wrap="square" rtlCol="0" anchor="t"/>
          <a:lstStyle/>
          <a:p>
            <a:pPr marL="0" indent="0">
              <a:buNone/>
            </a:pPr>
            <a:r>
              <a:rPr lang="en-US" sz="1600" dirty="0">
                <a:solidFill>
                  <a:srgbClr val="757575"/>
                </a:solidFill>
                <a:latin typeface="Arial" pitchFamily="34" charset="0"/>
                <a:ea typeface="Arial" pitchFamily="34" charset="-122"/>
                <a:cs typeface="Arial" pitchFamily="34" charset="-120"/>
              </a:rPr>
              <a:t>Sin Lombok tendrías que escribir ese constructor a mano cada vez que añadieras un campo final. Con la anotación, Spring sigue inyectando exactamente igual (por constructor), pero tú no mantienes ese código repetitivo.</a:t>
            </a:r>
            <a:endParaRPr lang="en-US" sz="1600" dirty="0"/>
          </a:p>
        </p:txBody>
      </p:sp>
    </p:spTree>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name="Slide 18">
    <p:spTree>
      <p:nvGrpSpPr>
        <p:cNvPr id="1" name=""/>
        <p:cNvGrpSpPr/>
        <p:nvPr/>
      </p:nvGrpSpPr>
      <p:grpSpPr>
        <a:xfrm>
          <a:off x="0" y="0"/>
          <a:ext cx="0" cy="0"/>
          <a:chOff x="0" y="0"/>
          <a:chExt cx="0" cy="0"/>
        </a:xfrm>
      </p:grpSpPr>
      <p:sp>
        <p:nvSpPr>
          <p:cNvPr id="2" name="Shape 0"/>
          <p:cNvSpPr/>
          <p:nvPr/>
        </p:nvSpPr>
        <p:spPr>
          <a:xfrm>
            <a:off x="0" y="0"/>
            <a:ext cx="12188952" cy="777240"/>
          </a:xfrm>
          <a:prstGeom prst="rect">
            <a:avLst/>
          </a:prstGeom>
          <a:solidFill>
            <a:srgbClr val="7F0000"/>
          </a:solidFill>
          <a:ln w="12700">
            <a:solidFill>
              <a:srgbClr val="7F0000"/>
            </a:solidFill>
            <a:prstDash val="solid"/>
          </a:ln>
        </p:spPr>
        <p:txBody>
          <a:bodyPr/>
          <a:lstStyle/>
          <a:p>
            <a:endParaRPr lang="es-ES"/>
          </a:p>
        </p:txBody>
      </p:sp>
      <p:sp>
        <p:nvSpPr>
          <p:cNvPr id="3" name="Text 1"/>
          <p:cNvSpPr/>
          <p:nvPr/>
        </p:nvSpPr>
        <p:spPr>
          <a:xfrm>
            <a:off x="365760" y="0"/>
            <a:ext cx="11457432" cy="777240"/>
          </a:xfrm>
          <a:prstGeom prst="rect">
            <a:avLst/>
          </a:prstGeom>
          <a:noFill/>
          <a:ln/>
        </p:spPr>
        <p:txBody>
          <a:bodyPr wrap="square" rtlCol="0" anchor="ctr"/>
          <a:lstStyle/>
          <a:p>
            <a:pPr marL="0" indent="0">
              <a:buNone/>
            </a:pPr>
            <a:r>
              <a:rPr lang="en-US" sz="2600" b="1" dirty="0">
                <a:solidFill>
                  <a:srgbClr val="FFFFFF"/>
                </a:solidFill>
                <a:latin typeface="Arial" pitchFamily="34" charset="0"/>
                <a:ea typeface="Arial" pitchFamily="34" charset="-122"/>
                <a:cs typeface="Arial" pitchFamily="34" charset="-120"/>
              </a:rPr>
              <a:t>Configuración: application.yml y perfiles</a:t>
            </a:r>
            <a:endParaRPr lang="en-US" sz="2600" dirty="0"/>
          </a:p>
        </p:txBody>
      </p:sp>
      <p:sp>
        <p:nvSpPr>
          <p:cNvPr id="4" name="Text 2"/>
          <p:cNvSpPr/>
          <p:nvPr/>
        </p:nvSpPr>
        <p:spPr>
          <a:xfrm>
            <a:off x="548640" y="6473952"/>
            <a:ext cx="11091672" cy="292608"/>
          </a:xfrm>
          <a:prstGeom prst="rect">
            <a:avLst/>
          </a:prstGeom>
          <a:noFill/>
          <a:ln/>
        </p:spPr>
        <p:txBody>
          <a:bodyPr wrap="square" rtlCol="0" anchor="ctr"/>
          <a:lstStyle/>
          <a:p>
            <a:pPr marL="0" indent="0" algn="r">
              <a:buNone/>
            </a:pPr>
            <a:r>
              <a:rPr lang="en-US" sz="1100" dirty="0">
                <a:solidFill>
                  <a:srgbClr val="757575"/>
                </a:solidFill>
                <a:latin typeface="Arial" pitchFamily="34" charset="0"/>
                <a:ea typeface="Arial" pitchFamily="34" charset="-122"/>
                <a:cs typeface="Arial" pitchFamily="34" charset="-120"/>
              </a:rPr>
              <a:t>Acceso a Datos — Tema 1: Fundamentos de Spring Boot</a:t>
            </a:r>
            <a:endParaRPr lang="en-US" sz="1100" dirty="0"/>
          </a:p>
        </p:txBody>
      </p:sp>
      <p:sp>
        <p:nvSpPr>
          <p:cNvPr id="5" name="Text 3"/>
          <p:cNvSpPr/>
          <p:nvPr/>
        </p:nvSpPr>
        <p:spPr>
          <a:xfrm>
            <a:off x="548640" y="1280160"/>
            <a:ext cx="11091672" cy="1600200"/>
          </a:xfrm>
          <a:prstGeom prst="rect">
            <a:avLst/>
          </a:prstGeom>
          <a:noFill/>
          <a:ln/>
        </p:spPr>
        <p:txBody>
          <a:bodyPr wrap="square" rtlCol="0" anchor="t"/>
          <a:lstStyle/>
          <a:p>
            <a:pPr marL="0" indent="0">
              <a:buNone/>
            </a:pPr>
            <a:r>
              <a:rPr lang="en-US" sz="2000" dirty="0">
                <a:solidFill>
                  <a:srgbClr val="212121"/>
                </a:solidFill>
                <a:latin typeface="Arial" pitchFamily="34" charset="0"/>
                <a:ea typeface="Arial" pitchFamily="34" charset="-122"/>
                <a:cs typeface="Arial" pitchFamily="34" charset="-120"/>
              </a:rPr>
              <a:t>Spring Boot centraliza la configuración (credenciales de base de datos, puertos, propiedades propias) en ficheros YAML en src/main/resources. Lo habitual es tener al menos dos: application.yml, con la configuración común, y application-dev.yml, con la del entorno de desarrollo — por ejemplo, la URL de conexión a PostgreSQL de la Actividad 1.1.</a:t>
            </a:r>
            <a:endParaRPr lang="en-US" sz="2000" dirty="0"/>
          </a:p>
        </p:txBody>
      </p:sp>
      <p:sp>
        <p:nvSpPr>
          <p:cNvPr id="6" name="Shape 4"/>
          <p:cNvSpPr/>
          <p:nvPr/>
        </p:nvSpPr>
        <p:spPr>
          <a:xfrm>
            <a:off x="548640" y="3200400"/>
            <a:ext cx="11091672" cy="1051560"/>
          </a:xfrm>
          <a:prstGeom prst="roundRect">
            <a:avLst/>
          </a:prstGeom>
          <a:solidFill>
            <a:srgbClr val="FBE9E7"/>
          </a:solidFill>
          <a:ln w="19050">
            <a:solidFill>
              <a:srgbClr val="E64A19"/>
            </a:solidFill>
            <a:prstDash val="solid"/>
          </a:ln>
        </p:spPr>
        <p:txBody>
          <a:bodyPr/>
          <a:lstStyle/>
          <a:p>
            <a:endParaRPr lang="es-ES"/>
          </a:p>
        </p:txBody>
      </p:sp>
      <p:sp>
        <p:nvSpPr>
          <p:cNvPr id="7" name="Text 5"/>
          <p:cNvSpPr/>
          <p:nvPr/>
        </p:nvSpPr>
        <p:spPr>
          <a:xfrm>
            <a:off x="822960" y="3291840"/>
            <a:ext cx="10543032" cy="868680"/>
          </a:xfrm>
          <a:prstGeom prst="rect">
            <a:avLst/>
          </a:prstGeom>
          <a:noFill/>
          <a:ln/>
        </p:spPr>
        <p:txBody>
          <a:bodyPr wrap="square" rtlCol="0" anchor="ctr"/>
          <a:lstStyle/>
          <a:p>
            <a:pPr marL="0" indent="0">
              <a:buNone/>
            </a:pPr>
            <a:r>
              <a:rPr lang="en-US" sz="1800" dirty="0">
                <a:solidFill>
                  <a:srgbClr val="212121"/>
                </a:solidFill>
                <a:latin typeface="Arial" pitchFamily="34" charset="0"/>
                <a:ea typeface="Arial" pitchFamily="34" charset="-122"/>
                <a:cs typeface="Arial" pitchFamily="34" charset="-120"/>
              </a:rPr>
              <a:t>".yml" o ".yaml": Spring Boot reconoce las dos extensiones sin distinción — es convención de quien escribe el fichero, no una regla técnica. En este curso se usa siempre .yml, por uniformidad.</a:t>
            </a:r>
            <a:endParaRPr lang="en-US" sz="1800" dirty="0"/>
          </a:p>
        </p:txBody>
      </p:sp>
      <p:sp>
        <p:nvSpPr>
          <p:cNvPr id="8" name="Text 6"/>
          <p:cNvSpPr/>
          <p:nvPr/>
        </p:nvSpPr>
        <p:spPr>
          <a:xfrm>
            <a:off x="548640" y="4572000"/>
            <a:ext cx="11091672" cy="1005840"/>
          </a:xfrm>
          <a:prstGeom prst="rect">
            <a:avLst/>
          </a:prstGeom>
          <a:noFill/>
          <a:ln/>
        </p:spPr>
        <p:txBody>
          <a:bodyPr wrap="square" rtlCol="0" anchor="t"/>
          <a:lstStyle/>
          <a:p>
            <a:pPr marL="0" indent="0">
              <a:buNone/>
            </a:pPr>
            <a:r>
              <a:rPr lang="en-US" sz="1800" dirty="0">
                <a:solidFill>
                  <a:srgbClr val="212121"/>
                </a:solidFill>
                <a:latin typeface="Arial" pitchFamily="34" charset="0"/>
                <a:ea typeface="Arial" pitchFamily="34" charset="-122"/>
                <a:cs typeface="Arial" pitchFamily="34" charset="-120"/>
              </a:rPr>
              <a:t>Ese -dev en el nombre es un perfil: un conjunto de configuración que solo se activa si le dices a Spring Boot que lo use al arrancar. El mismo código puede arrancar con configuración distinta según el entorno (desarrollo, tests, producción) sin tocar una línea de Java.</a:t>
            </a:r>
            <a:endParaRPr lang="en-US" sz="1800" dirty="0"/>
          </a:p>
        </p:txBody>
      </p:sp>
    </p:spTree>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name="Slide 19">
    <p:spTree>
      <p:nvGrpSpPr>
        <p:cNvPr id="1" name=""/>
        <p:cNvGrpSpPr/>
        <p:nvPr/>
      </p:nvGrpSpPr>
      <p:grpSpPr>
        <a:xfrm>
          <a:off x="0" y="0"/>
          <a:ext cx="0" cy="0"/>
          <a:chOff x="0" y="0"/>
          <a:chExt cx="0" cy="0"/>
        </a:xfrm>
      </p:grpSpPr>
      <p:sp>
        <p:nvSpPr>
          <p:cNvPr id="2" name="Shape 0"/>
          <p:cNvSpPr/>
          <p:nvPr/>
        </p:nvSpPr>
        <p:spPr>
          <a:xfrm>
            <a:off x="0" y="0"/>
            <a:ext cx="12188952" cy="777240"/>
          </a:xfrm>
          <a:prstGeom prst="rect">
            <a:avLst/>
          </a:prstGeom>
          <a:solidFill>
            <a:srgbClr val="7F0000"/>
          </a:solidFill>
          <a:ln w="12700">
            <a:solidFill>
              <a:srgbClr val="7F0000"/>
            </a:solidFill>
            <a:prstDash val="solid"/>
          </a:ln>
        </p:spPr>
        <p:txBody>
          <a:bodyPr/>
          <a:lstStyle/>
          <a:p>
            <a:endParaRPr lang="es-ES"/>
          </a:p>
        </p:txBody>
      </p:sp>
      <p:sp>
        <p:nvSpPr>
          <p:cNvPr id="3" name="Text 1"/>
          <p:cNvSpPr/>
          <p:nvPr/>
        </p:nvSpPr>
        <p:spPr>
          <a:xfrm>
            <a:off x="365760" y="0"/>
            <a:ext cx="11457432" cy="777240"/>
          </a:xfrm>
          <a:prstGeom prst="rect">
            <a:avLst/>
          </a:prstGeom>
          <a:noFill/>
          <a:ln/>
        </p:spPr>
        <p:txBody>
          <a:bodyPr wrap="square" rtlCol="0" anchor="ctr"/>
          <a:lstStyle/>
          <a:p>
            <a:pPr marL="0" indent="0">
              <a:buNone/>
            </a:pPr>
            <a:r>
              <a:rPr lang="en-US" sz="2600" b="1" dirty="0">
                <a:solidFill>
                  <a:srgbClr val="FFFFFF"/>
                </a:solidFill>
                <a:latin typeface="Arial" pitchFamily="34" charset="0"/>
                <a:ea typeface="Arial" pitchFamily="34" charset="-122"/>
                <a:cs typeface="Arial" pitchFamily="34" charset="-120"/>
              </a:rPr>
              <a:t>Dónde estás y hacia dónde vas</a:t>
            </a:r>
            <a:endParaRPr lang="en-US" sz="2600" dirty="0"/>
          </a:p>
        </p:txBody>
      </p:sp>
      <p:sp>
        <p:nvSpPr>
          <p:cNvPr id="4" name="Text 2"/>
          <p:cNvSpPr/>
          <p:nvPr/>
        </p:nvSpPr>
        <p:spPr>
          <a:xfrm>
            <a:off x="548640" y="6473952"/>
            <a:ext cx="11091672" cy="292608"/>
          </a:xfrm>
          <a:prstGeom prst="rect">
            <a:avLst/>
          </a:prstGeom>
          <a:noFill/>
          <a:ln/>
        </p:spPr>
        <p:txBody>
          <a:bodyPr wrap="square" rtlCol="0" anchor="ctr"/>
          <a:lstStyle/>
          <a:p>
            <a:pPr marL="0" indent="0" algn="r">
              <a:buNone/>
            </a:pPr>
            <a:r>
              <a:rPr lang="en-US" sz="1100" dirty="0">
                <a:solidFill>
                  <a:srgbClr val="757575"/>
                </a:solidFill>
                <a:latin typeface="Arial" pitchFamily="34" charset="0"/>
                <a:ea typeface="Arial" pitchFamily="34" charset="-122"/>
                <a:cs typeface="Arial" pitchFamily="34" charset="-120"/>
              </a:rPr>
              <a:t>Acceso a Datos — Tema 1: Fundamentos de Spring Boot</a:t>
            </a:r>
            <a:endParaRPr lang="en-US" sz="1100" dirty="0"/>
          </a:p>
        </p:txBody>
      </p:sp>
      <p:sp>
        <p:nvSpPr>
          <p:cNvPr id="5" name="Shape 3"/>
          <p:cNvSpPr/>
          <p:nvPr/>
        </p:nvSpPr>
        <p:spPr>
          <a:xfrm>
            <a:off x="548640" y="1920240"/>
            <a:ext cx="11091672" cy="2103120"/>
          </a:xfrm>
          <a:prstGeom prst="roundRect">
            <a:avLst/>
          </a:prstGeom>
          <a:solidFill>
            <a:srgbClr val="FBE9E7"/>
          </a:solidFill>
          <a:ln w="19050">
            <a:solidFill>
              <a:srgbClr val="E64A19"/>
            </a:solidFill>
            <a:prstDash val="solid"/>
          </a:ln>
        </p:spPr>
        <p:txBody>
          <a:bodyPr/>
          <a:lstStyle/>
          <a:p>
            <a:endParaRPr lang="es-ES"/>
          </a:p>
        </p:txBody>
      </p:sp>
      <p:sp>
        <p:nvSpPr>
          <p:cNvPr id="6" name="Text 4"/>
          <p:cNvSpPr/>
          <p:nvPr/>
        </p:nvSpPr>
        <p:spPr>
          <a:xfrm>
            <a:off x="822960" y="2011680"/>
            <a:ext cx="10543032" cy="1920240"/>
          </a:xfrm>
          <a:prstGeom prst="rect">
            <a:avLst/>
          </a:prstGeom>
          <a:noFill/>
          <a:ln/>
        </p:spPr>
        <p:txBody>
          <a:bodyPr wrap="square" rtlCol="0" anchor="ctr"/>
          <a:lstStyle/>
          <a:p>
            <a:pPr marL="0" indent="0">
              <a:buNone/>
            </a:pPr>
            <a:r>
              <a:rPr lang="en-US" sz="2100" dirty="0">
                <a:solidFill>
                  <a:srgbClr val="212121"/>
                </a:solidFill>
                <a:latin typeface="Arial" pitchFamily="34" charset="0"/>
                <a:ea typeface="Arial" pitchFamily="34" charset="-122"/>
                <a:cs typeface="Arial" pitchFamily="34" charset="-120"/>
              </a:rPr>
              <a:t>Estas piezas —el proyecto Maven, las capas, la inyección de dependencias, la configuración— las vas a trabajar durante todo el curso desde dos módulos a la vez: en Acceso a Datos te centrarás en la persistencia, todo lo que hay del service hacia abajo (JDBC, JPA, JSONB, MongoDB); en Programación de Servicios y Procesos te centrarás en los servicios en red y la seguridad, del controller hacia fuera (REST, JWT, hilos, sockets).</a:t>
            </a:r>
            <a:endParaRPr lang="en-US" sz="2100" dirty="0"/>
          </a:p>
        </p:txBody>
      </p:sp>
      <p:sp>
        <p:nvSpPr>
          <p:cNvPr id="7" name="Text 5"/>
          <p:cNvSpPr/>
          <p:nvPr/>
        </p:nvSpPr>
        <p:spPr>
          <a:xfrm>
            <a:off x="548640" y="4389120"/>
            <a:ext cx="11091672" cy="548640"/>
          </a:xfrm>
          <a:prstGeom prst="rect">
            <a:avLst/>
          </a:prstGeom>
          <a:noFill/>
          <a:ln/>
        </p:spPr>
        <p:txBody>
          <a:bodyPr wrap="square" rtlCol="0" anchor="t"/>
          <a:lstStyle/>
          <a:p>
            <a:pPr marL="0" indent="0" algn="ctr">
              <a:buNone/>
            </a:pPr>
            <a:r>
              <a:rPr lang="en-US" sz="1900" i="1" dirty="0">
                <a:solidFill>
                  <a:srgbClr val="757575"/>
                </a:solidFill>
                <a:latin typeface="Arial" pitchFamily="34" charset="0"/>
                <a:ea typeface="Arial" pitchFamily="34" charset="-122"/>
                <a:cs typeface="Arial" pitchFamily="34" charset="-120"/>
              </a:rPr>
              <a:t>En las actividades de ambos módulos irás construyendo, pieza a pieza, tu propia aplicación con esta misma estructura.</a:t>
            </a:r>
            <a:endParaRPr lang="en-US" sz="1900" dirty="0"/>
          </a:p>
        </p:txBody>
      </p:sp>
    </p:spTree>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name="Slide 20">
    <p:spTree>
      <p:nvGrpSpPr>
        <p:cNvPr id="1" name=""/>
        <p:cNvGrpSpPr/>
        <p:nvPr/>
      </p:nvGrpSpPr>
      <p:grpSpPr>
        <a:xfrm>
          <a:off x="0" y="0"/>
          <a:ext cx="0" cy="0"/>
          <a:chOff x="0" y="0"/>
          <a:chExt cx="0" cy="0"/>
        </a:xfrm>
      </p:grpSpPr>
      <p:sp>
        <p:nvSpPr>
          <p:cNvPr id="2" name="Shape 0"/>
          <p:cNvSpPr/>
          <p:nvPr/>
        </p:nvSpPr>
        <p:spPr>
          <a:xfrm>
            <a:off x="0" y="0"/>
            <a:ext cx="12188952" cy="777240"/>
          </a:xfrm>
          <a:prstGeom prst="rect">
            <a:avLst/>
          </a:prstGeom>
          <a:solidFill>
            <a:srgbClr val="7F0000"/>
          </a:solidFill>
          <a:ln w="12700">
            <a:solidFill>
              <a:srgbClr val="7F0000"/>
            </a:solidFill>
            <a:prstDash val="solid"/>
          </a:ln>
        </p:spPr>
        <p:txBody>
          <a:bodyPr/>
          <a:lstStyle/>
          <a:p>
            <a:endParaRPr lang="es-ES"/>
          </a:p>
        </p:txBody>
      </p:sp>
      <p:sp>
        <p:nvSpPr>
          <p:cNvPr id="3" name="Text 1"/>
          <p:cNvSpPr/>
          <p:nvPr/>
        </p:nvSpPr>
        <p:spPr>
          <a:xfrm>
            <a:off x="365760" y="0"/>
            <a:ext cx="11457432" cy="777240"/>
          </a:xfrm>
          <a:prstGeom prst="rect">
            <a:avLst/>
          </a:prstGeom>
          <a:noFill/>
          <a:ln/>
        </p:spPr>
        <p:txBody>
          <a:bodyPr wrap="square" rtlCol="0" anchor="ctr"/>
          <a:lstStyle/>
          <a:p>
            <a:pPr marL="0" indent="0">
              <a:buNone/>
            </a:pPr>
            <a:r>
              <a:rPr lang="en-US" sz="2600" b="1" dirty="0">
                <a:solidFill>
                  <a:srgbClr val="FFFFFF"/>
                </a:solidFill>
                <a:latin typeface="Arial" pitchFamily="34" charset="0"/>
                <a:ea typeface="Arial" pitchFamily="34" charset="-122"/>
                <a:cs typeface="Arial" pitchFamily="34" charset="-120"/>
              </a:rPr>
              <a:t>Ideas clave</a:t>
            </a:r>
            <a:endParaRPr lang="en-US" sz="2600" dirty="0"/>
          </a:p>
        </p:txBody>
      </p:sp>
      <p:sp>
        <p:nvSpPr>
          <p:cNvPr id="4" name="Text 2"/>
          <p:cNvSpPr/>
          <p:nvPr/>
        </p:nvSpPr>
        <p:spPr>
          <a:xfrm>
            <a:off x="548640" y="6473952"/>
            <a:ext cx="11091672" cy="292608"/>
          </a:xfrm>
          <a:prstGeom prst="rect">
            <a:avLst/>
          </a:prstGeom>
          <a:noFill/>
          <a:ln/>
        </p:spPr>
        <p:txBody>
          <a:bodyPr wrap="square" rtlCol="0" anchor="ctr"/>
          <a:lstStyle/>
          <a:p>
            <a:pPr marL="0" indent="0" algn="r">
              <a:buNone/>
            </a:pPr>
            <a:r>
              <a:rPr lang="en-US" sz="1100" dirty="0">
                <a:solidFill>
                  <a:srgbClr val="757575"/>
                </a:solidFill>
                <a:latin typeface="Arial" pitchFamily="34" charset="0"/>
                <a:ea typeface="Arial" pitchFamily="34" charset="-122"/>
                <a:cs typeface="Arial" pitchFamily="34" charset="-120"/>
              </a:rPr>
              <a:t>Acceso a Datos — Tema 1: Fundamentos de Spring Boot</a:t>
            </a:r>
            <a:endParaRPr lang="en-US" sz="1100" dirty="0"/>
          </a:p>
        </p:txBody>
      </p:sp>
      <p:sp>
        <p:nvSpPr>
          <p:cNvPr id="5" name="Text 3"/>
          <p:cNvSpPr/>
          <p:nvPr/>
        </p:nvSpPr>
        <p:spPr>
          <a:xfrm>
            <a:off x="548640" y="1874520"/>
            <a:ext cx="11091672" cy="3749040"/>
          </a:xfrm>
          <a:prstGeom prst="rect">
            <a:avLst/>
          </a:prstGeom>
          <a:noFill/>
          <a:ln/>
        </p:spPr>
        <p:txBody>
          <a:bodyPr wrap="square" rtlCol="0" anchor="t"/>
          <a:lstStyle/>
          <a:p>
            <a:pPr marL="190500" indent="-190500">
              <a:spcAft>
                <a:spcPts val="2600"/>
              </a:spcAft>
              <a:buSzPct val="100000"/>
              <a:buChar char="•"/>
            </a:pPr>
            <a:r>
              <a:rPr lang="en-US" sz="2100" dirty="0">
                <a:solidFill>
                  <a:srgbClr val="212121"/>
                </a:solidFill>
                <a:latin typeface="Arial" pitchFamily="34" charset="0"/>
                <a:ea typeface="Arial" pitchFamily="34" charset="-122"/>
                <a:cs typeface="Arial" pitchFamily="34" charset="-120"/>
              </a:rPr>
              <a:t>Una aplicación de servidor arranca y se queda escuchando en un puerto. La IP identifica la máquina, el puerto el programa dentro de ella, y HTTP es el protocolo con el que cliente y servidor se entienden.</a:t>
            </a:r>
            <a:endParaRPr lang="en-US" sz="2100" dirty="0"/>
          </a:p>
          <a:p>
            <a:pPr marL="190500" indent="-190500">
              <a:spcAft>
                <a:spcPts val="2600"/>
              </a:spcAft>
              <a:buSzPct val="100000"/>
              <a:buChar char="•"/>
            </a:pPr>
            <a:r>
              <a:rPr lang="en-US" sz="2100" dirty="0">
                <a:solidFill>
                  <a:srgbClr val="212121"/>
                </a:solidFill>
                <a:latin typeface="Arial" pitchFamily="34" charset="0"/>
                <a:ea typeface="Arial" pitchFamily="34" charset="-122"/>
                <a:cs typeface="Arial" pitchFamily="34" charset="-120"/>
              </a:rPr>
              <a:t>Un framework invierte el control: en vez de que tu código llame a la librería, la librería llama al tuyo (inversión de control).</a:t>
            </a:r>
            <a:endParaRPr lang="en-US" sz="2100" dirty="0"/>
          </a:p>
          <a:p>
            <a:pPr marL="190500" indent="-190500">
              <a:spcAft>
                <a:spcPts val="2600"/>
              </a:spcAft>
              <a:buSzPct val="100000"/>
              <a:buChar char="•"/>
            </a:pPr>
            <a:r>
              <a:rPr lang="en-US" sz="2100" dirty="0">
                <a:solidFill>
                  <a:srgbClr val="212121"/>
                </a:solidFill>
                <a:latin typeface="Arial" pitchFamily="34" charset="0"/>
                <a:ea typeface="Arial" pitchFamily="34" charset="-122"/>
                <a:cs typeface="Arial" pitchFamily="34" charset="-120"/>
              </a:rPr>
              <a:t>Spring es el framework; Spring Boot añade configuración automática, servidor embebido y starters.</a:t>
            </a:r>
            <a:endParaRPr lang="en-US" sz="2100" dirty="0"/>
          </a:p>
          <a:p>
            <a:pPr marL="190500" indent="-190500">
              <a:spcAft>
                <a:spcPts val="2600"/>
              </a:spcAft>
              <a:buSzPct val="100000"/>
              <a:buChar char="•"/>
            </a:pPr>
            <a:r>
              <a:rPr lang="en-US" sz="2100" dirty="0">
                <a:solidFill>
                  <a:srgbClr val="212121"/>
                </a:solidFill>
                <a:latin typeface="Arial" pitchFamily="34" charset="0"/>
                <a:ea typeface="Arial" pitchFamily="34" charset="-122"/>
                <a:cs typeface="Arial" pitchFamily="34" charset="-120"/>
              </a:rPr>
              <a:t>Maven gestiona las dependencias vía pom.xml: spring-boot-starter-webmvc y spring-boot-starter-data-jpa son las claves de este curso.</a:t>
            </a:r>
            <a:endParaRPr lang="en-US" sz="2100" dirty="0"/>
          </a:p>
        </p:txBody>
      </p:sp>
    </p:spTree>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name="Slide 21">
    <p:spTree>
      <p:nvGrpSpPr>
        <p:cNvPr id="1" name=""/>
        <p:cNvGrpSpPr/>
        <p:nvPr/>
      </p:nvGrpSpPr>
      <p:grpSpPr>
        <a:xfrm>
          <a:off x="0" y="0"/>
          <a:ext cx="0" cy="0"/>
          <a:chOff x="0" y="0"/>
          <a:chExt cx="0" cy="0"/>
        </a:xfrm>
      </p:grpSpPr>
      <p:sp>
        <p:nvSpPr>
          <p:cNvPr id="2" name="Shape 0"/>
          <p:cNvSpPr/>
          <p:nvPr/>
        </p:nvSpPr>
        <p:spPr>
          <a:xfrm>
            <a:off x="0" y="0"/>
            <a:ext cx="12188952" cy="777240"/>
          </a:xfrm>
          <a:prstGeom prst="rect">
            <a:avLst/>
          </a:prstGeom>
          <a:solidFill>
            <a:srgbClr val="7F0000"/>
          </a:solidFill>
          <a:ln w="12700">
            <a:solidFill>
              <a:srgbClr val="7F0000"/>
            </a:solidFill>
            <a:prstDash val="solid"/>
          </a:ln>
        </p:spPr>
        <p:txBody>
          <a:bodyPr/>
          <a:lstStyle/>
          <a:p>
            <a:endParaRPr lang="es-ES"/>
          </a:p>
        </p:txBody>
      </p:sp>
      <p:sp>
        <p:nvSpPr>
          <p:cNvPr id="3" name="Text 1"/>
          <p:cNvSpPr/>
          <p:nvPr/>
        </p:nvSpPr>
        <p:spPr>
          <a:xfrm>
            <a:off x="365760" y="0"/>
            <a:ext cx="11457432" cy="777240"/>
          </a:xfrm>
          <a:prstGeom prst="rect">
            <a:avLst/>
          </a:prstGeom>
          <a:noFill/>
          <a:ln/>
        </p:spPr>
        <p:txBody>
          <a:bodyPr wrap="square" rtlCol="0" anchor="ctr"/>
          <a:lstStyle/>
          <a:p>
            <a:pPr marL="0" indent="0">
              <a:buNone/>
            </a:pPr>
            <a:r>
              <a:rPr lang="en-US" sz="2600" b="1" dirty="0">
                <a:solidFill>
                  <a:srgbClr val="FFFFFF"/>
                </a:solidFill>
                <a:latin typeface="Arial" pitchFamily="34" charset="0"/>
                <a:ea typeface="Arial" pitchFamily="34" charset="-122"/>
                <a:cs typeface="Arial" pitchFamily="34" charset="-120"/>
              </a:rPr>
              <a:t>Ideas clave (cont.)</a:t>
            </a:r>
            <a:endParaRPr lang="en-US" sz="2600" dirty="0"/>
          </a:p>
        </p:txBody>
      </p:sp>
      <p:sp>
        <p:nvSpPr>
          <p:cNvPr id="4" name="Text 2"/>
          <p:cNvSpPr/>
          <p:nvPr/>
        </p:nvSpPr>
        <p:spPr>
          <a:xfrm>
            <a:off x="548640" y="6473952"/>
            <a:ext cx="11091672" cy="292608"/>
          </a:xfrm>
          <a:prstGeom prst="rect">
            <a:avLst/>
          </a:prstGeom>
          <a:noFill/>
          <a:ln/>
        </p:spPr>
        <p:txBody>
          <a:bodyPr wrap="square" rtlCol="0" anchor="ctr"/>
          <a:lstStyle/>
          <a:p>
            <a:pPr marL="0" indent="0" algn="r">
              <a:buNone/>
            </a:pPr>
            <a:r>
              <a:rPr lang="en-US" sz="1100" dirty="0">
                <a:solidFill>
                  <a:srgbClr val="757575"/>
                </a:solidFill>
                <a:latin typeface="Arial" pitchFamily="34" charset="0"/>
                <a:ea typeface="Arial" pitchFamily="34" charset="-122"/>
                <a:cs typeface="Arial" pitchFamily="34" charset="-120"/>
              </a:rPr>
              <a:t>Acceso a Datos — Tema 1: Fundamentos de Spring Boot</a:t>
            </a:r>
            <a:endParaRPr lang="en-US" sz="1100" dirty="0"/>
          </a:p>
        </p:txBody>
      </p:sp>
      <p:sp>
        <p:nvSpPr>
          <p:cNvPr id="5" name="Text 3"/>
          <p:cNvSpPr/>
          <p:nvPr/>
        </p:nvSpPr>
        <p:spPr>
          <a:xfrm>
            <a:off x="548640" y="1783080"/>
            <a:ext cx="11091672" cy="3931920"/>
          </a:xfrm>
          <a:prstGeom prst="rect">
            <a:avLst/>
          </a:prstGeom>
          <a:noFill/>
          <a:ln/>
        </p:spPr>
        <p:txBody>
          <a:bodyPr wrap="square" rtlCol="0" anchor="t"/>
          <a:lstStyle/>
          <a:p>
            <a:pPr marL="190500" indent="-190500">
              <a:spcAft>
                <a:spcPts val="2600"/>
              </a:spcAft>
              <a:buSzPct val="100000"/>
              <a:buChar char="•"/>
            </a:pPr>
            <a:r>
              <a:rPr lang="en-US" sz="2100" dirty="0">
                <a:solidFill>
                  <a:srgbClr val="212121"/>
                </a:solidFill>
                <a:latin typeface="Arial" pitchFamily="34" charset="0"/>
                <a:ea typeface="Arial" pitchFamily="34" charset="-122"/>
                <a:cs typeface="Arial" pitchFamily="34" charset="-120"/>
              </a:rPr>
              <a:t>Arquitectura en capas: controller (HTTP) → service (lógica) → repository (datos). Cada capa habla solo con la siguiente.</a:t>
            </a:r>
            <a:endParaRPr lang="en-US" sz="2100" dirty="0"/>
          </a:p>
          <a:p>
            <a:pPr marL="190500" indent="-190500">
              <a:spcAft>
                <a:spcPts val="2600"/>
              </a:spcAft>
              <a:buSzPct val="100000"/>
              <a:buChar char="•"/>
            </a:pPr>
            <a:r>
              <a:rPr lang="en-US" sz="2100" dirty="0">
                <a:solidFill>
                  <a:srgbClr val="212121"/>
                </a:solidFill>
                <a:latin typeface="Arial" pitchFamily="34" charset="0"/>
                <a:ea typeface="Arial" pitchFamily="34" charset="-122"/>
                <a:cs typeface="Arial" pitchFamily="34" charset="-120"/>
              </a:rPr>
              <a:t>Inyección de dependencias: una clase declara lo que necesita por constructor; Spring guarda un bean de cada clase gestionada en su contexto y se lo entrega ya construido. @Service, @Repository, @RestController y @Configuration marcan qué gestiona Spring.</a:t>
            </a:r>
            <a:endParaRPr lang="en-US" sz="2100" dirty="0"/>
          </a:p>
          <a:p>
            <a:pPr marL="190500" indent="-190500">
              <a:spcAft>
                <a:spcPts val="2600"/>
              </a:spcAft>
              <a:buSzPct val="100000"/>
              <a:buChar char="•"/>
            </a:pPr>
            <a:r>
              <a:rPr lang="en-US" sz="2100" dirty="0">
                <a:solidFill>
                  <a:srgbClr val="212121"/>
                </a:solidFill>
                <a:latin typeface="Arial" pitchFamily="34" charset="0"/>
                <a:ea typeface="Arial" pitchFamily="34" charset="-122"/>
                <a:cs typeface="Arial" pitchFamily="34" charset="-120"/>
              </a:rPr>
              <a:t>application.yml / application-dev.yml centralizan la configuración; un perfil permite variarla según el entorno sin tocar código.</a:t>
            </a:r>
            <a:endParaRPr lang="en-US" sz="2100" dirty="0"/>
          </a:p>
          <a:p>
            <a:pPr marL="190500" indent="-190500">
              <a:spcAft>
                <a:spcPts val="2600"/>
              </a:spcAft>
              <a:buSzPct val="100000"/>
              <a:buChar char="•"/>
            </a:pPr>
            <a:r>
              <a:rPr lang="en-US" sz="2100" dirty="0">
                <a:solidFill>
                  <a:srgbClr val="212121"/>
                </a:solidFill>
                <a:latin typeface="Arial" pitchFamily="34" charset="0"/>
                <a:ea typeface="Arial" pitchFamily="34" charset="-122"/>
                <a:cs typeface="Arial" pitchFamily="34" charset="-120"/>
              </a:rPr>
              <a:t>@RequiredArgsConstructor de Lombok genera el constructor con los campos final, el que usa Spring para inyectar.</a:t>
            </a:r>
            <a:endParaRPr lang="en-US" sz="2100" dirty="0"/>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2.xml><?xml version="1.0" encoding="utf-8"?>
<a:theme xmlns:a="http://schemas.openxmlformats.org/drawingml/2006/main" name="Tema de Office">
  <a:themeElements>
    <a:clrScheme name="Office">
      <a:dk1>
        <a:sysClr val="windowText" lastClr="000000"/>
      </a:dk1>
      <a:lt1>
        <a:sysClr val="window" lastClr="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Aptos Display" panose="0211000402020202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Aptos" panose="0211000402020202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12700" cap="flat" cmpd="sng" algn="ctr">
          <a:solidFill>
            <a:schemeClr val="phClr"/>
          </a:solidFill>
          <a:prstDash val="solid"/>
          <a:miter lim="800000"/>
        </a:ln>
        <a:ln w="19050" cap="flat" cmpd="sng" algn="ctr">
          <a:solidFill>
            <a:schemeClr val="phClr"/>
          </a:solidFill>
          <a:prstDash val="solid"/>
          <a:miter lim="800000"/>
        </a:ln>
        <a:ln w="2540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lnDef>
      <a:spPr/>
      <a:bodyPr/>
      <a:lstStyle/>
      <a:style>
        <a:lnRef idx="2">
          <a:schemeClr val="accent1"/>
        </a:lnRef>
        <a:fillRef idx="0">
          <a:schemeClr val="accent1"/>
        </a:fillRef>
        <a:effectRef idx="1">
          <a:schemeClr val="accent1"/>
        </a:effectRef>
        <a:fontRef idx="minor">
          <a:schemeClr val="tx1"/>
        </a:fontRef>
      </a:style>
    </a:lnDef>
  </a:objectDefaults>
  <a:extraClrSchemeLst/>
  <a:extLst>
    <a:ext uri="{05A4C25C-085E-4340-85A3-A5531E510DB2}">
      <thm15:themeFamily xmlns:thm15="http://schemas.microsoft.com/office/thememl/2012/main" name="Office Theme" id="{2E142A2C-CD16-42D6-873A-C26D2A0506FA}" vid="{1BDDFF52-6CD6-40A5-AB3C-68EB2F1E4D0A}"/>
    </a:ext>
  </a:extLst>
</a:theme>
</file>

<file path=docProps/app.xml><?xml version="1.0" encoding="utf-8"?>
<Properties xmlns="http://schemas.openxmlformats.org/officeDocument/2006/extended-properties" xmlns:vt="http://schemas.openxmlformats.org/officeDocument/2006/docPropsVTypes">
  <TotalTime>20</TotalTime>
  <Words>2646</Words>
  <Application>Microsoft Office PowerPoint</Application>
  <PresentationFormat>Panorámica</PresentationFormat>
  <Paragraphs>178</Paragraphs>
  <Slides>21</Slides>
  <Notes>21</Notes>
  <HiddenSlides>0</HiddenSlides>
  <MMClips>0</MMClips>
  <ScaleCrop>false</ScaleCrop>
  <HeadingPairs>
    <vt:vector size="6" baseType="variant">
      <vt:variant>
        <vt:lpstr>Fuentes usadas</vt:lpstr>
      </vt:variant>
      <vt:variant>
        <vt:i4>2</vt:i4>
      </vt:variant>
      <vt:variant>
        <vt:lpstr>Tema</vt:lpstr>
      </vt:variant>
      <vt:variant>
        <vt:i4>1</vt:i4>
      </vt:variant>
      <vt:variant>
        <vt:lpstr>Títulos de diapositiva</vt:lpstr>
      </vt:variant>
      <vt:variant>
        <vt:i4>21</vt:i4>
      </vt:variant>
    </vt:vector>
  </HeadingPairs>
  <TitlesOfParts>
    <vt:vector size="24" baseType="lpstr">
      <vt:lpstr>Arial</vt:lpstr>
      <vt:lpstr>Courier New</vt:lpstr>
      <vt:lpstr>Office Theme</vt:lpstr>
      <vt:lpstr>Presentación de PowerPoint</vt:lpstr>
      <vt:lpstr>Presentación de PowerPoint</vt:lpstr>
      <vt:lpstr>Presentación de PowerPoint</vt:lpstr>
      <vt:lpstr>Presentación de PowerPoint</vt:lpstr>
      <vt:lpstr>Presentación de PowerPoint</vt:lpstr>
      <vt:lpstr>Presentación de PowerPoint</vt:lpstr>
      <vt:lpstr>Presentación de PowerPoint</vt:lpstr>
      <vt:lpstr>Presentación de PowerPoint</vt:lpstr>
      <vt:lpstr>Presentación de PowerPoint</vt:lpstr>
      <vt:lpstr>Presentación de PowerPoint</vt:lpstr>
      <vt:lpstr>Presentación de PowerPoint</vt:lpstr>
      <vt:lpstr>Presentación de PowerPoint</vt:lpstr>
      <vt:lpstr>Presentación de PowerPoint</vt:lpstr>
      <vt:lpstr>Presentación de PowerPoint</vt:lpstr>
      <vt:lpstr>Presentación de PowerPoint</vt:lpstr>
      <vt:lpstr>Presentación de PowerPoint</vt:lpstr>
      <vt:lpstr>Presentación de PowerPoint</vt:lpstr>
      <vt:lpstr>Presentación de PowerPoint</vt:lpstr>
      <vt:lpstr>Presentación de PowerPoint</vt:lpstr>
      <vt:lpstr>Presentación de PowerPoint</vt:lpstr>
      <vt:lpstr>Presentación de PowerPoint</vt:lpstr>
    </vt:vector>
  </TitlesOfParts>
  <Company>PptxGenJS</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Fundamentos de Spring Boot</dc:title>
  <dc:subject>PptxGenJS Presentation</dc:subject>
  <dc:creator>Acceso a Datos</dc:creator>
  <cp:lastModifiedBy>VENTURA EDO, AITOR</cp:lastModifiedBy>
  <cp:revision>2</cp:revision>
  <dcterms:created xsi:type="dcterms:W3CDTF">2026-08-05T20:21:12Z</dcterms:created>
  <dcterms:modified xsi:type="dcterms:W3CDTF">2026-08-07T13:42:48Z</dcterms:modified>
</cp:coreProperties>
</file>