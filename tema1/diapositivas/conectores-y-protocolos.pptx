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1: MANEJO DE CONECTORES Y HERRAMIENTAS ORM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y protocolos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acceso a bases de datos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Conectores y protocolos de acceso a bases de datos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de partida: objetos contra tablas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Conectores y protocolos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6858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70432"/>
            <a:ext cx="1063447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habla tu programa Java, con sus clases y objetos, con una base de datos que solo entiende tablas y filas?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Java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3931920" cy="1325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04288"/>
            <a:ext cx="73152" cy="13258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Editorial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nombre;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List&lt;Libro&gt; libros;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6885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base de datos: dos tablas con clave foránea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2304288"/>
            <a:ext cx="6885432" cy="1325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304288"/>
            <a:ext cx="73152" cy="132588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395728"/>
            <a:ext cx="64282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editorial (id INT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nombre VARCHAR(100));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 (id INT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editorial_id INT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editorial(id));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3514344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40480"/>
            <a:ext cx="3240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que no coinciden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List&lt;Libro&gt;, LocalDate, boolean frente a INT, VARCHAR, DATE. No hay correspondencia 1:1 automática.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37304" y="3749040"/>
            <a:ext cx="3514344" cy="16002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4464" y="3840480"/>
            <a:ext cx="3240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 distintas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20184" y="434340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Java, una referencia en memoria. En SQL, una clave foránea: hace falta un JOIN para reconstruirla.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25968" y="3749040"/>
            <a:ext cx="3514344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3128" y="3840480"/>
            <a:ext cx="3240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8848" y="4343400"/>
            <a:ext cx="31485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Java, == o equals(). En la base de datos, la clave primaria de la fila.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091672" cy="86868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57784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Desfase objeto-relacional (impedance mismatch)
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error de diseño de nadie: los dos mundos modelan la información de forma distinta por naturaleza.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solución: una herramienta 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Conectores y protocolos</a:t>
            </a:r>
            <a:endParaRPr lang="en-US" sz="1100" dirty="0"/>
          </a:p>
        </p:txBody>
      </p:sp>
      <p:pic>
        <p:nvPicPr>
          <p:cNvPr id="5" name="Image 0" descr="C:/Users/Aitor/docxgen/img/conectores-orm-jpa-hibern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188720"/>
            <a:ext cx="2523744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0" y="1188720"/>
            <a:ext cx="2194560" cy="91440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11887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126480" y="1188720"/>
            <a:ext cx="5513832" cy="9144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216152"/>
            <a:ext cx="523951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Declaras una sola vez la correspondencia entre una clase y una tabla; guardar, actualizar y consultar objetos se traduce solo al SQL.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40480" y="2212848"/>
            <a:ext cx="2194560" cy="91440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0" y="2212848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126480" y="2212848"/>
            <a:ext cx="5513832" cy="9144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2240280"/>
            <a:ext cx="523951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especificación estándar de Java: el contrato que dice qué anotaciones (@Entity, @Id, @OneToMany...) ofrece cualquier ORM. Como una interfaz.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40480" y="3236976"/>
            <a:ext cx="2194560" cy="91440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0" y="3236976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Hibernate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126480" y="3236976"/>
            <a:ext cx="5513832" cy="9144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3264408"/>
            <a:ext cx="523951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cumple ese contrato: la implementación de JPA más usada. Traduce cada anotación al SQL real que llega a PostgreSQL. Como la clase que implementa la interfaz.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840480" y="4261104"/>
            <a:ext cx="2194560" cy="91440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0" y="4261104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126480" y="4261104"/>
            <a:ext cx="5513832" cy="9144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4288536"/>
            <a:ext cx="523951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capa de comodidad sobre JPA/Hibernate: genera los repositorios (save, findById, findAll...). No es un ORM distinto.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840480" y="5330952"/>
            <a:ext cx="7799832" cy="8686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69080" y="5404104"/>
            <a:ext cx="73426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Hibernate no es la única opción: EclipseLink es otra implementación completa de JPA, y fuera de Java cada lenguaje tiene la suya (SQLAlchemy en Python, Entity Framework en C#).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y los conectores de bases de datos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Conectores y protocolos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18872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4358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(Java Database Connectivity)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746504"/>
            <a:ext cx="10725912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estándar: una forma común de acceder a bases de datos relacionales desde Java, sin aprender una API distinta por cada gestor.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gestor necesita un conector (driver) preparado para él: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514344" cy="8686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1752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propio driver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37304" y="2926080"/>
            <a:ext cx="3514344" cy="8686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4464" y="301752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20184" y="342900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 driver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5968" y="2926080"/>
            <a:ext cx="3514344" cy="8686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3128" y="301752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08848" y="3429000"/>
            <a:ext cx="31485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suyo</a:t>
            </a:r>
            <a:endParaRPr lang="en-US" sz="1500" dirty="0"/>
          </a:p>
        </p:txBody>
      </p:sp>
      <p:pic>
        <p:nvPicPr>
          <p:cNvPr id="18" name="Image 0" descr="C:/Users/Aitor/docxgen/img/conectores-jdbc-driver-p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875" y="3931920"/>
            <a:ext cx="10101202" cy="14630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48640" y="553212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560527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una aplicación pasara de PostgreSQL a MySQL, habría que cambiar el driver y la dirección de conexión, pero no aprender una API Java nueva.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embebido vs. independiente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Conectores y protocolos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1/img/tema1_gestor_embebido_vs_independi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54380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188720"/>
            <a:ext cx="3273552" cy="24231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49640" y="1243584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Embebido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549640" y="1746504"/>
            <a:ext cx="290779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H2, SQLite. Dentro de tu propio proceso, sin nada que instalar. Tests rápidos, prototipos, apps de escritorio.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366760" y="3749040"/>
            <a:ext cx="3273552" cy="25146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49640" y="3803904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Independiente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549640" y="4306824"/>
            <a:ext cx="2907792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MySQL, SQL Server. Servicio aparte, por IP y puerto, con muchos clientes a la vez. Aplicaciones reales.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 de conexiones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Conectores y protocolos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62956" cy="16002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una conexión no es gratis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49971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Negociación de red, autenticación, reserva de recursos: un coste real, medible en milisegundos.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7356" y="1188720"/>
            <a:ext cx="536295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8016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pool las reutiliza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60236" y="1828800"/>
            <a:ext cx="49971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Mantiene un conjunto de conexiones ya abiertas y listas para usar, en vez de abrir una nueva cada vez.</a:t>
            </a:r>
            <a:endParaRPr lang="en-US" sz="1600" dirty="0"/>
          </a:p>
        </p:txBody>
      </p:sp>
      <p:pic>
        <p:nvPicPr>
          <p:cNvPr id="11" name="Image 0" descr="C:/Users/Aitor/docxgen/img/conectores-poo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17520"/>
            <a:ext cx="11091672" cy="148945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4846320"/>
            <a:ext cx="11091672" cy="11887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919472"/>
            <a:ext cx="1063447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taquillas ya abiertas: forzar una cerradura nueva cada vez que quieres guardar algo es lento. Coges una taquilla libre, la usas y la dejas lista para el siguiente.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relación entre entidades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Conectores y protocolos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8686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Multiplicidad (o cardinalidad): cuántas instancias de una clase se asocian con cuántas de la otra. Determina qué anotación JPA usas.</a:t>
            </a:r>
            <a:endParaRPr lang="en-US" sz="1700" dirty="0"/>
          </a:p>
        </p:txBody>
      </p:sp>
      <p:pic>
        <p:nvPicPr>
          <p:cNvPr id="7" name="Image 0" descr="C:/Users/Aitor/docxgen/img/conectores-er-relaci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40280"/>
            <a:ext cx="3552541" cy="402336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75501" y="2240280"/>
          <a:ext cx="7264811" cy="914400"/>
        </p:xfrm>
        <a:graphic>
          <a:graphicData uri="http://schemas.openxmlformats.org/drawingml/2006/table">
            <a:tbl>
              <a:tblPr/>
              <a:tblGrid>
                <a:gridCol w="1961499"/>
                <a:gridCol w="2760628"/>
                <a:gridCol w="2542684"/>
              </a:tblGrid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 en la librería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Anotación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Uno a uno (1:1)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libro tiene una única ficha técnica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@OneToOne en los dos lados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Uno a muchos (1:N)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editorial publica muchos libros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@OneToMany + @ManyToOne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Muchos a muchos (N:M)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libro tiene varios autores y viceversa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@ManyToMany en los dos lados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a uno: Libro y FichaTecnica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Conectores y protocolos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Libro: el lado inverso (mappedBy)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5486400" cy="2788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27048"/>
            <a:ext cx="73152" cy="2788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18488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(strategy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GenerationType.IDENTITY)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Long 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@OneToOne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(mappedBy = </a:t>
            </a:r>
            <a:pPr indent="0" marL="0">
              <a:buNone/>
            </a:pPr>
            <a:r>
              <a:rPr lang="en-US" sz="13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"libro"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cascade = CascadeType.ALL)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FichaTecnica fichaTecnica;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143000"/>
            <a:ext cx="5330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FichaTecnica: la que tiene la clave foránea real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527048"/>
            <a:ext cx="5330952" cy="33375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527048"/>
            <a:ext cx="73152" cy="33375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618488"/>
            <a:ext cx="4873752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FichaTecnica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(strategy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GenerationType.IDENTITY)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Long 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Integer numeroPaginas;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idioma;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@JoinColumn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 = </a:t>
            </a:r>
            <a:pPr indent="0" marL="0">
              <a:buNone/>
            </a:pPr>
            <a:r>
              <a:rPr lang="en-US" sz="13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"libro_id"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unique = true)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 libro;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486400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48970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mappedBy = "libro"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992624"/>
            <a:ext cx="512064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Señala el lado inverso: la clave foránea no vive aquí, sino en FichaTecnica.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715000"/>
            <a:ext cx="11091672" cy="6400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788152"/>
            <a:ext cx="10634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único que distingue un 1:1 de un 1:N en la base de datos es unique = true: sin él, varias fichas técnicas podrían apuntar al mismo libro.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a muchos: Libro y Autor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Conectores y protocolos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Libro: con la tabla intermedia libro_autor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6126480" cy="3246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27048"/>
            <a:ext cx="73152" cy="32461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18488"/>
            <a:ext cx="56692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(strategy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GenerationType.IDENTITY)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Long 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@ManyToMany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@JoinTable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 = </a:t>
            </a:r>
            <a:pPr indent="0" marL="0">
              <a:buNone/>
            </a:pPr>
            <a:r>
              <a:rPr lang="en-US" sz="13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"libro_autor"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joinColumns =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@JoinColumn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 = </a:t>
            </a:r>
            <a:pPr indent="0" marL="0">
              <a:buNone/>
            </a:pPr>
            <a:r>
              <a:rPr lang="en-US" sz="13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"libro_id"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inverseJoinColumns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@JoinColumn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 = </a:t>
            </a:r>
            <a:pPr indent="0" marL="0">
              <a:buNone/>
            </a:pPr>
            <a:r>
              <a:rPr lang="en-US" sz="13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"autor_id"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List&lt;Autor&gt; autores;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0" y="1143000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Autor: el lado inverso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1527048"/>
            <a:ext cx="4690872" cy="2788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1527048"/>
            <a:ext cx="73152" cy="27889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618488"/>
            <a:ext cx="423367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Autor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(strategy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GenerationType.IDENTITY)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Long 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nombre;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@ManyToMany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(mappedBy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3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"autores"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List&lt;Libro&gt; libros;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91672" cy="12344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102352"/>
            <a:ext cx="10634472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de las dos tablas puede llevar la clave foránea: hace falta una tabla intermedia (libro_autor) con dos claves foráneas. @JoinTable le dice a Hibernate cómo se llama y cuáles son sus columnas.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piezas en el proyecto: gestor y conexión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Conectores y protocolos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docker-compose.yml: PostgreSQL independiente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5394960" cy="23317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27048"/>
            <a:ext cx="73152" cy="23317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18488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postgres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postgres:18-alpine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POSTGRES_DB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libreria_db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POSTGRES_USER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libreria_user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POSTGRES_PASSWORD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password123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</a:t>
            </a:r>
            <a:pPr indent="0" marL="0">
              <a:buNone/>
            </a:pPr>
            <a:r>
              <a:rPr lang="en-US" sz="14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"5432:5432"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1143000"/>
            <a:ext cx="5422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application-dev.yml: la conexión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527048"/>
            <a:ext cx="5422392" cy="23317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527048"/>
            <a:ext cx="73152" cy="23317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18488"/>
            <a:ext cx="49651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datasource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jdbc:postgresql://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localhost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:5432/libreria_db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libreria_user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password123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514344" cy="21488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20624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spring.datasource.*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754880"/>
            <a:ext cx="3148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Spring Boot necesita: URL JDBC (protocolo, host, puerto y base de datos), usuario y contraseña.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37304" y="4114800"/>
            <a:ext cx="3514344" cy="21488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4464" y="420624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HikariCP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20184" y="4754880"/>
            <a:ext cx="3148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pooling no lo configuras a mano: Spring Boot lo trae por defecto y se activa con el driver en el pom.xml.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25968" y="4114800"/>
            <a:ext cx="3514344" cy="21488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3128" y="420624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en un perfil test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8848" y="4754880"/>
            <a:ext cx="31485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habitual: los tests simples no dependen de tener Docker levantado.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estructura: la entidad Editorial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Conectores y protocolos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 de la base de datos se declara sobre las propias clases Java, con anotaciones: el ORM en código real.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675120" cy="4343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73152" cy="4343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6217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(name = </a:t>
            </a:r>
            <a:pPr indent="0" marL="0">
              <a:buNone/>
            </a:pPr>
            <a:r>
              <a:rPr lang="en-US" sz="14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"editorial"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Editorial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@GeneratedValue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(strategy 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GenerationType.IDENTITY)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Long id;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nombre;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@OneToMany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(mappedBy = </a:t>
            </a:r>
            <a:pPr indent="0" marL="0">
              <a:buNone/>
            </a:pPr>
            <a:r>
              <a:rPr lang="en-US" sz="14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"editorial"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cascade = CascadeType.ALL,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orphanRemoval = true)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List&lt;Libro&gt; libros;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0" y="16916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83880" y="1188720"/>
            <a:ext cx="3456432" cy="15544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243584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 + @Table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66760" y="1700784"/>
            <a:ext cx="30906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clase se mapea contra la tabla editorial.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338328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83880" y="2880360"/>
            <a:ext cx="3456432" cy="15544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935224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@Id + @GeneratedValue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3392424"/>
            <a:ext cx="30906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identificador y cómo se genera: autoincremental, delegado en la base de datos.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0" y="507492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183880" y="4572000"/>
            <a:ext cx="3456432" cy="15544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4626864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@OneToMany(mappedBy)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66760" y="5084064"/>
            <a:ext cx="30906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clave foránea real vive en Libro (con su @ManyToOne de vuelta), no aquí.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cascade, orphanRemoval y ddl-auto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Conectores y protocolos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62956" cy="246888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 = CascadeType.ALL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9971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 las operaciones de Editorial a sus Libro: si guardas o borras una editorial, Hibernate aplica lo mismo a todos sus libros.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188720"/>
            <a:ext cx="5362956" cy="24688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80160"/>
            <a:ext cx="50886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orphanRemoval = true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60236" y="1874520"/>
            <a:ext cx="499719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quitas un libro de la lista sin borrar la editorial, queda «huérfano» y Hibernate lo elimina de la base de datos por su cuenta.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091672" cy="1051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4106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spring.jpa.hibernate.ddl-auto: update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4443984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arrancar, Hibernate crea o actualiza las tablas según esas anotaciones.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1672" cy="1051560"/>
          </a:xfrm>
          <a:prstGeom prst="roundRect">
            <a:avLst/>
          </a:prstGeom>
          <a:solidFill>
            <a:srgbClr val="FBE9E7"/>
          </a:solidFill>
          <a:ln w="28575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1208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producción casi nunca se usa update ni create-drop
</a:t>
            </a:r>
            <a:endParaRPr lang="en-US" sz="19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prefieren migraciones controladas: Flyway o Liquibase.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Conectores y protocolos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18872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desfase objeto-relacional es una diferencia de naturaleza entre objetos y referencias (Java) y tablas y claves foráneas (SQL).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85916" y="118872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68796" y="14173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8796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46036" y="118872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ORM resuelve ese desfase: JPA es el estándar, Hibernate su implementación más usada y Spring Data JPA añade los repositorios.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246888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es la API estándar de Java para bases de datos; un driver la implementa para cada gestor.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85916" y="246888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8796" y="269748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8796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46036" y="246888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Embebido (H2, SQLite) corre dentro de tu proceso; independiente (PostgreSQL, MySQL), como servicio aparte por red.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977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374904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pooling reutiliza conexiones ya abiertas; en Spring Boot lo gestiona HikariCP por defecto.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85916" y="374904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68796" y="39776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8796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46036" y="374904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Multiplicidad: 1:1 (@OneToOne), 1:N (@OneToMany/@ManyToOne) y N:M (@ManyToMany con @JoinTable).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2578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08760" y="502920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curso: PostgreSQL independiente vía Docker; la conexión, en application-dev.yml (spring.datasource.*).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185916" y="5029200"/>
            <a:ext cx="5454396" cy="10972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8796" y="52578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8796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146036" y="5029200"/>
            <a:ext cx="43113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mappedBy señala el lado inverso, cascade propaga operaciones, orphanRemoval borra huérfanos y ddl-auto controla las tablas.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Conectores y protocolos de acceso a bases de datos</dc:title>
  <dc:subject>PptxGenJS Presentation</dc:subject>
  <dc:creator>Acceso a Datos</dc:creator>
  <cp:lastModifiedBy>Acceso a Datos</cp:lastModifiedBy>
  <cp:revision>1</cp:revision>
  <dcterms:created xsi:type="dcterms:W3CDTF">2026-09-21T18:42:45Z</dcterms:created>
  <dcterms:modified xsi:type="dcterms:W3CDTF">2026-09-21T18:42:45Z</dcterms:modified>
</cp:coreProperties>
</file>