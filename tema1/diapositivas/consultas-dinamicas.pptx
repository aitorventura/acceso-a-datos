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61AB09-FF88-4215-BADD-C2EA2543B0B7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E0A8A8"/>
                </a:solidFill>
                <a:latin typeface="Arial"/>
                <a:ea typeface="Arial"/>
                <a:cs typeface="Arial"/>
              </a:rPr>
              <a:t>ACCESO A DATOS  —  TEMA 1: MANEJO DE CONECTORES Y HERRAMIENTAS ORM</a:t>
            </a:r>
            <a:endParaRPr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36003C-FE2D-4517-8376-6C025D136FE8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Consultas dinámicas:</a:t>
            </a:r>
            <a:endParaRPr sz="4400"/>
          </a:p>
          <a:p>
            <a:pPr marL="0" indent="0" algn="l">
              <a:buNone/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Specifications</a:t>
            </a:r>
            <a:endParaRPr sz="4400"/>
          </a:p>
          <a:p>
            <a:pPr marL="0" indent="0" algn="l">
              <a:buNone/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paginación</a:t>
            </a:r>
            <a:endParaRPr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E17BA0-8C35-45C3-87A8-AA8E80036153}"/>
              </a:ext>
            </a:extLst>
          </p:cNvPr>
          <p:cNvSpPr>
            <a:spLocks noGrp="1"/>
          </p:cNvSpPr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47003D-2102-4A37-AA8E-56874128E006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7. Consultas dinámicas: Specifications y paginación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3166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94FFA8-345D-4A04-9A9B-9C826C581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270101-869A-42DE-9F65-4B5440FA2BD8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Consultas dinámicas: Specifications y paginación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0AD66F-9575-4C8C-B761-0A3A7C469528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B71D00-555D-474C-96D7-ED2E7B98D92D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5362956" cy="1463040"/>
          </a:xfrm>
          <a:prstGeom prst="roundRect">
            <a:avLst/>
          </a:prstGeom>
          <a:solidFill>
            <a:srgbClr val="EEEEEE"/>
          </a:solidFill>
          <a:ln w="15875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1FEFA1-5AE5-493A-9196-0E2001AD23FF}"/>
              </a:ext>
            </a:extLst>
          </p:cNvPr>
          <p:cNvSpPr>
            <a:spLocks noGrp="1"/>
          </p:cNvSpPr>
          <p:nvPr/>
        </p:nvSpPr>
        <p:spPr>
          <a:xfrm>
            <a:off x="548640" y="1325880"/>
            <a:ext cx="536295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757575"/>
                </a:solidFill>
                <a:latin typeface="Arial"/>
                <a:ea typeface="Arial"/>
                <a:cs typeface="Arial"/>
              </a:rPr>
              <a:t>Conoces el id</a:t>
            </a:r>
            <a:br>
              <a:rPr sz="1800" b="1">
                <a:solidFill>
                  <a:srgbClr val="757575"/>
                </a:solidFill>
                <a:latin typeface="Arial"/>
                <a:ea typeface="Arial"/>
                <a:cs typeface="Arial"/>
              </a:rPr>
            </a:br>
            <a:endParaRPr sz="1800"/>
          </a:p>
          <a:p>
            <a:pPr marL="0" indent="0" algn="ctr">
              <a:buNone/>
            </a:pPr>
            <a:r>
              <a:rPr sz="20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findById(42): el libro número 42</a:t>
            </a:r>
            <a:endParaRPr sz="1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8633946-D26C-4CCA-8DBC-79A6EC2C977A}"/>
              </a:ext>
            </a:extLst>
          </p:cNvPr>
          <p:cNvSpPr>
            <a:spLocks noGrp="1"/>
          </p:cNvSpPr>
          <p:nvPr/>
        </p:nvSpPr>
        <p:spPr>
          <a:xfrm>
            <a:off x="6277356" y="1325880"/>
            <a:ext cx="5362956" cy="14630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9E6C87-5FC8-4211-AC59-4CFBFA5A4E88}"/>
              </a:ext>
            </a:extLst>
          </p:cNvPr>
          <p:cNvSpPr>
            <a:spLocks noGrp="1"/>
          </p:cNvSpPr>
          <p:nvPr/>
        </p:nvSpPr>
        <p:spPr>
          <a:xfrm>
            <a:off x="6277356" y="1325880"/>
            <a:ext cx="536295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No conoces ningún id</a:t>
            </a:r>
            <a:br>
              <a:rPr sz="1800" b="1">
                <a:solidFill>
                  <a:srgbClr val="7F0000"/>
                </a:solidFill>
                <a:latin typeface="Arial"/>
                <a:ea typeface="Arial"/>
                <a:cs typeface="Arial"/>
              </a:rPr>
            </a:br>
            <a:endParaRPr sz="1800"/>
          </a:p>
          <a:p>
            <a:pPr marL="0" indent="0" algn="ctr">
              <a:buNone/>
            </a:pPr>
            <a:r>
              <a:rPr sz="2000">
                <a:solidFill>
                  <a:srgbClr val="212121"/>
                </a:solidFill>
                <a:latin typeface="Arial"/>
                <a:ea typeface="Arial"/>
                <a:cs typeface="Arial"/>
              </a:rPr>
              <a:t>«libros de menos de 20 € de una editorial»</a:t>
            </a:r>
            <a:endParaRPr sz="18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8DB0CBB-B943-4D72-BA0D-05ADB8E075C6}"/>
              </a:ext>
            </a:extLst>
          </p:cNvPr>
          <p:cNvSpPr>
            <a:spLocks noGrp="1"/>
          </p:cNvSpPr>
          <p:nvPr/>
        </p:nvSpPr>
        <p:spPr>
          <a:xfrm>
            <a:off x="548640" y="3063240"/>
            <a:ext cx="5362956" cy="23774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19466CB-E2E3-4A6C-BB2D-91DBAFC5F94D}"/>
              </a:ext>
            </a:extLst>
          </p:cNvPr>
          <p:cNvSpPr>
            <a:spLocks noGrp="1"/>
          </p:cNvSpPr>
          <p:nvPr/>
        </p:nvSpPr>
        <p:spPr>
          <a:xfrm>
            <a:off x="822960" y="3383280"/>
            <a:ext cx="868680" cy="86868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907DDCC-72E4-45A4-893B-D59F2110F3B3}"/>
              </a:ext>
            </a:extLst>
          </p:cNvPr>
          <p:cNvSpPr>
            <a:spLocks noGrp="1"/>
          </p:cNvSpPr>
          <p:nvPr/>
        </p:nvSpPr>
        <p:spPr>
          <a:xfrm>
            <a:off x="822960" y="3383280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5B2FD34-7BF6-4F0B-9B30-B16BDE004127}"/>
              </a:ext>
            </a:extLst>
          </p:cNvPr>
          <p:cNvSpPr>
            <a:spLocks noGrp="1"/>
          </p:cNvSpPr>
          <p:nvPr/>
        </p:nvSpPr>
        <p:spPr>
          <a:xfrm>
            <a:off x="1874520" y="3291840"/>
            <a:ext cx="3808476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3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Los filtros fijos no escalan</a:t>
            </a:r>
            <a:endParaRPr sz="2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7860F4-2BDC-4E05-AF87-9B7DFB258C4D}"/>
              </a:ext>
            </a:extLst>
          </p:cNvPr>
          <p:cNvSpPr>
            <a:spLocks noGrp="1"/>
          </p:cNvSpPr>
          <p:nvPr/>
        </p:nvSpPr>
        <p:spPr>
          <a:xfrm>
            <a:off x="822960" y="4434840"/>
            <a:ext cx="48143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800">
                <a:solidFill>
                  <a:srgbClr val="212121"/>
                </a:solidFill>
                <a:latin typeface="Arial"/>
                <a:ea typeface="Arial"/>
                <a:cs typeface="Arial"/>
              </a:rPr>
              <a:t>Cada usuario combina filtros distintos: un método por combinación crece sin control.</a:t>
            </a:r>
            <a:endParaRPr sz="18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BD57597-79B2-4DE0-B8C9-77ECB0159125}"/>
              </a:ext>
            </a:extLst>
          </p:cNvPr>
          <p:cNvSpPr>
            <a:spLocks noGrp="1"/>
          </p:cNvSpPr>
          <p:nvPr/>
        </p:nvSpPr>
        <p:spPr>
          <a:xfrm>
            <a:off x="6277356" y="3063240"/>
            <a:ext cx="5362956" cy="23774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380C919-3705-4EAA-9095-D77511881169}"/>
              </a:ext>
            </a:extLst>
          </p:cNvPr>
          <p:cNvSpPr>
            <a:spLocks noGrp="1"/>
          </p:cNvSpPr>
          <p:nvPr/>
        </p:nvSpPr>
        <p:spPr>
          <a:xfrm>
            <a:off x="6551676" y="3383280"/>
            <a:ext cx="868680" cy="8686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DF7274-FBEE-4F70-9B80-6B57EDAC5878}"/>
              </a:ext>
            </a:extLst>
          </p:cNvPr>
          <p:cNvSpPr>
            <a:spLocks noGrp="1"/>
          </p:cNvSpPr>
          <p:nvPr/>
        </p:nvSpPr>
        <p:spPr>
          <a:xfrm>
            <a:off x="6551676" y="3383280"/>
            <a:ext cx="86868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endParaRPr sz="3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AE9743-D5EC-4B00-9393-9A82A1369D34}"/>
              </a:ext>
            </a:extLst>
          </p:cNvPr>
          <p:cNvSpPr>
            <a:spLocks noGrp="1"/>
          </p:cNvSpPr>
          <p:nvPr/>
        </p:nvSpPr>
        <p:spPr>
          <a:xfrm>
            <a:off x="7603236" y="3291840"/>
            <a:ext cx="3808476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3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No puedes devolver todo de golpe</a:t>
            </a:r>
            <a:endParaRPr sz="2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8EE511-9A9C-4589-916F-1A5292481DD3}"/>
              </a:ext>
            </a:extLst>
          </p:cNvPr>
          <p:cNvSpPr>
            <a:spLocks noGrp="1"/>
          </p:cNvSpPr>
          <p:nvPr/>
        </p:nvSpPr>
        <p:spPr>
          <a:xfrm>
            <a:off x="6551676" y="4434840"/>
            <a:ext cx="481431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800">
                <a:solidFill>
                  <a:srgbClr val="212121"/>
                </a:solidFill>
                <a:latin typeface="Arial"/>
                <a:ea typeface="Arial"/>
                <a:cs typeface="Arial"/>
              </a:rPr>
              <a:t>Ninguna API seria manda un millón de filas en una sola respuesta.</a:t>
            </a:r>
            <a:endParaRPr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0B35394-982A-4DB2-BD0D-69DE738055F9}"/>
              </a:ext>
            </a:extLst>
          </p:cNvPr>
          <p:cNvSpPr>
            <a:spLocks noGrp="1"/>
          </p:cNvSpPr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800">
                <a:solidFill>
                  <a:srgbClr val="757575"/>
                </a:solidFill>
                <a:latin typeface="Arial"/>
                <a:ea typeface="Arial"/>
                <a:cs typeface="Arial"/>
              </a:rPr>
              <a:t>Dos problemas distintos que comparten el mismo listado como escenario.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9180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79EB61-C526-4E7C-A0BF-FE8ACDCBDE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CB1A87-FA53-4896-8035-68435D29F0E7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 A: los filtros fijos no escalan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12069A-079D-417B-8265-FF74387E0343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309360" cy="420624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4E043D3F-279B-4434-A117-E0FF6AB538C9}"/>
              </a:ext>
            </a:extLst>
          </p:cNvPr>
          <p:cNvSpPr>
            <a:spLocks noGrp="1"/>
          </p:cNvSpPr>
          <p:nvPr/>
        </p:nvSpPr>
        <p:spPr>
          <a:xfrm>
            <a:off x="7132320" y="1280160"/>
            <a:ext cx="1234440" cy="6400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C439134-DB4D-442C-A373-BD9AF8191DAD}"/>
              </a:ext>
            </a:extLst>
          </p:cNvPr>
          <p:cNvSpPr>
            <a:spLocks noGrp="1"/>
          </p:cNvSpPr>
          <p:nvPr/>
        </p:nvSpPr>
        <p:spPr>
          <a:xfrm>
            <a:off x="7132320" y="1280160"/>
            <a:ext cx="1234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filtro</a:t>
            </a:r>
            <a:endParaRPr sz="15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C17BC32-1175-4DFA-B158-C8ACD459941B}"/>
              </a:ext>
            </a:extLst>
          </p:cNvPr>
          <p:cNvSpPr>
            <a:spLocks noGrp="1"/>
          </p:cNvSpPr>
          <p:nvPr/>
        </p:nvSpPr>
        <p:spPr>
          <a:xfrm>
            <a:off x="8412480" y="1280160"/>
            <a:ext cx="3227832" cy="6400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DBC7353-C47B-46D2-A6F7-67EC2B8F0393}"/>
              </a:ext>
            </a:extLst>
          </p:cNvPr>
          <p:cNvSpPr>
            <a:spLocks noGrp="1"/>
          </p:cNvSpPr>
          <p:nvPr/>
        </p:nvSpPr>
        <p:spPr>
          <a:xfrm>
            <a:off x="8503920" y="1280160"/>
            <a:ext cx="3044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findByTituloContaining(...)</a:t>
            </a:r>
            <a:endParaRPr sz="12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BDDF148-0E19-4C05-94CC-17D84902D14B}"/>
              </a:ext>
            </a:extLst>
          </p:cNvPr>
          <p:cNvSpPr>
            <a:spLocks noGrp="1"/>
          </p:cNvSpPr>
          <p:nvPr/>
        </p:nvSpPr>
        <p:spPr>
          <a:xfrm>
            <a:off x="7132320" y="2029968"/>
            <a:ext cx="1234440" cy="6400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5C5DF3-5BA5-4054-A99B-14DE19EA09B2}"/>
              </a:ext>
            </a:extLst>
          </p:cNvPr>
          <p:cNvSpPr>
            <a:spLocks noGrp="1"/>
          </p:cNvSpPr>
          <p:nvPr/>
        </p:nvSpPr>
        <p:spPr>
          <a:xfrm>
            <a:off x="7132320" y="2029968"/>
            <a:ext cx="1234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filtros</a:t>
            </a:r>
            <a:endParaRPr sz="15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8BEE45D-2EA3-4773-8B6D-6C76074EFA54}"/>
              </a:ext>
            </a:extLst>
          </p:cNvPr>
          <p:cNvSpPr>
            <a:spLocks noGrp="1"/>
          </p:cNvSpPr>
          <p:nvPr/>
        </p:nvSpPr>
        <p:spPr>
          <a:xfrm>
            <a:off x="8412480" y="2029968"/>
            <a:ext cx="3227832" cy="6400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E291C4E-4E94-4FC1-8207-1EE5A5C9874C}"/>
              </a:ext>
            </a:extLst>
          </p:cNvPr>
          <p:cNvSpPr>
            <a:spLocks noGrp="1"/>
          </p:cNvSpPr>
          <p:nvPr/>
        </p:nvSpPr>
        <p:spPr>
          <a:xfrm>
            <a:off x="8503920" y="2029968"/>
            <a:ext cx="3044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...AndPrecioGreaterThanEqual(...)</a:t>
            </a:r>
            <a:endParaRPr sz="12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8EFB70C-58C9-48BE-BCAB-7A29F830B4C7}"/>
              </a:ext>
            </a:extLst>
          </p:cNvPr>
          <p:cNvSpPr>
            <a:spLocks noGrp="1"/>
          </p:cNvSpPr>
          <p:nvPr/>
        </p:nvSpPr>
        <p:spPr>
          <a:xfrm>
            <a:off x="7132320" y="2779776"/>
            <a:ext cx="1234440" cy="6400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A302BE2-8260-4DBA-8838-D05C90BCD5B2}"/>
              </a:ext>
            </a:extLst>
          </p:cNvPr>
          <p:cNvSpPr>
            <a:spLocks noGrp="1"/>
          </p:cNvSpPr>
          <p:nvPr/>
        </p:nvSpPr>
        <p:spPr>
          <a:xfrm>
            <a:off x="7132320" y="2779776"/>
            <a:ext cx="1234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filtros</a:t>
            </a:r>
            <a:endParaRPr sz="15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3C5F786-3E25-42E5-97F4-269C03F2F60A}"/>
              </a:ext>
            </a:extLst>
          </p:cNvPr>
          <p:cNvSpPr>
            <a:spLocks noGrp="1"/>
          </p:cNvSpPr>
          <p:nvPr/>
        </p:nvSpPr>
        <p:spPr>
          <a:xfrm>
            <a:off x="8412480" y="2779776"/>
            <a:ext cx="3227832" cy="6400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BA12267-5DB0-4EA1-A193-80A3F08ACA61}"/>
              </a:ext>
            </a:extLst>
          </p:cNvPr>
          <p:cNvSpPr>
            <a:spLocks noGrp="1"/>
          </p:cNvSpPr>
          <p:nvPr/>
        </p:nvSpPr>
        <p:spPr>
          <a:xfrm>
            <a:off x="8503920" y="2779776"/>
            <a:ext cx="3044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...AndPrecioLessThanEqual(...)</a:t>
            </a:r>
            <a:endParaRPr sz="12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E6378B8-A1B1-4D3C-B05D-2A22FC3F6193}"/>
              </a:ext>
            </a:extLst>
          </p:cNvPr>
          <p:cNvSpPr>
            <a:spLocks noGrp="1"/>
          </p:cNvSpPr>
          <p:nvPr/>
        </p:nvSpPr>
        <p:spPr>
          <a:xfrm>
            <a:off x="7132320" y="3529584"/>
            <a:ext cx="1234440" cy="64008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DE03A6B-84AE-42CE-8C96-366B27FDD67C}"/>
              </a:ext>
            </a:extLst>
          </p:cNvPr>
          <p:cNvSpPr>
            <a:spLocks noGrp="1"/>
          </p:cNvSpPr>
          <p:nvPr/>
        </p:nvSpPr>
        <p:spPr>
          <a:xfrm>
            <a:off x="7132320" y="3529584"/>
            <a:ext cx="1234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filtros</a:t>
            </a:r>
            <a:endParaRPr sz="15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8598847-FC02-408D-80F0-05701F679DAB}"/>
              </a:ext>
            </a:extLst>
          </p:cNvPr>
          <p:cNvSpPr>
            <a:spLocks noGrp="1"/>
          </p:cNvSpPr>
          <p:nvPr/>
        </p:nvSpPr>
        <p:spPr>
          <a:xfrm>
            <a:off x="8412480" y="3529584"/>
            <a:ext cx="3227832" cy="6400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ED2828E-BBF7-4533-BFAA-A3B5412D6F89}"/>
              </a:ext>
            </a:extLst>
          </p:cNvPr>
          <p:cNvSpPr>
            <a:spLocks noGrp="1"/>
          </p:cNvSpPr>
          <p:nvPr/>
        </p:nvSpPr>
        <p:spPr>
          <a:xfrm>
            <a:off x="8503920" y="3529584"/>
            <a:ext cx="3044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...AndEditorialId(...)</a:t>
            </a:r>
            <a:endParaRPr sz="12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A908CD1-DC8E-4BF8-B614-EB68C72FB8B6}"/>
              </a:ext>
            </a:extLst>
          </p:cNvPr>
          <p:cNvSpPr>
            <a:spLocks noGrp="1"/>
          </p:cNvSpPr>
          <p:nvPr/>
        </p:nvSpPr>
        <p:spPr>
          <a:xfrm>
            <a:off x="7132320" y="4389120"/>
            <a:ext cx="4507992" cy="10972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3F3EC33-8BA1-4BC2-BA7A-F7B6DDD2BBB6}"/>
              </a:ext>
            </a:extLst>
          </p:cNvPr>
          <p:cNvSpPr>
            <a:spLocks noGrp="1"/>
          </p:cNvSpPr>
          <p:nvPr/>
        </p:nvSpPr>
        <p:spPr>
          <a:xfrm>
            <a:off x="7360920" y="4462272"/>
            <a:ext cx="4050792" cy="95097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>
                <a:solidFill>
                  <a:srgbClr val="212121"/>
                </a:solidFill>
                <a:latin typeface="Arial"/>
                <a:ea typeface="Arial"/>
                <a:cs typeface="Arial"/>
              </a:rPr>
              <a:t>Cada filtro nuevo duplica los métodos, y el nombre deja de ser legible mucho antes de llegar a 16.</a:t>
            </a:r>
            <a:endParaRPr sz="17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CF6F0C6-70A1-4CF3-BDF9-842BEE505C09}"/>
              </a:ext>
            </a:extLst>
          </p:cNvPr>
          <p:cNvSpPr>
            <a:spLocks noGrp="1"/>
          </p:cNvSpPr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757575"/>
                </a:solidFill>
                <a:latin typeface="Arial"/>
                <a:ea typeface="Arial"/>
                <a:cs typeface="Arial"/>
              </a:rPr>
              <a:t>Método derivado por nombre: findByPrecioLessThan(BigDecimal precio) funciona mientras todos busquen siempre por lo mismo.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0119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48972E-487E-475A-B701-4261B1AC6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20A5BC-B10F-4CA5-895B-339A22133B9D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piezas nuevas, traducidas desde SQL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210688-8DBF-49C2-A680-A5C809CE50BD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D22354C-769D-4D0F-905A-8682F1507EDD}"/>
              </a:ext>
            </a:extLst>
          </p:cNvPr>
          <p:cNvSpPr>
            <a:spLocks noGrp="1"/>
          </p:cNvSpPr>
          <p:nvPr/>
        </p:nvSpPr>
        <p:spPr>
          <a:xfrm>
            <a:off x="548640" y="1234440"/>
            <a:ext cx="2743200" cy="9144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0A0AC5-7A61-4AF7-8681-C34640A036F4}"/>
              </a:ext>
            </a:extLst>
          </p:cNvPr>
          <p:cNvSpPr>
            <a:spLocks noGrp="1"/>
          </p:cNvSpPr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Root&lt;Libro&gt;</a:t>
            </a:r>
            <a:endParaRPr sz="1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6D617-0509-466F-8008-932B82A2E467}"/>
              </a:ext>
            </a:extLst>
          </p:cNvPr>
          <p:cNvSpPr>
            <a:spLocks noGrp="1"/>
          </p:cNvSpPr>
          <p:nvPr/>
        </p:nvSpPr>
        <p:spPr>
          <a:xfrm>
            <a:off x="3291840" y="1234440"/>
            <a:ext cx="54864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→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5ABAB70-ECD9-4063-9AF4-B897C02ABAA4}"/>
              </a:ext>
            </a:extLst>
          </p:cNvPr>
          <p:cNvSpPr>
            <a:spLocks noGrp="1"/>
          </p:cNvSpPr>
          <p:nvPr/>
        </p:nvSpPr>
        <p:spPr>
          <a:xfrm>
            <a:off x="3840480" y="1234440"/>
            <a:ext cx="3017520" cy="91440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B576D7-C0D0-4BC2-8B32-F926AAEBF4B8}"/>
              </a:ext>
            </a:extLst>
          </p:cNvPr>
          <p:cNvSpPr>
            <a:spLocks noGrp="1"/>
          </p:cNvSpPr>
          <p:nvPr/>
        </p:nvSpPr>
        <p:spPr>
          <a:xfrm>
            <a:off x="3840480" y="1234440"/>
            <a:ext cx="30175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FROM libro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63BDD9-6A49-429B-B286-6F070BB008AC}"/>
              </a:ext>
            </a:extLst>
          </p:cNvPr>
          <p:cNvSpPr>
            <a:spLocks noGrp="1"/>
          </p:cNvSpPr>
          <p:nvPr/>
        </p:nvSpPr>
        <p:spPr>
          <a:xfrm>
            <a:off x="7040880" y="1234440"/>
            <a:ext cx="4599432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La tabla que consultas; root.get("titulo") es «la columna titulo»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D6D9BE6-B59B-4D00-B9B8-FD1EA329FB2E}"/>
              </a:ext>
            </a:extLst>
          </p:cNvPr>
          <p:cNvSpPr>
            <a:spLocks noGrp="1"/>
          </p:cNvSpPr>
          <p:nvPr/>
        </p:nvSpPr>
        <p:spPr>
          <a:xfrm>
            <a:off x="548640" y="2331720"/>
            <a:ext cx="2743200" cy="9144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48B739-1201-47D9-B789-CB12E9F84805}"/>
              </a:ext>
            </a:extLst>
          </p:cNvPr>
          <p:cNvSpPr>
            <a:spLocks noGrp="1"/>
          </p:cNvSpPr>
          <p:nvPr/>
        </p:nvSpPr>
        <p:spPr>
          <a:xfrm>
            <a:off x="548640" y="233172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CriteriaBuilder</a:t>
            </a:r>
            <a:endParaRPr sz="1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A8F49D2-9677-4772-9ECB-BE686B0982B5}"/>
              </a:ext>
            </a:extLst>
          </p:cNvPr>
          <p:cNvSpPr>
            <a:spLocks noGrp="1"/>
          </p:cNvSpPr>
          <p:nvPr/>
        </p:nvSpPr>
        <p:spPr>
          <a:xfrm>
            <a:off x="3291840" y="2331720"/>
            <a:ext cx="54864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→</a:t>
            </a:r>
            <a:endParaRPr sz="2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0DF650-3FEB-465B-B7F4-D3B418DA06C4}"/>
              </a:ext>
            </a:extLst>
          </p:cNvPr>
          <p:cNvSpPr>
            <a:spLocks noGrp="1"/>
          </p:cNvSpPr>
          <p:nvPr/>
        </p:nvSpPr>
        <p:spPr>
          <a:xfrm>
            <a:off x="3840480" y="2331720"/>
            <a:ext cx="3017520" cy="91440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C685C60-FA79-48C7-B6DF-56957C23FA3C}"/>
              </a:ext>
            </a:extLst>
          </p:cNvPr>
          <p:cNvSpPr>
            <a:spLocks noGrp="1"/>
          </p:cNvSpPr>
          <p:nvPr/>
        </p:nvSpPr>
        <p:spPr>
          <a:xfrm>
            <a:off x="3840480" y="2331720"/>
            <a:ext cx="30175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= · LIKE · &gt;= ...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895BE76-C560-453B-A905-AA63B552A7D0}"/>
              </a:ext>
            </a:extLst>
          </p:cNvPr>
          <p:cNvSpPr>
            <a:spLocks noGrp="1"/>
          </p:cNvSpPr>
          <p:nvPr/>
        </p:nvSpPr>
        <p:spPr>
          <a:xfrm>
            <a:off x="7040880" y="2331720"/>
            <a:ext cx="4599432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Un método Java por cada tipo de comparación del WHERE</a:t>
            </a:r>
            <a:endParaRPr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066A8E2-3764-4ADF-8F65-572815B5D55D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2743200" cy="9144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00B73C-BDB2-4CB3-9FDF-01D8D50E6004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Predicate</a:t>
            </a:r>
            <a:endParaRPr sz="1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E2B50C3-80C0-49E1-835D-5E46BEAC7E2D}"/>
              </a:ext>
            </a:extLst>
          </p:cNvPr>
          <p:cNvSpPr>
            <a:spLocks noGrp="1"/>
          </p:cNvSpPr>
          <p:nvPr/>
        </p:nvSpPr>
        <p:spPr>
          <a:xfrm>
            <a:off x="3291840" y="3429000"/>
            <a:ext cx="54864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→</a:t>
            </a:r>
            <a:endParaRPr sz="2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44DF405-91BE-421B-ADEA-D9A761E2BA44}"/>
              </a:ext>
            </a:extLst>
          </p:cNvPr>
          <p:cNvSpPr>
            <a:spLocks noGrp="1"/>
          </p:cNvSpPr>
          <p:nvPr/>
        </p:nvSpPr>
        <p:spPr>
          <a:xfrm>
            <a:off x="3840480" y="3429000"/>
            <a:ext cx="3017520" cy="91440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A9F9B2A-B122-4079-B097-51ADEFC0942D}"/>
              </a:ext>
            </a:extLst>
          </p:cNvPr>
          <p:cNvSpPr>
            <a:spLocks noGrp="1"/>
          </p:cNvSpPr>
          <p:nvPr/>
        </p:nvSpPr>
        <p:spPr>
          <a:xfrm>
            <a:off x="3840480" y="3429000"/>
            <a:ext cx="30175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una condición completa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32D9A5-4EE1-42CA-8D11-4E89CF8AEC04}"/>
              </a:ext>
            </a:extLst>
          </p:cNvPr>
          <p:cNvSpPr>
            <a:spLocks noGrp="1"/>
          </p:cNvSpPr>
          <p:nvPr/>
        </p:nvSpPr>
        <p:spPr>
          <a:xfrm>
            <a:off x="7040880" y="3429000"/>
            <a:ext cx="4599432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Lo que construye el CriteriaBuilder y lo que tu código devuelve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5998BA-79F2-4645-A654-596FD1F55F00}"/>
              </a:ext>
            </a:extLst>
          </p:cNvPr>
          <p:cNvSpPr>
            <a:spLocks noGrp="1"/>
          </p:cNvSpPr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Una Specification&lt;Libro&gt; es, literalmente, una función:</a:t>
            </a:r>
            <a:endParaRPr sz="19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A165114-0E0D-4CCD-9A5A-9C7B231264F5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2721864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87DAC43-77A2-4D62-BEB4-7795362AC337}"/>
              </a:ext>
            </a:extLst>
          </p:cNvPr>
          <p:cNvSpPr>
            <a:spLocks noGrp="1"/>
          </p:cNvSpPr>
          <p:nvPr/>
        </p:nvSpPr>
        <p:spPr>
          <a:xfrm>
            <a:off x="621792" y="5303520"/>
            <a:ext cx="2575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root + query +</a:t>
            </a:r>
          </a:p>
          <a:p>
            <a:pPr algn="ctr"/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criteriaBuilder</a:t>
            </a:r>
            <a:endParaRPr sz="1700" dirty="0">
              <a:solidFill>
                <a:srgbClr val="2121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38644ED-A010-47F9-A122-B7F649550923}"/>
              </a:ext>
            </a:extLst>
          </p:cNvPr>
          <p:cNvSpPr>
            <a:spLocks noGrp="1"/>
          </p:cNvSpPr>
          <p:nvPr/>
        </p:nvSpPr>
        <p:spPr>
          <a:xfrm>
            <a:off x="3224784" y="5257800"/>
            <a:ext cx="15544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recibe  →</a:t>
            </a:r>
            <a:endParaRPr sz="13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748C46A-28BB-4FB7-8E20-957D851DCD83}"/>
              </a:ext>
            </a:extLst>
          </p:cNvPr>
          <p:cNvSpPr>
            <a:spLocks noGrp="1"/>
          </p:cNvSpPr>
          <p:nvPr/>
        </p:nvSpPr>
        <p:spPr>
          <a:xfrm>
            <a:off x="4733544" y="5257800"/>
            <a:ext cx="2721864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E353E6-9028-4C9C-B18F-D712774CE855}"/>
              </a:ext>
            </a:extLst>
          </p:cNvPr>
          <p:cNvSpPr>
            <a:spLocks noGrp="1"/>
          </p:cNvSpPr>
          <p:nvPr/>
        </p:nvSpPr>
        <p:spPr>
          <a:xfrm>
            <a:off x="4806696" y="5303520"/>
            <a:ext cx="2575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212121"/>
                </a:solidFill>
                <a:latin typeface="Arial"/>
                <a:ea typeface="Arial"/>
                <a:cs typeface="Arial"/>
              </a:rPr>
              <a:t>Specification</a:t>
            </a:r>
            <a:endParaRPr sz="18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317D921-2447-45F7-A1EE-A1DC6F0B6107}"/>
              </a:ext>
            </a:extLst>
          </p:cNvPr>
          <p:cNvSpPr>
            <a:spLocks noGrp="1"/>
          </p:cNvSpPr>
          <p:nvPr/>
        </p:nvSpPr>
        <p:spPr>
          <a:xfrm>
            <a:off x="7409688" y="5257800"/>
            <a:ext cx="15544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devuelve  →</a:t>
            </a:r>
            <a:endParaRPr sz="13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890C497-05EE-4B39-9D2B-A9E333A1BD2A}"/>
              </a:ext>
            </a:extLst>
          </p:cNvPr>
          <p:cNvSpPr>
            <a:spLocks noGrp="1"/>
          </p:cNvSpPr>
          <p:nvPr/>
        </p:nvSpPr>
        <p:spPr>
          <a:xfrm>
            <a:off x="8918448" y="5257800"/>
            <a:ext cx="2721864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B9217AB-DB3E-4359-8CBB-6245C7CB9D2C}"/>
              </a:ext>
            </a:extLst>
          </p:cNvPr>
          <p:cNvSpPr>
            <a:spLocks noGrp="1"/>
          </p:cNvSpPr>
          <p:nvPr/>
        </p:nvSpPr>
        <p:spPr>
          <a:xfrm>
            <a:off x="8991600" y="5303520"/>
            <a:ext cx="2575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>
                <a:solidFill>
                  <a:srgbClr val="212121"/>
                </a:solidFill>
                <a:latin typeface="Arial"/>
                <a:ea typeface="Arial"/>
                <a:cs typeface="Arial"/>
              </a:rPr>
              <a:t>un Predicate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5901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51DC1D-3D00-4E68-81B7-59CD067359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34CB7F-E41F-4C67-BE2A-68E2A90AE55E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Resolviendo el problema A: tu primera Specification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1713C1-8251-479A-B962-D41DAC4AC61D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4A08AF-6603-47AE-909E-033829BAC99E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1. Habilitar Specifications en el repositorio</a:t>
            </a:r>
            <a:endParaRPr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95D0E8-89E9-4BC6-A543-5BDE9FDBC34E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6675120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44D3561-A565-4CDB-A70D-E26904FDFDDB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73152" cy="1371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43D831-2F0E-488C-A98B-97B59C2817F3}"/>
              </a:ext>
            </a:extLst>
          </p:cNvPr>
          <p:cNvSpPr>
            <a:spLocks noGrp="1"/>
          </p:cNvSpPr>
          <p:nvPr/>
        </p:nvSpPr>
        <p:spPr>
          <a:xfrm>
            <a:off x="822960" y="1691640"/>
            <a:ext cx="6217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interface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LibroRepository </a:t>
            </a:r>
            <a:r>
              <a:rPr sz="15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extends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JpaRepository&lt;Libro, Long&gt;,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JpaSpecificationExecutor&lt;Libro&gt; {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F52431-18BF-4095-B131-1EBA66C763CC}"/>
              </a:ext>
            </a:extLst>
          </p:cNvPr>
          <p:cNvSpPr>
            <a:spLocks noGrp="1"/>
          </p:cNvSpPr>
          <p:nvPr/>
        </p:nvSpPr>
        <p:spPr>
          <a:xfrm>
            <a:off x="548640" y="3200400"/>
            <a:ext cx="66751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2. La Specification, condición por condición</a:t>
            </a:r>
            <a:endParaRPr sz="15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785F0AB-9EE5-4F91-9C77-E4039B8A9401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667512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A985A14-9DA5-4D84-B345-547F82407E1A}"/>
              </a:ext>
            </a:extLst>
          </p:cNvPr>
          <p:cNvSpPr>
            <a:spLocks noGrp="1"/>
          </p:cNvSpPr>
          <p:nvPr/>
        </p:nvSpPr>
        <p:spPr>
          <a:xfrm>
            <a:off x="548640" y="3611880"/>
            <a:ext cx="73152" cy="1463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8D1156F-2B73-4BB8-94C8-D1A51E94ED8B}"/>
              </a:ext>
            </a:extLst>
          </p:cNvPr>
          <p:cNvSpPr>
            <a:spLocks noGrp="1"/>
          </p:cNvSpPr>
          <p:nvPr/>
        </p:nvSpPr>
        <p:spPr>
          <a:xfrm>
            <a:off x="822960" y="3703320"/>
            <a:ext cx="6217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(root, query, criteriaBuilder) -&gt;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criteriaBuilder.like(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criteriaBuilder.lower(root.get(</a:t>
            </a:r>
            <a:r>
              <a:rPr sz="1500">
                <a:solidFill>
                  <a:srgbClr val="BF360C"/>
                </a:solidFill>
                <a:latin typeface="Courier New"/>
                <a:ea typeface="Courier New"/>
                <a:cs typeface="Courier New"/>
              </a:rPr>
              <a:t>"titulo"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)),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500">
                <a:solidFill>
                  <a:srgbClr val="BF360C"/>
                </a:solidFill>
                <a:latin typeface="Courier New"/>
                <a:ea typeface="Courier New"/>
                <a:cs typeface="Courier New"/>
              </a:rPr>
              <a:t>"%"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+ titulo.toLowerCase() + </a:t>
            </a:r>
            <a:r>
              <a:rPr sz="1500">
                <a:solidFill>
                  <a:srgbClr val="BF360C"/>
                </a:solidFill>
                <a:latin typeface="Courier New"/>
                <a:ea typeface="Courier New"/>
                <a:cs typeface="Courier New"/>
              </a:rPr>
              <a:t>"%"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);</a:t>
            </a:r>
            <a:endParaRPr sz="15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25CA97-3957-4B20-8687-F79F7DD4A086}"/>
              </a:ext>
            </a:extLst>
          </p:cNvPr>
          <p:cNvSpPr>
            <a:spLocks noGrp="1"/>
          </p:cNvSpPr>
          <p:nvPr/>
        </p:nvSpPr>
        <p:spPr>
          <a:xfrm>
            <a:off x="7498080" y="141732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44ADDB3-4B10-4420-A383-63D91B0CBD25}"/>
              </a:ext>
            </a:extLst>
          </p:cNvPr>
          <p:cNvSpPr>
            <a:spLocks noGrp="1"/>
          </p:cNvSpPr>
          <p:nvPr/>
        </p:nvSpPr>
        <p:spPr>
          <a:xfrm>
            <a:off x="7498080" y="141732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20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028C34A-F16A-4CB8-BD4E-8FA24EE95F0E}"/>
              </a:ext>
            </a:extLst>
          </p:cNvPr>
          <p:cNvSpPr>
            <a:spLocks noGrp="1"/>
          </p:cNvSpPr>
          <p:nvPr/>
        </p:nvSpPr>
        <p:spPr>
          <a:xfrm>
            <a:off x="8183880" y="1188720"/>
            <a:ext cx="3456432" cy="1280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199003-C59B-432D-BED5-5B80BBC35128}"/>
              </a:ext>
            </a:extLst>
          </p:cNvPr>
          <p:cNvSpPr>
            <a:spLocks noGrp="1"/>
          </p:cNvSpPr>
          <p:nvPr/>
        </p:nvSpPr>
        <p:spPr>
          <a:xfrm>
            <a:off x="8366760" y="1243584"/>
            <a:ext cx="3090672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root.get("titulo")</a:t>
            </a:r>
            <a:endParaRPr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BD4E01-F9CE-461F-AF18-5D75F1680D5E}"/>
              </a:ext>
            </a:extLst>
          </p:cNvPr>
          <p:cNvSpPr>
            <a:spLocks noGrp="1"/>
          </p:cNvSpPr>
          <p:nvPr/>
        </p:nvSpPr>
        <p:spPr>
          <a:xfrm>
            <a:off x="8366760" y="1655064"/>
            <a:ext cx="3090672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212121"/>
                </a:solidFill>
                <a:latin typeface="Arial"/>
                <a:ea typeface="Arial"/>
                <a:cs typeface="Arial"/>
              </a:rPr>
              <a:t>es la columna titulo</a:t>
            </a:r>
            <a:endParaRPr sz="1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82B9772-E88E-4A21-B7ED-AAC4412CA3F0}"/>
              </a:ext>
            </a:extLst>
          </p:cNvPr>
          <p:cNvSpPr>
            <a:spLocks noGrp="1"/>
          </p:cNvSpPr>
          <p:nvPr/>
        </p:nvSpPr>
        <p:spPr>
          <a:xfrm>
            <a:off x="7498080" y="278892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A5CA360-1DE0-4E58-94A0-F43C68B4E151}"/>
              </a:ext>
            </a:extLst>
          </p:cNvPr>
          <p:cNvSpPr>
            <a:spLocks noGrp="1"/>
          </p:cNvSpPr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2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C0CDBF2-E6E7-4235-B55D-262436FDFADC}"/>
              </a:ext>
            </a:extLst>
          </p:cNvPr>
          <p:cNvSpPr>
            <a:spLocks noGrp="1"/>
          </p:cNvSpPr>
          <p:nvPr/>
        </p:nvSpPr>
        <p:spPr>
          <a:xfrm>
            <a:off x="8183880" y="2560320"/>
            <a:ext cx="3456432" cy="1280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2EC306B-0370-4386-AFFF-441C5A094915}"/>
              </a:ext>
            </a:extLst>
          </p:cNvPr>
          <p:cNvSpPr>
            <a:spLocks noGrp="1"/>
          </p:cNvSpPr>
          <p:nvPr/>
        </p:nvSpPr>
        <p:spPr>
          <a:xfrm>
            <a:off x="8366760" y="2615184"/>
            <a:ext cx="3090672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criteriaBuilder.lower(...)</a:t>
            </a:r>
            <a:endParaRPr sz="13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226DD00-6EE0-4FF3-ACBB-F62C57CFA7D1}"/>
              </a:ext>
            </a:extLst>
          </p:cNvPr>
          <p:cNvSpPr>
            <a:spLocks noGrp="1"/>
          </p:cNvSpPr>
          <p:nvPr/>
        </p:nvSpPr>
        <p:spPr>
          <a:xfrm>
            <a:off x="8366760" y="3026664"/>
            <a:ext cx="3090672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212121"/>
                </a:solidFill>
                <a:latin typeface="Arial"/>
                <a:ea typeface="Arial"/>
                <a:cs typeface="Arial"/>
              </a:rPr>
              <a:t>pasa la columna a minúsculas: la búsqueda no distingue mayúsculas</a:t>
            </a:r>
            <a:endParaRPr sz="14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9838B7A-6E73-45E5-9D50-52E24F18BBF2}"/>
              </a:ext>
            </a:extLst>
          </p:cNvPr>
          <p:cNvSpPr>
            <a:spLocks noGrp="1"/>
          </p:cNvSpPr>
          <p:nvPr/>
        </p:nvSpPr>
        <p:spPr>
          <a:xfrm>
            <a:off x="7498080" y="416052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BFFDD83-1FF6-4B9B-A486-FC46D0F85764}"/>
              </a:ext>
            </a:extLst>
          </p:cNvPr>
          <p:cNvSpPr>
            <a:spLocks noGrp="1"/>
          </p:cNvSpPr>
          <p:nvPr/>
        </p:nvSpPr>
        <p:spPr>
          <a:xfrm>
            <a:off x="7498080" y="416052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20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646C8A0-713D-4E72-8F55-E44AD56F3D5E}"/>
              </a:ext>
            </a:extLst>
          </p:cNvPr>
          <p:cNvSpPr>
            <a:spLocks noGrp="1"/>
          </p:cNvSpPr>
          <p:nvPr/>
        </p:nvSpPr>
        <p:spPr>
          <a:xfrm>
            <a:off x="8183880" y="3931920"/>
            <a:ext cx="3456432" cy="1280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4A75CBD-102A-4DA3-9363-BC1BB1B02599}"/>
              </a:ext>
            </a:extLst>
          </p:cNvPr>
          <p:cNvSpPr>
            <a:spLocks noGrp="1"/>
          </p:cNvSpPr>
          <p:nvPr/>
        </p:nvSpPr>
        <p:spPr>
          <a:xfrm>
            <a:off x="8366760" y="3986784"/>
            <a:ext cx="3090672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criteriaBuilder.like(...)</a:t>
            </a:r>
            <a:endParaRPr sz="13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EFEDC65-B1E2-4D5F-9A74-0D78E20FF796}"/>
              </a:ext>
            </a:extLst>
          </p:cNvPr>
          <p:cNvSpPr>
            <a:spLocks noGrp="1"/>
          </p:cNvSpPr>
          <p:nvPr/>
        </p:nvSpPr>
        <p:spPr>
          <a:xfrm>
            <a:off x="8366760" y="4398264"/>
            <a:ext cx="3090672" cy="7589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>
                <a:solidFill>
                  <a:srgbClr val="212121"/>
                </a:solidFill>
                <a:latin typeface="Arial"/>
                <a:ea typeface="Arial"/>
                <a:cs typeface="Arial"/>
              </a:rPr>
              <a:t>construye el Predicate: LIKE '%valor%', con métodos Java</a:t>
            </a:r>
            <a:endParaRPr sz="14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0758530-E07A-4597-9BED-1B078BFF1D31}"/>
              </a:ext>
            </a:extLst>
          </p:cNvPr>
          <p:cNvSpPr>
            <a:spLocks noGrp="1"/>
          </p:cNvSpPr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500">
                <a:solidFill>
                  <a:srgbClr val="757575"/>
                </a:solidFill>
                <a:latin typeface="Arial"/>
                <a:ea typeface="Arial"/>
                <a:cs typeface="Arial"/>
              </a:rPr>
              <a:t>El tercer parámetro, query, no se usa en filtros simples: está ahí porque forma parte de toPredicate().</a:t>
            </a:r>
          </a:p>
        </p:txBody>
      </p:sp>
    </p:spTree>
    <p:extLst>
      <p:ext uri="{BB962C8B-B14F-4D97-AF65-F5344CB8AC3E}">
        <p14:creationId xmlns:p14="http://schemas.microsoft.com/office/powerpoint/2010/main" val="188141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B70FEC-796E-4610-A577-FD96542397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9C12BC-659C-4CF4-9829-8E75B3496056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filtro es opcional: Specification.unrestricted()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3965CB-5A5A-43F9-89AE-A65F9A0DEFB4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86FEFF-0B33-43B1-8F5E-593194EAA4A8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6949440" cy="5029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DAB8F8-6320-4F63-98C0-20859EB87706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73152" cy="5029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3EDDF6-96FB-4E53-AD95-C0245E8756B1}"/>
              </a:ext>
            </a:extLst>
          </p:cNvPr>
          <p:cNvSpPr>
            <a:spLocks noGrp="1"/>
          </p:cNvSpPr>
          <p:nvPr/>
        </p:nvSpPr>
        <p:spPr>
          <a:xfrm>
            <a:off x="822960" y="1280160"/>
            <a:ext cx="6492240" cy="4846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final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class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LibroSpecifications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static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Specification&lt;Libro&gt;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tituloContiene(String titulo)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(titulo ==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|| titulo.isBlank())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Specification.unrestricted();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(root, query, criteriaBuilder) -&gt;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criteriaBuilder.like(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    criteriaBuilder.lower(root.get(</a:t>
            </a:r>
            <a:r>
              <a:rPr sz="1400">
                <a:solidFill>
                  <a:srgbClr val="BF360C"/>
                </a:solidFill>
                <a:latin typeface="Courier New"/>
                <a:ea typeface="Courier New"/>
                <a:cs typeface="Courier New"/>
              </a:rPr>
              <a:t>"titulo"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)),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    </a:t>
            </a:r>
            <a:r>
              <a:rPr sz="1400">
                <a:solidFill>
                  <a:srgbClr val="BF360C"/>
                </a:solidFill>
                <a:latin typeface="Courier New"/>
                <a:ea typeface="Courier New"/>
                <a:cs typeface="Courier New"/>
              </a:rPr>
              <a:t>"%"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+ titulo.toLowerCase() + </a:t>
            </a:r>
            <a:r>
              <a:rPr sz="1400">
                <a:solidFill>
                  <a:srgbClr val="BF360C"/>
                </a:solidFill>
                <a:latin typeface="Courier New"/>
                <a:ea typeface="Courier New"/>
                <a:cs typeface="Courier New"/>
              </a:rPr>
              <a:t>"%"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i="1">
                <a:solidFill>
                  <a:srgbClr val="78909C"/>
                </a:solidFill>
                <a:latin typeface="Courier New"/>
                <a:ea typeface="Courier New"/>
                <a:cs typeface="Courier New"/>
              </a:rPr>
              <a:t>// precioMayorOIgualA, precioMenorOIgualA,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i="1">
                <a:solidFill>
                  <a:srgbClr val="78909C"/>
                </a:solidFill>
                <a:latin typeface="Courier New"/>
                <a:ea typeface="Courier New"/>
                <a:cs typeface="Courier New"/>
              </a:rPr>
              <a:t>// perteneceAEditorial... — mismo patrón.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19B1727-762E-4166-8F90-6E5ACA1F8862}"/>
              </a:ext>
            </a:extLst>
          </p:cNvPr>
          <p:cNvSpPr>
            <a:spLocks noGrp="1"/>
          </p:cNvSpPr>
          <p:nvPr/>
        </p:nvSpPr>
        <p:spPr>
          <a:xfrm>
            <a:off x="7772400" y="1188720"/>
            <a:ext cx="3867912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7E9B14-16A2-40E0-8F91-1B352266FE54}"/>
              </a:ext>
            </a:extLst>
          </p:cNvPr>
          <p:cNvSpPr>
            <a:spLocks noGrp="1"/>
          </p:cNvSpPr>
          <p:nvPr/>
        </p:nvSpPr>
        <p:spPr>
          <a:xfrm>
            <a:off x="7955280" y="1243584"/>
            <a:ext cx="350215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Filtro null</a:t>
            </a:r>
            <a:endParaRPr sz="19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E827EB-93CF-4BFE-9624-4642EB26F0C8}"/>
              </a:ext>
            </a:extLst>
          </p:cNvPr>
          <p:cNvSpPr>
            <a:spLocks noGrp="1"/>
          </p:cNvSpPr>
          <p:nvPr/>
        </p:nvSpPr>
        <p:spPr>
          <a:xfrm>
            <a:off x="7955280" y="1746504"/>
            <a:ext cx="3502152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unrestricted(): ninguna condición añadida. Se salta de verdad.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C06A03-EC4B-4842-A397-86423DA5830F}"/>
              </a:ext>
            </a:extLst>
          </p:cNvPr>
          <p:cNvSpPr>
            <a:spLocks noGrp="1"/>
          </p:cNvSpPr>
          <p:nvPr/>
        </p:nvSpPr>
        <p:spPr>
          <a:xfrm>
            <a:off x="7772400" y="2971800"/>
            <a:ext cx="3867912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EA2D72-BAD2-4158-A6A6-DFB4F2903A62}"/>
              </a:ext>
            </a:extLst>
          </p:cNvPr>
          <p:cNvSpPr>
            <a:spLocks noGrp="1"/>
          </p:cNvSpPr>
          <p:nvPr/>
        </p:nvSpPr>
        <p:spPr>
          <a:xfrm>
            <a:off x="7955280" y="3026664"/>
            <a:ext cx="350215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Un valor real</a:t>
            </a:r>
            <a:endParaRPr sz="1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C10757-F259-463E-91D1-FF042781F06C}"/>
              </a:ext>
            </a:extLst>
          </p:cNvPr>
          <p:cNvSpPr>
            <a:spLocks noGrp="1"/>
          </p:cNvSpPr>
          <p:nvPr/>
        </p:nvSpPr>
        <p:spPr>
          <a:xfrm>
            <a:off x="7955280" y="3529584"/>
            <a:ext cx="3502152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El Predicate (LIKE, &gt;=...): se añade al WHERE.</a:t>
            </a:r>
            <a:endParaRPr sz="1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035CB27-753B-49AB-B741-C3FEC0E0517F}"/>
              </a:ext>
            </a:extLst>
          </p:cNvPr>
          <p:cNvSpPr>
            <a:spLocks noGrp="1"/>
          </p:cNvSpPr>
          <p:nvPr/>
        </p:nvSpPr>
        <p:spPr>
          <a:xfrm>
            <a:off x="7772400" y="4754880"/>
            <a:ext cx="386791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311F39F-FE51-4DA5-8E6F-B68CBD350DAC}"/>
              </a:ext>
            </a:extLst>
          </p:cNvPr>
          <p:cNvSpPr>
            <a:spLocks noGrp="1"/>
          </p:cNvSpPr>
          <p:nvPr/>
        </p:nvSpPr>
        <p:spPr>
          <a:xfrm>
            <a:off x="8001000" y="4828032"/>
            <a:ext cx="3410712" cy="13167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450">
                <a:solidFill>
                  <a:srgbClr val="212121"/>
                </a:solidFill>
                <a:latin typeface="Arial"/>
                <a:ea typeface="Arial"/>
                <a:cs typeface="Arial"/>
              </a:rPr>
              <a:t>unrestricted() AND precio &gt;= 10  →  precio &gt;= 10</a:t>
            </a:r>
          </a:p>
          <a:p>
            <a:r>
              <a:rPr sz="1450">
                <a:solidFill>
                  <a:srgbClr val="212121"/>
                </a:solidFill>
                <a:latin typeface="Arial"/>
                <a:ea typeface="Arial"/>
                <a:cs typeface="Arial"/>
              </a:rPr>
              <a:t>Es como si la pieza vacía no estuviera.</a:t>
            </a:r>
          </a:p>
        </p:txBody>
      </p:sp>
    </p:spTree>
    <p:extLst>
      <p:ext uri="{BB962C8B-B14F-4D97-AF65-F5344CB8AC3E}">
        <p14:creationId xmlns:p14="http://schemas.microsoft.com/office/powerpoint/2010/main" val="28065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C35273-3661-4E57-8145-78EB5DDDDA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760E30-A58D-4AAB-80DD-2048A29EDB86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s-ES"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¿Por qué</a:t>
            </a:r>
            <a:r>
              <a:rPr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la lambda</a:t>
            </a:r>
            <a:r>
              <a:rPr lang="es-ES"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  <a:r>
              <a:rPr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Specification es </a:t>
            </a:r>
            <a:r>
              <a:rPr sz="2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interfaz</a:t>
            </a:r>
            <a:r>
              <a:rPr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funcional</a:t>
            </a:r>
            <a:endParaRPr sz="2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787BD-4333-4D1A-A543-1A892C6C11C2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BAC2A1-7B7E-46BF-81A9-8559B2C54D68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5669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Versión larga: clase anónima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6A633EC-967D-4B3D-8735-3C23B572685F}"/>
              </a:ext>
            </a:extLst>
          </p:cNvPr>
          <p:cNvSpPr>
            <a:spLocks noGrp="1"/>
          </p:cNvSpPr>
          <p:nvPr/>
        </p:nvSpPr>
        <p:spPr>
          <a:xfrm>
            <a:off x="548640" y="1600199"/>
            <a:ext cx="5120640" cy="2461661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91F7F4-3758-45BC-B745-D1A4364D28C3}"/>
              </a:ext>
            </a:extLst>
          </p:cNvPr>
          <p:cNvSpPr>
            <a:spLocks noGrp="1"/>
          </p:cNvSpPr>
          <p:nvPr/>
        </p:nvSpPr>
        <p:spPr>
          <a:xfrm>
            <a:off x="548640" y="1600199"/>
            <a:ext cx="73152" cy="2461661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E06816-1F54-435A-9793-C49A6E3E301A}"/>
              </a:ext>
            </a:extLst>
          </p:cNvPr>
          <p:cNvSpPr>
            <a:spLocks noGrp="1"/>
          </p:cNvSpPr>
          <p:nvPr/>
        </p:nvSpPr>
        <p:spPr>
          <a:xfrm>
            <a:off x="822960" y="1691640"/>
            <a:ext cx="4769318" cy="2247604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 b="1" dirty="0">
                <a:solidFill>
                  <a:srgbClr val="7F0000"/>
                </a:solidFill>
                <a:latin typeface="Courier New" pitchFamily="34" charset="0"/>
                <a:cs typeface="Courier New" pitchFamily="34" charset="-120"/>
              </a:rPr>
              <a:t>return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new Specification&lt;Libro&gt;() {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@Override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public Predicate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toPredicate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    Root&lt;Libro&gt; root,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   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CriteriaQuery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&lt;?&gt; query,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   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CriteriaBuilder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cb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) {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</a:t>
            </a:r>
            <a:r>
              <a:rPr sz="1300" b="1" dirty="0">
                <a:solidFill>
                  <a:srgbClr val="7F0000"/>
                </a:solidFill>
                <a:latin typeface="Courier New" pitchFamily="34" charset="0"/>
                <a:cs typeface="Courier New" pitchFamily="34" charset="-120"/>
              </a:rPr>
              <a:t>return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cb.like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   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cb.lower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root.get</a:t>
            </a:r>
            <a:r>
              <a:rPr lang="es-ES"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lang="es-ES" sz="1300" dirty="0">
                <a:solidFill>
                  <a:srgbClr val="BF360C"/>
                </a:solidFill>
                <a:latin typeface="Courier New" pitchFamily="34" charset="0"/>
                <a:cs typeface="Courier New" pitchFamily="34" charset="-120"/>
              </a:rPr>
              <a:t>"titulo"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)),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    </a:t>
            </a:r>
            <a:r>
              <a:rPr sz="1300" dirty="0">
                <a:solidFill>
                  <a:srgbClr val="BF360C"/>
                </a:solidFill>
                <a:latin typeface="Courier New" pitchFamily="34" charset="0"/>
                <a:cs typeface="Courier New" pitchFamily="34" charset="-120"/>
              </a:rPr>
              <a:t>"%"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+ </a:t>
            </a:r>
            <a:r>
              <a:rPr sz="13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titulo.toLowerCase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() + </a:t>
            </a:r>
            <a:r>
              <a:rPr lang="es-ES" sz="1300" dirty="0">
                <a:solidFill>
                  <a:srgbClr val="BF360C"/>
                </a:solidFill>
                <a:latin typeface="Courier New" pitchFamily="34" charset="0"/>
                <a:cs typeface="Courier New" pitchFamily="34" charset="-120"/>
              </a:rPr>
              <a:t>"%"</a:t>
            </a:r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);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}</a:t>
            </a:r>
          </a:p>
          <a:p>
            <a:r>
              <a:rPr sz="13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};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D4ED64-8090-4A59-BAEE-5EFCEAB11782}"/>
              </a:ext>
            </a:extLst>
          </p:cNvPr>
          <p:cNvSpPr>
            <a:spLocks noGrp="1"/>
          </p:cNvSpPr>
          <p:nvPr/>
        </p:nvSpPr>
        <p:spPr>
          <a:xfrm>
            <a:off x="5943600" y="1188720"/>
            <a:ext cx="569671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Versión corta: lambda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73403E3-A397-4984-A3BA-2C7E7CB57FEE}"/>
              </a:ext>
            </a:extLst>
          </p:cNvPr>
          <p:cNvSpPr>
            <a:spLocks noGrp="1"/>
          </p:cNvSpPr>
          <p:nvPr/>
        </p:nvSpPr>
        <p:spPr>
          <a:xfrm>
            <a:off x="5943600" y="1600199"/>
            <a:ext cx="5696712" cy="2461661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0C2358-6E21-4944-B7AC-45427E89BBEC}"/>
              </a:ext>
            </a:extLst>
          </p:cNvPr>
          <p:cNvSpPr>
            <a:spLocks noGrp="1"/>
          </p:cNvSpPr>
          <p:nvPr/>
        </p:nvSpPr>
        <p:spPr>
          <a:xfrm>
            <a:off x="5943600" y="1600199"/>
            <a:ext cx="73152" cy="2461661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0076719-7C37-4DC0-BEDB-71B6D05B4320}"/>
              </a:ext>
            </a:extLst>
          </p:cNvPr>
          <p:cNvSpPr>
            <a:spLocks noGrp="1"/>
          </p:cNvSpPr>
          <p:nvPr/>
        </p:nvSpPr>
        <p:spPr>
          <a:xfrm>
            <a:off x="6217920" y="1691640"/>
            <a:ext cx="5239512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s-ES" sz="1500" b="1" dirty="0" err="1">
                <a:solidFill>
                  <a:srgbClr val="7F0000"/>
                </a:solidFill>
                <a:latin typeface="Courier New" pitchFamily="34" charset="0"/>
                <a:cs typeface="Courier New" pitchFamily="34" charset="-120"/>
              </a:rPr>
              <a:t>return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(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root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query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cb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) -&gt;</a:t>
            </a:r>
          </a:p>
          <a:p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cb.like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</a:p>
          <a:p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cb.lower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root.get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lang="es-ES" sz="1500" dirty="0">
                <a:solidFill>
                  <a:srgbClr val="BF360C"/>
                </a:solidFill>
                <a:latin typeface="Courier New" pitchFamily="34" charset="0"/>
                <a:cs typeface="Courier New" pitchFamily="34" charset="-120"/>
              </a:rPr>
              <a:t>"titulo"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)),</a:t>
            </a:r>
          </a:p>
          <a:p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       </a:t>
            </a:r>
            <a:r>
              <a:rPr lang="es-ES" sz="1500" dirty="0">
                <a:solidFill>
                  <a:srgbClr val="BF360C"/>
                </a:solidFill>
                <a:latin typeface="Courier New" pitchFamily="34" charset="0"/>
                <a:cs typeface="Courier New" pitchFamily="34" charset="-120"/>
              </a:rPr>
              <a:t>"%"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 + </a:t>
            </a:r>
            <a:r>
              <a:rPr lang="es-ES" sz="1500" dirty="0" err="1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titulo.toLowerCase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() + </a:t>
            </a:r>
            <a:r>
              <a:rPr lang="es-ES" sz="1500" dirty="0">
                <a:solidFill>
                  <a:srgbClr val="BF360C"/>
                </a:solidFill>
                <a:latin typeface="Courier New" pitchFamily="34" charset="0"/>
                <a:cs typeface="Courier New" pitchFamily="34" charset="-120"/>
              </a:rPr>
              <a:t>"%"</a:t>
            </a:r>
            <a:r>
              <a:rPr lang="es-ES" sz="1500" dirty="0">
                <a:solidFill>
                  <a:srgbClr val="263238"/>
                </a:solidFill>
                <a:latin typeface="Courier New" pitchFamily="34" charset="0"/>
                <a:cs typeface="Courier New" pitchFamily="34" charset="-120"/>
              </a:rPr>
              <a:t>);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FCA2DD-E3DA-492B-880D-625C9FFD73AD}"/>
              </a:ext>
            </a:extLst>
          </p:cNvPr>
          <p:cNvSpPr>
            <a:spLocks noGrp="1"/>
          </p:cNvSpPr>
          <p:nvPr/>
        </p:nvSpPr>
        <p:spPr>
          <a:xfrm>
            <a:off x="548640" y="4485374"/>
            <a:ext cx="11091672" cy="575109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D23567-2FA3-4A07-B85F-9F5DF6B45068}"/>
              </a:ext>
            </a:extLst>
          </p:cNvPr>
          <p:cNvSpPr>
            <a:spLocks noGrp="1"/>
          </p:cNvSpPr>
          <p:nvPr/>
        </p:nvSpPr>
        <p:spPr>
          <a:xfrm>
            <a:off x="777240" y="4572002"/>
            <a:ext cx="10634472" cy="41533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Las dos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versiones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hacen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exactamente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lo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mismo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: la lambda es la forma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corta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de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implementar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70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toPredicate</a:t>
            </a:r>
            <a:r>
              <a:rPr sz="170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(...).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ECA1FF0-942F-448C-8DD6-89A96DF6C529}"/>
              </a:ext>
            </a:extLst>
          </p:cNvPr>
          <p:cNvSpPr>
            <a:spLocks noGrp="1"/>
          </p:cNvSpPr>
          <p:nvPr/>
        </p:nvSpPr>
        <p:spPr>
          <a:xfrm>
            <a:off x="548640" y="5257799"/>
            <a:ext cx="11091672" cy="1143001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46B89E-335E-4DC0-AAE8-E45C2D5A0C8E}"/>
              </a:ext>
            </a:extLst>
          </p:cNvPr>
          <p:cNvSpPr>
            <a:spLocks noGrp="1"/>
          </p:cNvSpPr>
          <p:nvPr/>
        </p:nvSpPr>
        <p:spPr>
          <a:xfrm>
            <a:off x="822960" y="5404583"/>
            <a:ext cx="10543032" cy="849431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7F0000"/>
                </a:solidFill>
                <a:latin typeface="Arial"/>
                <a:ea typeface="Arial"/>
                <a:cs typeface="Arial"/>
              </a:rPr>
              <a:t>¿Por </a:t>
            </a:r>
            <a:r>
              <a:rPr sz="1800" b="1" dirty="0" err="1">
                <a:solidFill>
                  <a:srgbClr val="7F0000"/>
                </a:solidFill>
                <a:latin typeface="Arial"/>
                <a:ea typeface="Arial"/>
                <a:cs typeface="Arial"/>
              </a:rPr>
              <a:t>qué</a:t>
            </a:r>
            <a:r>
              <a:rPr sz="1800" b="1" dirty="0">
                <a:solidFill>
                  <a:srgbClr val="7F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7F0000"/>
                </a:solidFill>
                <a:latin typeface="Arial"/>
                <a:ea typeface="Arial"/>
                <a:cs typeface="Arial"/>
              </a:rPr>
              <a:t>funciona</a:t>
            </a:r>
            <a:r>
              <a:rPr sz="1800" b="1" dirty="0">
                <a:solidFill>
                  <a:srgbClr val="7F0000"/>
                </a:solidFill>
                <a:latin typeface="Arial"/>
                <a:ea typeface="Arial"/>
                <a:cs typeface="Arial"/>
              </a:rPr>
              <a:t>?</a:t>
            </a:r>
            <a:endParaRPr sz="1800" dirty="0"/>
          </a:p>
          <a:p>
            <a:pPr>
              <a:spcAft>
                <a:spcPts val="600"/>
              </a:spcAft>
            </a:pP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Specification&lt;T&gt;</a:t>
            </a:r>
            <a:r>
              <a:rPr lang="es-ES"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es una interfaz funcional, por lo que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tiene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un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único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método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abstracto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. Por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eso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Java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puede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representarla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con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una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lambda: sus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tres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parámetros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son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los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tres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parámetros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 de </a:t>
            </a:r>
            <a:r>
              <a:rPr sz="1650" b="0" dirty="0" err="1">
                <a:solidFill>
                  <a:srgbClr val="212121"/>
                </a:solidFill>
                <a:latin typeface="Arial"/>
                <a:ea typeface="Arial"/>
                <a:cs typeface="Arial"/>
              </a:rPr>
              <a:t>toPredicate</a:t>
            </a:r>
            <a:r>
              <a:rPr sz="1650" b="0" dirty="0">
                <a:solidFill>
                  <a:srgbClr val="212121"/>
                </a:solidFill>
                <a:latin typeface="Arial"/>
                <a:ea typeface="Arial"/>
                <a:cs typeface="Arial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74022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13FB38-DE6A-43E9-8E02-31BAC9CCB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4C0A3C-A619-4C48-8469-26BD967BD1CC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El DTO de filtro y el service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73AB1E-CF4E-4F3A-9F1E-8E70E88D731B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123E6D-C93C-4C47-9DC9-341F5D7BDF5E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11091672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99FD7D-8F01-4F9E-87AD-20159AF73073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73152" cy="8686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39A25C-E3AA-4432-8AB1-6CFD51C1597D}"/>
              </a:ext>
            </a:extLst>
          </p:cNvPr>
          <p:cNvSpPr>
            <a:spLocks noGrp="1"/>
          </p:cNvSpPr>
          <p:nvPr/>
        </p:nvSpPr>
        <p:spPr>
          <a:xfrm>
            <a:off x="822960" y="1280160"/>
            <a:ext cx="10634472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record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LibroFiltroDTO(String titulo, BigDecimal precioMin,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                 BigDecimal precioMax, Long editorialId) {}</a:t>
            </a:r>
            <a:endParaRPr sz="15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7DEE855-690D-44E5-B7A6-2507B36D55F3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6949440" cy="3840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F12C79-9389-4FD3-808E-4AEFF89FEDD9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73152" cy="38404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3B59F2-3ED6-4816-868A-1C6F684A9532}"/>
              </a:ext>
            </a:extLst>
          </p:cNvPr>
          <p:cNvSpPr>
            <a:spLocks noGrp="1"/>
          </p:cNvSpPr>
          <p:nvPr/>
        </p:nvSpPr>
        <p:spPr>
          <a:xfrm>
            <a:off x="822960" y="2377440"/>
            <a:ext cx="649224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@Transactional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(readOnly = true)</a:t>
            </a:r>
            <a:endParaRPr sz="1400"/>
          </a:p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List&lt;LibroResponseDTO&gt; findByFiltro(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LibroFiltroDTO filtro)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Specification&lt;Libro&gt; spec = Specification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.where(LibroSpecifications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    .tituloContiene(filtro.titulo()))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.and(LibroSpecifications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    .precioMayorOIgualA(filtro.precioMin()));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libroRepository.findAll(spec)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.stream()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.map(this::mapToDTO)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.toList();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E581603-64F5-41C7-AA5B-79F6B94A33DA}"/>
              </a:ext>
            </a:extLst>
          </p:cNvPr>
          <p:cNvSpPr>
            <a:spLocks noGrp="1"/>
          </p:cNvSpPr>
          <p:nvPr/>
        </p:nvSpPr>
        <p:spPr>
          <a:xfrm>
            <a:off x="7772400" y="2286000"/>
            <a:ext cx="3867912" cy="18288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68745A-7C3C-4431-B926-26CBAD25A421}"/>
              </a:ext>
            </a:extLst>
          </p:cNvPr>
          <p:cNvSpPr>
            <a:spLocks noGrp="1"/>
          </p:cNvSpPr>
          <p:nvPr/>
        </p:nvSpPr>
        <p:spPr>
          <a:xfrm>
            <a:off x="7955280" y="2340864"/>
            <a:ext cx="350215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where(...).and(...)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FDBB77C-9F8C-4060-B698-A7B13733FD68}"/>
              </a:ext>
            </a:extLst>
          </p:cNvPr>
          <p:cNvSpPr>
            <a:spLocks noGrp="1"/>
          </p:cNvSpPr>
          <p:nvPr/>
        </p:nvSpPr>
        <p:spPr>
          <a:xfrm>
            <a:off x="7955280" y="2843784"/>
            <a:ext cx="3502152" cy="1216152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450">
                <a:solidFill>
                  <a:srgbClr val="212121"/>
                </a:solidFill>
                <a:latin typeface="Arial"/>
                <a:ea typeface="Arial"/>
                <a:cs typeface="Arial"/>
              </a:rPr>
              <a:t>Encadena las piezas en una sola consulta. Las unrestricted() no añaden nada.</a:t>
            </a:r>
          </a:p>
          <a:p>
            <a:r>
              <a:rPr sz="1450">
                <a:solidFill>
                  <a:srgbClr val="212121"/>
                </a:solidFill>
                <a:latin typeface="Arial"/>
                <a:ea typeface="Arial"/>
                <a:cs typeface="Arial"/>
              </a:rPr>
              <a:t>Ej.: titulo=null y precioMin=10 → WHERE precio &gt;= 10.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6B9779B-F7FF-412A-BF42-57ACB444D3E1}"/>
              </a:ext>
            </a:extLst>
          </p:cNvPr>
          <p:cNvSpPr>
            <a:spLocks noGrp="1"/>
          </p:cNvSpPr>
          <p:nvPr/>
        </p:nvSpPr>
        <p:spPr>
          <a:xfrm>
            <a:off x="7772400" y="4297680"/>
            <a:ext cx="3867912" cy="18288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F36C615-C302-4D69-95B3-5A18DD2A218B}"/>
              </a:ext>
            </a:extLst>
          </p:cNvPr>
          <p:cNvSpPr>
            <a:spLocks noGrp="1"/>
          </p:cNvSpPr>
          <p:nvPr/>
        </p:nvSpPr>
        <p:spPr>
          <a:xfrm>
            <a:off x="7955280" y="4352544"/>
            <a:ext cx="3502152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findAll(spec)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72C48F6-49EA-494C-AE76-243195443F6A}"/>
              </a:ext>
            </a:extLst>
          </p:cNvPr>
          <p:cNvSpPr>
            <a:spLocks noGrp="1"/>
          </p:cNvSpPr>
          <p:nvPr/>
        </p:nvSpPr>
        <p:spPr>
          <a:xfrm>
            <a:off x="7955280" y="4855464"/>
            <a:ext cx="3502152" cy="12161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>
                <a:solidFill>
                  <a:srgbClr val="212121"/>
                </a:solidFill>
                <a:latin typeface="Arial"/>
                <a:ea typeface="Arial"/>
                <a:cs typeface="Arial"/>
              </a:rPr>
              <a:t>El findAll de siempre, con una Specification: devuelve todos los que cumplan, sin límite de página todavía.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9506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E17EAD-222B-434A-86D2-1ACEF2896E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311944-66C9-4E1E-835D-FFD2F9F8019C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El controller: de la URL al SQL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8E3BEF-93D6-40EE-83D6-D8DE73A1D7AB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6A0A147-B80A-4EF9-B7E4-873BEA821F42}"/>
              </a:ext>
            </a:extLst>
          </p:cNvPr>
          <p:cNvSpPr>
            <a:spLocks noGrp="1"/>
          </p:cNvSpPr>
          <p:nvPr/>
        </p:nvSpPr>
        <p:spPr>
          <a:xfrm>
            <a:off x="548640" y="1234440"/>
            <a:ext cx="11091672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1C280A-177F-48ED-8B9F-E086B0094704}"/>
              </a:ext>
            </a:extLst>
          </p:cNvPr>
          <p:cNvSpPr>
            <a:spLocks noGrp="1"/>
          </p:cNvSpPr>
          <p:nvPr/>
        </p:nvSpPr>
        <p:spPr>
          <a:xfrm>
            <a:off x="548640" y="1234440"/>
            <a:ext cx="73152" cy="1463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F1E05E-D020-4396-B67C-C77B664DA604}"/>
              </a:ext>
            </a:extLst>
          </p:cNvPr>
          <p:cNvSpPr>
            <a:spLocks noGrp="1"/>
          </p:cNvSpPr>
          <p:nvPr/>
        </p:nvSpPr>
        <p:spPr>
          <a:xfrm>
            <a:off x="822960" y="1325880"/>
            <a:ext cx="1063447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@GetMapping</a:t>
            </a:r>
            <a:endParaRPr sz="1400"/>
          </a:p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ResponseEntity&lt;List&lt;LibroResponseDTO&gt;&gt; getAll(</a:t>
            </a: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@ModelAttribute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LibroFiltroDTO filtro)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ResponseEntity.ok(libroService.findByFiltro(filtro));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40F443-0BE0-4A92-89B0-EAFA6EDBC21F}"/>
              </a:ext>
            </a:extLst>
          </p:cNvPr>
          <p:cNvSpPr>
            <a:spLocks noGrp="1"/>
          </p:cNvSpPr>
          <p:nvPr/>
        </p:nvSpPr>
        <p:spPr>
          <a:xfrm>
            <a:off x="548640" y="2926080"/>
            <a:ext cx="1109167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@ModelAttribute mapea la query string al DTO:</a:t>
            </a:r>
            <a:endParaRPr sz="15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EE0C966-888E-4762-8C18-D59A3B6C647F}"/>
              </a:ext>
            </a:extLst>
          </p:cNvPr>
          <p:cNvSpPr>
            <a:spLocks noGrp="1"/>
          </p:cNvSpPr>
          <p:nvPr/>
        </p:nvSpPr>
        <p:spPr>
          <a:xfrm>
            <a:off x="548640" y="3383280"/>
            <a:ext cx="2018538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122235-E747-48EB-8571-2A49C5E773BA}"/>
              </a:ext>
            </a:extLst>
          </p:cNvPr>
          <p:cNvSpPr>
            <a:spLocks noGrp="1"/>
          </p:cNvSpPr>
          <p:nvPr/>
        </p:nvSpPr>
        <p:spPr>
          <a:xfrm>
            <a:off x="621792" y="3429000"/>
            <a:ext cx="1872234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?titulo=java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&amp;precioMin=10</a:t>
            </a:r>
            <a:endParaRPr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7F621F-0FE9-4C78-8286-03F5DA463B2B}"/>
              </a:ext>
            </a:extLst>
          </p:cNvPr>
          <p:cNvSpPr>
            <a:spLocks noGrp="1"/>
          </p:cNvSpPr>
          <p:nvPr/>
        </p:nvSpPr>
        <p:spPr>
          <a:xfrm>
            <a:off x="2521458" y="3383280"/>
            <a:ext cx="109728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mapea  →</a:t>
            </a:r>
            <a:endParaRPr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917536-81A3-4D37-A748-1FAA40EF102D}"/>
              </a:ext>
            </a:extLst>
          </p:cNvPr>
          <p:cNvSpPr>
            <a:spLocks noGrp="1"/>
          </p:cNvSpPr>
          <p:nvPr/>
        </p:nvSpPr>
        <p:spPr>
          <a:xfrm>
            <a:off x="3573018" y="3383280"/>
            <a:ext cx="2018538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BA61B4-33C1-42B1-AF0E-CF648ED7E0C5}"/>
              </a:ext>
            </a:extLst>
          </p:cNvPr>
          <p:cNvSpPr>
            <a:spLocks noGrp="1"/>
          </p:cNvSpPr>
          <p:nvPr/>
        </p:nvSpPr>
        <p:spPr>
          <a:xfrm>
            <a:off x="3646170" y="3429000"/>
            <a:ext cx="1872234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LibroFiltroDTO</a:t>
            </a:r>
            <a:endParaRPr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1821C4-52F5-4BB7-9694-A380806826CC}"/>
              </a:ext>
            </a:extLst>
          </p:cNvPr>
          <p:cNvSpPr>
            <a:spLocks noGrp="1"/>
          </p:cNvSpPr>
          <p:nvPr/>
        </p:nvSpPr>
        <p:spPr>
          <a:xfrm>
            <a:off x="5545836" y="3383280"/>
            <a:ext cx="109728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service  →</a:t>
            </a:r>
            <a:endParaRPr sz="13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C1F074E-892A-4096-A588-87F71085EF21}"/>
              </a:ext>
            </a:extLst>
          </p:cNvPr>
          <p:cNvSpPr>
            <a:spLocks noGrp="1"/>
          </p:cNvSpPr>
          <p:nvPr/>
        </p:nvSpPr>
        <p:spPr>
          <a:xfrm>
            <a:off x="6597396" y="3383280"/>
            <a:ext cx="2018538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F3D79A-67C7-448D-A547-64EF2F07BF7B}"/>
              </a:ext>
            </a:extLst>
          </p:cNvPr>
          <p:cNvSpPr>
            <a:spLocks noGrp="1"/>
          </p:cNvSpPr>
          <p:nvPr/>
        </p:nvSpPr>
        <p:spPr>
          <a:xfrm>
            <a:off x="6670548" y="3429000"/>
            <a:ext cx="1872234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Specification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DD7FAFD-7722-4B50-A4FA-2DACFEDA1205}"/>
              </a:ext>
            </a:extLst>
          </p:cNvPr>
          <p:cNvSpPr>
            <a:spLocks noGrp="1"/>
          </p:cNvSpPr>
          <p:nvPr/>
        </p:nvSpPr>
        <p:spPr>
          <a:xfrm>
            <a:off x="8570214" y="3383280"/>
            <a:ext cx="109728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Hibernate  →</a:t>
            </a:r>
            <a:endParaRPr sz="13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4D40C59-05C1-4D1D-B119-BB27761EAB95}"/>
              </a:ext>
            </a:extLst>
          </p:cNvPr>
          <p:cNvSpPr>
            <a:spLocks noGrp="1"/>
          </p:cNvSpPr>
          <p:nvPr/>
        </p:nvSpPr>
        <p:spPr>
          <a:xfrm>
            <a:off x="9621774" y="3383280"/>
            <a:ext cx="2018538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95A655B-1D5C-4DAF-8251-CE7D9DB670ED}"/>
              </a:ext>
            </a:extLst>
          </p:cNvPr>
          <p:cNvSpPr>
            <a:spLocks noGrp="1"/>
          </p:cNvSpPr>
          <p:nvPr/>
        </p:nvSpPr>
        <p:spPr>
          <a:xfrm>
            <a:off x="9694926" y="3429000"/>
            <a:ext cx="1872234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WHERE titulo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LIKE '%java%'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AND precio &gt;= 10</a:t>
            </a:r>
            <a:endParaRPr sz="14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F6964D9-A451-4790-B89B-A6FA28CB946B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11091672" cy="1051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238CDCE-716C-439D-BE9A-665504CB652A}"/>
              </a:ext>
            </a:extLst>
          </p:cNvPr>
          <p:cNvSpPr>
            <a:spLocks noGrp="1"/>
          </p:cNvSpPr>
          <p:nvPr/>
        </p:nvSpPr>
        <p:spPr>
          <a:xfrm>
            <a:off x="777240" y="5193792"/>
            <a:ext cx="10634472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>
                <a:solidFill>
                  <a:srgbClr val="212121"/>
                </a:solidFill>
                <a:latin typeface="Arial"/>
                <a:ea typeface="Arial"/>
                <a:cs typeface="Arial"/>
              </a:rPr>
              <a:t>Problema A resuelto — pero con miles de filas, la respuesta seguiría trayéndolas todas de golpe. Ese es el problema B.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25505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5CE239-C090-4CF6-97A8-03E5E5D734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FAB65D-7893-4ED1-A9DF-45A636757FA9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 B: tampoco puedes devolver todo de golpe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9ED47C-8081-4FC7-9B3E-5490A375D1BB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992877-1BE0-4FA8-87B9-713DCA6C532F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4A1670-44B1-49D3-9EA3-32C20477856E}"/>
              </a:ext>
            </a:extLst>
          </p:cNvPr>
          <p:cNvSpPr>
            <a:spLocks noGrp="1"/>
          </p:cNvSpPr>
          <p:nvPr/>
        </p:nvSpPr>
        <p:spPr>
          <a:xfrm>
            <a:off x="777240" y="1261872"/>
            <a:ext cx="10634472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>
                <a:solidFill>
                  <a:srgbClr val="212121"/>
                </a:solidFill>
                <a:latin typeface="Arial"/>
                <a:ea typeface="Arial"/>
                <a:cs typeface="Arial"/>
              </a:rPr>
              <a:t>Como en Google: con miles de resultados, te da los primeros 10 y un botón para los siguientes. La paginación aplica esa idea a tu API.</a:t>
            </a:r>
            <a:endParaRPr sz="190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11091672" cy="2628888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E7D305E2-935C-4037-AA76-8BF343151E00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11091672" cy="109728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4DED29C-2F65-4440-8F6E-467355F43B0C}"/>
              </a:ext>
            </a:extLst>
          </p:cNvPr>
          <p:cNvSpPr>
            <a:spLocks noGrp="1"/>
          </p:cNvSpPr>
          <p:nvPr/>
        </p:nvSpPr>
        <p:spPr>
          <a:xfrm>
            <a:off x="822960" y="5212080"/>
            <a:ext cx="10543032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La primera página es la 0, no la 1</a:t>
            </a:r>
            <a:br>
              <a:rPr sz="2000" b="1">
                <a:solidFill>
                  <a:srgbClr val="7F0000"/>
                </a:solidFill>
                <a:latin typeface="Arial"/>
                <a:ea typeface="Arial"/>
                <a:cs typeface="Arial"/>
              </a:rPr>
            </a:br>
            <a:endParaRPr sz="2000"/>
          </a:p>
          <a:p>
            <a:pPr marL="0" indent="0">
              <a:buNone/>
            </a:pPr>
            <a:r>
              <a:rPr sz="1900">
                <a:solidFill>
                  <a:srgbClr val="212121"/>
                </a:solidFill>
                <a:latin typeface="Arial"/>
                <a:ea typeface="Arial"/>
                <a:cs typeface="Arial"/>
              </a:rPr>
              <a:t>Spring Data numera las páginas desde cero. Pedir la «página 1» te da la segunda.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26164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5B2DCF-2F71-4934-A551-81E1B319A2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EEBDDB-9FE8-42C1-8F0D-25C9A9CCE173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Pageable y Page: la petición y la respuesta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FDC833-8B83-4D4C-9730-95AFECADCF96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26BA6A-62FB-4E5B-9436-CB3968985715}"/>
              </a:ext>
            </a:extLst>
          </p:cNvPr>
          <p:cNvSpPr>
            <a:spLocks noGrp="1"/>
          </p:cNvSpPr>
          <p:nvPr/>
        </p:nvSpPr>
        <p:spPr>
          <a:xfrm>
            <a:off x="548640" y="1234440"/>
            <a:ext cx="5362956" cy="16459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E46A58-54F7-4E18-B100-1CDABCD932BB}"/>
              </a:ext>
            </a:extLst>
          </p:cNvPr>
          <p:cNvSpPr>
            <a:spLocks noGrp="1"/>
          </p:cNvSpPr>
          <p:nvPr/>
        </p:nvSpPr>
        <p:spPr>
          <a:xfrm>
            <a:off x="731520" y="1289304"/>
            <a:ext cx="4997196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Pageable: la petición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C68BF2-AC3C-48E6-9EE9-D407CBDEE386}"/>
              </a:ext>
            </a:extLst>
          </p:cNvPr>
          <p:cNvSpPr>
            <a:spLocks noGrp="1"/>
          </p:cNvSpPr>
          <p:nvPr/>
        </p:nvSpPr>
        <p:spPr>
          <a:xfrm>
            <a:off x="731520" y="1792224"/>
            <a:ext cx="4997196" cy="10332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Qué página, de qué tamaño y con qué orden. Sin anotación: Spring lee page, size y sort de la query string.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0129EA-F0EA-4F61-BF10-44D3CCD2CD2D}"/>
              </a:ext>
            </a:extLst>
          </p:cNvPr>
          <p:cNvSpPr>
            <a:spLocks noGrp="1"/>
          </p:cNvSpPr>
          <p:nvPr/>
        </p:nvSpPr>
        <p:spPr>
          <a:xfrm>
            <a:off x="6277356" y="1234440"/>
            <a:ext cx="5362956" cy="16459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3BF5E7-FE68-430F-9C27-3855A62A46A5}"/>
              </a:ext>
            </a:extLst>
          </p:cNvPr>
          <p:cNvSpPr>
            <a:spLocks noGrp="1"/>
          </p:cNvSpPr>
          <p:nvPr/>
        </p:nvSpPr>
        <p:spPr>
          <a:xfrm>
            <a:off x="6460236" y="1289304"/>
            <a:ext cx="4997196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Page&lt;T&gt;: la respuesta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D012D5-BFDF-444D-B59C-97F1A23DF550}"/>
              </a:ext>
            </a:extLst>
          </p:cNvPr>
          <p:cNvSpPr>
            <a:spLocks noGrp="1"/>
          </p:cNvSpPr>
          <p:nvPr/>
        </p:nvSpPr>
        <p:spPr>
          <a:xfrm>
            <a:off x="6460236" y="1792224"/>
            <a:ext cx="4997196" cy="10332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El contenido de esa página, más metadatos: total de elementos, total de páginas...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D0481E-7D96-4E28-B36A-21392C3D8A17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1109167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Por debajo, Hibernate lo traduce a SQL de toda la vida:</a:t>
            </a:r>
            <a:endParaRPr sz="15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349C01-9AC9-458F-B5B0-009CB03A1075}"/>
              </a:ext>
            </a:extLst>
          </p:cNvPr>
          <p:cNvSpPr>
            <a:spLocks noGrp="1"/>
          </p:cNvSpPr>
          <p:nvPr/>
        </p:nvSpPr>
        <p:spPr>
          <a:xfrm>
            <a:off x="548640" y="3566160"/>
            <a:ext cx="2843784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D061FAB-B857-4366-9EBC-BA96F770B4D0}"/>
              </a:ext>
            </a:extLst>
          </p:cNvPr>
          <p:cNvSpPr>
            <a:spLocks noGrp="1"/>
          </p:cNvSpPr>
          <p:nvPr/>
        </p:nvSpPr>
        <p:spPr>
          <a:xfrm>
            <a:off x="621792" y="3611880"/>
            <a:ext cx="2697480" cy="1325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GET .../libros?page=0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&amp;size=3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&amp;sort=titulo,asc</a:t>
            </a:r>
            <a:endParaRPr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0F6ABDF-6C27-4A8A-9EA8-BEB595E3F572}"/>
              </a:ext>
            </a:extLst>
          </p:cNvPr>
          <p:cNvSpPr>
            <a:spLocks noGrp="1"/>
          </p:cNvSpPr>
          <p:nvPr/>
        </p:nvSpPr>
        <p:spPr>
          <a:xfrm>
            <a:off x="3346704" y="3566160"/>
            <a:ext cx="1371600" cy="1417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Spring  →</a:t>
            </a:r>
            <a:endParaRPr sz="13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2DBC910-A307-411C-AB57-A9DC05AACDCF}"/>
              </a:ext>
            </a:extLst>
          </p:cNvPr>
          <p:cNvSpPr>
            <a:spLocks noGrp="1"/>
          </p:cNvSpPr>
          <p:nvPr/>
        </p:nvSpPr>
        <p:spPr>
          <a:xfrm>
            <a:off x="4672584" y="3566160"/>
            <a:ext cx="2843784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AA02FD-CC47-45D4-91F2-AFFBD7DEBDFE}"/>
              </a:ext>
            </a:extLst>
          </p:cNvPr>
          <p:cNvSpPr>
            <a:spLocks noGrp="1"/>
          </p:cNvSpPr>
          <p:nvPr/>
        </p:nvSpPr>
        <p:spPr>
          <a:xfrm>
            <a:off x="4745736" y="3611880"/>
            <a:ext cx="2697480" cy="1325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Pageable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page 0 · size 3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0E3A4CA-DB17-492C-B1B7-599508409CB9}"/>
              </a:ext>
            </a:extLst>
          </p:cNvPr>
          <p:cNvSpPr>
            <a:spLocks noGrp="1"/>
          </p:cNvSpPr>
          <p:nvPr/>
        </p:nvSpPr>
        <p:spPr>
          <a:xfrm>
            <a:off x="7470648" y="3566160"/>
            <a:ext cx="1371600" cy="1417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 b="1" i="1">
                <a:solidFill>
                  <a:srgbClr val="C62828"/>
                </a:solidFill>
                <a:latin typeface="Arial"/>
                <a:ea typeface="Arial"/>
                <a:cs typeface="Arial"/>
              </a:rPr>
              <a:t>Hibernate  →</a:t>
            </a:r>
            <a:endParaRPr sz="13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5919FF4-268F-4C2C-AEA1-4D47E59D0FFF}"/>
              </a:ext>
            </a:extLst>
          </p:cNvPr>
          <p:cNvSpPr>
            <a:spLocks noGrp="1"/>
          </p:cNvSpPr>
          <p:nvPr/>
        </p:nvSpPr>
        <p:spPr>
          <a:xfrm>
            <a:off x="8796528" y="3566160"/>
            <a:ext cx="2843784" cy="14173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6307519-FDDA-495F-8299-C0A67EA82932}"/>
              </a:ext>
            </a:extLst>
          </p:cNvPr>
          <p:cNvSpPr>
            <a:spLocks noGrp="1"/>
          </p:cNvSpPr>
          <p:nvPr/>
        </p:nvSpPr>
        <p:spPr>
          <a:xfrm>
            <a:off x="8869680" y="3611880"/>
            <a:ext cx="2697480" cy="1325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ORDER BY titulo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212121"/>
                </a:solidFill>
                <a:latin typeface="Courier New"/>
                <a:ea typeface="Courier New"/>
                <a:cs typeface="Courier New"/>
              </a:rPr>
              <a:t>LIMIT 3 OFFSET 0</a:t>
            </a:r>
            <a:endParaRPr sz="14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A20691A-DE3F-4C3C-A06C-A2F72594E8C9}"/>
              </a:ext>
            </a:extLst>
          </p:cNvPr>
          <p:cNvSpPr>
            <a:spLocks noGrp="1"/>
          </p:cNvSpPr>
          <p:nvPr/>
        </p:nvSpPr>
        <p:spPr>
          <a:xfrm>
            <a:off x="548640" y="5166360"/>
            <a:ext cx="11091672" cy="10058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BD5483E-84A3-44F9-83A1-BD0625B560E8}"/>
              </a:ext>
            </a:extLst>
          </p:cNvPr>
          <p:cNvSpPr>
            <a:spLocks noGrp="1"/>
          </p:cNvSpPr>
          <p:nvPr/>
        </p:nvSpPr>
        <p:spPr>
          <a:xfrm>
            <a:off x="777240" y="5239512"/>
            <a:ext cx="10634472" cy="8595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900">
                <a:solidFill>
                  <a:srgbClr val="212121"/>
                </a:solidFill>
                <a:latin typeface="Arial"/>
                <a:ea typeface="Arial"/>
                <a:cs typeface="Arial"/>
              </a:rPr>
              <a:t>OFFSET = página × tamaño: la página 2 con tamaño 20 salta 2 × 20 = 40 filas, las de las páginas 0 y 1.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46112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AD134D-A56D-4E5B-AEF1-299B756552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32235F-9FCF-466E-BDF7-E7339D18E52D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respuesta de Page&lt;T&gt;, campo a campo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4A5C5C-94BC-4970-9116-2E05C173768D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CAA97D-0A57-4D5C-9961-D11D161037F8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4846320" cy="4206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939A91-0251-46F1-A4AD-E90457F400C2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73152" cy="4206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BE764C-6D08-4B47-912D-2229DC28035C}"/>
              </a:ext>
            </a:extLst>
          </p:cNvPr>
          <p:cNvSpPr>
            <a:spLocks noGrp="1"/>
          </p:cNvSpPr>
          <p:nvPr/>
        </p:nvSpPr>
        <p:spPr>
          <a:xfrm>
            <a:off x="822960" y="1280160"/>
            <a:ext cx="438912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{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"content": [ /* libros */ ],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"totalElements": 7,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"totalPages": 3,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"number": 0,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"size": 3,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"numberOfElements": 3,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"first": true,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"last": false,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"empty": false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// pageable y sort: ver apuntes web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40B1F6E-FEA7-46F0-8C37-0A52B1E23A46}"/>
              </a:ext>
            </a:extLst>
          </p:cNvPr>
          <p:cNvSpPr>
            <a:spLocks noGrp="1"/>
          </p:cNvSpPr>
          <p:nvPr/>
        </p:nvSpPr>
        <p:spPr>
          <a:xfrm>
            <a:off x="5669280" y="1188720"/>
            <a:ext cx="2103120" cy="73152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38D3AF-06A2-44BD-A942-63F6D6430233}"/>
              </a:ext>
            </a:extLst>
          </p:cNvPr>
          <p:cNvSpPr>
            <a:spLocks noGrp="1"/>
          </p:cNvSpPr>
          <p:nvPr/>
        </p:nvSpPr>
        <p:spPr>
          <a:xfrm>
            <a:off x="5669280" y="1188720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content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850F2E-EF76-4AD6-AD00-C5129A06B795}"/>
              </a:ext>
            </a:extLst>
          </p:cNvPr>
          <p:cNvSpPr>
            <a:spLocks noGrp="1"/>
          </p:cNvSpPr>
          <p:nvPr/>
        </p:nvSpPr>
        <p:spPr>
          <a:xfrm>
            <a:off x="7909560" y="1188720"/>
            <a:ext cx="373075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Los elementos de esta página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498E2A-F646-4CC3-A1CA-A93D4C0F1214}"/>
              </a:ext>
            </a:extLst>
          </p:cNvPr>
          <p:cNvSpPr>
            <a:spLocks noGrp="1"/>
          </p:cNvSpPr>
          <p:nvPr/>
        </p:nvSpPr>
        <p:spPr>
          <a:xfrm>
            <a:off x="5669280" y="2057400"/>
            <a:ext cx="2103120" cy="73152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A47020-0322-4EA0-B43C-16F6E8B90BDC}"/>
              </a:ext>
            </a:extLst>
          </p:cNvPr>
          <p:cNvSpPr>
            <a:spLocks noGrp="1"/>
          </p:cNvSpPr>
          <p:nvPr/>
        </p:nvSpPr>
        <p:spPr>
          <a:xfrm>
            <a:off x="5669280" y="2057400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totalElements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19113B8-F443-4418-8658-DC55750974FF}"/>
              </a:ext>
            </a:extLst>
          </p:cNvPr>
          <p:cNvSpPr>
            <a:spLocks noGrp="1"/>
          </p:cNvSpPr>
          <p:nvPr/>
        </p:nvSpPr>
        <p:spPr>
          <a:xfrm>
            <a:off x="7909560" y="2057400"/>
            <a:ext cx="373075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Filas totales de la consulta, no solo de esta página</a:t>
            </a:r>
            <a:endParaRPr sz="1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D5F7957-E337-44B6-9F32-C08F9223F125}"/>
              </a:ext>
            </a:extLst>
          </p:cNvPr>
          <p:cNvSpPr>
            <a:spLocks noGrp="1"/>
          </p:cNvSpPr>
          <p:nvPr/>
        </p:nvSpPr>
        <p:spPr>
          <a:xfrm>
            <a:off x="5669280" y="2926080"/>
            <a:ext cx="2103120" cy="73152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0ACE0BB-A25B-4BEE-9CF4-65745D2AA301}"/>
              </a:ext>
            </a:extLst>
          </p:cNvPr>
          <p:cNvSpPr>
            <a:spLocks noGrp="1"/>
          </p:cNvSpPr>
          <p:nvPr/>
        </p:nvSpPr>
        <p:spPr>
          <a:xfrm>
            <a:off x="5669280" y="2926080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totalPages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D0E85B-A9BA-42C4-944F-B5BDB7C63CB1}"/>
              </a:ext>
            </a:extLst>
          </p:cNvPr>
          <p:cNvSpPr>
            <a:spLocks noGrp="1"/>
          </p:cNvSpPr>
          <p:nvPr/>
        </p:nvSpPr>
        <p:spPr>
          <a:xfrm>
            <a:off x="7909560" y="2926080"/>
            <a:ext cx="373075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Páginas necesarias: totalElements / size, hacia arriba</a:t>
            </a:r>
            <a:endParaRPr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49FD512-271A-443D-861E-2A14640A1FE7}"/>
              </a:ext>
            </a:extLst>
          </p:cNvPr>
          <p:cNvSpPr>
            <a:spLocks noGrp="1"/>
          </p:cNvSpPr>
          <p:nvPr/>
        </p:nvSpPr>
        <p:spPr>
          <a:xfrm>
            <a:off x="5669280" y="3794760"/>
            <a:ext cx="2103120" cy="73152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1A225E6-B8D8-498B-ADB4-67F73509AD70}"/>
              </a:ext>
            </a:extLst>
          </p:cNvPr>
          <p:cNvSpPr>
            <a:spLocks noGrp="1"/>
          </p:cNvSpPr>
          <p:nvPr/>
        </p:nvSpPr>
        <p:spPr>
          <a:xfrm>
            <a:off x="5669280" y="3794760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number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F7B7CB-B24A-474F-B5EF-A8FD877C1E31}"/>
              </a:ext>
            </a:extLst>
          </p:cNvPr>
          <p:cNvSpPr>
            <a:spLocks noGrp="1"/>
          </p:cNvSpPr>
          <p:nvPr/>
        </p:nvSpPr>
        <p:spPr>
          <a:xfrm>
            <a:off x="7909560" y="3794760"/>
            <a:ext cx="3730752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La página actual (empieza en 0)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D65EEBF-5725-4A5F-B85E-03C60B28692B}"/>
              </a:ext>
            </a:extLst>
          </p:cNvPr>
          <p:cNvSpPr>
            <a:spLocks noGrp="1"/>
          </p:cNvSpPr>
          <p:nvPr/>
        </p:nvSpPr>
        <p:spPr>
          <a:xfrm>
            <a:off x="5669280" y="4754880"/>
            <a:ext cx="597103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757575"/>
                </a:solidFill>
                <a:latin typeface="Arial"/>
                <a:ea typeface="Arial"/>
                <a:cs typeface="Arial"/>
              </a:rPr>
              <a:t>El resto es información derivada:</a:t>
            </a:r>
            <a:endParaRPr sz="15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24B5896-7821-4F25-A511-BB59FF27C416}"/>
              </a:ext>
            </a:extLst>
          </p:cNvPr>
          <p:cNvSpPr>
            <a:spLocks noGrp="1"/>
          </p:cNvSpPr>
          <p:nvPr/>
        </p:nvSpPr>
        <p:spPr>
          <a:xfrm>
            <a:off x="5669280" y="5166360"/>
            <a:ext cx="1929384" cy="502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DFE546-9D73-4B43-895E-17D0B4BE6B3C}"/>
              </a:ext>
            </a:extLst>
          </p:cNvPr>
          <p:cNvSpPr>
            <a:spLocks noGrp="1"/>
          </p:cNvSpPr>
          <p:nvPr/>
        </p:nvSpPr>
        <p:spPr>
          <a:xfrm>
            <a:off x="5669280" y="5166360"/>
            <a:ext cx="192938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 b="1">
                <a:solidFill>
                  <a:srgbClr val="757575"/>
                </a:solidFill>
                <a:latin typeface="Courier New"/>
                <a:ea typeface="Courier New"/>
                <a:cs typeface="Courier New"/>
              </a:rPr>
              <a:t>size</a:t>
            </a:r>
            <a:endParaRPr sz="12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5279305-B153-45E1-85F5-3220545C6B8E}"/>
              </a:ext>
            </a:extLst>
          </p:cNvPr>
          <p:cNvSpPr>
            <a:spLocks noGrp="1"/>
          </p:cNvSpPr>
          <p:nvPr/>
        </p:nvSpPr>
        <p:spPr>
          <a:xfrm>
            <a:off x="7690104" y="5166360"/>
            <a:ext cx="1929384" cy="502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B884942-FDBC-4317-B3D4-6ECD0A0B4D40}"/>
              </a:ext>
            </a:extLst>
          </p:cNvPr>
          <p:cNvSpPr>
            <a:spLocks noGrp="1"/>
          </p:cNvSpPr>
          <p:nvPr/>
        </p:nvSpPr>
        <p:spPr>
          <a:xfrm>
            <a:off x="7690104" y="5166360"/>
            <a:ext cx="192938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 b="1">
                <a:solidFill>
                  <a:srgbClr val="757575"/>
                </a:solidFill>
                <a:latin typeface="Courier New"/>
                <a:ea typeface="Courier New"/>
                <a:cs typeface="Courier New"/>
              </a:rPr>
              <a:t>numberOfElements</a:t>
            </a:r>
            <a:endParaRPr sz="12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E486392-871C-4B4B-8AD8-60FA3CFEF65E}"/>
              </a:ext>
            </a:extLst>
          </p:cNvPr>
          <p:cNvSpPr>
            <a:spLocks noGrp="1"/>
          </p:cNvSpPr>
          <p:nvPr/>
        </p:nvSpPr>
        <p:spPr>
          <a:xfrm>
            <a:off x="9710928" y="5166360"/>
            <a:ext cx="1929384" cy="502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452B7E1-9C56-4F6F-B857-84A24BE2C691}"/>
              </a:ext>
            </a:extLst>
          </p:cNvPr>
          <p:cNvSpPr>
            <a:spLocks noGrp="1"/>
          </p:cNvSpPr>
          <p:nvPr/>
        </p:nvSpPr>
        <p:spPr>
          <a:xfrm>
            <a:off x="9710928" y="5166360"/>
            <a:ext cx="192938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200" b="1">
                <a:solidFill>
                  <a:srgbClr val="757575"/>
                </a:solidFill>
                <a:latin typeface="Courier New"/>
                <a:ea typeface="Courier New"/>
                <a:cs typeface="Courier New"/>
              </a:rPr>
              <a:t>first / last</a:t>
            </a:r>
            <a:endParaRPr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833EA84-228D-48FF-83EB-8A9C7E732B33}"/>
              </a:ext>
            </a:extLst>
          </p:cNvPr>
          <p:cNvSpPr>
            <a:spLocks noGrp="1"/>
          </p:cNvSpPr>
          <p:nvPr/>
        </p:nvSpPr>
        <p:spPr>
          <a:xfrm>
            <a:off x="548640" y="5784783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i="1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Código </a:t>
            </a:r>
            <a:r>
              <a:rPr sz="1400" i="1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completo</a:t>
            </a:r>
            <a:r>
              <a:rPr sz="1400" i="1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i="1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apuntes</a:t>
            </a:r>
            <a:r>
              <a:rPr sz="1400" i="1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 web — Tema 1, «</a:t>
            </a:r>
            <a:r>
              <a:rPr sz="1400" i="1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Consultas</a:t>
            </a:r>
            <a:r>
              <a:rPr sz="1400" i="1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 </a:t>
            </a:r>
            <a:r>
              <a:rPr sz="1400" i="1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dinámicas</a:t>
            </a:r>
            <a:r>
              <a:rPr sz="1400" i="1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: Specifications y </a:t>
            </a:r>
            <a:r>
              <a:rPr sz="1400" i="1" dirty="0" err="1">
                <a:solidFill>
                  <a:srgbClr val="757575"/>
                </a:solidFill>
                <a:latin typeface="Arial"/>
                <a:ea typeface="Arial"/>
                <a:cs typeface="Arial"/>
              </a:rPr>
              <a:t>paginación</a:t>
            </a:r>
            <a:r>
              <a:rPr sz="1400" i="1" dirty="0">
                <a:solidFill>
                  <a:srgbClr val="757575"/>
                </a:solidFill>
                <a:latin typeface="Arial"/>
                <a:ea typeface="Arial"/>
                <a:cs typeface="Arial"/>
              </a:rPr>
              <a:t>».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645934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FA9588-86B8-4A05-B16A-CCCCBE589E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CCBC7E-AC7E-49A0-B5CC-8D687283E766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paginación sola: service y controller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F7383B-4045-48B3-B1BC-65EDD6E25A21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9D88A8-E439-4CF5-9B60-AFD3BB27EA40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5669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Service: findAll(Pageable) ya viene en JpaRepository</a:t>
            </a:r>
            <a:endParaRPr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3C821A5-AC96-43B3-8F8B-36956BEE6B4D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5120640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B1F1F98-A4A1-4800-BE1C-F821565CB8C5}"/>
              </a:ext>
            </a:extLst>
          </p:cNvPr>
          <p:cNvSpPr>
            <a:spLocks noGrp="1"/>
          </p:cNvSpPr>
          <p:nvPr/>
        </p:nvSpPr>
        <p:spPr>
          <a:xfrm>
            <a:off x="548640" y="1600200"/>
            <a:ext cx="73152" cy="2103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7E4FF4-1CA4-4D4C-A8E7-90A78A8EC62F}"/>
              </a:ext>
            </a:extLst>
          </p:cNvPr>
          <p:cNvSpPr>
            <a:spLocks noGrp="1"/>
          </p:cNvSpPr>
          <p:nvPr/>
        </p:nvSpPr>
        <p:spPr>
          <a:xfrm>
            <a:off x="822960" y="1691640"/>
            <a:ext cx="46634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@Transactional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(readOnly = true)</a:t>
            </a:r>
            <a:endParaRPr sz="1400"/>
          </a:p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Page&lt;LibroResponseDTO&gt;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findAllPaginated(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Pageable pageable)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libroRepository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.findAll(pageable)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.map(this::mapToDTO);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39897F-0F50-436A-BCE0-507FDDC63764}"/>
              </a:ext>
            </a:extLst>
          </p:cNvPr>
          <p:cNvSpPr>
            <a:spLocks noGrp="1"/>
          </p:cNvSpPr>
          <p:nvPr/>
        </p:nvSpPr>
        <p:spPr>
          <a:xfrm>
            <a:off x="5943600" y="1188720"/>
            <a:ext cx="569671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Controller</a:t>
            </a:r>
            <a:endParaRPr sz="15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41EDB5-47F8-43F4-907E-60A7A1E7DF9B}"/>
              </a:ext>
            </a:extLst>
          </p:cNvPr>
          <p:cNvSpPr>
            <a:spLocks noGrp="1"/>
          </p:cNvSpPr>
          <p:nvPr/>
        </p:nvSpPr>
        <p:spPr>
          <a:xfrm>
            <a:off x="5943600" y="1600200"/>
            <a:ext cx="5696712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FAC4CC2-F8B5-4718-9A78-980EB08688A5}"/>
              </a:ext>
            </a:extLst>
          </p:cNvPr>
          <p:cNvSpPr>
            <a:spLocks noGrp="1"/>
          </p:cNvSpPr>
          <p:nvPr/>
        </p:nvSpPr>
        <p:spPr>
          <a:xfrm>
            <a:off x="5943600" y="1600200"/>
            <a:ext cx="73152" cy="2103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4E3931-3003-476A-AD66-121D67196ECB}"/>
              </a:ext>
            </a:extLst>
          </p:cNvPr>
          <p:cNvSpPr>
            <a:spLocks noGrp="1"/>
          </p:cNvSpPr>
          <p:nvPr/>
        </p:nvSpPr>
        <p:spPr>
          <a:xfrm>
            <a:off x="6217920" y="1691640"/>
            <a:ext cx="5239512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@GetMapping</a:t>
            </a:r>
            <a:endParaRPr sz="1400"/>
          </a:p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ResponseEntity&lt;Page&lt;LibroResponseDTO&gt;&gt;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getAll(</a:t>
            </a: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@PageableDefault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(size = 20)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   Pageable pageable)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ResponseEntity.ok(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libroService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.findAllPaginated(pageable));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BAF7926-580B-4E0B-9FC1-98B37224FF37}"/>
              </a:ext>
            </a:extLst>
          </p:cNvPr>
          <p:cNvSpPr>
            <a:spLocks noGrp="1"/>
          </p:cNvSpPr>
          <p:nvPr/>
        </p:nvSpPr>
        <p:spPr>
          <a:xfrm>
            <a:off x="548640" y="38862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7AFE82-17C0-48D6-8697-C5CEDE32179A}"/>
              </a:ext>
            </a:extLst>
          </p:cNvPr>
          <p:cNvSpPr>
            <a:spLocks noGrp="1"/>
          </p:cNvSpPr>
          <p:nvPr/>
        </p:nvSpPr>
        <p:spPr>
          <a:xfrm>
            <a:off x="777240" y="3959352"/>
            <a:ext cx="10634472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@PageableDefault(size = 20) fija el tamaño por defecto. getAll() ya no devuelve List, sino Page.</a:t>
            </a:r>
          </a:p>
          <a:p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Page.map(this::mapToDTO) transforma el contenido y conserva los metadatos de paginación.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ED7AAAD-CA59-41F9-8976-7FCCEEA51166}"/>
              </a:ext>
            </a:extLst>
          </p:cNvPr>
          <p:cNvSpPr>
            <a:spLocks noGrp="1"/>
          </p:cNvSpPr>
          <p:nvPr/>
        </p:nvSpPr>
        <p:spPr>
          <a:xfrm>
            <a:off x="548640" y="5029200"/>
            <a:ext cx="11091672" cy="123444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0BA58C-68B8-42C1-B037-6B880604F507}"/>
              </a:ext>
            </a:extLst>
          </p:cNvPr>
          <p:cNvSpPr>
            <a:spLocks noGrp="1"/>
          </p:cNvSpPr>
          <p:nvPr/>
        </p:nvSpPr>
        <p:spPr>
          <a:xfrm>
            <a:off x="822960" y="5120640"/>
            <a:ext cx="10543032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7F0000"/>
                </a:solidFill>
                <a:latin typeface="Arial"/>
                <a:ea typeface="Arial"/>
                <a:cs typeface="Arial"/>
              </a:rPr>
              <a:t>Un 500 que en realidad es culpa del cliente</a:t>
            </a:r>
            <a:br>
              <a:rPr sz="1800" b="1">
                <a:solidFill>
                  <a:srgbClr val="7F0000"/>
                </a:solidFill>
                <a:latin typeface="Arial"/>
                <a:ea typeface="Arial"/>
                <a:cs typeface="Arial"/>
              </a:rPr>
            </a:br>
            <a:endParaRPr sz="1800"/>
          </a:p>
          <a:p>
            <a:pPr marL="0" indent="0">
              <a:buNone/>
            </a:pPr>
            <a:r>
              <a:rPr sz="1700">
                <a:solidFill>
                  <a:srgbClr val="212121"/>
                </a:solidFill>
                <a:latin typeface="Arial"/>
                <a:ea typeface="Arial"/>
                <a:cs typeface="Arial"/>
              </a:rPr>
              <a:t>Con sort=noExiste,asc responde 500, no 400. Se resolverá más adelante con GlobalExceptionHandler, en Programación de Servicios y Procesos.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41508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1F1904-DBA8-45A4-80E9-E47C921D3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6B36B6-9337-408E-9261-5AA14C96A113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Todo junto: Specifications + paginación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5952B-04C4-4B09-B2F3-86D29953C356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8388E42-76C1-4813-B232-79BADCF7F6D1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149394-EC49-4631-BC84-F6131F9C5BC0}"/>
              </a:ext>
            </a:extLst>
          </p:cNvPr>
          <p:cNvSpPr>
            <a:spLocks noGrp="1"/>
          </p:cNvSpPr>
          <p:nvPr/>
        </p:nvSpPr>
        <p:spPr>
          <a:xfrm>
            <a:off x="777240" y="1261872"/>
            <a:ext cx="10634472" cy="6309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>
                <a:solidFill>
                  <a:srgbClr val="212121"/>
                </a:solidFill>
                <a:latin typeface="Arial"/>
                <a:ea typeface="Arial"/>
                <a:cs typeface="Arial"/>
              </a:rPr>
              <a:t>En tu proyecto real no habrá tres endpoints: habrá uno solo que hace ambas cosas a la vez.</a:t>
            </a:r>
            <a:endParaRPr sz="2000"/>
          </a:p>
        </p:txBody>
      </p:sp>
      <p:graphicFrame>
        <p:nvGraphicFramePr>
          <p:cNvPr id="13" name="Table 0"/>
          <p:cNvGraphicFramePr/>
          <p:nvPr/>
        </p:nvGraphicFramePr>
        <p:xfrm>
          <a:off x="548640" y="2194560"/>
          <a:ext cx="11091672" cy="384048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Pieza</a:t>
                      </a:r>
                      <a:endParaRPr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Solo Specifications</a:t>
                      </a:r>
                      <a:endParaRPr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Solo paginación</a:t>
                      </a:r>
                      <a:endParaRPr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Versión combinada</a:t>
                      </a:r>
                      <a:endParaRPr sz="16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Repositorio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JpaSpecificationExecutor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Ninguno extra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JpaSpecificationExecutor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Service, devuelve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List&lt;LibroResponseDTO&gt;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Page&lt;LibroResponseDTO&gt;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Page&lt;LibroResponseDTO&gt;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Service, recibe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LibroFiltroDTO filtro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Pageable pageable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Los dos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findAll(...)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con spec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con pageable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con spec y pageable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@ModelAttribute filtro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@PageableDefault pageable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</a:rPr>
                        <a:t>Los dos a la vez</a:t>
                      </a:r>
                      <a:endParaRPr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EEEEEE"/>
                      </a:solidFill>
                      <a:prstDash val="solid"/>
                    </a:lnL>
                    <a:lnR w="12700" cmpd="sng">
                      <a:solidFill>
                        <a:srgbClr val="EEEEEE"/>
                      </a:solidFill>
                      <a:prstDash val="solid"/>
                    </a:lnR>
                    <a:lnT w="12700" cmpd="sng">
                      <a:solidFill>
                        <a:srgbClr val="EEEEEE"/>
                      </a:solidFill>
                      <a:prstDash val="solid"/>
                    </a:lnT>
                    <a:lnB w="12700" cmpd="sng">
                      <a:solidFill>
                        <a:srgbClr val="EEEE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846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7EA0CC-0D84-4029-83F0-40B347A61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2F747A-ECEB-4161-92A9-44B94BD28612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service y el controller combinados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F33AD8-0B2F-4464-A337-D249E926915A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333CDA-6161-4FBA-8E5C-65DF26EAB9E3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11091672" cy="2423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B43E3E4-03B2-4130-A3E1-2B2036A01387}"/>
              </a:ext>
            </a:extLst>
          </p:cNvPr>
          <p:cNvSpPr>
            <a:spLocks noGrp="1"/>
          </p:cNvSpPr>
          <p:nvPr/>
        </p:nvSpPr>
        <p:spPr>
          <a:xfrm>
            <a:off x="548640" y="1188720"/>
            <a:ext cx="73152" cy="24231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FFF1FB-B37B-4A6B-B635-4F1752DE60EF}"/>
              </a:ext>
            </a:extLst>
          </p:cNvPr>
          <p:cNvSpPr>
            <a:spLocks noGrp="1"/>
          </p:cNvSpPr>
          <p:nvPr/>
        </p:nvSpPr>
        <p:spPr>
          <a:xfrm>
            <a:off x="822960" y="1280160"/>
            <a:ext cx="10634472" cy="22402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@Transactional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(readOnly = true)</a:t>
            </a:r>
            <a:endParaRPr sz="1400"/>
          </a:p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Page&lt;LibroResponseDTO&gt; findAllPaginated(LibroFiltroDTO filtro, Pageable pageable)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Specification&lt;Libro&gt; spec = Specification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.where(LibroSpecifications.tituloContiene(filtro.titulo()))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.and(LibroSpecifications.precioMayorOIgualA(filtro.precioMin()))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.and(LibroSpecifications.precioMenorOIgualA(filtro.precioMax()))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    .and(LibroSpecifications.perteneceAEditorial(filtro.editorialId()));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libroRepository.findAll(spec, pageable).map(this::mapToDTO);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F83346-A95E-4AC9-9841-8BD91A90F635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11091672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3C07023-352A-4D7A-937C-C2EA62C199F1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73152" cy="1600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38B7DD-88CF-4F72-AEB7-555458E7D606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10634472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@GetMapping</a:t>
            </a:r>
            <a:endParaRPr sz="1400"/>
          </a:p>
          <a:p>
            <a:pPr marL="0" indent="0">
              <a:buNone/>
            </a:pP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ResponseEntity&lt;Page&lt;LibroResponseDTO&gt;&gt; getAll(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@ModelAttribute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LibroFiltroDTO filtro,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4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@PageableDefault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(size = 20) Pageable pageable) {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ResponseEntity.ok(libroService.findAllPaginated(filtro, pageable));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8C7B1DA-68C4-4CFB-9CDC-401E5BD81B32}"/>
              </a:ext>
            </a:extLst>
          </p:cNvPr>
          <p:cNvSpPr>
            <a:spLocks noGrp="1"/>
          </p:cNvSpPr>
          <p:nvPr/>
        </p:nvSpPr>
        <p:spPr>
          <a:xfrm>
            <a:off x="548640" y="553212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B4527F-FFE1-4AC1-AE6F-26BAC5B2C771}"/>
              </a:ext>
            </a:extLst>
          </p:cNvPr>
          <p:cNvSpPr>
            <a:spLocks noGrp="1"/>
          </p:cNvSpPr>
          <p:nvPr/>
        </p:nvSpPr>
        <p:spPr>
          <a:xfrm>
            <a:off x="777240" y="5605272"/>
            <a:ext cx="10634472" cy="6309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>
                <a:solidFill>
                  <a:srgbClr val="212121"/>
                </a:solidFill>
                <a:latin typeface="Arial"/>
                <a:ea typeface="Arial"/>
                <a:cs typeface="Arial"/>
              </a:rPr>
              <a:t>findAll(spec, pageable) aplica la Specification y trocea el resultado: una sola llamada resuelve los dos problemas.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843083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B85BD3-8C85-4953-82DB-E3FB7DA8D4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323AC7-4C4F-4302-8E52-EF01CECD1F69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diagrama del principio y Swagger UI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DBC5FC-2E25-423D-9B4E-91ED86DD8DCA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95" y="1188720"/>
            <a:ext cx="10922961" cy="21031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983DE9A-8B7D-4CFA-B7B3-BACC67DAA328}"/>
              </a:ext>
            </a:extLst>
          </p:cNvPr>
          <p:cNvSpPr>
            <a:spLocks noGrp="1"/>
          </p:cNvSpPr>
          <p:nvPr/>
        </p:nvSpPr>
        <p:spPr>
          <a:xfrm>
            <a:off x="548640" y="3520440"/>
            <a:ext cx="5394960" cy="26517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3BF0463-3F57-48E6-B64A-CB6502840B8C}"/>
              </a:ext>
            </a:extLst>
          </p:cNvPr>
          <p:cNvSpPr>
            <a:spLocks noGrp="1"/>
          </p:cNvSpPr>
          <p:nvPr/>
        </p:nvSpPr>
        <p:spPr>
          <a:xfrm>
            <a:off x="731520" y="3575304"/>
            <a:ext cx="5029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7F0000"/>
                </a:solidFill>
                <a:latin typeface="Courier New"/>
                <a:ea typeface="Courier New"/>
                <a:cs typeface="Courier New"/>
              </a:rPr>
              <a:t>@ParameterObject</a:t>
            </a:r>
            <a:endParaRPr sz="18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81CEA72-FA99-4FFA-89F5-6B77D02463CE}"/>
              </a:ext>
            </a:extLst>
          </p:cNvPr>
          <p:cNvSpPr>
            <a:spLocks noGrp="1"/>
          </p:cNvSpPr>
          <p:nvPr/>
        </p:nvSpPr>
        <p:spPr>
          <a:xfrm>
            <a:off x="731520" y="4078224"/>
            <a:ext cx="5029200" cy="20391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Swagger UI puede mostrar un único cuadro con JSON en vez de un campo por filtro: springdoc no siempre «explota» @ModelAttribute ni Pageable. @ParameterObject lo arregla.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36F5D44-C685-41A6-906F-FBB89E3F0914}"/>
              </a:ext>
            </a:extLst>
          </p:cNvPr>
          <p:cNvSpPr>
            <a:spLocks noGrp="1"/>
          </p:cNvSpPr>
          <p:nvPr/>
        </p:nvSpPr>
        <p:spPr>
          <a:xfrm>
            <a:off x="6217920" y="3520440"/>
            <a:ext cx="5422392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6D09EBA-BE17-4284-A97E-9E93B8ECCA7A}"/>
              </a:ext>
            </a:extLst>
          </p:cNvPr>
          <p:cNvSpPr>
            <a:spLocks noGrp="1"/>
          </p:cNvSpPr>
          <p:nvPr/>
        </p:nvSpPr>
        <p:spPr>
          <a:xfrm>
            <a:off x="6217920" y="3520440"/>
            <a:ext cx="73152" cy="26517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9FC82C-98A2-4461-8061-C2A4BCAB4BFF}"/>
              </a:ext>
            </a:extLst>
          </p:cNvPr>
          <p:cNvSpPr>
            <a:spLocks noGrp="1"/>
          </p:cNvSpPr>
          <p:nvPr/>
        </p:nvSpPr>
        <p:spPr>
          <a:xfrm>
            <a:off x="6492240" y="3611880"/>
            <a:ext cx="496519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@ParameterObject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@ModelAttribute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LibroFiltroDTO filtro,</a:t>
            </a:r>
            <a:endParaRPr sz="1500"/>
          </a:p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@ParameterObject</a:t>
            </a:r>
            <a:endParaRPr sz="1500"/>
          </a:p>
          <a:p>
            <a:pPr marL="0" indent="0">
              <a:buNone/>
            </a:pPr>
            <a:r>
              <a:rPr sz="1500" b="1">
                <a:solidFill>
                  <a:srgbClr val="C62828"/>
                </a:solidFill>
                <a:latin typeface="Courier New"/>
                <a:ea typeface="Courier New"/>
                <a:cs typeface="Courier New"/>
              </a:rPr>
              <a:t>@PageableDefault</a:t>
            </a: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(size = 20)</a:t>
            </a:r>
            <a:endParaRPr sz="1500"/>
          </a:p>
          <a:p>
            <a:pPr marL="0" indent="0">
              <a:buNone/>
            </a:pPr>
            <a:r>
              <a:rPr sz="1500">
                <a:solidFill>
                  <a:srgbClr val="263238"/>
                </a:solidFill>
                <a:latin typeface="Courier New"/>
                <a:ea typeface="Courier New"/>
                <a:cs typeface="Courier New"/>
              </a:rPr>
              <a:t>        Pageable pageable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05954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188B5E-E0CD-4374-9810-B04D6FF6B4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EDF55F-F96D-4EFE-A3B2-BC6FD5272A1B}"/>
              </a:ext>
            </a:extLst>
          </p:cNvPr>
          <p:cNvSpPr>
            <a:spLocks noGrp="1"/>
          </p:cNvSpPr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 clave</a:t>
            </a:r>
            <a:endParaRPr sz="2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133B1F-3264-419E-BAF4-395FD282F3AB}"/>
              </a:ext>
            </a:extLst>
          </p:cNvPr>
          <p:cNvSpPr>
            <a:spLocks noGrp="1"/>
          </p:cNvSpPr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100">
                <a:solidFill>
                  <a:srgbClr val="757575"/>
                </a:solidFill>
                <a:latin typeface="Arial"/>
                <a:ea typeface="Arial"/>
                <a:cs typeface="Arial"/>
              </a:rPr>
              <a:t>Acceso a Datos — Tema 1: Consultas dinámicas</a:t>
            </a:r>
            <a:endParaRPr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F28F11-A529-47D8-AE00-7614B7A0B94B}"/>
              </a:ext>
            </a:extLst>
          </p:cNvPr>
          <p:cNvSpPr>
            <a:spLocks noGrp="1"/>
          </p:cNvSpPr>
          <p:nvPr/>
        </p:nvSpPr>
        <p:spPr>
          <a:xfrm>
            <a:off x="548640" y="1280160"/>
            <a:ext cx="538581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132C04-2888-4F83-9352-A6A5C104BD06}"/>
              </a:ext>
            </a:extLst>
          </p:cNvPr>
          <p:cNvSpPr>
            <a:spLocks noGrp="1"/>
          </p:cNvSpPr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C86389-A152-4AF5-B0AF-4E7D57B3214B}"/>
              </a:ext>
            </a:extLst>
          </p:cNvPr>
          <p:cNvSpPr>
            <a:spLocks noGrp="1"/>
          </p:cNvSpPr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2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F3FD57-DBD2-43C4-B739-B1B6F956573C}"/>
              </a:ext>
            </a:extLst>
          </p:cNvPr>
          <p:cNvSpPr>
            <a:spLocks noGrp="1"/>
          </p:cNvSpPr>
          <p:nvPr/>
        </p:nvSpPr>
        <p:spPr>
          <a:xfrm>
            <a:off x="1508760" y="1280160"/>
            <a:ext cx="424281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findById + save() sirven para un objeto con id conocido; no para buscar por criterios variables.</a:t>
            </a:r>
            <a:endParaRPr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AD652E0-6874-471D-953C-0DD5041F23CE}"/>
              </a:ext>
            </a:extLst>
          </p:cNvPr>
          <p:cNvSpPr>
            <a:spLocks noGrp="1"/>
          </p:cNvSpPr>
          <p:nvPr/>
        </p:nvSpPr>
        <p:spPr>
          <a:xfrm>
            <a:off x="6254496" y="1280160"/>
            <a:ext cx="538581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28DD015-6AB9-42EA-BF38-FAE5014DAF0E}"/>
              </a:ext>
            </a:extLst>
          </p:cNvPr>
          <p:cNvSpPr>
            <a:spLocks noGrp="1"/>
          </p:cNvSpPr>
          <p:nvPr/>
        </p:nvSpPr>
        <p:spPr>
          <a:xfrm>
            <a:off x="6437376" y="1691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5F13DC-4C57-4FCE-B0CA-21551DCEE2E9}"/>
              </a:ext>
            </a:extLst>
          </p:cNvPr>
          <p:cNvSpPr>
            <a:spLocks noGrp="1"/>
          </p:cNvSpPr>
          <p:nvPr/>
        </p:nvSpPr>
        <p:spPr>
          <a:xfrm>
            <a:off x="6437376" y="169164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2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32B29CD-AC98-4145-918E-6F517E9F3DFB}"/>
              </a:ext>
            </a:extLst>
          </p:cNvPr>
          <p:cNvSpPr>
            <a:spLocks noGrp="1"/>
          </p:cNvSpPr>
          <p:nvPr/>
        </p:nvSpPr>
        <p:spPr>
          <a:xfrm>
            <a:off x="7214616" y="1280160"/>
            <a:ext cx="424281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Problema A (filtros que no escalan) y problema B (no devolver todo de golpe) son distintos y comparten listado.</a:t>
            </a:r>
            <a:endParaRPr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5611F5-FC52-4C82-AB2E-71EA80AA8E45}"/>
              </a:ext>
            </a:extLst>
          </p:cNvPr>
          <p:cNvSpPr>
            <a:spLocks noGrp="1"/>
          </p:cNvSpPr>
          <p:nvPr/>
        </p:nvSpPr>
        <p:spPr>
          <a:xfrm>
            <a:off x="548640" y="2971800"/>
            <a:ext cx="538581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57DC707-F584-43A2-A146-272CC915DE49}"/>
              </a:ext>
            </a:extLst>
          </p:cNvPr>
          <p:cNvSpPr>
            <a:spLocks noGrp="1"/>
          </p:cNvSpPr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025E364-7048-4A9E-8340-F19D9E8D4A6E}"/>
              </a:ext>
            </a:extLst>
          </p:cNvPr>
          <p:cNvSpPr>
            <a:spLocks noGrp="1"/>
          </p:cNvSpPr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2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BDA702E-AD4D-4A9E-871E-63CB5ABCF375}"/>
              </a:ext>
            </a:extLst>
          </p:cNvPr>
          <p:cNvSpPr>
            <a:spLocks noGrp="1"/>
          </p:cNvSpPr>
          <p:nvPr/>
        </p:nvSpPr>
        <p:spPr>
          <a:xfrm>
            <a:off x="1508760" y="2971800"/>
            <a:ext cx="424281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700">
                <a:solidFill>
                  <a:srgbClr val="212121"/>
                </a:solidFill>
                <a:latin typeface="Arial"/>
                <a:ea typeface="Arial"/>
                <a:cs typeface="Arial"/>
              </a:rPr>
              <a:t>Specification es una interfaz funcional: la lambda implementa toPredicate(); unrestricted() es la pieza vacía para un filtro null.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0727479-962D-4DC0-B9B2-4D09B1145D95}"/>
              </a:ext>
            </a:extLst>
          </p:cNvPr>
          <p:cNvSpPr>
            <a:spLocks noGrp="1"/>
          </p:cNvSpPr>
          <p:nvPr/>
        </p:nvSpPr>
        <p:spPr>
          <a:xfrm>
            <a:off x="6254496" y="2971800"/>
            <a:ext cx="538581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213A280-9A00-4622-B8B6-D05A7F9A2DCE}"/>
              </a:ext>
            </a:extLst>
          </p:cNvPr>
          <p:cNvSpPr>
            <a:spLocks noGrp="1"/>
          </p:cNvSpPr>
          <p:nvPr/>
        </p:nvSpPr>
        <p:spPr>
          <a:xfrm>
            <a:off x="6437376" y="33832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83821B-8DC7-4B3A-81D6-656E48D9C7F0}"/>
              </a:ext>
            </a:extLst>
          </p:cNvPr>
          <p:cNvSpPr>
            <a:spLocks noGrp="1"/>
          </p:cNvSpPr>
          <p:nvPr/>
        </p:nvSpPr>
        <p:spPr>
          <a:xfrm>
            <a:off x="6437376" y="338328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2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52EB060-3E5E-4262-BAA1-704C818E97D4}"/>
              </a:ext>
            </a:extLst>
          </p:cNvPr>
          <p:cNvSpPr>
            <a:spLocks noGrp="1"/>
          </p:cNvSpPr>
          <p:nvPr/>
        </p:nvSpPr>
        <p:spPr>
          <a:xfrm>
            <a:off x="7214616" y="2971800"/>
            <a:ext cx="424281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Paginación: Pageable es la petición y Page&lt;T&gt; la respuesta. Páginas desde 0; por debajo, LIMIT/OFFSET.</a:t>
            </a:r>
            <a:endParaRPr sz="1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33E0A95-1AE8-4D33-84FF-2F0E6A631528}"/>
              </a:ext>
            </a:extLst>
          </p:cNvPr>
          <p:cNvSpPr>
            <a:spLocks noGrp="1"/>
          </p:cNvSpPr>
          <p:nvPr/>
        </p:nvSpPr>
        <p:spPr>
          <a:xfrm>
            <a:off x="548640" y="4663440"/>
            <a:ext cx="538581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9036138-33D6-4EE6-BA74-ED734B2F50EF}"/>
              </a:ext>
            </a:extLst>
          </p:cNvPr>
          <p:cNvSpPr>
            <a:spLocks noGrp="1"/>
          </p:cNvSpPr>
          <p:nvPr/>
        </p:nvSpPr>
        <p:spPr>
          <a:xfrm>
            <a:off x="731520" y="50749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47C307F-6C30-4CC1-BBBE-47211BCC5641}"/>
              </a:ext>
            </a:extLst>
          </p:cNvPr>
          <p:cNvSpPr>
            <a:spLocks noGrp="1"/>
          </p:cNvSpPr>
          <p:nvPr/>
        </p:nvSpPr>
        <p:spPr>
          <a:xfrm>
            <a:off x="731520" y="507492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2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E4E9BC4-2E4A-4FD7-926B-EF7DDC1444F5}"/>
              </a:ext>
            </a:extLst>
          </p:cNvPr>
          <p:cNvSpPr>
            <a:spLocks noGrp="1"/>
          </p:cNvSpPr>
          <p:nvPr/>
        </p:nvSpPr>
        <p:spPr>
          <a:xfrm>
            <a:off x="1508760" y="4663440"/>
            <a:ext cx="424281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JpaSpecificationExecutor habilita Specifications; findAll(spec), findAll(pageable) y findAll(spec, pageable) son sobrecargas.</a:t>
            </a:r>
            <a:endParaRPr sz="16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24DA962-3FF6-4E42-B931-4E54F291FF28}"/>
              </a:ext>
            </a:extLst>
          </p:cNvPr>
          <p:cNvSpPr>
            <a:spLocks noGrp="1"/>
          </p:cNvSpPr>
          <p:nvPr/>
        </p:nvSpPr>
        <p:spPr>
          <a:xfrm>
            <a:off x="6254496" y="4663440"/>
            <a:ext cx="538581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4467B70-1D3D-419F-84CC-D512323607EE}"/>
              </a:ext>
            </a:extLst>
          </p:cNvPr>
          <p:cNvSpPr>
            <a:spLocks noGrp="1"/>
          </p:cNvSpPr>
          <p:nvPr/>
        </p:nvSpPr>
        <p:spPr>
          <a:xfrm>
            <a:off x="6437376" y="50749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3B9145B-88B2-4ADF-8348-7E125C86EA59}"/>
              </a:ext>
            </a:extLst>
          </p:cNvPr>
          <p:cNvSpPr>
            <a:spLocks noGrp="1"/>
          </p:cNvSpPr>
          <p:nvPr/>
        </p:nvSpPr>
        <p:spPr>
          <a:xfrm>
            <a:off x="6437376" y="5074920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2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2CB6500-6121-4093-9EB2-595B174192E3}"/>
              </a:ext>
            </a:extLst>
          </p:cNvPr>
          <p:cNvSpPr>
            <a:spLocks noGrp="1"/>
          </p:cNvSpPr>
          <p:nvPr/>
        </p:nvSpPr>
        <p:spPr>
          <a:xfrm>
            <a:off x="7214616" y="4663440"/>
            <a:ext cx="4242816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212121"/>
                </a:solidFill>
                <a:latin typeface="Arial"/>
                <a:ea typeface="Arial"/>
                <a:cs typeface="Arial"/>
              </a:rPr>
              <a:t>@ParameterObject hace que Swagger UI muestre un campo por atributo, no un cuadro con JSON.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4484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2107</Words>
  <Application>Microsoft Office PowerPoint</Application>
  <DocSecurity>0</DocSecurity>
  <PresentationFormat>Panorámica</PresentationFormat>
  <Paragraphs>301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1</cp:revision>
  <dcterms:created xsi:type="dcterms:W3CDTF">2026-10-21T12:46:58Z</dcterms:created>
  <dcterms:modified xsi:type="dcterms:W3CDTF">2026-10-21T13:01:06Z</dcterms:modified>
</cp:coreProperties>
</file>