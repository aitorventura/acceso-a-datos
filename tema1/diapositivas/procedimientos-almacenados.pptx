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26388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F0000"/>
        </a:solidFill>
        <a:effectLst/>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marL="0" indent="0">
              <a:buNone/>
            </a:pPr>
            <a:r>
              <a:rPr lang="en-US" sz="1400" dirty="0">
                <a:solidFill>
                  <a:srgbClr val="E0A8A8"/>
                </a:solidFill>
                <a:latin typeface="Arial" pitchFamily="34" charset="0"/>
                <a:ea typeface="Arial" pitchFamily="34" charset="-122"/>
                <a:cs typeface="Arial" pitchFamily="34" charset="-120"/>
              </a:rPr>
              <a:t>ACCESO A DATOS  —  TEMA 1: MANEJO DE CONECTORES Y HERRAMIENTAS ORM</a:t>
            </a:r>
            <a:endParaRPr lang="en-US" sz="1400" dirty="0"/>
          </a:p>
        </p:txBody>
      </p:sp>
      <p:sp>
        <p:nvSpPr>
          <p:cNvPr id="3" name="Text 1"/>
          <p:cNvSpPr/>
          <p:nvPr/>
        </p:nvSpPr>
        <p:spPr>
          <a:xfrm>
            <a:off x="548640" y="1554480"/>
            <a:ext cx="11091672" cy="2377440"/>
          </a:xfrm>
          <a:prstGeom prst="rect">
            <a:avLst/>
          </a:prstGeom>
          <a:noFill/>
          <a:ln/>
        </p:spPr>
        <p:txBody>
          <a:bodyPr wrap="square" rtlCol="0" anchor="ctr"/>
          <a:lstStyle/>
          <a:p>
            <a:pPr marL="0" indent="0" algn="l">
              <a:buNone/>
            </a:pPr>
            <a:r>
              <a:rPr lang="en-US" sz="4000" b="1" dirty="0">
                <a:solidFill>
                  <a:srgbClr val="FFFFFF"/>
                </a:solidFill>
                <a:latin typeface="Arial" pitchFamily="34" charset="0"/>
                <a:ea typeface="Arial" pitchFamily="34" charset="-122"/>
                <a:cs typeface="Arial" pitchFamily="34" charset="-120"/>
              </a:rPr>
              <a:t>Procedimientos</a:t>
            </a:r>
            <a:endParaRPr lang="en-US" sz="4000" dirty="0"/>
          </a:p>
          <a:p>
            <a:pPr marL="0" indent="0" algn="l">
              <a:buNone/>
            </a:pPr>
            <a:r>
              <a:rPr lang="en-US" sz="4000" b="1" dirty="0">
                <a:solidFill>
                  <a:srgbClr val="FFFFFF"/>
                </a:solidFill>
                <a:latin typeface="Arial" pitchFamily="34" charset="0"/>
                <a:ea typeface="Arial" pitchFamily="34" charset="-122"/>
                <a:cs typeface="Arial" pitchFamily="34" charset="-120"/>
              </a:rPr>
              <a:t>almacenados</a:t>
            </a:r>
            <a:endParaRPr lang="en-US" sz="4000" dirty="0"/>
          </a:p>
        </p:txBody>
      </p:sp>
      <p:sp>
        <p:nvSpPr>
          <p:cNvPr id="4" name="Shape 2"/>
          <p:cNvSpPr/>
          <p:nvPr/>
        </p:nvSpPr>
        <p:spPr>
          <a:xfrm>
            <a:off x="0" y="5120640"/>
            <a:ext cx="12188952" cy="914400"/>
          </a:xfrm>
          <a:prstGeom prst="rect">
            <a:avLst/>
          </a:prstGeom>
          <a:solidFill>
            <a:srgbClr val="E64A19"/>
          </a:solidFill>
          <a:ln w="12700">
            <a:solidFill>
              <a:srgbClr val="E64A19"/>
            </a:solidFill>
            <a:prstDash val="solid"/>
          </a:ln>
        </p:spPr>
        <p:txBody>
          <a:bodyPr/>
          <a:lstStyle/>
          <a:p>
            <a:endParaRPr lang="es-ES"/>
          </a:p>
        </p:txBody>
      </p:sp>
      <p:sp>
        <p:nvSpPr>
          <p:cNvPr id="5" name="Text 3"/>
          <p:cNvSpPr/>
          <p:nvPr/>
        </p:nvSpPr>
        <p:spPr>
          <a:xfrm>
            <a:off x="548640" y="5120640"/>
            <a:ext cx="11091672" cy="914400"/>
          </a:xfrm>
          <a:prstGeom prst="rect">
            <a:avLst/>
          </a:prstGeom>
          <a:noFill/>
          <a:ln/>
        </p:spPr>
        <p:txBody>
          <a:bodyPr wrap="square" rtlCol="0" anchor="ctr"/>
          <a:lstStyle/>
          <a:p>
            <a:pPr marL="0" indent="0">
              <a:buNone/>
            </a:pPr>
            <a:r>
              <a:rPr lang="en-US" sz="2000" i="1" dirty="0">
                <a:solidFill>
                  <a:srgbClr val="FFFFFF"/>
                </a:solidFill>
                <a:latin typeface="Arial" pitchFamily="34" charset="0"/>
                <a:ea typeface="Arial" pitchFamily="34" charset="-122"/>
                <a:cs typeface="Arial" pitchFamily="34" charset="-120"/>
              </a:rPr>
              <a:t>5. Procedimientos almacenados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Procedimientos almacenados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Shape 3"/>
          <p:cNvSpPr/>
          <p:nvPr/>
        </p:nvSpPr>
        <p:spPr>
          <a:xfrm>
            <a:off x="548640" y="2834640"/>
            <a:ext cx="11091672" cy="182880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26080"/>
            <a:ext cx="10543032" cy="164592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Hasta ahora, toda la lógica sobre tus datos vivía en tu aplicación Java: tanto con Spring Data JPA como con JDBC puro, era tu programa el que pedía las filas, las recorría y decidía qué hacer con ellas. En este apartado esa lógica cambia de sitio: se traslada al propio motor de base de datos, que la ejecuta él mismo, sin que tu aplicación tenga que traerse nada.</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Qué es un procedimiento almacenado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Text 3"/>
          <p:cNvSpPr/>
          <p:nvPr/>
        </p:nvSpPr>
        <p:spPr>
          <a:xfrm>
            <a:off x="548640" y="1188720"/>
            <a:ext cx="11091672" cy="105156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Un procedimiento almacenado es código SQL (con lógica: variables, condiciones, bucles) que se guarda y se ejecuta dentro del propio gestor de base de datos, no en tu aplicación. Lo defines una vez, y a partir de ahí se invoca por su nombre.</a:t>
            </a:r>
            <a:endParaRPr lang="en-US" sz="1900" dirty="0"/>
          </a:p>
        </p:txBody>
      </p:sp>
      <p:sp>
        <p:nvSpPr>
          <p:cNvPr id="6" name="Text 4"/>
          <p:cNvSpPr/>
          <p:nvPr/>
        </p:nvSpPr>
        <p:spPr>
          <a:xfrm>
            <a:off x="548640" y="2514600"/>
            <a:ext cx="11091672" cy="50292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Cada gestor tiene su propio lenguaje procedural — en PostgreSQL es PL/pgSQL, una extensión de SQL con variables, parámetros y control de flujo:</a:t>
            </a:r>
            <a:endParaRPr lang="en-US" sz="1800" dirty="0"/>
          </a:p>
        </p:txBody>
      </p:sp>
      <p:sp>
        <p:nvSpPr>
          <p:cNvPr id="7" name="Shape 5"/>
          <p:cNvSpPr/>
          <p:nvPr/>
        </p:nvSpPr>
        <p:spPr>
          <a:xfrm>
            <a:off x="548640" y="3200400"/>
            <a:ext cx="11091672" cy="1783080"/>
          </a:xfrm>
          <a:prstGeom prst="rect">
            <a:avLst/>
          </a:prstGeom>
          <a:solidFill>
            <a:srgbClr val="ECEFF1"/>
          </a:solidFill>
          <a:ln w="12700">
            <a:solidFill>
              <a:srgbClr val="EEEEEE"/>
            </a:solidFill>
            <a:prstDash val="solid"/>
          </a:ln>
        </p:spPr>
        <p:txBody>
          <a:bodyPr/>
          <a:lstStyle/>
          <a:p>
            <a:endParaRPr lang="es-ES"/>
          </a:p>
        </p:txBody>
      </p:sp>
      <p:sp>
        <p:nvSpPr>
          <p:cNvPr id="8" name="Shape 6"/>
          <p:cNvSpPr/>
          <p:nvPr/>
        </p:nvSpPr>
        <p:spPr>
          <a:xfrm>
            <a:off x="548640" y="3200400"/>
            <a:ext cx="73152" cy="1783080"/>
          </a:xfrm>
          <a:prstGeom prst="rect">
            <a:avLst/>
          </a:prstGeom>
          <a:solidFill>
            <a:srgbClr val="E64A19"/>
          </a:solidFill>
          <a:ln w="12700">
            <a:solidFill>
              <a:srgbClr val="E64A19"/>
            </a:solidFill>
            <a:prstDash val="solid"/>
          </a:ln>
        </p:spPr>
        <p:txBody>
          <a:bodyPr/>
          <a:lstStyle/>
          <a:p>
            <a:endParaRPr lang="es-ES"/>
          </a:p>
        </p:txBody>
      </p:sp>
      <p:sp>
        <p:nvSpPr>
          <p:cNvPr id="9" name="Text 7"/>
          <p:cNvSpPr/>
          <p:nvPr/>
        </p:nvSpPr>
        <p:spPr>
          <a:xfrm>
            <a:off x="822960" y="3310128"/>
            <a:ext cx="10588752" cy="1563624"/>
          </a:xfrm>
          <a:prstGeom prst="rect">
            <a:avLst/>
          </a:prstGeom>
          <a:noFill/>
          <a:ln/>
        </p:spPr>
        <p:txBody>
          <a:bodyPr wrap="square" rtlCol="0" anchor="t"/>
          <a:lstStyle/>
          <a:p>
            <a:pPr marL="0" indent="0">
              <a:buNone/>
            </a:pPr>
            <a:r>
              <a:rPr lang="en-US" sz="1500" dirty="0">
                <a:solidFill>
                  <a:srgbClr val="263238"/>
                </a:solidFill>
                <a:latin typeface="Courier New" pitchFamily="34" charset="0"/>
                <a:ea typeface="Courier New" pitchFamily="34" charset="-122"/>
                <a:cs typeface="Courier New" pitchFamily="34" charset="-120"/>
              </a:rPr>
              <a:t>CREATE OR REPLACE PROCEDURE nombre_procedimiento(parametro TIPO)</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LANGUAGE plpgsql</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AS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BEGIN</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 lógica con SQL normal aquí dentro</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END;</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Procedimiento vs. función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Shape 3"/>
          <p:cNvSpPr/>
          <p:nvPr/>
        </p:nvSpPr>
        <p:spPr>
          <a:xfrm>
            <a:off x="548640" y="288036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71800"/>
            <a:ext cx="10543032" cy="155448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Ambos son código guardado en el gestor, pero una función siempre devuelve un valor y se puede usar dentro de una consulta (SELECT mi_funcion(x)); un procedimiento no tiene por qué devolver nada y se invoca de forma independiente con CALL. Cuando lo que quieres es "ejecutar una acción" más que "calcular un valor", un procedimiento encaja mejor.</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Parámetros por posición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Text 3"/>
          <p:cNvSpPr/>
          <p:nvPr/>
        </p:nvSpPr>
        <p:spPr>
          <a:xfrm>
            <a:off x="548640" y="1920240"/>
            <a:ext cx="11091672" cy="155448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En parametro TIPO, entre paréntesis: cada parámetro se pasa por posición (el primer valor que envíes desde Java rellena el primer parámetro, el segundo el segundo, y así sucesivamente) y es de entrada (IN) por defecto — el procedimiento puede leerlo, pero no modificarlo y devolvértelo.</a:t>
            </a:r>
            <a:endParaRPr lang="en-US" sz="2000" dirty="0"/>
          </a:p>
        </p:txBody>
      </p:sp>
      <p:sp>
        <p:nvSpPr>
          <p:cNvPr id="6" name="Shape 4"/>
          <p:cNvSpPr/>
          <p:nvPr/>
        </p:nvSpPr>
        <p:spPr>
          <a:xfrm>
            <a:off x="548640" y="3840480"/>
            <a:ext cx="11091672" cy="1325880"/>
          </a:xfrm>
          <a:prstGeom prst="roundRect">
            <a:avLst/>
          </a:prstGeom>
          <a:solidFill>
            <a:srgbClr val="FBE9E7"/>
          </a:solidFill>
          <a:ln w="22225">
            <a:solidFill>
              <a:srgbClr val="C62828"/>
            </a:solidFill>
            <a:prstDash val="solid"/>
          </a:ln>
        </p:spPr>
        <p:txBody>
          <a:bodyPr/>
          <a:lstStyle/>
          <a:p>
            <a:endParaRPr lang="es-ES"/>
          </a:p>
        </p:txBody>
      </p:sp>
      <p:sp>
        <p:nvSpPr>
          <p:cNvPr id="7" name="Text 5"/>
          <p:cNvSpPr/>
          <p:nvPr/>
        </p:nvSpPr>
        <p:spPr>
          <a:xfrm>
            <a:off x="822960" y="3950208"/>
            <a:ext cx="10543032" cy="1106424"/>
          </a:xfrm>
          <a:prstGeom prst="rect">
            <a:avLst/>
          </a:prstGeom>
          <a:noFill/>
          <a:ln/>
        </p:spPr>
        <p:txBody>
          <a:bodyPr wrap="square" rtlCol="0" anchor="t"/>
          <a:lstStyle/>
          <a:p>
            <a:pPr marL="0" indent="0">
              <a:buNone/>
            </a:pPr>
            <a:r>
              <a:rPr lang="en-US" sz="1900" b="1" dirty="0">
                <a:solidFill>
                  <a:srgbClr val="C62828"/>
                </a:solidFill>
                <a:latin typeface="Arial" pitchFamily="34" charset="0"/>
                <a:ea typeface="Arial" pitchFamily="34" charset="-122"/>
                <a:cs typeface="Arial" pitchFamily="34" charset="-120"/>
              </a:rPr>
              <a:t>⚠ Si inviertes el orden al invocarlo
</a:t>
            </a:r>
            <a:endParaRPr lang="en-US" sz="1900" dirty="0"/>
          </a:p>
          <a:p>
            <a:pPr marL="0" indent="0">
              <a:buNone/>
            </a:pPr>
            <a:r>
              <a:rPr lang="en-US" sz="1800" dirty="0">
                <a:solidFill>
                  <a:srgbClr val="212121"/>
                </a:solidFill>
                <a:latin typeface="Arial" pitchFamily="34" charset="0"/>
                <a:ea typeface="Arial" pitchFamily="34" charset="-122"/>
                <a:cs typeface="Arial" pitchFamily="34" charset="-120"/>
              </a:rPr>
              <a:t>El motor no te avisa de nada raro: simplemente asigna cada valor al parámetro equivocado, y el error solo aparece cuando compruebas el resultado.</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Cuándo tiene sentido usarlos — y cuándo no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Shape 3"/>
          <p:cNvSpPr/>
          <p:nvPr/>
        </p:nvSpPr>
        <p:spPr>
          <a:xfrm>
            <a:off x="548640" y="288036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71800"/>
            <a:ext cx="10543032" cy="155448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Tienen sentido cuando una operación conviene que ocurra atómicamente, cerca de los datos — por ejemplo, un ajuste masivo de precios que afecta a muchas filas a la vez: hacerlo dentro del motor evita traer todas las filas a Java, modificarlas una a una, y devolverlas, con todo el tráfico de red que eso implica.</a:t>
            </a:r>
            <a:endParaRPr lang="en-US" sz="2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Idas y vueltas por la red, con y sin procedimiento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Shape 3"/>
          <p:cNvSpPr/>
          <p:nvPr/>
        </p:nvSpPr>
        <p:spPr>
          <a:xfrm>
            <a:off x="548640" y="1325880"/>
            <a:ext cx="11091672" cy="502920"/>
          </a:xfrm>
          <a:prstGeom prst="rect">
            <a:avLst/>
          </a:prstGeom>
          <a:solidFill>
            <a:srgbClr val="C62828"/>
          </a:solidFill>
          <a:ln w="12700">
            <a:solidFill>
              <a:srgbClr val="C62828"/>
            </a:solidFill>
            <a:prstDash val="solid"/>
          </a:ln>
        </p:spPr>
        <p:txBody>
          <a:bodyPr/>
          <a:lstStyle/>
          <a:p>
            <a:endParaRPr lang="es-ES"/>
          </a:p>
        </p:txBody>
      </p:sp>
      <p:sp>
        <p:nvSpPr>
          <p:cNvPr id="6" name="Text 4"/>
          <p:cNvSpPr/>
          <p:nvPr/>
        </p:nvSpPr>
        <p:spPr>
          <a:xfrm>
            <a:off x="731520" y="1325880"/>
            <a:ext cx="10725912" cy="502920"/>
          </a:xfrm>
          <a:prstGeom prst="rect">
            <a:avLst/>
          </a:prstGeom>
          <a:noFill/>
          <a:ln/>
        </p:spPr>
        <p:txBody>
          <a:bodyPr wrap="square" rtlCol="0" anchor="ctr"/>
          <a:lstStyle/>
          <a:p>
            <a:pPr marL="0" indent="0">
              <a:buNone/>
            </a:pPr>
            <a:r>
              <a:rPr lang="en-US" sz="1900" b="1" dirty="0">
                <a:solidFill>
                  <a:srgbClr val="FFFFFF"/>
                </a:solidFill>
                <a:latin typeface="Arial" pitchFamily="34" charset="0"/>
                <a:ea typeface="Arial" pitchFamily="34" charset="-122"/>
                <a:cs typeface="Arial" pitchFamily="34" charset="-120"/>
              </a:rPr>
              <a:t>Sin procedimiento almacenado</a:t>
            </a:r>
            <a:endParaRPr lang="en-US" sz="1900" dirty="0"/>
          </a:p>
        </p:txBody>
      </p:sp>
      <p:sp>
        <p:nvSpPr>
          <p:cNvPr id="7" name="Shape 5"/>
          <p:cNvSpPr/>
          <p:nvPr/>
        </p:nvSpPr>
        <p:spPr>
          <a:xfrm>
            <a:off x="548640" y="2011680"/>
            <a:ext cx="2464308" cy="1051560"/>
          </a:xfrm>
          <a:prstGeom prst="roundRect">
            <a:avLst/>
          </a:prstGeom>
          <a:solidFill>
            <a:srgbClr val="FBEAEA"/>
          </a:solidFill>
          <a:ln w="15875">
            <a:solidFill>
              <a:srgbClr val="C62828"/>
            </a:solidFill>
            <a:prstDash val="solid"/>
          </a:ln>
        </p:spPr>
        <p:txBody>
          <a:bodyPr/>
          <a:lstStyle/>
          <a:p>
            <a:endParaRPr lang="es-ES"/>
          </a:p>
        </p:txBody>
      </p:sp>
      <p:sp>
        <p:nvSpPr>
          <p:cNvPr id="8" name="Text 6"/>
          <p:cNvSpPr/>
          <p:nvPr/>
        </p:nvSpPr>
        <p:spPr>
          <a:xfrm>
            <a:off x="594360" y="2057400"/>
            <a:ext cx="2372868" cy="96012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Java pide todas</a:t>
            </a:r>
            <a:endParaRPr lang="en-US" sz="1400" dirty="0"/>
          </a:p>
          <a:p>
            <a:pPr marL="0" indent="0" algn="ctr">
              <a:buNone/>
            </a:pPr>
            <a:r>
              <a:rPr lang="en-US" sz="1400" dirty="0">
                <a:solidFill>
                  <a:srgbClr val="212121"/>
                </a:solidFill>
                <a:latin typeface="Arial" pitchFamily="34" charset="0"/>
                <a:ea typeface="Arial" pitchFamily="34" charset="-122"/>
                <a:cs typeface="Arial" pitchFamily="34" charset="-120"/>
              </a:rPr>
              <a:t>las filas</a:t>
            </a:r>
            <a:endParaRPr lang="en-US" sz="1400" dirty="0"/>
          </a:p>
        </p:txBody>
      </p:sp>
      <p:sp>
        <p:nvSpPr>
          <p:cNvPr id="9" name="Text 7"/>
          <p:cNvSpPr/>
          <p:nvPr/>
        </p:nvSpPr>
        <p:spPr>
          <a:xfrm>
            <a:off x="2967228" y="2011680"/>
            <a:ext cx="502920" cy="1051560"/>
          </a:xfrm>
          <a:prstGeom prst="rect">
            <a:avLst/>
          </a:prstGeom>
          <a:noFill/>
          <a:ln/>
        </p:spPr>
        <p:txBody>
          <a:bodyPr wrap="square" rtlCol="0" anchor="ctr"/>
          <a:lstStyle/>
          <a:p>
            <a:pPr marL="0" indent="0" algn="ctr">
              <a:buNone/>
            </a:pPr>
            <a:r>
              <a:rPr lang="en-US" sz="2200" b="1" dirty="0">
                <a:solidFill>
                  <a:srgbClr val="C62828"/>
                </a:solidFill>
                <a:latin typeface="Arial" pitchFamily="34" charset="0"/>
                <a:ea typeface="Arial" pitchFamily="34" charset="-122"/>
                <a:cs typeface="Arial" pitchFamily="34" charset="-120"/>
              </a:rPr>
              <a:t>→</a:t>
            </a:r>
            <a:endParaRPr lang="en-US" sz="2200" dirty="0"/>
          </a:p>
        </p:txBody>
      </p:sp>
      <p:sp>
        <p:nvSpPr>
          <p:cNvPr id="10" name="Shape 8"/>
          <p:cNvSpPr/>
          <p:nvPr/>
        </p:nvSpPr>
        <p:spPr>
          <a:xfrm>
            <a:off x="3424428" y="2011680"/>
            <a:ext cx="2464308" cy="1051560"/>
          </a:xfrm>
          <a:prstGeom prst="roundRect">
            <a:avLst/>
          </a:prstGeom>
          <a:solidFill>
            <a:srgbClr val="FBEAEA"/>
          </a:solidFill>
          <a:ln w="15875">
            <a:solidFill>
              <a:srgbClr val="C62828"/>
            </a:solidFill>
            <a:prstDash val="solid"/>
          </a:ln>
        </p:spPr>
        <p:txBody>
          <a:bodyPr/>
          <a:lstStyle/>
          <a:p>
            <a:endParaRPr lang="es-ES"/>
          </a:p>
        </p:txBody>
      </p:sp>
      <p:sp>
        <p:nvSpPr>
          <p:cNvPr id="11" name="Text 9"/>
          <p:cNvSpPr/>
          <p:nvPr/>
        </p:nvSpPr>
        <p:spPr>
          <a:xfrm>
            <a:off x="3470148" y="2057400"/>
            <a:ext cx="2372868" cy="96012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Viajan por la red</a:t>
            </a:r>
            <a:endParaRPr lang="en-US" sz="1400" dirty="0"/>
          </a:p>
          <a:p>
            <a:pPr marL="0" indent="0" algn="ctr">
              <a:buNone/>
            </a:pPr>
            <a:r>
              <a:rPr lang="en-US" sz="1400" dirty="0">
                <a:solidFill>
                  <a:srgbClr val="212121"/>
                </a:solidFill>
                <a:latin typeface="Arial" pitchFamily="34" charset="0"/>
                <a:ea typeface="Arial" pitchFamily="34" charset="-122"/>
                <a:cs typeface="Arial" pitchFamily="34" charset="-120"/>
              </a:rPr>
              <a:t>hacia la aplicación</a:t>
            </a:r>
            <a:endParaRPr lang="en-US" sz="1400" dirty="0"/>
          </a:p>
        </p:txBody>
      </p:sp>
      <p:sp>
        <p:nvSpPr>
          <p:cNvPr id="12" name="Text 10"/>
          <p:cNvSpPr/>
          <p:nvPr/>
        </p:nvSpPr>
        <p:spPr>
          <a:xfrm>
            <a:off x="5843016" y="2011680"/>
            <a:ext cx="502920" cy="1051560"/>
          </a:xfrm>
          <a:prstGeom prst="rect">
            <a:avLst/>
          </a:prstGeom>
          <a:noFill/>
          <a:ln/>
        </p:spPr>
        <p:txBody>
          <a:bodyPr wrap="square" rtlCol="0" anchor="ctr"/>
          <a:lstStyle/>
          <a:p>
            <a:pPr marL="0" indent="0" algn="ctr">
              <a:buNone/>
            </a:pPr>
            <a:r>
              <a:rPr lang="en-US" sz="2200" b="1" dirty="0">
                <a:solidFill>
                  <a:srgbClr val="C62828"/>
                </a:solidFill>
                <a:latin typeface="Arial" pitchFamily="34" charset="0"/>
                <a:ea typeface="Arial" pitchFamily="34" charset="-122"/>
                <a:cs typeface="Arial" pitchFamily="34" charset="-120"/>
              </a:rPr>
              <a:t>→</a:t>
            </a:r>
            <a:endParaRPr lang="en-US" sz="2200" dirty="0"/>
          </a:p>
        </p:txBody>
      </p:sp>
      <p:sp>
        <p:nvSpPr>
          <p:cNvPr id="13" name="Shape 11"/>
          <p:cNvSpPr/>
          <p:nvPr/>
        </p:nvSpPr>
        <p:spPr>
          <a:xfrm>
            <a:off x="6300216" y="2011680"/>
            <a:ext cx="2464308" cy="1051560"/>
          </a:xfrm>
          <a:prstGeom prst="roundRect">
            <a:avLst/>
          </a:prstGeom>
          <a:solidFill>
            <a:srgbClr val="FBEAEA"/>
          </a:solidFill>
          <a:ln w="15875">
            <a:solidFill>
              <a:srgbClr val="C62828"/>
            </a:solidFill>
            <a:prstDash val="solid"/>
          </a:ln>
        </p:spPr>
        <p:txBody>
          <a:bodyPr/>
          <a:lstStyle/>
          <a:p>
            <a:endParaRPr lang="es-ES"/>
          </a:p>
        </p:txBody>
      </p:sp>
      <p:sp>
        <p:nvSpPr>
          <p:cNvPr id="14" name="Text 12"/>
          <p:cNvSpPr/>
          <p:nvPr/>
        </p:nvSpPr>
        <p:spPr>
          <a:xfrm>
            <a:off x="6345936" y="2057400"/>
            <a:ext cx="2372868" cy="96012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Java las modifica</a:t>
            </a:r>
            <a:endParaRPr lang="en-US" sz="1400" dirty="0"/>
          </a:p>
          <a:p>
            <a:pPr marL="0" indent="0" algn="ctr">
              <a:buNone/>
            </a:pPr>
            <a:r>
              <a:rPr lang="en-US" sz="1400" dirty="0">
                <a:solidFill>
                  <a:srgbClr val="212121"/>
                </a:solidFill>
                <a:latin typeface="Arial" pitchFamily="34" charset="0"/>
                <a:ea typeface="Arial" pitchFamily="34" charset="-122"/>
                <a:cs typeface="Arial" pitchFamily="34" charset="-120"/>
              </a:rPr>
              <a:t>una a una</a:t>
            </a:r>
            <a:endParaRPr lang="en-US" sz="1400" dirty="0"/>
          </a:p>
        </p:txBody>
      </p:sp>
      <p:sp>
        <p:nvSpPr>
          <p:cNvPr id="15" name="Text 13"/>
          <p:cNvSpPr/>
          <p:nvPr/>
        </p:nvSpPr>
        <p:spPr>
          <a:xfrm>
            <a:off x="8718804" y="2011680"/>
            <a:ext cx="502920" cy="1051560"/>
          </a:xfrm>
          <a:prstGeom prst="rect">
            <a:avLst/>
          </a:prstGeom>
          <a:noFill/>
          <a:ln/>
        </p:spPr>
        <p:txBody>
          <a:bodyPr wrap="square" rtlCol="0" anchor="ctr"/>
          <a:lstStyle/>
          <a:p>
            <a:pPr marL="0" indent="0" algn="ctr">
              <a:buNone/>
            </a:pPr>
            <a:r>
              <a:rPr lang="en-US" sz="2200" b="1" dirty="0">
                <a:solidFill>
                  <a:srgbClr val="C62828"/>
                </a:solidFill>
                <a:latin typeface="Arial" pitchFamily="34" charset="0"/>
                <a:ea typeface="Arial" pitchFamily="34" charset="-122"/>
                <a:cs typeface="Arial" pitchFamily="34" charset="-120"/>
              </a:rPr>
              <a:t>→</a:t>
            </a:r>
            <a:endParaRPr lang="en-US" sz="2200" dirty="0"/>
          </a:p>
        </p:txBody>
      </p:sp>
      <p:sp>
        <p:nvSpPr>
          <p:cNvPr id="16" name="Shape 14"/>
          <p:cNvSpPr/>
          <p:nvPr/>
        </p:nvSpPr>
        <p:spPr>
          <a:xfrm>
            <a:off x="9176004" y="2011680"/>
            <a:ext cx="2464308" cy="1051560"/>
          </a:xfrm>
          <a:prstGeom prst="roundRect">
            <a:avLst/>
          </a:prstGeom>
          <a:solidFill>
            <a:srgbClr val="FBEAEA"/>
          </a:solidFill>
          <a:ln w="15875">
            <a:solidFill>
              <a:srgbClr val="C62828"/>
            </a:solidFill>
            <a:prstDash val="solid"/>
          </a:ln>
        </p:spPr>
        <p:txBody>
          <a:bodyPr/>
          <a:lstStyle/>
          <a:p>
            <a:endParaRPr lang="es-ES"/>
          </a:p>
        </p:txBody>
      </p:sp>
      <p:sp>
        <p:nvSpPr>
          <p:cNvPr id="17" name="Text 15"/>
          <p:cNvSpPr/>
          <p:nvPr/>
        </p:nvSpPr>
        <p:spPr>
          <a:xfrm>
            <a:off x="9221724" y="2057400"/>
            <a:ext cx="2372868" cy="960120"/>
          </a:xfrm>
          <a:prstGeom prst="rect">
            <a:avLst/>
          </a:prstGeom>
          <a:noFill/>
          <a:ln/>
        </p:spPr>
        <p:txBody>
          <a:bodyPr wrap="square" rtlCol="0" anchor="ctr"/>
          <a:lstStyle/>
          <a:p>
            <a:pPr marL="0" indent="0" algn="ctr">
              <a:buNone/>
            </a:pPr>
            <a:r>
              <a:rPr lang="en-US" sz="1400" dirty="0">
                <a:solidFill>
                  <a:srgbClr val="212121"/>
                </a:solidFill>
                <a:latin typeface="Arial" pitchFamily="34" charset="0"/>
                <a:ea typeface="Arial" pitchFamily="34" charset="-122"/>
                <a:cs typeface="Arial" pitchFamily="34" charset="-120"/>
              </a:rPr>
              <a:t>Vuelven a viajar</a:t>
            </a:r>
            <a:endParaRPr lang="en-US" sz="1400" dirty="0"/>
          </a:p>
          <a:p>
            <a:pPr marL="0" indent="0" algn="ctr">
              <a:buNone/>
            </a:pPr>
            <a:r>
              <a:rPr lang="en-US" sz="1400" dirty="0">
                <a:solidFill>
                  <a:srgbClr val="212121"/>
                </a:solidFill>
                <a:latin typeface="Arial" pitchFamily="34" charset="0"/>
                <a:ea typeface="Arial" pitchFamily="34" charset="-122"/>
                <a:cs typeface="Arial" pitchFamily="34" charset="-120"/>
              </a:rPr>
              <a:t>por la red hacia la BD</a:t>
            </a:r>
            <a:endParaRPr lang="en-US" sz="1400" dirty="0"/>
          </a:p>
        </p:txBody>
      </p:sp>
      <p:sp>
        <p:nvSpPr>
          <p:cNvPr id="18" name="Shape 16"/>
          <p:cNvSpPr/>
          <p:nvPr/>
        </p:nvSpPr>
        <p:spPr>
          <a:xfrm>
            <a:off x="548640" y="3474720"/>
            <a:ext cx="11091672" cy="502920"/>
          </a:xfrm>
          <a:prstGeom prst="rect">
            <a:avLst/>
          </a:prstGeom>
          <a:solidFill>
            <a:srgbClr val="C62828"/>
          </a:solidFill>
          <a:ln w="12700">
            <a:solidFill>
              <a:srgbClr val="C62828"/>
            </a:solidFill>
            <a:prstDash val="solid"/>
          </a:ln>
        </p:spPr>
        <p:txBody>
          <a:bodyPr/>
          <a:lstStyle/>
          <a:p>
            <a:endParaRPr lang="es-ES"/>
          </a:p>
        </p:txBody>
      </p:sp>
      <p:sp>
        <p:nvSpPr>
          <p:cNvPr id="19" name="Text 17"/>
          <p:cNvSpPr/>
          <p:nvPr/>
        </p:nvSpPr>
        <p:spPr>
          <a:xfrm>
            <a:off x="731520" y="3474720"/>
            <a:ext cx="10725912" cy="502920"/>
          </a:xfrm>
          <a:prstGeom prst="rect">
            <a:avLst/>
          </a:prstGeom>
          <a:noFill/>
          <a:ln/>
        </p:spPr>
        <p:txBody>
          <a:bodyPr wrap="square" rtlCol="0" anchor="ctr"/>
          <a:lstStyle/>
          <a:p>
            <a:pPr marL="0" indent="0">
              <a:buNone/>
            </a:pPr>
            <a:r>
              <a:rPr lang="en-US" sz="1900" b="1" dirty="0">
                <a:solidFill>
                  <a:srgbClr val="FFFFFF"/>
                </a:solidFill>
                <a:latin typeface="Arial" pitchFamily="34" charset="0"/>
                <a:ea typeface="Arial" pitchFamily="34" charset="-122"/>
                <a:cs typeface="Arial" pitchFamily="34" charset="-120"/>
              </a:rPr>
              <a:t>Con procedimiento almacenado</a:t>
            </a:r>
            <a:endParaRPr lang="en-US" sz="1900" dirty="0"/>
          </a:p>
        </p:txBody>
      </p:sp>
      <p:sp>
        <p:nvSpPr>
          <p:cNvPr id="20" name="Shape 18"/>
          <p:cNvSpPr/>
          <p:nvPr/>
        </p:nvSpPr>
        <p:spPr>
          <a:xfrm>
            <a:off x="548640" y="4160520"/>
            <a:ext cx="5340096" cy="1005840"/>
          </a:xfrm>
          <a:prstGeom prst="roundRect">
            <a:avLst/>
          </a:prstGeom>
          <a:solidFill>
            <a:srgbClr val="FBEAEA"/>
          </a:solidFill>
          <a:ln w="15875">
            <a:solidFill>
              <a:srgbClr val="C62828"/>
            </a:solidFill>
            <a:prstDash val="solid"/>
          </a:ln>
        </p:spPr>
        <p:txBody>
          <a:bodyPr/>
          <a:lstStyle/>
          <a:p>
            <a:endParaRPr lang="es-ES"/>
          </a:p>
        </p:txBody>
      </p:sp>
      <p:sp>
        <p:nvSpPr>
          <p:cNvPr id="21" name="Text 19"/>
          <p:cNvSpPr/>
          <p:nvPr/>
        </p:nvSpPr>
        <p:spPr>
          <a:xfrm>
            <a:off x="594360" y="4206240"/>
            <a:ext cx="5248656" cy="914400"/>
          </a:xfrm>
          <a:prstGeom prst="rect">
            <a:avLst/>
          </a:prstGeom>
          <a:noFill/>
          <a:ln/>
        </p:spPr>
        <p:txBody>
          <a:bodyPr wrap="square" rtlCol="0" anchor="ctr"/>
          <a:lstStyle/>
          <a:p>
            <a:pPr marL="0" indent="0" algn="ctr">
              <a:buNone/>
            </a:pPr>
            <a:r>
              <a:rPr lang="en-US" sz="1600" dirty="0">
                <a:solidFill>
                  <a:srgbClr val="212121"/>
                </a:solidFill>
                <a:latin typeface="Arial" pitchFamily="34" charset="0"/>
                <a:ea typeface="Arial" pitchFamily="34" charset="-122"/>
                <a:cs typeface="Arial" pitchFamily="34" charset="-120"/>
              </a:rPr>
              <a:t>Java ejecuta</a:t>
            </a:r>
            <a:endParaRPr lang="en-US" sz="1600" dirty="0"/>
          </a:p>
          <a:p>
            <a:pPr marL="0" indent="0" algn="ctr">
              <a:buNone/>
            </a:pPr>
            <a:r>
              <a:rPr lang="en-US" sz="1600" dirty="0">
                <a:solidFill>
                  <a:srgbClr val="212121"/>
                </a:solidFill>
                <a:latin typeface="Arial" pitchFamily="34" charset="0"/>
                <a:ea typeface="Arial" pitchFamily="34" charset="-122"/>
                <a:cs typeface="Arial" pitchFamily="34" charset="-120"/>
              </a:rPr>
              <a:t>un único CALL</a:t>
            </a:r>
            <a:endParaRPr lang="en-US" sz="1600" dirty="0"/>
          </a:p>
        </p:txBody>
      </p:sp>
      <p:sp>
        <p:nvSpPr>
          <p:cNvPr id="22" name="Text 20"/>
          <p:cNvSpPr/>
          <p:nvPr/>
        </p:nvSpPr>
        <p:spPr>
          <a:xfrm>
            <a:off x="5843016" y="4160520"/>
            <a:ext cx="502920" cy="1005840"/>
          </a:xfrm>
          <a:prstGeom prst="rect">
            <a:avLst/>
          </a:prstGeom>
          <a:noFill/>
          <a:ln/>
        </p:spPr>
        <p:txBody>
          <a:bodyPr wrap="square" rtlCol="0" anchor="ctr"/>
          <a:lstStyle/>
          <a:p>
            <a:pPr marL="0" indent="0" algn="ctr">
              <a:buNone/>
            </a:pPr>
            <a:r>
              <a:rPr lang="en-US" sz="2200" b="1" dirty="0">
                <a:solidFill>
                  <a:srgbClr val="C62828"/>
                </a:solidFill>
                <a:latin typeface="Arial" pitchFamily="34" charset="0"/>
                <a:ea typeface="Arial" pitchFamily="34" charset="-122"/>
                <a:cs typeface="Arial" pitchFamily="34" charset="-120"/>
              </a:rPr>
              <a:t>→</a:t>
            </a:r>
            <a:endParaRPr lang="en-US" sz="2200" dirty="0"/>
          </a:p>
        </p:txBody>
      </p:sp>
      <p:sp>
        <p:nvSpPr>
          <p:cNvPr id="23" name="Shape 21"/>
          <p:cNvSpPr/>
          <p:nvPr/>
        </p:nvSpPr>
        <p:spPr>
          <a:xfrm>
            <a:off x="6300216" y="4160520"/>
            <a:ext cx="5340096" cy="1005840"/>
          </a:xfrm>
          <a:prstGeom prst="roundRect">
            <a:avLst/>
          </a:prstGeom>
          <a:solidFill>
            <a:srgbClr val="FBEAEA"/>
          </a:solidFill>
          <a:ln w="15875">
            <a:solidFill>
              <a:srgbClr val="C62828"/>
            </a:solidFill>
            <a:prstDash val="solid"/>
          </a:ln>
        </p:spPr>
        <p:txBody>
          <a:bodyPr/>
          <a:lstStyle/>
          <a:p>
            <a:endParaRPr lang="es-ES"/>
          </a:p>
        </p:txBody>
      </p:sp>
      <p:sp>
        <p:nvSpPr>
          <p:cNvPr id="24" name="Text 22"/>
          <p:cNvSpPr/>
          <p:nvPr/>
        </p:nvSpPr>
        <p:spPr>
          <a:xfrm>
            <a:off x="6345936" y="4206240"/>
            <a:ext cx="5248656" cy="914400"/>
          </a:xfrm>
          <a:prstGeom prst="rect">
            <a:avLst/>
          </a:prstGeom>
          <a:noFill/>
          <a:ln/>
        </p:spPr>
        <p:txBody>
          <a:bodyPr wrap="square" rtlCol="0" anchor="ctr"/>
          <a:lstStyle/>
          <a:p>
            <a:pPr marL="0" indent="0" algn="ctr">
              <a:buNone/>
            </a:pPr>
            <a:r>
              <a:rPr lang="en-US" sz="1600" dirty="0">
                <a:solidFill>
                  <a:srgbClr val="212121"/>
                </a:solidFill>
                <a:latin typeface="Arial" pitchFamily="34" charset="0"/>
                <a:ea typeface="Arial" pitchFamily="34" charset="-122"/>
                <a:cs typeface="Arial" pitchFamily="34" charset="-120"/>
              </a:rPr>
              <a:t>El motor actualiza</a:t>
            </a:r>
            <a:endParaRPr lang="en-US" sz="1600" dirty="0"/>
          </a:p>
          <a:p>
            <a:pPr marL="0" indent="0" algn="ctr">
              <a:buNone/>
            </a:pPr>
            <a:r>
              <a:rPr lang="en-US" sz="1600" dirty="0">
                <a:solidFill>
                  <a:srgbClr val="212121"/>
                </a:solidFill>
                <a:latin typeface="Arial" pitchFamily="34" charset="0"/>
                <a:ea typeface="Arial" pitchFamily="34" charset="-122"/>
                <a:cs typeface="Arial" pitchFamily="34" charset="-120"/>
              </a:rPr>
              <a:t>todas las filas ahí mismo</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inconveniente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Text 3"/>
          <p:cNvSpPr/>
          <p:nvPr/>
        </p:nvSpPr>
        <p:spPr>
          <a:xfrm>
            <a:off x="548640" y="1234440"/>
            <a:ext cx="11091672" cy="105156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La lógica queda repartida en dos sitios (tu código Java y la base de datos), lo que la hace más difícil de versionar junto con el resto del proyecto y de probar con las mismas herramientas que usas para el resto de tu código.</a:t>
            </a:r>
            <a:endParaRPr lang="en-US" sz="1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606040"/>
          <a:ext cx="11091672" cy="3154680"/>
        </p:xfrm>
        <a:graphic>
          <a:graphicData uri="http://schemas.openxmlformats.org/drawingml/2006/table">
            <a:tbl>
              <a:tblPr/>
              <a:tblGrid>
                <a:gridCol w="2440168">
                  <a:extLst>
                    <a:ext uri="{9D8B030D-6E8A-4147-A177-3AD203B41FA5}">
                      <a16:colId xmlns:a16="http://schemas.microsoft.com/office/drawing/2014/main" val="20000"/>
                    </a:ext>
                  </a:extLst>
                </a:gridCol>
                <a:gridCol w="4325752">
                  <a:extLst>
                    <a:ext uri="{9D8B030D-6E8A-4147-A177-3AD203B41FA5}">
                      <a16:colId xmlns:a16="http://schemas.microsoft.com/office/drawing/2014/main" val="20001"/>
                    </a:ext>
                  </a:extLst>
                </a:gridCol>
                <a:gridCol w="4325752">
                  <a:extLst>
                    <a:ext uri="{9D8B030D-6E8A-4147-A177-3AD203B41FA5}">
                      <a16:colId xmlns:a16="http://schemas.microsoft.com/office/drawing/2014/main" val="20002"/>
                    </a:ext>
                  </a:extLst>
                </a:gridCol>
              </a:tblGrid>
              <a:tr h="1051560">
                <a:tc>
                  <a:txBody>
                    <a:bodyPr/>
                    <a:lstStyle/>
                    <a:p>
                      <a:pPr marL="0" indent="0" algn="ctr">
                        <a:buNone/>
                      </a:pP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Ventaja</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Coste</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1051560">
                <a:tc>
                  <a:txBody>
                    <a:bodyPr/>
                    <a:lstStyle/>
                    <a:p>
                      <a:pPr marL="0" indent="0">
                        <a:buNone/>
                      </a:pPr>
                      <a:r>
                        <a:rPr lang="en-US" sz="1500" b="1" dirty="0">
                          <a:solidFill>
                            <a:srgbClr val="212121"/>
                          </a:solidFill>
                          <a:latin typeface="Arial" pitchFamily="34" charset="0"/>
                          <a:ea typeface="Arial" pitchFamily="34" charset="-122"/>
                          <a:cs typeface="Arial" pitchFamily="34" charset="-120"/>
                        </a:rPr>
                        <a:t>Procedimiento almacenado</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Una sola operación atómica, sin ida y vuelta por fila</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Lógica repartida en dos sitios; más difícil de versionar y de probar</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051560">
                <a:tc>
                  <a:txBody>
                    <a:bodyPr/>
                    <a:lstStyle/>
                    <a:p>
                      <a:pPr marL="0" indent="0">
                        <a:buNone/>
                      </a:pPr>
                      <a:r>
                        <a:rPr lang="en-US" sz="1500" b="1" dirty="0">
                          <a:solidFill>
                            <a:srgbClr val="212121"/>
                          </a:solidFill>
                          <a:latin typeface="Arial" pitchFamily="34" charset="0"/>
                          <a:ea typeface="Arial" pitchFamily="34" charset="-122"/>
                          <a:cs typeface="Arial" pitchFamily="34" charset="-120"/>
                        </a:rPr>
                        <a:t>Bucle en Java</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Todo el código en un solo sitio, fácil de testear</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Un viaje de red por cada fila leída y modificada</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Cómo se invocan desde Java</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Text 3"/>
          <p:cNvSpPr/>
          <p:nvPr/>
        </p:nvSpPr>
        <p:spPr>
          <a:xfrm>
            <a:off x="548640" y="2011680"/>
            <a:ext cx="11091672" cy="137160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La vía estándar de JDBC es CallableStatement (el primo de PreparedStatement, pensado específicamente para invocar procedimientos) — se menciona para que sepas que existe, pero en este curso vas a usar una vía más cómoda: JdbcTemplate.</a:t>
            </a:r>
            <a:endParaRPr lang="en-US" sz="2100" dirty="0"/>
          </a:p>
        </p:txBody>
      </p:sp>
      <p:sp>
        <p:nvSpPr>
          <p:cNvPr id="6" name="Shape 4"/>
          <p:cNvSpPr/>
          <p:nvPr/>
        </p:nvSpPr>
        <p:spPr>
          <a:xfrm>
            <a:off x="548640" y="3749040"/>
            <a:ext cx="11091672" cy="137160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3840480"/>
            <a:ext cx="10543032" cy="118872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JdbcTemplate es el ayudante que trae Spring sobre JDBC puro: te evita exactamente la fontanería que has visto el apartado anterior (abrir conexión, cerrar recursos, gestionar excepciones a mano) sin llegar a ser un ORM completo como el que verás en detalle un poco más adelante.</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Una sola línea</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Shape 3"/>
          <p:cNvSpPr/>
          <p:nvPr/>
        </p:nvSpPr>
        <p:spPr>
          <a:xfrm>
            <a:off x="548640" y="2560320"/>
            <a:ext cx="11091672" cy="86868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2560320"/>
            <a:ext cx="73152" cy="86868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2670048"/>
            <a:ext cx="10588752" cy="649224"/>
          </a:xfrm>
          <a:prstGeom prst="rect">
            <a:avLst/>
          </a:prstGeom>
          <a:noFill/>
          <a:ln/>
        </p:spPr>
        <p:txBody>
          <a:bodyPr wrap="square" rtlCol="0" anchor="t"/>
          <a:lstStyle/>
          <a:p>
            <a:pPr marL="0" indent="0">
              <a:buNone/>
            </a:pPr>
            <a:r>
              <a:rPr lang="en-US" sz="1600" dirty="0">
                <a:solidFill>
                  <a:srgbClr val="263238"/>
                </a:solidFill>
                <a:latin typeface="Courier New" pitchFamily="34" charset="0"/>
                <a:ea typeface="Courier New" pitchFamily="34" charset="-122"/>
                <a:cs typeface="Courier New" pitchFamily="34" charset="-120"/>
              </a:rPr>
              <a:t>jdbcTemplate.update("CALL ajustar_precio_editorial(?, ?)", editorialId, porcentaje);</a:t>
            </a:r>
            <a:endParaRPr lang="en-US" sz="1600" dirty="0"/>
          </a:p>
        </p:txBody>
      </p:sp>
      <p:sp>
        <p:nvSpPr>
          <p:cNvPr id="8" name="Text 6"/>
          <p:cNvSpPr/>
          <p:nvPr/>
        </p:nvSpPr>
        <p:spPr>
          <a:xfrm>
            <a:off x="548640" y="3840480"/>
            <a:ext cx="11091672" cy="109728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JdbcTemplate abre la conexión, prepara la sentencia con parámetros (igual de seguros frente a inyección SQL que el PreparedStatement que ya conoces), la ejecuta y cierra todo por ti.</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Un ejemplo completo: ajustar_precio_editorial</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Shape 3"/>
          <p:cNvSpPr/>
          <p:nvPr/>
        </p:nvSpPr>
        <p:spPr>
          <a:xfrm>
            <a:off x="548640" y="288036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71800"/>
            <a:ext cx="10543032" cy="155448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Siguiendo con la aplicación de la librería: imagina que una editorial sube (o baja) el precio de todo su catálogo en un porcentaje. Es el caso perfecto para un procedimiento almacenado — una operación masiva, atómica, cerca de los datos.</a:t>
            </a:r>
            <a:endParaRPr lang="en-US" sz="2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1. El procedimiento en PostgreSQL</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Shape 3"/>
          <p:cNvSpPr/>
          <p:nvPr/>
        </p:nvSpPr>
        <p:spPr>
          <a:xfrm>
            <a:off x="548640" y="1645920"/>
            <a:ext cx="11091672" cy="2496872"/>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645920"/>
            <a:ext cx="73152" cy="233172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1755648"/>
            <a:ext cx="10588752" cy="2112264"/>
          </a:xfrm>
          <a:prstGeom prst="rect">
            <a:avLst/>
          </a:prstGeom>
          <a:noFill/>
          <a:ln/>
        </p:spPr>
        <p:txBody>
          <a:bodyPr wrap="square" rtlCol="0" anchor="t"/>
          <a:lstStyle/>
          <a:p>
            <a:pPr marL="0" indent="0">
              <a:buNone/>
            </a:pPr>
            <a:r>
              <a:rPr lang="en-US" sz="1500" dirty="0">
                <a:solidFill>
                  <a:srgbClr val="263238"/>
                </a:solidFill>
                <a:latin typeface="Courier New" pitchFamily="34" charset="0"/>
                <a:ea typeface="Courier New" pitchFamily="34" charset="-122"/>
                <a:cs typeface="Courier New" pitchFamily="34" charset="-120"/>
              </a:rPr>
              <a:t>CREATE OR REPLACE PROCEDURE ajustar_precio_editorial(p_editorial_id BIGINT, p_porcentaje NUMERIC)</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LANGUAGE plpgsql</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AS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BEGIN</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UPDATE libro</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SET precio = ROUND(precio * (1 + p_porcentaje / 100.0), 2)</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WHERE editorial_id = p_editorial_id;</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END;</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a:t>
            </a:r>
            <a:endParaRPr lang="en-US" sz="1500" dirty="0"/>
          </a:p>
        </p:txBody>
      </p:sp>
      <p:sp>
        <p:nvSpPr>
          <p:cNvPr id="8" name="Text 6"/>
          <p:cNvSpPr/>
          <p:nvPr/>
        </p:nvSpPr>
        <p:spPr>
          <a:xfrm>
            <a:off x="548640" y="4297680"/>
            <a:ext cx="11091672" cy="502920"/>
          </a:xfrm>
          <a:prstGeom prst="rect">
            <a:avLst/>
          </a:prstGeom>
          <a:noFill/>
          <a:ln/>
        </p:spPr>
        <p:txBody>
          <a:bodyPr wrap="square" rtlCol="0" anchor="t"/>
          <a:lstStyle/>
          <a:p>
            <a:pPr marL="0" indent="0">
              <a:buNone/>
            </a:pPr>
            <a:r>
              <a:rPr lang="en-US" sz="1800" dirty="0">
                <a:solidFill>
                  <a:srgbClr val="757575"/>
                </a:solidFill>
                <a:latin typeface="Arial" pitchFamily="34" charset="0"/>
                <a:ea typeface="Arial" pitchFamily="34" charset="-122"/>
                <a:cs typeface="Arial" pitchFamily="34" charset="-120"/>
              </a:rPr>
              <a:t>Sube o baja, de una sola vez, el precio de todos los libros de una editorial en el porcentaje indicado.</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Por qué ROUND(..., 2) importa</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Shape 3"/>
          <p:cNvSpPr/>
          <p:nvPr/>
        </p:nvSpPr>
        <p:spPr>
          <a:xfrm>
            <a:off x="548640" y="288036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71800"/>
            <a:ext cx="10543032" cy="155448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precio es una columna con precisión 10,2 en la base de datos — sin redondear explícitamente a dos decimales, el cálculo (precio * (1 + porcentaje/100)) podría dejar más decimales de los que la columna admite con precisión limpia.</a:t>
            </a:r>
            <a:endParaRPr lang="en-US"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2. La invocación desde el service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Shape 3"/>
          <p:cNvSpPr/>
          <p:nvPr/>
        </p:nvSpPr>
        <p:spPr>
          <a:xfrm>
            <a:off x="548640" y="1234440"/>
            <a:ext cx="11091672" cy="448056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234440"/>
            <a:ext cx="73152" cy="4480560"/>
          </a:xfrm>
          <a:prstGeom prst="rect">
            <a:avLst/>
          </a:prstGeom>
          <a:solidFill>
            <a:srgbClr val="E64A19"/>
          </a:solidFill>
          <a:ln w="12700">
            <a:solidFill>
              <a:srgbClr val="E64A19"/>
            </a:solidFill>
            <a:prstDash val="solid"/>
          </a:ln>
        </p:spPr>
        <p:txBody>
          <a:bodyPr/>
          <a:lstStyle/>
          <a:p>
            <a:endParaRPr lang="es-ES"/>
          </a:p>
        </p:txBody>
      </p:sp>
      <p:sp>
        <p:nvSpPr>
          <p:cNvPr id="7" name="Text 5"/>
          <p:cNvSpPr/>
          <p:nvPr/>
        </p:nvSpPr>
        <p:spPr>
          <a:xfrm>
            <a:off x="822960" y="1344168"/>
            <a:ext cx="10588752" cy="4261104"/>
          </a:xfrm>
          <a:prstGeom prst="rect">
            <a:avLst/>
          </a:prstGeom>
          <a:noFill/>
          <a:ln/>
        </p:spPr>
        <p:txBody>
          <a:bodyPr wrap="square" rtlCol="0" anchor="t"/>
          <a:lstStyle/>
          <a:p>
            <a:pPr marL="0" indent="0">
              <a:buNone/>
            </a:pPr>
            <a:r>
              <a:rPr lang="en-US" sz="1500" dirty="0">
                <a:solidFill>
                  <a:srgbClr val="263238"/>
                </a:solidFill>
                <a:latin typeface="Courier New" pitchFamily="34" charset="0"/>
                <a:ea typeface="Courier New" pitchFamily="34" charset="-122"/>
                <a:cs typeface="Courier New" pitchFamily="34" charset="-120"/>
              </a:rPr>
              <a:t>@Service</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@RequiredArgsConstructor</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public class EditorialService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private final EditorialRepository editorialRepository;</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private final JdbcTemplate jdbcTemplate;</a:t>
            </a:r>
            <a:endParaRPr lang="en-US" sz="1500" dirty="0"/>
          </a:p>
          <a:p>
            <a:pPr marL="0" indent="0">
              <a:buNone/>
            </a:pP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@Transactional</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public void ajustarPrecio(Long editorialId, BigDecimal porcentaje)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if (!editorialRepository.existsById(editorialId))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throw new ResponseStatusException(HttpStatus.NOT_FOUND, "Editorial no encontrada");</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jdbcTemplate.update("CALL ajustar_precio_editorial(?, ?)", editorialId, porcentaje);</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Se inyecta como cualquier otro bean</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Shape 3"/>
          <p:cNvSpPr/>
          <p:nvPr/>
        </p:nvSpPr>
        <p:spPr>
          <a:xfrm>
            <a:off x="548640" y="201168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103120"/>
            <a:ext cx="10543032" cy="128016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JdbcTemplate se inyecta exactamente igual que cualquier otro bean — junto al EditorialRepository, con @RequiredArgsConstructor, sin ninguna configuración especial: Spring Boot lo configura automáticamente en cuanto detecta un DataSource en el classpath.</a:t>
            </a:r>
            <a:endParaRPr lang="en-US" sz="2000" dirty="0"/>
          </a:p>
        </p:txBody>
      </p:sp>
      <p:sp>
        <p:nvSpPr>
          <p:cNvPr id="7" name="Text 5"/>
          <p:cNvSpPr/>
          <p:nvPr/>
        </p:nvSpPr>
        <p:spPr>
          <a:xfrm>
            <a:off x="548640" y="3840480"/>
            <a:ext cx="11091672" cy="1005840"/>
          </a:xfrm>
          <a:prstGeom prst="rect">
            <a:avLst/>
          </a:prstGeom>
          <a:noFill/>
          <a:ln/>
        </p:spPr>
        <p:txBody>
          <a:bodyPr wrap="square" rtlCol="0" anchor="t"/>
          <a:lstStyle/>
          <a:p>
            <a:pPr marL="0" indent="0">
              <a:buNone/>
            </a:pPr>
            <a:r>
              <a:rPr lang="en-US" sz="1900" dirty="0">
                <a:solidFill>
                  <a:srgbClr val="757575"/>
                </a:solidFill>
                <a:latin typeface="Arial" pitchFamily="34" charset="0"/>
                <a:ea typeface="Arial" pitchFamily="34" charset="-122"/>
                <a:cs typeface="Arial" pitchFamily="34" charset="-120"/>
              </a:rPr>
              <a:t>La comprobación de "editorial no encontrada" la sigues haciendo con Spring Data JPA (existsById) antes de invocar el procedimiento — no hace falta que todo pase por JdbcTemplate, solo la parte que de verdad conviene ejecutar cerca de los datos.</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@Transactional de arriba</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Shape 3"/>
          <p:cNvSpPr/>
          <p:nvPr/>
        </p:nvSpPr>
        <p:spPr>
          <a:xfrm>
            <a:off x="548640" y="288036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71800"/>
            <a:ext cx="10543032" cy="155448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Es el mismo que ya has visto en update()/delete() del apartado anterior: aquí también hay una lectura (existsById) seguida de una escritura (la llamada al procedimiento), así que el método entero se trata como una sola unidad todo-o-nada.</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Todavía falta un paso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Shape 3"/>
          <p:cNvSpPr/>
          <p:nvPr/>
        </p:nvSpPr>
        <p:spPr>
          <a:xfrm>
            <a:off x="548640" y="2880360"/>
            <a:ext cx="11091672" cy="173736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2971800"/>
            <a:ext cx="10543032" cy="155448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Con el procedimiento y el método del service ya tienes la lógica completa — pero, igual que con cualquier otra operación de tu API, todavía no es alcanzable desde fuera. Falta el último paso de siempre: un endpoint en el controller que llame a ajustarPrecio(...) y lo exponga por HTTP.</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¿Por qué un procedimiento y no un bucle en Java?</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Text 3"/>
          <p:cNvSpPr/>
          <p:nvPr/>
        </p:nvSpPr>
        <p:spPr>
          <a:xfrm>
            <a:off x="548640" y="1463040"/>
            <a:ext cx="11091672" cy="45720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También podrías resolver esta operación desde Java:</a:t>
            </a:r>
            <a:endParaRPr lang="en-US" sz="1900" dirty="0"/>
          </a:p>
        </p:txBody>
      </p:sp>
      <p:sp>
        <p:nvSpPr>
          <p:cNvPr id="6" name="Text 4"/>
          <p:cNvSpPr/>
          <p:nvPr/>
        </p:nvSpPr>
        <p:spPr>
          <a:xfrm>
            <a:off x="548640" y="2057400"/>
            <a:ext cx="11091672" cy="1554480"/>
          </a:xfrm>
          <a:prstGeom prst="rect">
            <a:avLst/>
          </a:prstGeom>
          <a:noFill/>
          <a:ln/>
        </p:spPr>
        <p:txBody>
          <a:bodyPr wrap="square" rtlCol="0" anchor="t"/>
          <a:lstStyle/>
          <a:p>
            <a:pPr marL="342900" indent="-342900">
              <a:spcAft>
                <a:spcPts val="1200"/>
              </a:spcAft>
              <a:buSzPct val="100000"/>
              <a:buChar char="•"/>
            </a:pPr>
            <a:r>
              <a:rPr lang="en-US" sz="1900" dirty="0">
                <a:solidFill>
                  <a:srgbClr val="212121"/>
                </a:solidFill>
                <a:latin typeface="Arial" pitchFamily="34" charset="0"/>
                <a:ea typeface="Arial" pitchFamily="34" charset="-122"/>
                <a:cs typeface="Arial" pitchFamily="34" charset="-120"/>
              </a:rPr>
              <a:t>Recuperar todos los libros de una editorial.</a:t>
            </a:r>
            <a:endParaRPr lang="en-US" sz="1900" dirty="0"/>
          </a:p>
          <a:p>
            <a:pPr marL="342900" indent="-342900">
              <a:spcAft>
                <a:spcPts val="1200"/>
              </a:spcAft>
              <a:buSzPct val="100000"/>
              <a:buChar char="•"/>
            </a:pPr>
            <a:r>
              <a:rPr lang="en-US" sz="1900" dirty="0">
                <a:solidFill>
                  <a:srgbClr val="212121"/>
                </a:solidFill>
                <a:latin typeface="Arial" pitchFamily="34" charset="0"/>
                <a:ea typeface="Arial" pitchFamily="34" charset="-122"/>
                <a:cs typeface="Arial" pitchFamily="34" charset="-120"/>
              </a:rPr>
              <a:t>Recorrerlos con un bucle.</a:t>
            </a:r>
            <a:endParaRPr lang="en-US" sz="1900" dirty="0"/>
          </a:p>
          <a:p>
            <a:pPr marL="342900" indent="-342900">
              <a:spcAft>
                <a:spcPts val="1200"/>
              </a:spcAft>
              <a:buSzPct val="100000"/>
              <a:buChar char="•"/>
            </a:pPr>
            <a:r>
              <a:rPr lang="en-US" sz="1900" dirty="0">
                <a:solidFill>
                  <a:srgbClr val="212121"/>
                </a:solidFill>
                <a:latin typeface="Arial" pitchFamily="34" charset="0"/>
                <a:ea typeface="Arial" pitchFamily="34" charset="-122"/>
                <a:cs typeface="Arial" pitchFamily="34" charset="-120"/>
              </a:rPr>
              <a:t>Actualizar su precio uno por uno.</a:t>
            </a:r>
            <a:endParaRPr lang="en-US" sz="1900" dirty="0"/>
          </a:p>
        </p:txBody>
      </p:sp>
      <p:sp>
        <p:nvSpPr>
          <p:cNvPr id="7" name="Text 5"/>
          <p:cNvSpPr/>
          <p:nvPr/>
        </p:nvSpPr>
        <p:spPr>
          <a:xfrm>
            <a:off x="548640" y="3749040"/>
            <a:ext cx="11091672" cy="1005840"/>
          </a:xfrm>
          <a:prstGeom prst="rect">
            <a:avLst/>
          </a:prstGeom>
          <a:noFill/>
          <a:ln/>
        </p:spPr>
        <p:txBody>
          <a:bodyPr wrap="square" rtlCol="0" anchor="t"/>
          <a:lstStyle/>
          <a:p>
            <a:pPr marL="0" indent="0">
              <a:buNone/>
            </a:pPr>
            <a:r>
              <a:rPr lang="en-US" sz="1800" dirty="0">
                <a:solidFill>
                  <a:srgbClr val="757575"/>
                </a:solidFill>
                <a:latin typeface="Arial" pitchFamily="34" charset="0"/>
                <a:ea typeface="Arial" pitchFamily="34" charset="-122"/>
                <a:cs typeface="Arial" pitchFamily="34" charset="-120"/>
              </a:rPr>
              <a:t>El procedimiento almacenado sigue otro enfoque: la lógica ya está guardada dentro de PostgreSQL y la aplicación simplemente la invoca mediante CALL. Así, el gestor actualiza todos los libros sin tener que enviarlos primero a Java ni recorrerlos individualmente.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idea importante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Shape 3"/>
          <p:cNvSpPr/>
          <p:nvPr/>
        </p:nvSpPr>
        <p:spPr>
          <a:xfrm>
            <a:off x="548640" y="301752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3108960"/>
            <a:ext cx="10543032" cy="1280160"/>
          </a:xfrm>
          <a:prstGeom prst="rect">
            <a:avLst/>
          </a:prstGeom>
          <a:noFill/>
          <a:ln/>
        </p:spPr>
        <p:txBody>
          <a:bodyPr wrap="square" rtlCol="0" anchor="ctr"/>
          <a:lstStyle/>
          <a:p>
            <a:pPr marL="0" indent="0">
              <a:buNone/>
            </a:pPr>
            <a:r>
              <a:rPr lang="en-US" sz="2300" dirty="0">
                <a:solidFill>
                  <a:srgbClr val="212121"/>
                </a:solidFill>
                <a:latin typeface="Arial" pitchFamily="34" charset="0"/>
                <a:ea typeface="Arial" pitchFamily="34" charset="-122"/>
                <a:cs typeface="Arial" pitchFamily="34" charset="-120"/>
              </a:rPr>
              <a:t>En un procedimiento almacenado, la aplicación solicita una operación, pero la lógica que la ejecuta está almacenada dentro de la propia base de datos.</a:t>
            </a:r>
            <a:endParaRPr lang="en-US" sz="2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En este apartado, el objetivo es aprender a...</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Text 3"/>
          <p:cNvSpPr/>
          <p:nvPr/>
        </p:nvSpPr>
        <p:spPr>
          <a:xfrm>
            <a:off x="548640" y="2926080"/>
            <a:ext cx="11091672" cy="1828800"/>
          </a:xfrm>
          <a:prstGeom prst="rect">
            <a:avLst/>
          </a:prstGeom>
          <a:noFill/>
          <a:ln/>
        </p:spPr>
        <p:txBody>
          <a:bodyPr wrap="square" rtlCol="0" anchor="t"/>
          <a:lstStyle/>
          <a:p>
            <a:pPr marL="190500" indent="-190500">
              <a:spcAft>
                <a:spcPts val="2000"/>
              </a:spcAft>
              <a:buSzPct val="100000"/>
              <a:buChar char="•"/>
            </a:pPr>
            <a:r>
              <a:rPr lang="en-US" sz="2200" dirty="0">
                <a:solidFill>
                  <a:srgbClr val="212121"/>
                </a:solidFill>
                <a:latin typeface="Arial" pitchFamily="34" charset="0"/>
                <a:ea typeface="Arial" pitchFamily="34" charset="-122"/>
                <a:cs typeface="Arial" pitchFamily="34" charset="-120"/>
              </a:rPr>
              <a:t>Crear un procedimiento almacenado.</a:t>
            </a:r>
            <a:endParaRPr lang="en-US" sz="2200" dirty="0"/>
          </a:p>
          <a:p>
            <a:pPr marL="190500" indent="-190500">
              <a:spcAft>
                <a:spcPts val="2000"/>
              </a:spcAft>
              <a:buSzPct val="100000"/>
              <a:buChar char="•"/>
            </a:pPr>
            <a:r>
              <a:rPr lang="en-US" sz="2200" dirty="0">
                <a:solidFill>
                  <a:srgbClr val="212121"/>
                </a:solidFill>
                <a:latin typeface="Arial" pitchFamily="34" charset="0"/>
                <a:ea typeface="Arial" pitchFamily="34" charset="-122"/>
                <a:cs typeface="Arial" pitchFamily="34" charset="-120"/>
              </a:rPr>
              <a:t>Pasarle parámetros.</a:t>
            </a:r>
            <a:endParaRPr lang="en-US" sz="2200" dirty="0"/>
          </a:p>
          <a:p>
            <a:pPr marL="190500" indent="-190500">
              <a:spcAft>
                <a:spcPts val="2000"/>
              </a:spcAft>
              <a:buSzPct val="100000"/>
              <a:buChar char="•"/>
            </a:pPr>
            <a:r>
              <a:rPr lang="en-US" sz="2200" dirty="0">
                <a:solidFill>
                  <a:srgbClr val="212121"/>
                </a:solidFill>
                <a:latin typeface="Arial" pitchFamily="34" charset="0"/>
                <a:ea typeface="Arial" pitchFamily="34" charset="-122"/>
                <a:cs typeface="Arial" pitchFamily="34" charset="-120"/>
              </a:rPr>
              <a:t>Invocarlo desde Java mediante JdbcTemplate.</a:t>
            </a:r>
            <a:endParaRPr lang="en-US" sz="2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Antes de cerrar el tema: consultas derivadas por nombre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Text 3"/>
          <p:cNvSpPr/>
          <p:nvPr/>
        </p:nvSpPr>
        <p:spPr>
          <a:xfrm>
            <a:off x="548640" y="2377440"/>
            <a:ext cx="11091672" cy="137160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En "Operaciones CRUD y gestión de transacciones" viste que puedes declarar una consulta propia sin escribir SQL, con un método sin cuerpo — como findByEditorialId. Ahí quedó como una idea suelta; aquí ves la convención completa.</a:t>
            </a:r>
            <a:endParaRPr lang="en-US" sz="2000" dirty="0"/>
          </a:p>
        </p:txBody>
      </p:sp>
      <p:sp>
        <p:nvSpPr>
          <p:cNvPr id="6" name="Text 4"/>
          <p:cNvSpPr/>
          <p:nvPr/>
        </p:nvSpPr>
        <p:spPr>
          <a:xfrm>
            <a:off x="548640" y="4069080"/>
            <a:ext cx="11091672" cy="914400"/>
          </a:xfrm>
          <a:prstGeom prst="rect">
            <a:avLst/>
          </a:prstGeom>
          <a:noFill/>
          <a:ln/>
        </p:spPr>
        <p:txBody>
          <a:bodyPr wrap="square" rtlCol="0" anchor="t"/>
          <a:lstStyle/>
          <a:p>
            <a:pPr marL="0" indent="0">
              <a:buNone/>
            </a:pPr>
            <a:r>
              <a:rPr lang="en-US" sz="1900" dirty="0">
                <a:solidFill>
                  <a:srgbClr val="757575"/>
                </a:solidFill>
                <a:latin typeface="Arial" pitchFamily="34" charset="0"/>
                <a:ea typeface="Arial" pitchFamily="34" charset="-122"/>
                <a:cs typeface="Arial" pitchFamily="34" charset="-120"/>
              </a:rPr>
              <a:t>Spring Data JPA lee el nombre del método pieza a pieza y lo traduce a una consulta. Estos son los patrones más habituales, todos sobre LibroRepository:</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Los patrones más habituales</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91672" cy="5266944"/>
        </p:xfrm>
        <a:graphic>
          <a:graphicData uri="http://schemas.openxmlformats.org/drawingml/2006/table">
            <a:tbl>
              <a:tblPr/>
              <a:tblGrid>
                <a:gridCol w="5767669">
                  <a:extLst>
                    <a:ext uri="{9D8B030D-6E8A-4147-A177-3AD203B41FA5}">
                      <a16:colId xmlns:a16="http://schemas.microsoft.com/office/drawing/2014/main" val="20000"/>
                    </a:ext>
                  </a:extLst>
                </a:gridCol>
                <a:gridCol w="5324003">
                  <a:extLst>
                    <a:ext uri="{9D8B030D-6E8A-4147-A177-3AD203B41FA5}">
                      <a16:colId xmlns:a16="http://schemas.microsoft.com/office/drawing/2014/main" val="20001"/>
                    </a:ext>
                  </a:extLst>
                </a:gridCol>
              </a:tblGrid>
              <a:tr h="658368">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Método</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Qué genera</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658368">
                <a:tc>
                  <a:txBody>
                    <a:bodyPr/>
                    <a:lstStyle/>
                    <a:p>
                      <a:pPr marL="0" indent="0">
                        <a:buNone/>
                      </a:pPr>
                      <a:r>
                        <a:rPr lang="en-US" sz="1350" dirty="0">
                          <a:solidFill>
                            <a:srgbClr val="212121"/>
                          </a:solidFill>
                          <a:latin typeface="Arial" pitchFamily="34" charset="0"/>
                          <a:ea typeface="Arial" pitchFamily="34" charset="-122"/>
                          <a:cs typeface="Arial" pitchFamily="34" charset="-120"/>
                        </a:rPr>
                        <a:t>findByTitulo(String titulo)</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WHERE titulo = ?</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350" dirty="0">
                          <a:solidFill>
                            <a:srgbClr val="212121"/>
                          </a:solidFill>
                          <a:latin typeface="Arial" pitchFamily="34" charset="0"/>
                          <a:ea typeface="Arial" pitchFamily="34" charset="-122"/>
                          <a:cs typeface="Arial" pitchFamily="34" charset="-120"/>
                        </a:rPr>
                        <a:t>findByPrecioLessThan(BigDecimal precio)</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WHERE precio &lt; ?</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658368">
                <a:tc>
                  <a:txBody>
                    <a:bodyPr/>
                    <a:lstStyle/>
                    <a:p>
                      <a:pPr marL="0" indent="0">
                        <a:buNone/>
                      </a:pPr>
                      <a:r>
                        <a:rPr lang="en-US" sz="1350" dirty="0">
                          <a:solidFill>
                            <a:srgbClr val="212121"/>
                          </a:solidFill>
                          <a:latin typeface="Arial" pitchFamily="34" charset="0"/>
                          <a:ea typeface="Arial" pitchFamily="34" charset="-122"/>
                          <a:cs typeface="Arial" pitchFamily="34" charset="-120"/>
                        </a:rPr>
                        <a:t>findByTituloContainingIgnoreCase(String fragmento)</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WHERE LOWER(titulo) LIKE LOWER('%fragmento%')</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350" dirty="0">
                          <a:solidFill>
                            <a:srgbClr val="212121"/>
                          </a:solidFill>
                          <a:latin typeface="Arial" pitchFamily="34" charset="0"/>
                          <a:ea typeface="Arial" pitchFamily="34" charset="-122"/>
                          <a:cs typeface="Arial" pitchFamily="34" charset="-120"/>
                        </a:rPr>
                        <a:t>findByEditorialIdOrderByPrecioDesc(Long editorialId)</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WHERE editorial_id = ? ORDER BY precio DESC</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658368">
                <a:tc>
                  <a:txBody>
                    <a:bodyPr/>
                    <a:lstStyle/>
                    <a:p>
                      <a:pPr marL="0" indent="0">
                        <a:buNone/>
                      </a:pPr>
                      <a:r>
                        <a:rPr lang="en-US" sz="1350" dirty="0">
                          <a:solidFill>
                            <a:srgbClr val="212121"/>
                          </a:solidFill>
                          <a:latin typeface="Arial" pitchFamily="34" charset="0"/>
                          <a:ea typeface="Arial" pitchFamily="34" charset="-122"/>
                          <a:cs typeface="Arial" pitchFamily="34" charset="-120"/>
                        </a:rPr>
                        <a:t>existsByTitulo(String titulo)</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igual que findByTitulo, pero devuelve boolean</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58368">
                <a:tc>
                  <a:txBody>
                    <a:bodyPr/>
                    <a:lstStyle/>
                    <a:p>
                      <a:pPr marL="0" indent="0">
                        <a:buNone/>
                      </a:pPr>
                      <a:r>
                        <a:rPr lang="en-US" sz="1350" dirty="0">
                          <a:solidFill>
                            <a:srgbClr val="212121"/>
                          </a:solidFill>
                          <a:latin typeface="Arial" pitchFamily="34" charset="0"/>
                          <a:ea typeface="Arial" pitchFamily="34" charset="-122"/>
                          <a:cs typeface="Arial" pitchFamily="34" charset="-120"/>
                        </a:rPr>
                        <a:t>countByEditorialId(Long editorialId)</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igual, pero devuelve long — cuántas filas, no cuáles</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6"/>
                  </a:ext>
                </a:extLst>
              </a:tr>
              <a:tr h="658368">
                <a:tc>
                  <a:txBody>
                    <a:bodyPr/>
                    <a:lstStyle/>
                    <a:p>
                      <a:pPr marL="0" indent="0">
                        <a:buNone/>
                      </a:pPr>
                      <a:r>
                        <a:rPr lang="en-US" sz="1350" dirty="0">
                          <a:solidFill>
                            <a:srgbClr val="212121"/>
                          </a:solidFill>
                          <a:latin typeface="Arial" pitchFamily="34" charset="0"/>
                          <a:ea typeface="Arial" pitchFamily="34" charset="-122"/>
                          <a:cs typeface="Arial" pitchFamily="34" charset="-120"/>
                        </a:rPr>
                        <a:t>deleteByEditorialId(Long editorialId)</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350" dirty="0">
                          <a:solidFill>
                            <a:srgbClr val="212121"/>
                          </a:solidFill>
                          <a:latin typeface="Arial" pitchFamily="34" charset="0"/>
                          <a:ea typeface="Arial" pitchFamily="34" charset="-122"/>
                          <a:cs typeface="Arial" pitchFamily="34" charset="-120"/>
                        </a:rPr>
                        <a:t>DELETE FROM libro WHERE editorial_id = ? — borrado masivo</a:t>
                      </a:r>
                      <a:endParaRPr lang="en-US" sz="13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Estas piezas se combinan entre sí</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Text 3"/>
          <p:cNvSpPr/>
          <p:nvPr/>
        </p:nvSpPr>
        <p:spPr>
          <a:xfrm>
            <a:off x="548640" y="2148840"/>
            <a:ext cx="11091672" cy="45720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Un nombre más largo, descompuesto:</a:t>
            </a:r>
            <a:endParaRPr lang="en-US" sz="1900" dirty="0"/>
          </a:p>
        </p:txBody>
      </p:sp>
      <p:sp>
        <p:nvSpPr>
          <p:cNvPr id="6" name="Shape 4"/>
          <p:cNvSpPr/>
          <p:nvPr/>
        </p:nvSpPr>
        <p:spPr>
          <a:xfrm>
            <a:off x="548640" y="2788920"/>
            <a:ext cx="11091672" cy="77724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788920"/>
            <a:ext cx="73152" cy="77724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2898648"/>
            <a:ext cx="10588752" cy="557784"/>
          </a:xfrm>
          <a:prstGeom prst="rect">
            <a:avLst/>
          </a:prstGeom>
          <a:noFill/>
          <a:ln/>
        </p:spPr>
        <p:txBody>
          <a:bodyPr wrap="square" rtlCol="0" anchor="t"/>
          <a:lstStyle/>
          <a:p>
            <a:pPr marL="0" indent="0">
              <a:buNone/>
            </a:pPr>
            <a:r>
              <a:rPr lang="en-US" sz="1500" dirty="0">
                <a:solidFill>
                  <a:srgbClr val="263238"/>
                </a:solidFill>
                <a:latin typeface="Courier New" pitchFamily="34" charset="0"/>
                <a:ea typeface="Courier New" pitchFamily="34" charset="-122"/>
                <a:cs typeface="Courier New" pitchFamily="34" charset="-120"/>
              </a:rPr>
              <a:t>List&lt;Libro&gt; findByTituloContainingIgnoreCaseOrderByPrecioAsc(String fragmento);</a:t>
            </a:r>
            <a:endParaRPr lang="en-US" sz="1500" dirty="0"/>
          </a:p>
        </p:txBody>
      </p:sp>
      <p:sp>
        <p:nvSpPr>
          <p:cNvPr id="9" name="Text 7"/>
          <p:cNvSpPr/>
          <p:nvPr/>
        </p:nvSpPr>
        <p:spPr>
          <a:xfrm>
            <a:off x="548640" y="3931920"/>
            <a:ext cx="11091672" cy="141732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findBy (busca) + TituloContainingIgnoreCase (el campo titulo contiene el fragmento, sin distinguir mayúsculas de minúsculas) + OrderByPrecioAsc (el resultado, ordenado por precio ascendente). Cada pieza se lee de izquierda a derecha, y cada una añade una condición o cláusula más a la consulta final.</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Un nombre mal escrito no falla al llamarlo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Shape 3"/>
          <p:cNvSpPr/>
          <p:nvPr/>
        </p:nvSpPr>
        <p:spPr>
          <a:xfrm>
            <a:off x="548640" y="1554480"/>
            <a:ext cx="11091672" cy="2743200"/>
          </a:xfrm>
          <a:prstGeom prst="roundRect">
            <a:avLst/>
          </a:prstGeom>
          <a:solidFill>
            <a:srgbClr val="FBE9E7"/>
          </a:solidFill>
          <a:ln w="22225">
            <a:solidFill>
              <a:srgbClr val="C62828"/>
            </a:solidFill>
            <a:prstDash val="solid"/>
          </a:ln>
        </p:spPr>
        <p:txBody>
          <a:bodyPr/>
          <a:lstStyle/>
          <a:p>
            <a:endParaRPr lang="es-ES"/>
          </a:p>
        </p:txBody>
      </p:sp>
      <p:sp>
        <p:nvSpPr>
          <p:cNvPr id="6" name="Text 4"/>
          <p:cNvSpPr/>
          <p:nvPr/>
        </p:nvSpPr>
        <p:spPr>
          <a:xfrm>
            <a:off x="822960" y="1664208"/>
            <a:ext cx="10543032" cy="2523744"/>
          </a:xfrm>
          <a:prstGeom prst="rect">
            <a:avLst/>
          </a:prstGeom>
          <a:noFill/>
          <a:ln/>
        </p:spPr>
        <p:txBody>
          <a:bodyPr wrap="square" rtlCol="0" anchor="t"/>
          <a:lstStyle/>
          <a:p>
            <a:pPr marL="0" indent="0">
              <a:buNone/>
            </a:pPr>
            <a:r>
              <a:rPr lang="en-US" sz="2000" b="1" dirty="0">
                <a:solidFill>
                  <a:srgbClr val="C62828"/>
                </a:solidFill>
                <a:latin typeface="Arial" pitchFamily="34" charset="0"/>
                <a:ea typeface="Arial" pitchFamily="34" charset="-122"/>
                <a:cs typeface="Arial" pitchFamily="34" charset="-120"/>
              </a:rPr>
              <a:t>⚠ Falla al arrancar la aplicación, no al usarlo
</a:t>
            </a:r>
            <a:endParaRPr lang="en-US" sz="2000" dirty="0"/>
          </a:p>
          <a:p>
            <a:pPr marL="0" indent="0">
              <a:buNone/>
            </a:pPr>
            <a:r>
              <a:rPr lang="en-US" sz="1900" dirty="0">
                <a:solidFill>
                  <a:srgbClr val="212121"/>
                </a:solidFill>
                <a:latin typeface="Arial" pitchFamily="34" charset="0"/>
                <a:ea typeface="Arial" pitchFamily="34" charset="-122"/>
                <a:cs typeface="Arial" pitchFamily="34" charset="-120"/>
              </a:rPr>
              <a:t>Spring Data JPA valida el nombre de cada método derivado contra los campos reales de la entidad al arrancar la aplicación, no la primera vez que lo llamas. Si te equivocas — por ejemplo, findByTitle en vez de findByTitulo, o findByEditorial cuando quieres filtrar por su id y falta el Id al final — la aplicación ni siquiera llega a arrancar: falla con un PropertyReferenceException que señala exactamente qué parte del nombre no ha sabido interpretar.</a:t>
            </a:r>
            <a:endParaRPr lang="en-US" sz="2000" dirty="0"/>
          </a:p>
        </p:txBody>
      </p:sp>
      <p:sp>
        <p:nvSpPr>
          <p:cNvPr id="7" name="Text 5"/>
          <p:cNvSpPr/>
          <p:nvPr/>
        </p:nvSpPr>
        <p:spPr>
          <a:xfrm>
            <a:off x="548640" y="4617720"/>
            <a:ext cx="11091672" cy="777240"/>
          </a:xfrm>
          <a:prstGeom prst="rect">
            <a:avLst/>
          </a:prstGeom>
          <a:noFill/>
          <a:ln/>
        </p:spPr>
        <p:txBody>
          <a:bodyPr wrap="square" rtlCol="0" anchor="t"/>
          <a:lstStyle/>
          <a:p>
            <a:pPr marL="0" indent="0">
              <a:buNone/>
            </a:pPr>
            <a:r>
              <a:rPr lang="en-US" sz="1800" dirty="0">
                <a:solidFill>
                  <a:srgbClr val="757575"/>
                </a:solidFill>
                <a:latin typeface="Arial" pitchFamily="34" charset="0"/>
                <a:ea typeface="Arial" pitchFamily="34" charset="-122"/>
                <a:cs typeface="Arial" pitchFamily="34" charset="-120"/>
              </a:rPr>
              <a:t>Es una de las pocas veces en que un error de "nombre mal escrito" se detecta antes de ejecutar nada, no en mitad de una petición real.</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Ideas clave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Text 3"/>
          <p:cNvSpPr/>
          <p:nvPr/>
        </p:nvSpPr>
        <p:spPr>
          <a:xfrm>
            <a:off x="548640" y="2286000"/>
            <a:ext cx="11091672" cy="4023360"/>
          </a:xfrm>
          <a:prstGeom prst="rect">
            <a:avLst/>
          </a:prstGeom>
          <a:noFill/>
          <a:ln/>
        </p:spPr>
        <p:txBody>
          <a:bodyPr wrap="square" rtlCol="0" anchor="t"/>
          <a:lstStyle/>
          <a:p>
            <a:pPr marL="190500" indent="-190500">
              <a:spcAft>
                <a:spcPts val="2000"/>
              </a:spcAft>
              <a:buSzPct val="100000"/>
              <a:buChar char="•"/>
            </a:pPr>
            <a:r>
              <a:rPr lang="en-US" sz="1900" dirty="0">
                <a:solidFill>
                  <a:srgbClr val="212121"/>
                </a:solidFill>
                <a:latin typeface="Arial" pitchFamily="34" charset="0"/>
                <a:ea typeface="Arial" pitchFamily="34" charset="-122"/>
                <a:cs typeface="Arial" pitchFamily="34" charset="-120"/>
              </a:rPr>
              <a:t>Un procedimiento almacenado es código con lógica que vive y se ejecuta dentro del gestor de base de datos, no en la aplicación.</a:t>
            </a:r>
            <a:endParaRPr lang="en-US" sz="1900" dirty="0"/>
          </a:p>
          <a:p>
            <a:pPr marL="190500" indent="-190500">
              <a:spcAft>
                <a:spcPts val="2000"/>
              </a:spcAft>
              <a:buSzPct val="100000"/>
              <a:buChar char="•"/>
            </a:pPr>
            <a:r>
              <a:rPr lang="en-US" sz="1900" dirty="0">
                <a:solidFill>
                  <a:srgbClr val="212121"/>
                </a:solidFill>
                <a:latin typeface="Arial" pitchFamily="34" charset="0"/>
                <a:ea typeface="Arial" pitchFamily="34" charset="-122"/>
                <a:cs typeface="Arial" pitchFamily="34" charset="-120"/>
              </a:rPr>
              <a:t>PostgreSQL usa PL/pgSQL como lenguaje procedural; un procedimiento se invoca con CALL, una función se puede usar dentro de un SELECT.</a:t>
            </a:r>
            <a:endParaRPr lang="en-US" sz="1900" dirty="0"/>
          </a:p>
          <a:p>
            <a:pPr marL="190500" indent="-190500">
              <a:spcAft>
                <a:spcPts val="2000"/>
              </a:spcAft>
              <a:buSzPct val="100000"/>
              <a:buChar char="•"/>
            </a:pPr>
            <a:r>
              <a:rPr lang="en-US" sz="1900" dirty="0">
                <a:solidFill>
                  <a:srgbClr val="212121"/>
                </a:solidFill>
                <a:latin typeface="Arial" pitchFamily="34" charset="0"/>
                <a:ea typeface="Arial" pitchFamily="34" charset="-122"/>
                <a:cs typeface="Arial" pitchFamily="34" charset="-120"/>
              </a:rPr>
              <a:t>Sus parámetros se pasan por posición y son de entrada (IN) por defecto — invertir el orden al invocarlo no da error, asigna mal los valores.</a:t>
            </a:r>
            <a:endParaRPr lang="en-US" sz="1900" dirty="0"/>
          </a:p>
          <a:p>
            <a:pPr marL="190500" indent="-190500">
              <a:spcAft>
                <a:spcPts val="2000"/>
              </a:spcAft>
              <a:buSzPct val="100000"/>
              <a:buChar char="•"/>
            </a:pPr>
            <a:r>
              <a:rPr lang="en-US" sz="1900" dirty="0">
                <a:solidFill>
                  <a:srgbClr val="212121"/>
                </a:solidFill>
                <a:latin typeface="Arial" pitchFamily="34" charset="0"/>
                <a:ea typeface="Arial" pitchFamily="34" charset="-122"/>
                <a:cs typeface="Arial" pitchFamily="34" charset="-120"/>
              </a:rPr>
              <a:t>Un procedimiento permite ejecutar una operación dentro de la propia base de datos, sin cargar y recorrer filas una a una desde Java.</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Ideas clave (cont.)</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Tema 1: Procedimientos almacenados</a:t>
            </a:r>
            <a:endParaRPr lang="en-US" sz="1100" dirty="0"/>
          </a:p>
        </p:txBody>
      </p:sp>
      <p:sp>
        <p:nvSpPr>
          <p:cNvPr id="5" name="Text 3"/>
          <p:cNvSpPr/>
          <p:nvPr/>
        </p:nvSpPr>
        <p:spPr>
          <a:xfrm>
            <a:off x="548640" y="2651760"/>
            <a:ext cx="11091672" cy="3291840"/>
          </a:xfrm>
          <a:prstGeom prst="rect">
            <a:avLst/>
          </a:prstGeom>
          <a:noFill/>
          <a:ln/>
        </p:spPr>
        <p:txBody>
          <a:bodyPr wrap="square" rtlCol="0" anchor="t"/>
          <a:lstStyle/>
          <a:p>
            <a:pPr marL="190500" indent="-190500">
              <a:spcAft>
                <a:spcPts val="2200"/>
              </a:spcAft>
              <a:buSzPct val="100000"/>
              <a:buChar char="•"/>
            </a:pPr>
            <a:r>
              <a:rPr lang="en-US" sz="2000" dirty="0">
                <a:solidFill>
                  <a:srgbClr val="212121"/>
                </a:solidFill>
                <a:latin typeface="Arial" pitchFamily="34" charset="0"/>
                <a:ea typeface="Arial" pitchFamily="34" charset="-122"/>
                <a:cs typeface="Arial" pitchFamily="34" charset="-120"/>
              </a:rPr>
              <a:t>JdbcTemplate es el ayudante de Spring sobre JDBC puro — invoca procedimientos con parámetros seguros, sin la fontanería manual de abrir/cerrar recursos.</a:t>
            </a:r>
            <a:endParaRPr lang="en-US" sz="2000" dirty="0"/>
          </a:p>
          <a:p>
            <a:pPr marL="190500" indent="-190500">
              <a:spcAft>
                <a:spcPts val="2200"/>
              </a:spcAft>
              <a:buSzPct val="100000"/>
              <a:buChar char="•"/>
            </a:pPr>
            <a:r>
              <a:rPr lang="en-US" sz="2000" dirty="0">
                <a:solidFill>
                  <a:srgbClr val="212121"/>
                </a:solidFill>
                <a:latin typeface="Arial" pitchFamily="34" charset="0"/>
                <a:ea typeface="Arial" pitchFamily="34" charset="-122"/>
                <a:cs typeface="Arial" pitchFamily="34" charset="-120"/>
              </a:rPr>
              <a:t>Se inyecta como cualquier otro bean, junto a los repositorios de Spring Data JPA — ambos enfoques conviven en el mismo service.</a:t>
            </a:r>
            <a:endParaRPr lang="en-US" sz="2000" dirty="0"/>
          </a:p>
          <a:p>
            <a:pPr marL="190500" indent="-190500">
              <a:spcAft>
                <a:spcPts val="2200"/>
              </a:spcAft>
              <a:buSzPct val="100000"/>
              <a:buChar char="•"/>
            </a:pPr>
            <a:r>
              <a:rPr lang="en-US" sz="2000" dirty="0">
                <a:solidFill>
                  <a:srgbClr val="212121"/>
                </a:solidFill>
                <a:latin typeface="Arial" pitchFamily="34" charset="0"/>
                <a:ea typeface="Arial" pitchFamily="34" charset="-122"/>
                <a:cs typeface="Arial" pitchFamily="34" charset="-120"/>
              </a:rPr>
              <a:t>Las consultas derivadas por nombre generan SQL sin que escribas ninguna consulta — pero un nombre mal escrito falla al arrancar la aplicación, no al llamarlo.</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2222</Words>
  <Application>Microsoft Office PowerPoint</Application>
  <PresentationFormat>Panorámica</PresentationFormat>
  <Paragraphs>196</Paragraphs>
  <Slides>26</Slides>
  <Notes>26</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26</vt:i4>
      </vt:variant>
    </vt:vector>
  </HeadingPairs>
  <TitlesOfParts>
    <vt:vector size="29" baseType="lpstr">
      <vt:lpstr>Arial</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Procedimientos almacenados</dc:title>
  <dc:subject>PptxGenJS Presentation</dc:subject>
  <dc:creator>Acceso a Datos</dc:creator>
  <cp:lastModifiedBy>VENTURA EDO, AITOR</cp:lastModifiedBy>
  <cp:revision>2</cp:revision>
  <dcterms:created xsi:type="dcterms:W3CDTF">2026-08-05T22:34:31Z</dcterms:created>
  <dcterms:modified xsi:type="dcterms:W3CDTF">2026-08-07T13:56:18Z</dcterms:modified>
</cp:coreProperties>
</file>