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068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E0A8A8"/>
                </a:solidFill>
                <a:latin typeface="Arial" pitchFamily="34" charset="0"/>
                <a:ea typeface="Arial" pitchFamily="34" charset="-122"/>
                <a:cs typeface="Arial" pitchFamily="34" charset="-120"/>
              </a:rPr>
              <a:t>ACCESO A DATOS  —  TEMA 4: PROGRAMACIÓN DE COMPONENTES DE ACCESO A DATOS</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000" b="1" dirty="0">
                <a:solidFill>
                  <a:srgbClr val="FFFFFF"/>
                </a:solidFill>
                <a:latin typeface="Arial" pitchFamily="34" charset="0"/>
                <a:ea typeface="Arial" pitchFamily="34" charset="-122"/>
                <a:cs typeface="Arial" pitchFamily="34" charset="-120"/>
              </a:rPr>
              <a:t>Integración</a:t>
            </a:r>
            <a:endParaRPr lang="en-US" sz="4000" dirty="0"/>
          </a:p>
          <a:p>
            <a:pPr marL="0" indent="0" algn="l">
              <a:buNone/>
            </a:pPr>
            <a:r>
              <a:rPr lang="en-US" sz="4000" b="1" dirty="0">
                <a:solidFill>
                  <a:srgbClr val="FFFFFF"/>
                </a:solidFill>
                <a:latin typeface="Arial" pitchFamily="34" charset="0"/>
                <a:ea typeface="Arial" pitchFamily="34" charset="-122"/>
                <a:cs typeface="Arial" pitchFamily="34" charset="-120"/>
              </a:rPr>
              <a:t>y pruebas</a:t>
            </a:r>
            <a:endParaRPr lang="en-US" sz="40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2. Integración y pruebas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Integración y pruebas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Shape 3"/>
          <p:cNvSpPr/>
          <p:nvPr/>
        </p:nvSpPr>
        <p:spPr>
          <a:xfrm>
            <a:off x="548640" y="283464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926080"/>
            <a:ext cx="10543032" cy="155448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Último apartado del módulo. Responde a la pregunta que da sentido a todo lo anterior: ¿cómo sabes que tus componentes, diseñados por separado, funcionan bien juntos?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Probar un componente aislado — repaso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Text 3"/>
          <p:cNvSpPr/>
          <p:nvPr/>
        </p:nvSpPr>
        <p:spPr>
          <a:xfrm>
            <a:off x="548640" y="1143000"/>
            <a:ext cx="11091672" cy="50292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Ya has construido este tipo de test en la Actividad 4.1, con el mismo patrón visto en la teoría de "Componentes":</a:t>
            </a:r>
            <a:endParaRPr lang="en-US" sz="1800" dirty="0"/>
          </a:p>
        </p:txBody>
      </p:sp>
      <p:sp>
        <p:nvSpPr>
          <p:cNvPr id="6" name="Shape 4"/>
          <p:cNvSpPr/>
          <p:nvPr/>
        </p:nvSpPr>
        <p:spPr>
          <a:xfrm>
            <a:off x="548640" y="1783080"/>
            <a:ext cx="11091672" cy="310896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1783080"/>
            <a:ext cx="73152" cy="310896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1892808"/>
            <a:ext cx="10588752" cy="2660904"/>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@ExtendWith(MockitoExtension.class)</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class LibroConsultaServiceImplTest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@Mock</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private LibroRepository libroRepository;</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@InjectMocks</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private LibroConsultaServiceImpl libroConsultaService;</a:t>
            </a:r>
            <a:endParaRPr lang="en-US" sz="1400" dirty="0"/>
          </a:p>
          <a:p>
            <a:pPr marL="0" indent="0">
              <a:buNone/>
            </a:pP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@Test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void existeLibro_DebeDevolverTrue_CuandoExiste()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when(libroRepository.existsById(1L)).thenReturn(true);</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assertTrue(libroConsultaService.existeLibro(1L));</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a:t>
            </a:r>
            <a:endParaRPr lang="en-US" sz="1400" dirty="0"/>
          </a:p>
        </p:txBody>
      </p:sp>
      <p:sp>
        <p:nvSpPr>
          <p:cNvPr id="9" name="Text 7"/>
          <p:cNvSpPr/>
          <p:nvPr/>
        </p:nvSpPr>
        <p:spPr>
          <a:xfrm>
            <a:off x="550164" y="5184648"/>
            <a:ext cx="11091672" cy="64008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Un test aislado con mocks prueba la lógica interna de un componente, sin ninguna base de datos real de por medio — rapidísimo, perfecto para verificar el comportamiento de una pieza concreta.</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Un mock no miente, pero puede estar equivocado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Text 3"/>
          <p:cNvSpPr/>
          <p:nvPr/>
        </p:nvSpPr>
        <p:spPr>
          <a:xfrm>
            <a:off x="548640" y="1188720"/>
            <a:ext cx="11091672" cy="105156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Cuando escribes when(libroRepository.existsById(1L)).thenReturn(true), ese valor lo has puesto tú a mano — el test no ha comprobado que LibroRepository se comporte así de verdad, solo que tu código reacciona bien si se comporta así.</a:t>
            </a:r>
            <a:endParaRPr lang="en-US" sz="1900" dirty="0"/>
          </a:p>
        </p:txBody>
      </p:sp>
      <p:sp>
        <p:nvSpPr>
          <p:cNvPr id="6" name="Text 4"/>
          <p:cNvSpPr/>
          <p:nvPr/>
        </p:nvSpPr>
        <p:spPr>
          <a:xfrm>
            <a:off x="548640" y="2514600"/>
            <a:ext cx="11091672" cy="160020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Piensa en el borrado en cascada: al borrar un Libro, el catálogo publica un evento que RabbitMQ enruta hacia una cola y un listener asíncrono termina llamando a deleteByLibroId sobre NotaLecturaRepository. Un test aislado, con mocks, podría comprobar "si me llega el evento, borro las notas correctamente" — pero nunca demuestra que el evento llega.</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Antes de seguir, predícelo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Shape 3"/>
          <p:cNvSpPr/>
          <p:nvPr/>
        </p:nvSpPr>
        <p:spPr>
          <a:xfrm>
            <a:off x="548640" y="1234440"/>
            <a:ext cx="11091672" cy="228600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1325880"/>
            <a:ext cx="10543032" cy="210312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Tu proyecto tiene, sobre el mismo exchange, dos colas independientes escuchando el borrado de un videojuego: la del registro de actividad (todas las videojuego.*) y la del borrado en cascada de reseñas (solo videojuego.eliminado). Imagina que, sin querer, dejas la segunda cola enlazada a la routing key equivocada — videojuego.actualizado en vez de videojuego.eliminado. ¿Lo detectaría un test aislado (con mocks)? ¿Y un test de integración con RabbitMQ real?</a:t>
            </a:r>
            <a:endParaRPr lang="en-US" sz="1800" dirty="0"/>
          </a:p>
        </p:txBody>
      </p:sp>
      <p:sp>
        <p:nvSpPr>
          <p:cNvPr id="7" name="Text 5"/>
          <p:cNvSpPr/>
          <p:nvPr/>
        </p:nvSpPr>
        <p:spPr>
          <a:xfrm>
            <a:off x="548640" y="3794760"/>
            <a:ext cx="11091672" cy="457200"/>
          </a:xfrm>
          <a:prstGeom prst="rect">
            <a:avLst/>
          </a:prstGeom>
          <a:noFill/>
          <a:ln/>
        </p:spPr>
        <p:txBody>
          <a:bodyPr wrap="square" rtlCol="0" anchor="t"/>
          <a:lstStyle/>
          <a:p>
            <a:pPr marL="0" indent="0">
              <a:buNone/>
            </a:pPr>
            <a:r>
              <a:rPr lang="en-US" sz="1500" i="1" dirty="0">
                <a:solidFill>
                  <a:srgbClr val="757575"/>
                </a:solidFill>
                <a:latin typeface="Arial" pitchFamily="34" charset="0"/>
                <a:ea typeface="Arial" pitchFamily="34" charset="-122"/>
                <a:cs typeface="Arial" pitchFamily="34" charset="-120"/>
              </a:rPr>
              <a:t>Razona tu respuesta antes de seguir — la solución está en la siguiente diapositiva.</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Comprueba tu respuesta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Shape 3"/>
          <p:cNvSpPr/>
          <p:nvPr/>
        </p:nvSpPr>
        <p:spPr>
          <a:xfrm>
            <a:off x="548640" y="2468880"/>
            <a:ext cx="11091672" cy="19202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560320"/>
            <a:ext cx="10543032" cy="173736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El test aislado NO lo detectaría — sigue probando "si me llega el evento, borro bien", y eres tú quien decide a mano que le llega. El test de integración SÍ: publicas el evento de borrado de verdad, y el listener nunca se dispara, porque su binding real no coincide con la routing key que se publica. Es exactamente el tipo de error de configuración que solo un RabbitMQ real puede delatar.</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test de integración usa infraestructuras reales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Text 3"/>
          <p:cNvSpPr/>
          <p:nvPr/>
        </p:nvSpPr>
        <p:spPr>
          <a:xfrm>
            <a:off x="548640" y="1143000"/>
            <a:ext cx="11091672" cy="123444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El test de integración de este flujo utiliza las infraestructuras reales que participan en lo que quiere comprobar, levantadas temporalmente con Testcontainers. Sobre el ejemplo de Libro, eso significa tres motores a la vez: PostgreSQL (catálogo), MongoDB (notas de lectura) y RabbitMQ (la cadena de eventos):</a:t>
            </a:r>
            <a:endParaRPr lang="en-US" sz="1800" dirty="0"/>
          </a:p>
        </p:txBody>
      </p:sp>
      <p:sp>
        <p:nvSpPr>
          <p:cNvPr id="6" name="Shape 4"/>
          <p:cNvSpPr/>
          <p:nvPr/>
        </p:nvSpPr>
        <p:spPr>
          <a:xfrm>
            <a:off x="548640" y="2606040"/>
            <a:ext cx="11091672" cy="269748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606040"/>
            <a:ext cx="73152" cy="269748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715768"/>
            <a:ext cx="10588752" cy="2478024"/>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@Testcontainers</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class LibroFlujoCompletoIntegrationTest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@Container @ServiceConnection</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static PostgreSQLContainer&lt;?&gt; postgres = new PostgreSQLContainer&lt;&gt;("postgres:16-alpine");</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@Container @ServiceConnection</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static MongoDBContainer mongodb = new MongoDBContainer("mongo:8");</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@Container @ServiceConnection</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static RabbitMQContainer rabbitmq = new RabbitMQContainer("rabbitmq:4-management");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Por qué Redis se queda fuera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Text 3"/>
          <p:cNvSpPr/>
          <p:nvPr/>
        </p:nvSpPr>
        <p:spPr>
          <a:xfrm>
            <a:off x="548640" y="1188720"/>
            <a:ext cx="11091672" cy="100584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Redis no aparece en este test porque la caché está deshabilitada en el perfil test, como decidiste en PSP: aquí no estás comprobando el comportamiento de la caché, sino la integración catálogo → mensajería → reseñas.</a:t>
            </a:r>
            <a:endParaRPr lang="en-US" sz="1900" dirty="0"/>
          </a:p>
        </p:txBody>
      </p:sp>
      <p:sp>
        <p:nvSpPr>
          <p:cNvPr id="6" name="Text 4"/>
          <p:cNvSpPr/>
          <p:nvPr/>
        </p:nvSpPr>
        <p:spPr>
          <a:xfrm>
            <a:off x="548640" y="2468880"/>
            <a:ext cx="11091672" cy="155448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Los tres contenedores son los servicios reales del docker-compose.yml de este proyecto de ejemplo, arrancados solo para este test. Este es el ejemplo definitivo de "probar la integración de componentes reales, no mockeados": que el catálogo, las notas de lectura y el borrado en cascada — construidos por separado, en temas distintos — funcionen correctamente juntos, en la aplicación completa.</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En tu proyecto no partes de cero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Shape 3"/>
          <p:cNvSpPr/>
          <p:nvPr/>
        </p:nvSpPr>
        <p:spPr>
          <a:xfrm>
            <a:off x="548640" y="2377440"/>
            <a:ext cx="11091672" cy="19202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468880"/>
            <a:ext cx="10543032" cy="173736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No vas a crear una clase nueva desde cero en la Actividad 4.3: tu VideojuegoApiIntegrationTest (Actividad 2.3) ya levanta PostgreSQL desde el principio, y ya has ido añadiendo MongoDB y RabbitMQ a esa misma clase en actividades posteriores. En la 4.3 amplías ese test con el flujo que todavía falta (reseñas y borrado en cascada), no lo repites.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pirámide de tests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Text 3"/>
          <p:cNvSpPr/>
          <p:nvPr/>
        </p:nvSpPr>
        <p:spPr>
          <a:xfrm>
            <a:off x="548640" y="1143000"/>
            <a:ext cx="11091672" cy="914400"/>
          </a:xfrm>
          <a:prstGeom prst="rect">
            <a:avLst/>
          </a:prstGeom>
          <a:noFill/>
          <a:ln/>
        </p:spPr>
        <p:txBody>
          <a:bodyPr wrap="square" rtlCol="0" anchor="t"/>
          <a:lstStyle/>
          <a:p>
            <a:pPr marL="0" indent="0">
              <a:buNone/>
            </a:pPr>
            <a:r>
              <a:rPr lang="en-US" sz="1700" dirty="0">
                <a:solidFill>
                  <a:srgbClr val="212121"/>
                </a:solidFill>
                <a:latin typeface="Arial" pitchFamily="34" charset="0"/>
                <a:ea typeface="Arial" pitchFamily="34" charset="-122"/>
                <a:cs typeface="Arial" pitchFamily="34" charset="-120"/>
              </a:rPr>
              <a:t>No es casualidad que tu proyecto tenga muchos tests aislados y solo un puñado de tests de integración. Cuantos más motores reales levanta un test, más lento y más caro es de mantener, así que conviene tener pocos de esos y muchos del tipo barato y rápido:</a:t>
            </a:r>
            <a:endParaRPr lang="en-US" sz="1700" dirty="0"/>
          </a:p>
        </p:txBody>
      </p:sp>
      <p:sp>
        <p:nvSpPr>
          <p:cNvPr id="6" name="Shape 4"/>
          <p:cNvSpPr/>
          <p:nvPr/>
        </p:nvSpPr>
        <p:spPr>
          <a:xfrm>
            <a:off x="548640" y="2286000"/>
            <a:ext cx="11091672" cy="457200"/>
          </a:xfrm>
          <a:prstGeom prst="rect">
            <a:avLst/>
          </a:prstGeom>
          <a:solidFill>
            <a:srgbClr val="C62828"/>
          </a:solidFill>
          <a:ln w="12700">
            <a:solidFill>
              <a:srgbClr val="C62828"/>
            </a:solidFill>
            <a:prstDash val="solid"/>
          </a:ln>
        </p:spPr>
        <p:txBody>
          <a:bodyPr/>
          <a:lstStyle/>
          <a:p>
            <a:endParaRPr lang="es-ES"/>
          </a:p>
        </p:txBody>
      </p:sp>
      <p:sp>
        <p:nvSpPr>
          <p:cNvPr id="7" name="Text 5"/>
          <p:cNvSpPr/>
          <p:nvPr/>
        </p:nvSpPr>
        <p:spPr>
          <a:xfrm>
            <a:off x="731520" y="2286000"/>
            <a:ext cx="10725912" cy="45720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 Testcontainers · pocos · lentos · levantan Docker de verdad</a:t>
            </a:r>
            <a:endParaRPr lang="en-US" sz="1800" dirty="0"/>
          </a:p>
        </p:txBody>
      </p:sp>
      <p:sp>
        <p:nvSpPr>
          <p:cNvPr id="8" name="Shape 6"/>
          <p:cNvSpPr/>
          <p:nvPr/>
        </p:nvSpPr>
        <p:spPr>
          <a:xfrm>
            <a:off x="548640" y="2852928"/>
            <a:ext cx="11091672" cy="640080"/>
          </a:xfrm>
          <a:prstGeom prst="roundRect">
            <a:avLst/>
          </a:prstGeom>
          <a:solidFill>
            <a:srgbClr val="FBEAEA"/>
          </a:solidFill>
          <a:ln w="15875">
            <a:solidFill>
              <a:srgbClr val="C62828"/>
            </a:solidFill>
            <a:prstDash val="solid"/>
          </a:ln>
        </p:spPr>
        <p:txBody>
          <a:bodyPr/>
          <a:lstStyle/>
          <a:p>
            <a:endParaRPr lang="es-ES"/>
          </a:p>
        </p:txBody>
      </p:sp>
      <p:sp>
        <p:nvSpPr>
          <p:cNvPr id="9" name="Text 7"/>
          <p:cNvSpPr/>
          <p:nvPr/>
        </p:nvSpPr>
        <p:spPr>
          <a:xfrm>
            <a:off x="594360" y="2898648"/>
            <a:ext cx="11000232" cy="54864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VideojuegoApiIntegrationTest</a:t>
            </a:r>
            <a:endParaRPr lang="en-US" sz="1600" dirty="0"/>
          </a:p>
        </p:txBody>
      </p:sp>
      <p:sp>
        <p:nvSpPr>
          <p:cNvPr id="10" name="Shape 8"/>
          <p:cNvSpPr/>
          <p:nvPr/>
        </p:nvSpPr>
        <p:spPr>
          <a:xfrm>
            <a:off x="6094476" y="3694176"/>
            <a:ext cx="914" cy="146304"/>
          </a:xfrm>
          <a:prstGeom prst="line">
            <a:avLst/>
          </a:prstGeom>
          <a:noFill/>
          <a:ln w="15875">
            <a:solidFill>
              <a:srgbClr val="C62828"/>
            </a:solidFill>
            <a:prstDash val="solid"/>
          </a:ln>
        </p:spPr>
        <p:txBody>
          <a:bodyPr/>
          <a:lstStyle/>
          <a:p>
            <a:endParaRPr lang="es-ES"/>
          </a:p>
        </p:txBody>
      </p:sp>
      <p:sp>
        <p:nvSpPr>
          <p:cNvPr id="11" name="Shape 9"/>
          <p:cNvSpPr/>
          <p:nvPr/>
        </p:nvSpPr>
        <p:spPr>
          <a:xfrm>
            <a:off x="548640" y="3895344"/>
            <a:ext cx="11091672" cy="457200"/>
          </a:xfrm>
          <a:prstGeom prst="rect">
            <a:avLst/>
          </a:prstGeom>
          <a:solidFill>
            <a:srgbClr val="C62828"/>
          </a:solidFill>
          <a:ln w="12700">
            <a:solidFill>
              <a:srgbClr val="C62828"/>
            </a:solidFill>
            <a:prstDash val="solid"/>
          </a:ln>
        </p:spPr>
        <p:txBody>
          <a:bodyPr/>
          <a:lstStyle/>
          <a:p>
            <a:endParaRPr lang="es-ES"/>
          </a:p>
        </p:txBody>
      </p:sp>
      <p:sp>
        <p:nvSpPr>
          <p:cNvPr id="12" name="Text 10"/>
          <p:cNvSpPr/>
          <p:nvPr/>
        </p:nvSpPr>
        <p:spPr>
          <a:xfrm>
            <a:off x="731520" y="3895344"/>
            <a:ext cx="10725912" cy="45720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 Mockito (aislados) · muchos · rapidísimos · sin BD real</a:t>
            </a:r>
            <a:endParaRPr lang="en-US" sz="1800" dirty="0"/>
          </a:p>
        </p:txBody>
      </p:sp>
      <p:sp>
        <p:nvSpPr>
          <p:cNvPr id="13" name="Shape 11"/>
          <p:cNvSpPr/>
          <p:nvPr/>
        </p:nvSpPr>
        <p:spPr>
          <a:xfrm>
            <a:off x="548640" y="4462272"/>
            <a:ext cx="1889150" cy="685800"/>
          </a:xfrm>
          <a:prstGeom prst="roundRect">
            <a:avLst/>
          </a:prstGeom>
          <a:solidFill>
            <a:srgbClr val="FBEAEA"/>
          </a:solidFill>
          <a:ln w="15875">
            <a:solidFill>
              <a:srgbClr val="C62828"/>
            </a:solidFill>
            <a:prstDash val="solid"/>
          </a:ln>
        </p:spPr>
        <p:txBody>
          <a:bodyPr/>
          <a:lstStyle/>
          <a:p>
            <a:endParaRPr lang="es-ES"/>
          </a:p>
        </p:txBody>
      </p:sp>
      <p:sp>
        <p:nvSpPr>
          <p:cNvPr id="14" name="Text 12"/>
          <p:cNvSpPr/>
          <p:nvPr/>
        </p:nvSpPr>
        <p:spPr>
          <a:xfrm>
            <a:off x="594360" y="4507992"/>
            <a:ext cx="1797710" cy="594360"/>
          </a:xfrm>
          <a:prstGeom prst="rect">
            <a:avLst/>
          </a:prstGeom>
          <a:noFill/>
          <a:ln/>
        </p:spPr>
        <p:txBody>
          <a:bodyPr wrap="square" rtlCol="0" anchor="ctr"/>
          <a:lstStyle/>
          <a:p>
            <a:pPr marL="0" indent="0" algn="ctr">
              <a:buNone/>
            </a:pPr>
            <a:r>
              <a:rPr lang="en-US" sz="1250" dirty="0">
                <a:solidFill>
                  <a:srgbClr val="212121"/>
                </a:solidFill>
                <a:latin typeface="Arial" pitchFamily="34" charset="0"/>
                <a:ea typeface="Arial" pitchFamily="34" charset="-122"/>
                <a:cs typeface="Arial" pitchFamily="34" charset="-120"/>
              </a:rPr>
              <a:t>CatalogoConsultaServiceImplTest</a:t>
            </a:r>
            <a:endParaRPr lang="en-US" sz="1250" dirty="0"/>
          </a:p>
        </p:txBody>
      </p:sp>
      <p:sp>
        <p:nvSpPr>
          <p:cNvPr id="15" name="Shape 13"/>
          <p:cNvSpPr/>
          <p:nvPr/>
        </p:nvSpPr>
        <p:spPr>
          <a:xfrm>
            <a:off x="2849270" y="4462272"/>
            <a:ext cx="1889150" cy="685800"/>
          </a:xfrm>
          <a:prstGeom prst="roundRect">
            <a:avLst/>
          </a:prstGeom>
          <a:solidFill>
            <a:srgbClr val="FBEAEA"/>
          </a:solidFill>
          <a:ln w="15875">
            <a:solidFill>
              <a:srgbClr val="C62828"/>
            </a:solidFill>
            <a:prstDash val="solid"/>
          </a:ln>
        </p:spPr>
        <p:txBody>
          <a:bodyPr/>
          <a:lstStyle/>
          <a:p>
            <a:endParaRPr lang="es-ES"/>
          </a:p>
        </p:txBody>
      </p:sp>
      <p:sp>
        <p:nvSpPr>
          <p:cNvPr id="16" name="Text 14"/>
          <p:cNvSpPr/>
          <p:nvPr/>
        </p:nvSpPr>
        <p:spPr>
          <a:xfrm>
            <a:off x="2894990" y="4507992"/>
            <a:ext cx="1797710" cy="594360"/>
          </a:xfrm>
          <a:prstGeom prst="rect">
            <a:avLst/>
          </a:prstGeom>
          <a:noFill/>
          <a:ln/>
        </p:spPr>
        <p:txBody>
          <a:bodyPr wrap="square" rtlCol="0" anchor="ctr"/>
          <a:lstStyle/>
          <a:p>
            <a:pPr marL="0" indent="0" algn="ctr">
              <a:buNone/>
            </a:pPr>
            <a:r>
              <a:rPr lang="en-US" sz="1250" dirty="0">
                <a:solidFill>
                  <a:srgbClr val="212121"/>
                </a:solidFill>
                <a:latin typeface="Arial" pitchFamily="34" charset="0"/>
                <a:ea typeface="Arial" pitchFamily="34" charset="-122"/>
                <a:cs typeface="Arial" pitchFamily="34" charset="-120"/>
              </a:rPr>
              <a:t>ReviewsConsultaServiceImplTest</a:t>
            </a:r>
            <a:endParaRPr lang="en-US" sz="1250" dirty="0"/>
          </a:p>
        </p:txBody>
      </p:sp>
      <p:sp>
        <p:nvSpPr>
          <p:cNvPr id="17" name="Shape 15"/>
          <p:cNvSpPr/>
          <p:nvPr/>
        </p:nvSpPr>
        <p:spPr>
          <a:xfrm>
            <a:off x="5149901" y="4462272"/>
            <a:ext cx="1889150" cy="685800"/>
          </a:xfrm>
          <a:prstGeom prst="roundRect">
            <a:avLst/>
          </a:prstGeom>
          <a:solidFill>
            <a:srgbClr val="FBEAEA"/>
          </a:solidFill>
          <a:ln w="15875">
            <a:solidFill>
              <a:srgbClr val="C62828"/>
            </a:solidFill>
            <a:prstDash val="solid"/>
          </a:ln>
        </p:spPr>
        <p:txBody>
          <a:bodyPr/>
          <a:lstStyle/>
          <a:p>
            <a:endParaRPr lang="es-ES"/>
          </a:p>
        </p:txBody>
      </p:sp>
      <p:sp>
        <p:nvSpPr>
          <p:cNvPr id="18" name="Text 16"/>
          <p:cNvSpPr/>
          <p:nvPr/>
        </p:nvSpPr>
        <p:spPr>
          <a:xfrm>
            <a:off x="5195621" y="4507992"/>
            <a:ext cx="1797710" cy="594360"/>
          </a:xfrm>
          <a:prstGeom prst="rect">
            <a:avLst/>
          </a:prstGeom>
          <a:noFill/>
          <a:ln/>
        </p:spPr>
        <p:txBody>
          <a:bodyPr wrap="square" rtlCol="0" anchor="ctr"/>
          <a:lstStyle/>
          <a:p>
            <a:pPr marL="0" indent="0" algn="ctr">
              <a:buNone/>
            </a:pPr>
            <a:r>
              <a:rPr lang="en-US" sz="1250" dirty="0">
                <a:solidFill>
                  <a:srgbClr val="212121"/>
                </a:solidFill>
                <a:latin typeface="Arial" pitchFamily="34" charset="0"/>
                <a:ea typeface="Arial" pitchFamily="34" charset="-122"/>
                <a:cs typeface="Arial" pitchFamily="34" charset="-120"/>
              </a:rPr>
              <a:t>...</a:t>
            </a:r>
            <a:endParaRPr lang="en-US" sz="1250" dirty="0"/>
          </a:p>
        </p:txBody>
      </p:sp>
      <p:sp>
        <p:nvSpPr>
          <p:cNvPr id="19" name="Shape 17"/>
          <p:cNvSpPr/>
          <p:nvPr/>
        </p:nvSpPr>
        <p:spPr>
          <a:xfrm>
            <a:off x="7450531" y="4462272"/>
            <a:ext cx="1889150" cy="685800"/>
          </a:xfrm>
          <a:prstGeom prst="roundRect">
            <a:avLst/>
          </a:prstGeom>
          <a:solidFill>
            <a:srgbClr val="FBEAEA"/>
          </a:solidFill>
          <a:ln w="15875">
            <a:solidFill>
              <a:srgbClr val="C62828"/>
            </a:solidFill>
            <a:prstDash val="solid"/>
          </a:ln>
        </p:spPr>
        <p:txBody>
          <a:bodyPr/>
          <a:lstStyle/>
          <a:p>
            <a:endParaRPr lang="es-ES"/>
          </a:p>
        </p:txBody>
      </p:sp>
      <p:sp>
        <p:nvSpPr>
          <p:cNvPr id="20" name="Text 18"/>
          <p:cNvSpPr/>
          <p:nvPr/>
        </p:nvSpPr>
        <p:spPr>
          <a:xfrm>
            <a:off x="7496251" y="4507992"/>
            <a:ext cx="1797710" cy="594360"/>
          </a:xfrm>
          <a:prstGeom prst="rect">
            <a:avLst/>
          </a:prstGeom>
          <a:noFill/>
          <a:ln/>
        </p:spPr>
        <p:txBody>
          <a:bodyPr wrap="square" rtlCol="0" anchor="ctr"/>
          <a:lstStyle/>
          <a:p>
            <a:pPr marL="0" indent="0" algn="ctr">
              <a:buNone/>
            </a:pPr>
            <a:r>
              <a:rPr lang="en-US" sz="1250" dirty="0">
                <a:solidFill>
                  <a:srgbClr val="212121"/>
                </a:solidFill>
                <a:latin typeface="Arial" pitchFamily="34" charset="0"/>
                <a:ea typeface="Arial" pitchFamily="34" charset="-122"/>
                <a:cs typeface="Arial" pitchFamily="34" charset="-120"/>
              </a:rPr>
              <a:t>...</a:t>
            </a:r>
            <a:endParaRPr lang="en-US" sz="1250" dirty="0"/>
          </a:p>
        </p:txBody>
      </p:sp>
      <p:sp>
        <p:nvSpPr>
          <p:cNvPr id="21" name="Shape 19"/>
          <p:cNvSpPr/>
          <p:nvPr/>
        </p:nvSpPr>
        <p:spPr>
          <a:xfrm>
            <a:off x="9751162" y="4462272"/>
            <a:ext cx="1889150" cy="685800"/>
          </a:xfrm>
          <a:prstGeom prst="roundRect">
            <a:avLst/>
          </a:prstGeom>
          <a:solidFill>
            <a:srgbClr val="FBEAEA"/>
          </a:solidFill>
          <a:ln w="15875">
            <a:solidFill>
              <a:srgbClr val="C62828"/>
            </a:solidFill>
            <a:prstDash val="solid"/>
          </a:ln>
        </p:spPr>
        <p:txBody>
          <a:bodyPr/>
          <a:lstStyle/>
          <a:p>
            <a:endParaRPr lang="es-ES"/>
          </a:p>
        </p:txBody>
      </p:sp>
      <p:sp>
        <p:nvSpPr>
          <p:cNvPr id="22" name="Text 20"/>
          <p:cNvSpPr/>
          <p:nvPr/>
        </p:nvSpPr>
        <p:spPr>
          <a:xfrm>
            <a:off x="9796882" y="4507992"/>
            <a:ext cx="1797710" cy="594360"/>
          </a:xfrm>
          <a:prstGeom prst="rect">
            <a:avLst/>
          </a:prstGeom>
          <a:noFill/>
          <a:ln/>
        </p:spPr>
        <p:txBody>
          <a:bodyPr wrap="square" rtlCol="0" anchor="ctr"/>
          <a:lstStyle/>
          <a:p>
            <a:pPr marL="0" indent="0" algn="ctr">
              <a:buNone/>
            </a:pPr>
            <a:r>
              <a:rPr lang="en-US" sz="1250" dirty="0">
                <a:solidFill>
                  <a:srgbClr val="212121"/>
                </a:solidFill>
                <a:latin typeface="Arial" pitchFamily="34" charset="0"/>
                <a:ea typeface="Arial" pitchFamily="34" charset="-122"/>
                <a:cs typeface="Arial" pitchFamily="34" charset="-120"/>
              </a:rPr>
              <a: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Un proyecto sano se parece a esta pirámide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Text 3"/>
          <p:cNvSpPr/>
          <p:nvPr/>
        </p:nvSpPr>
        <p:spPr>
          <a:xfrm>
            <a:off x="548640" y="1874520"/>
            <a:ext cx="11091672" cy="1188720"/>
          </a:xfrm>
          <a:prstGeom prst="rect">
            <a:avLst/>
          </a:prstGeom>
          <a:noFill/>
          <a:ln/>
        </p:spPr>
        <p:txBody>
          <a:bodyPr wrap="square" rtlCol="0" anchor="t"/>
          <a:lstStyle/>
          <a:p>
            <a:pPr marL="0" indent="0">
              <a:buNone/>
            </a:pPr>
            <a:r>
              <a:rPr lang="en-US" sz="2300" dirty="0">
                <a:solidFill>
                  <a:srgbClr val="212121"/>
                </a:solidFill>
                <a:latin typeface="Arial" pitchFamily="34" charset="0"/>
                <a:ea typeface="Arial" pitchFamily="34" charset="-122"/>
                <a:cs typeface="Arial" pitchFamily="34" charset="-120"/>
              </a:rPr>
              <a:t>Base ancha de tests aislados que revisan cada pieza suelta en milisegundos, y una punta estrecha de tests de integración que revisan, más despacio, que esas piezas encajan de verdad.</a:t>
            </a:r>
            <a:endParaRPr lang="en-US" sz="2300" dirty="0"/>
          </a:p>
        </p:txBody>
      </p:sp>
      <p:sp>
        <p:nvSpPr>
          <p:cNvPr id="6" name="Text 4"/>
          <p:cNvSpPr/>
          <p:nvPr/>
        </p:nvSpPr>
        <p:spPr>
          <a:xfrm>
            <a:off x="548640" y="3520440"/>
            <a:ext cx="11091672" cy="1920240"/>
          </a:xfrm>
          <a:prstGeom prst="rect">
            <a:avLst/>
          </a:prstGeom>
          <a:noFill/>
          <a:ln/>
        </p:spPr>
        <p:txBody>
          <a:bodyPr wrap="square" rtlCol="0" anchor="t"/>
          <a:lstStyle/>
          <a:p>
            <a:pPr marL="0" indent="0">
              <a:buNone/>
            </a:pPr>
            <a:r>
              <a:rPr lang="en-US" sz="2300" dirty="0">
                <a:solidFill>
                  <a:srgbClr val="212121"/>
                </a:solidFill>
                <a:latin typeface="Arial" pitchFamily="34" charset="0"/>
                <a:ea typeface="Arial" pitchFamily="34" charset="-122"/>
                <a:cs typeface="Arial" pitchFamily="34" charset="-120"/>
              </a:rPr>
              <a:t>Si lo hicieras al revés —todo con Testcontainers, nada con mocks— cada push tardaría minutos en verificarse y encontrar un fallo concreto sería más lento, porque un test de integración que falla no te dice qué pieza exacta ha fallado, solo que algo en la cadena no encaja.</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Cuándo conviene cada tipo de test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3" cy="3886200"/>
        </p:xfrm>
        <a:graphic>
          <a:graphicData uri="http://schemas.openxmlformats.org/drawingml/2006/table">
            <a:tbl>
              <a:tblPr/>
              <a:tblGrid>
                <a:gridCol w="2440168">
                  <a:extLst>
                    <a:ext uri="{9D8B030D-6E8A-4147-A177-3AD203B41FA5}">
                      <a16:colId xmlns:a16="http://schemas.microsoft.com/office/drawing/2014/main" val="20000"/>
                    </a:ext>
                  </a:extLst>
                </a:gridCol>
                <a:gridCol w="4103919">
                  <a:extLst>
                    <a:ext uri="{9D8B030D-6E8A-4147-A177-3AD203B41FA5}">
                      <a16:colId xmlns:a16="http://schemas.microsoft.com/office/drawing/2014/main" val="20001"/>
                    </a:ext>
                  </a:extLst>
                </a:gridCol>
                <a:gridCol w="4547586">
                  <a:extLst>
                    <a:ext uri="{9D8B030D-6E8A-4147-A177-3AD203B41FA5}">
                      <a16:colId xmlns:a16="http://schemas.microsoft.com/office/drawing/2014/main" val="20002"/>
                    </a:ext>
                  </a:extLst>
                </a:gridCol>
              </a:tblGrid>
              <a:tr h="777240">
                <a:tc>
                  <a:txBody>
                    <a:bodyPr/>
                    <a:lstStyle/>
                    <a:p>
                      <a:pPr marL="0" indent="0" algn="ctr">
                        <a:buNone/>
                      </a:pP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Test aislado (mocks)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Test de integración (Testcontainers)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777240">
                <a:tc>
                  <a:txBody>
                    <a:bodyPr/>
                    <a:lstStyle/>
                    <a:p>
                      <a:pPr marL="0" indent="0">
                        <a:buNone/>
                      </a:pPr>
                      <a:r>
                        <a:rPr lang="en-US" sz="1450" b="1" dirty="0">
                          <a:solidFill>
                            <a:srgbClr val="212121"/>
                          </a:solidFill>
                          <a:latin typeface="Arial" pitchFamily="34" charset="0"/>
                          <a:ea typeface="Arial" pitchFamily="34" charset="-122"/>
                          <a:cs typeface="Arial" pitchFamily="34" charset="-120"/>
                        </a:rPr>
                        <a:t>Qué prueba</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La lógica interna de un componente</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Que varios componentes reales trabajan bien juntos</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50" b="1" dirty="0">
                          <a:solidFill>
                            <a:srgbClr val="212121"/>
                          </a:solidFill>
                          <a:latin typeface="Arial" pitchFamily="34" charset="0"/>
                          <a:ea typeface="Arial" pitchFamily="34" charset="-122"/>
                          <a:cs typeface="Arial" pitchFamily="34" charset="-120"/>
                        </a:rPr>
                        <a:t>Velocidad</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Muy rápido</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Más lento (levanta contenedores reales)</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77240">
                <a:tc>
                  <a:txBody>
                    <a:bodyPr/>
                    <a:lstStyle/>
                    <a:p>
                      <a:pPr marL="0" indent="0">
                        <a:buNone/>
                      </a:pPr>
                      <a:r>
                        <a:rPr lang="en-US" sz="1450" b="1" dirty="0">
                          <a:solidFill>
                            <a:srgbClr val="212121"/>
                          </a:solidFill>
                          <a:latin typeface="Arial" pitchFamily="34" charset="0"/>
                          <a:ea typeface="Arial" pitchFamily="34" charset="-122"/>
                          <a:cs typeface="Arial" pitchFamily="34" charset="-120"/>
                        </a:rPr>
                        <a:t>Cuándo usarlo</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Validaciones, cálculos de una pieza concreta</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Flujos completos, entre módulos y motores distintos</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450" b="1" dirty="0">
                          <a:solidFill>
                            <a:srgbClr val="212121"/>
                          </a:solidFill>
                          <a:latin typeface="Arial" pitchFamily="34" charset="0"/>
                          <a:ea typeface="Arial" pitchFamily="34" charset="-122"/>
                          <a:cs typeface="Arial" pitchFamily="34" charset="-120"/>
                        </a:rPr>
                        <a:t>Si falla, ¿qué te dice?</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Exactamente qué pieza y qué caso concreto</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Que algo en la cadena no encaja — toca investigar cuál</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6" name="Text 3"/>
          <p:cNvSpPr/>
          <p:nvPr/>
        </p:nvSpPr>
        <p:spPr>
          <a:xfrm>
            <a:off x="548640" y="5349240"/>
            <a:ext cx="11091672" cy="45720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Ninguno sustituye al otro — un proyecto real necesita ambos niveles, en esa proporción: muchos aislados, pocos de integración.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"Documentar" un componente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Shape 3"/>
          <p:cNvSpPr/>
          <p:nvPr/>
        </p:nvSpPr>
        <p:spPr>
          <a:xfrm>
            <a:off x="548640" y="2468880"/>
            <a:ext cx="11091672" cy="228600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560320"/>
            <a:ext cx="10543032" cy="210312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Ya has visto en el Tema 2 que un test bien nombrado (existeLibro_DebeDevolverTrue_CuandoExiste) es documentación viva: deja constancia de qué comportamiento se espera, y se actualiza solo — si el comportamiento cambia, el test falla y te avisa. Vale igual para cualquier tipo de test: cada test aislado documenta su propio componente por separado, y el test de integración de la Actividad 4.3 documenta cómo encajan todos juntos.</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círculo se cierra: CI</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Text 3"/>
          <p:cNvSpPr/>
          <p:nvPr/>
        </p:nvSpPr>
        <p:spPr>
          <a:xfrm>
            <a:off x="548640" y="1234440"/>
            <a:ext cx="11091672" cy="128016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Tener los dos niveles de test escritos no basta si nadie los ejecuta en el momento justo — un test que solo corres cuando te acuerdas es, tarde o temprano, un test que no corres el día que más falta te hace. La solución no es disciplina personal, es automatización.</a:t>
            </a:r>
            <a:endParaRPr lang="en-US" sz="2000" dirty="0"/>
          </a:p>
        </p:txBody>
      </p:sp>
      <p:sp>
        <p:nvSpPr>
          <p:cNvPr id="6" name="Text 4"/>
          <p:cNvSpPr/>
          <p:nvPr/>
        </p:nvSpPr>
        <p:spPr>
          <a:xfrm>
            <a:off x="548640" y="2834640"/>
            <a:ext cx="11091672" cy="146304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El concepto de integración continua lo has visto al principio del módulo (Tema 0); el .github/workflows/ci.yml de tu propio GameVault lo has construido después, en la Actividad 1.3 de PSP. Ese workflow ejecuta tus tests automáticamente en cada push — sin que tengas que acordarte de lanzarlos tú a mano cada vez.</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De git push a ci.yml</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pic>
        <p:nvPicPr>
          <p:cNvPr id="5" name="Image 0" descr="C:/Users/Aitor/docxgen/img/ad-t4-ci-flujo.png"/>
          <p:cNvPicPr>
            <a:picLocks noChangeAspect="1"/>
          </p:cNvPicPr>
          <p:nvPr/>
        </p:nvPicPr>
        <p:blipFill>
          <a:blip r:embed="rId3"/>
          <a:stretch>
            <a:fillRect/>
          </a:stretch>
        </p:blipFill>
        <p:spPr>
          <a:xfrm>
            <a:off x="1815010" y="1554480"/>
            <a:ext cx="8558933" cy="2651760"/>
          </a:xfrm>
          <a:prstGeom prst="rect">
            <a:avLst/>
          </a:prstGeom>
        </p:spPr>
      </p:pic>
      <p:sp>
        <p:nvSpPr>
          <p:cNvPr id="6" name="Text 3"/>
          <p:cNvSpPr/>
          <p:nvPr/>
        </p:nvSpPr>
        <p:spPr>
          <a:xfrm>
            <a:off x="548640" y="4572000"/>
            <a:ext cx="11091672" cy="91440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Ahora mismo ese workflow solo ejecuta los tests que terminan en ControllerTest — un filtro que se queda corto en cuanto construyes tests de otro tipo, como los aislados y de integración de este tema.</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En la Actividad 4.3</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Shape 3"/>
          <p:cNvSpPr/>
          <p:nvPr/>
        </p:nvSpPr>
        <p:spPr>
          <a:xfrm>
            <a:off x="548640" y="283464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926080"/>
            <a:ext cx="10543032" cy="155448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En la Actividad 4.3 eliminas ese filtro y dejas que Maven descubra automáticamente los tests que siguen sus convenciones habituales de nombre — el proyecto entero, con sus tests aislados y de integración, queda verificado en cada push.</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Ideas clave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4: Integración y pruebas</a:t>
            </a:r>
            <a:endParaRPr lang="en-US" sz="1100" dirty="0"/>
          </a:p>
        </p:txBody>
      </p:sp>
      <p:sp>
        <p:nvSpPr>
          <p:cNvPr id="5" name="Text 3"/>
          <p:cNvSpPr/>
          <p:nvPr/>
        </p:nvSpPr>
        <p:spPr>
          <a:xfrm>
            <a:off x="548640" y="1234440"/>
            <a:ext cx="11091672" cy="4754880"/>
          </a:xfrm>
          <a:prstGeom prst="rect">
            <a:avLst/>
          </a:prstGeom>
          <a:noFill/>
          <a:ln/>
        </p:spPr>
        <p:txBody>
          <a:bodyPr wrap="square" rtlCol="0" anchor="t"/>
          <a:lstStyle/>
          <a:p>
            <a:pPr marL="342900" indent="-342900">
              <a:spcAft>
                <a:spcPts val="800"/>
              </a:spcAft>
              <a:buSzPct val="100000"/>
              <a:buChar char="•"/>
            </a:pPr>
            <a:r>
              <a:rPr lang="en-US" sz="1750" dirty="0">
                <a:solidFill>
                  <a:srgbClr val="212121"/>
                </a:solidFill>
                <a:latin typeface="Arial" pitchFamily="34" charset="0"/>
                <a:ea typeface="Arial" pitchFamily="34" charset="-122"/>
                <a:cs typeface="Arial" pitchFamily="34" charset="-120"/>
              </a:rPr>
              <a:t>Un test aislado (mocks) prueba la lógica interna de un componente; un test de integración (Testcontainers) prueba que varios componentes reales funcionan bien juntos.</a:t>
            </a:r>
            <a:endParaRPr lang="en-US" sz="1750" dirty="0"/>
          </a:p>
          <a:p>
            <a:pPr marL="342900" indent="-342900">
              <a:spcAft>
                <a:spcPts val="800"/>
              </a:spcAft>
              <a:buSzPct val="100000"/>
              <a:buChar char="•"/>
            </a:pPr>
            <a:r>
              <a:rPr lang="en-US" sz="1750" dirty="0">
                <a:solidFill>
                  <a:srgbClr val="212121"/>
                </a:solidFill>
                <a:latin typeface="Arial" pitchFamily="34" charset="0"/>
                <a:ea typeface="Arial" pitchFamily="34" charset="-122"/>
                <a:cs typeface="Arial" pitchFamily="34" charset="-120"/>
              </a:rPr>
              <a:t>Un test de integración utiliza las infraestructuras reales que participan en el flujo: PostgreSQL, MongoDB y RabbitMQ. Redis queda fuera porque la caché está deshabilitada en el perfil test.</a:t>
            </a:r>
            <a:endParaRPr lang="en-US" sz="1750" dirty="0"/>
          </a:p>
          <a:p>
            <a:pPr marL="342900" indent="-342900">
              <a:spcAft>
                <a:spcPts val="800"/>
              </a:spcAft>
              <a:buSzPct val="100000"/>
              <a:buChar char="•"/>
            </a:pPr>
            <a:r>
              <a:rPr lang="en-US" sz="1750" dirty="0">
                <a:solidFill>
                  <a:srgbClr val="212121"/>
                </a:solidFill>
                <a:latin typeface="Arial" pitchFamily="34" charset="0"/>
                <a:ea typeface="Arial" pitchFamily="34" charset="-122"/>
                <a:cs typeface="Arial" pitchFamily="34" charset="-120"/>
              </a:rPr>
              <a:t>La pirámide de tests: muchos aislados (rápidos, baratos) en la base, pocos de integración (lentos, más caros) en la punta — ninguno sustituye al otro.</a:t>
            </a:r>
            <a:endParaRPr lang="en-US" sz="1750" dirty="0"/>
          </a:p>
          <a:p>
            <a:pPr marL="342900" indent="-342900">
              <a:spcAft>
                <a:spcPts val="800"/>
              </a:spcAft>
              <a:buSzPct val="100000"/>
              <a:buChar char="•"/>
            </a:pPr>
            <a:r>
              <a:rPr lang="en-US" sz="1750" dirty="0">
                <a:solidFill>
                  <a:srgbClr val="212121"/>
                </a:solidFill>
                <a:latin typeface="Arial" pitchFamily="34" charset="0"/>
                <a:ea typeface="Arial" pitchFamily="34" charset="-122"/>
                <a:cs typeface="Arial" pitchFamily="34" charset="-120"/>
              </a:rPr>
              <a:t>Un test bien nombrado es documentación viva: vale igual para un test aislado (documenta una pieza) que para uno de integración (documenta cómo encajan varias).</a:t>
            </a:r>
            <a:endParaRPr lang="en-US" sz="1750" dirty="0"/>
          </a:p>
          <a:p>
            <a:pPr marL="342900" indent="-342900">
              <a:spcAft>
                <a:spcPts val="800"/>
              </a:spcAft>
              <a:buSzPct val="100000"/>
              <a:buChar char="•"/>
            </a:pPr>
            <a:r>
              <a:rPr lang="en-US" sz="1750" dirty="0">
                <a:solidFill>
                  <a:srgbClr val="212121"/>
                </a:solidFill>
                <a:latin typeface="Arial" pitchFamily="34" charset="0"/>
                <a:ea typeface="Arial" pitchFamily="34" charset="-122"/>
                <a:cs typeface="Arial" pitchFamily="34" charset="-120"/>
              </a:rPr>
              <a:t>El ci.yml del GameVault ejecuta tests automáticamente en cada push; en la Actividad 4.3 eliminas el filtro limitado a *ControllerTest para que Maven descubra también los aislados y de integración.</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1743</Words>
  <Application>Microsoft Office PowerPoint</Application>
  <PresentationFormat>Panorámica</PresentationFormat>
  <Paragraphs>124</Paragraphs>
  <Slides>17</Slides>
  <Notes>17</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17</vt:i4>
      </vt:variant>
    </vt:vector>
  </HeadingPairs>
  <TitlesOfParts>
    <vt:vector size="20"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Integración y pruebas</dc:title>
  <dc:subject>PptxGenJS Presentation</dc:subject>
  <dc:creator>Acceso a Datos</dc:creator>
  <cp:lastModifiedBy>VENTURA EDO, AITOR</cp:lastModifiedBy>
  <cp:revision>2</cp:revision>
  <dcterms:created xsi:type="dcterms:W3CDTF">2026-08-10T19:02:39Z</dcterms:created>
  <dcterms:modified xsi:type="dcterms:W3CDTF">2026-08-10T21:30:48Z</dcterms:modified>
</cp:coreProperties>
</file>