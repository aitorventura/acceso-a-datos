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4331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E0A8A8"/>
                </a:solidFill>
                <a:latin typeface="Arial" pitchFamily="34" charset="0"/>
                <a:ea typeface="Arial" pitchFamily="34" charset="-122"/>
                <a:cs typeface="Arial" pitchFamily="34" charset="-120"/>
              </a:rPr>
              <a:t>ACCESO A DATOS  —  TEMA 1: MANEJO DE CONECTORES Y HERRAMIENTAS ORM</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3800" b="1" dirty="0">
                <a:solidFill>
                  <a:srgbClr val="FFFFFF"/>
                </a:solidFill>
                <a:latin typeface="Arial" pitchFamily="34" charset="0"/>
                <a:ea typeface="Arial" pitchFamily="34" charset="-122"/>
                <a:cs typeface="Arial" pitchFamily="34" charset="-120"/>
              </a:rPr>
              <a:t>Consultas JPQL</a:t>
            </a:r>
            <a:endParaRPr lang="en-US" sz="3800" dirty="0"/>
          </a:p>
          <a:p>
            <a:pPr marL="0" indent="0" algn="l">
              <a:buNone/>
            </a:pPr>
            <a:r>
              <a:rPr lang="en-US" sz="3800" b="1" dirty="0">
                <a:solidFill>
                  <a:srgbClr val="FFFFFF"/>
                </a:solidFill>
                <a:latin typeface="Arial" pitchFamily="34" charset="0"/>
                <a:ea typeface="Arial" pitchFamily="34" charset="-122"/>
                <a:cs typeface="Arial" pitchFamily="34" charset="-120"/>
              </a:rPr>
              <a:t>y transacciones</a:t>
            </a:r>
            <a:endParaRPr lang="en-US" sz="38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8. Consultas JPQL y transacciones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Consultas JPQL y transacciones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88036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71800"/>
            <a:ext cx="10543032" cy="128016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Añades una nueva vía de consulta mediante @Query y JPQL, pensada para consultas que resultan difíciles de expresar con un método derivado por nombre o con una Specification.</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problema: lo que ni el naming ni las Specifications resuelven bien</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88036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71800"/>
            <a:ext cx="10543032" cy="128016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Imagina que quieres un ranking de editoriales, ordenado por cuántos libros tiene cada una en el catálogo. Prueba a resolverlo con lo que ya conoces: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Por qué ninguna de las dos llega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Text 3"/>
          <p:cNvSpPr/>
          <p:nvPr/>
        </p:nvSpPr>
        <p:spPr>
          <a:xfrm>
            <a:off x="548640" y="2788920"/>
            <a:ext cx="11091672" cy="3931920"/>
          </a:xfrm>
          <a:prstGeom prst="rect">
            <a:avLst/>
          </a:prstGeom>
          <a:noFill/>
          <a:ln/>
        </p:spPr>
        <p:txBody>
          <a:bodyPr wrap="square" rtlCol="0" anchor="t"/>
          <a:lstStyle/>
          <a:p>
            <a:pPr marL="190500" indent="-190500">
              <a:spcAft>
                <a:spcPts val="2200"/>
              </a:spcAft>
              <a:buSzPct val="100000"/>
              <a:buChar char="•"/>
            </a:pPr>
            <a:r>
              <a:rPr lang="en-US" sz="1800" dirty="0">
                <a:solidFill>
                  <a:srgbClr val="212121"/>
                </a:solidFill>
                <a:latin typeface="Arial" pitchFamily="34" charset="0"/>
                <a:ea typeface="Arial" pitchFamily="34" charset="-122"/>
                <a:cs typeface="Arial" pitchFamily="34" charset="-120"/>
              </a:rPr>
              <a:t>Naming de método: no existe ninguna combinación de palabras que le pida a Spring Data "agrupa por editorial y ordena por el número de libros de cada grupo" — el naming deriva condiciones sobre campos, no agregaciones sobre una relación completa.</a:t>
            </a:r>
            <a:endParaRPr lang="en-US" sz="1800" dirty="0"/>
          </a:p>
          <a:p>
            <a:pPr marL="190500" indent="-190500">
              <a:spcAft>
                <a:spcPts val="2200"/>
              </a:spcAft>
              <a:buSzPct val="100000"/>
              <a:buChar char="•"/>
            </a:pPr>
            <a:r>
              <a:rPr lang="en-US" sz="1800" dirty="0">
                <a:solidFill>
                  <a:srgbClr val="212121"/>
                </a:solidFill>
                <a:latin typeface="Arial" pitchFamily="34" charset="0"/>
                <a:ea typeface="Arial" pitchFamily="34" charset="-122"/>
                <a:cs typeface="Arial" pitchFamily="34" charset="-120"/>
              </a:rPr>
              <a:t>Specifications: están pensadas para construir condiciones WHERE dinámicas y combinables — no para expresar un GROUP BY con ORDER BY sobre el resultado de una agregación. Se podría forzar con CriteriaBuilder, pero a cambio de una consulta rígida y bastante más difícil de leer que el propio JPQL.</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Aquí entra @Query con JPQL</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301752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3108960"/>
            <a:ext cx="10543032" cy="128016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@Query con JPQL permite escribir consultas fijas —siempre con la misma estructura— que resultan demasiado elaboradas para expresarlas mediante el nombre de un método o combinando Specifications.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Qué es JPQL</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88036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71800"/>
            <a:ext cx="10543032" cy="128016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JPQL (Jakarta Persistence Query Language) es el lenguaje de consultas de la propia especificación JPA. La idea de fondo es sencilla: en vez de preguntarle a la base de datos por sus tablas y columnas, le preguntas a JPA por tus clases Java y sus propiedades.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Lo más simple: una consulta sin relaciones de por medio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651760"/>
          <a:ext cx="11091672" cy="2331720"/>
        </p:xfrm>
        <a:graphic>
          <a:graphicData uri="http://schemas.openxmlformats.org/drawingml/2006/table">
            <a:tbl>
              <a:tblPr/>
              <a:tblGrid>
                <a:gridCol w="1663751">
                  <a:extLst>
                    <a:ext uri="{9D8B030D-6E8A-4147-A177-3AD203B41FA5}">
                      <a16:colId xmlns:a16="http://schemas.microsoft.com/office/drawing/2014/main" val="20000"/>
                    </a:ext>
                  </a:extLst>
                </a:gridCol>
                <a:gridCol w="9427921">
                  <a:extLst>
                    <a:ext uri="{9D8B030D-6E8A-4147-A177-3AD203B41FA5}">
                      <a16:colId xmlns:a16="http://schemas.microsoft.com/office/drawing/2014/main" val="20001"/>
                    </a:ext>
                  </a:extLst>
                </a:gridCol>
              </a:tblGrid>
              <a:tr h="777240">
                <a:tc>
                  <a:txBody>
                    <a:bodyPr/>
                    <a:lstStyle/>
                    <a:p>
                      <a:pPr marL="0" indent="0" algn="ctr">
                        <a:buNone/>
                      </a:pP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Consulta</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777240">
                <a:tc>
                  <a:txBody>
                    <a:bodyPr/>
                    <a:lstStyle/>
                    <a:p>
                      <a:pPr marL="0" indent="0">
                        <a:buNone/>
                      </a:pPr>
                      <a:r>
                        <a:rPr lang="en-US" sz="1600" b="1" dirty="0">
                          <a:solidFill>
                            <a:srgbClr val="212121"/>
                          </a:solidFill>
                          <a:latin typeface="Arial" pitchFamily="34" charset="0"/>
                          <a:ea typeface="Arial" pitchFamily="34" charset="-122"/>
                          <a:cs typeface="Arial" pitchFamily="34" charset="-120"/>
                        </a:rPr>
                        <a:t>SQL</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SELECT * FROM libro WHERE precio &gt; 20</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600" b="1" dirty="0">
                          <a:solidFill>
                            <a:srgbClr val="212121"/>
                          </a:solidFill>
                          <a:latin typeface="Arial" pitchFamily="34" charset="0"/>
                          <a:ea typeface="Arial" pitchFamily="34" charset="-122"/>
                          <a:cs typeface="Arial" pitchFamily="34" charset="-120"/>
                        </a:rPr>
                        <a:t>JPQL</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SELECT l FROM Libro l WHERE l.precio &gt; 20</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Solo cambian dos cosas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46888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560320"/>
            <a:ext cx="10543032" cy="155448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Libro con mayúscula inicial (la clase Java, no la tabla libro), y l.precio en vez de solo precio (la propiedad del objeto l, no una columna suelta). El resto —SELECT, WHERE, el operador &gt;— se escribe exactamente igual: JPQL toma prestada casi toda la sintaxis de SQL.</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 diferencia se nota de verdad al cruzar una relación</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2743200"/>
        </p:xfrm>
        <a:graphic>
          <a:graphicData uri="http://schemas.openxmlformats.org/drawingml/2006/table">
            <a:tbl>
              <a:tblPr/>
              <a:tblGrid>
                <a:gridCol w="1663751">
                  <a:extLst>
                    <a:ext uri="{9D8B030D-6E8A-4147-A177-3AD203B41FA5}">
                      <a16:colId xmlns:a16="http://schemas.microsoft.com/office/drawing/2014/main" val="20000"/>
                    </a:ext>
                  </a:extLst>
                </a:gridCol>
                <a:gridCol w="9427921">
                  <a:extLst>
                    <a:ext uri="{9D8B030D-6E8A-4147-A177-3AD203B41FA5}">
                      <a16:colId xmlns:a16="http://schemas.microsoft.com/office/drawing/2014/main" val="20001"/>
                    </a:ext>
                  </a:extLst>
                </a:gridCol>
              </a:tblGrid>
              <a:tr h="914400">
                <a:tc>
                  <a:txBody>
                    <a:bodyPr/>
                    <a:lstStyle/>
                    <a:p>
                      <a:pPr marL="0" indent="0" algn="ctr">
                        <a:buNone/>
                      </a:pP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Consulta</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914400">
                <a:tc>
                  <a:txBody>
                    <a:bodyPr/>
                    <a:lstStyle/>
                    <a:p>
                      <a:pPr marL="0" indent="0">
                        <a:buNone/>
                      </a:pPr>
                      <a:r>
                        <a:rPr lang="en-US" sz="1450" b="1" dirty="0">
                          <a:solidFill>
                            <a:srgbClr val="212121"/>
                          </a:solidFill>
                          <a:latin typeface="Arial" pitchFamily="34" charset="0"/>
                          <a:ea typeface="Arial" pitchFamily="34" charset="-122"/>
                          <a:cs typeface="Arial" pitchFamily="34" charset="-120"/>
                        </a:rPr>
                        <a:t>SQL</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SELECT e.* FROM editorial e JOIN libro l ON l.editorial_id = e.id</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1450" b="1" dirty="0">
                          <a:solidFill>
                            <a:srgbClr val="212121"/>
                          </a:solidFill>
                          <a:latin typeface="Arial" pitchFamily="34" charset="0"/>
                          <a:ea typeface="Arial" pitchFamily="34" charset="-122"/>
                          <a:cs typeface="Arial" pitchFamily="34" charset="-120"/>
                        </a:rPr>
                        <a:t>JPQL</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50" dirty="0">
                          <a:solidFill>
                            <a:srgbClr val="212121"/>
                          </a:solidFill>
                          <a:latin typeface="Arial" pitchFamily="34" charset="0"/>
                          <a:ea typeface="Arial" pitchFamily="34" charset="-122"/>
                          <a:cs typeface="Arial" pitchFamily="34" charset="-120"/>
                        </a:rPr>
                        <a:t>SELECT e FROM Editorial e JOIN e.libros l</a:t>
                      </a:r>
                      <a:endParaRPr lang="en-US" sz="14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e.libros navega la relación, no repite la condición</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46888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560320"/>
            <a:ext cx="10543032" cy="15544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En SQL escribes tú la condición de unión a mano (ON l.editorial_id = e.id), porque la base de datos no sabe nada de tus relaciones. En JPQL, e.libros navega la relación @OneToMany que ya has declarado en tu entidad Editorial — JPA ya conoce esa relación, así que no hace falta repetirla.</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Las tres vías de consulta de Spring Data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pic>
        <p:nvPicPr>
          <p:cNvPr id="8" name="Imagen 7">
            <a:extLst>
              <a:ext uri="{FF2B5EF4-FFF2-40B4-BE49-F238E27FC236}">
                <a16:creationId xmlns:a16="http://schemas.microsoft.com/office/drawing/2014/main" id="{69BFFA3E-DD9D-2F6B-12EB-172C6A41D47C}"/>
              </a:ext>
            </a:extLst>
          </p:cNvPr>
          <p:cNvPicPr>
            <a:picLocks noChangeAspect="1"/>
          </p:cNvPicPr>
          <p:nvPr/>
        </p:nvPicPr>
        <p:blipFill>
          <a:blip r:embed="rId3"/>
          <a:srcRect t="8373" b="8233"/>
          <a:stretch>
            <a:fillRect/>
          </a:stretch>
        </p:blipFill>
        <p:spPr>
          <a:xfrm>
            <a:off x="666564" y="1376359"/>
            <a:ext cx="10424424" cy="43466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Qué es una agregación</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88036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71800"/>
            <a:ext cx="10543032" cy="128016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Una agregación es una operación que resume varias filas en un único resultado: COUNT (cuántas), SUM (suma), AVG (media)... normalmente combinada con GROUP BY, que agrupa las filas antes de aplicar la agregación a cada grupo por separado.</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JPQL con parámetros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88036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971800"/>
            <a:ext cx="10543032" cy="128016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Antes de llegar a la agregación, el uso más habitual de @Query es mucho más simple: una consulta con una condición que varía según quien la llama. Imagina que quieres los libros publicados por una editorial concreta, buscando por su nombre.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Una consulta con condición variable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971800"/>
            <a:ext cx="11091672" cy="155448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2971800"/>
            <a:ext cx="73152" cy="155448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3081528"/>
            <a:ext cx="10588752" cy="133502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public interface LibroRepository extends JpaRepository&lt;Libro, Long&gt; {</a:t>
            </a:r>
            <a:endParaRPr lang="en-US" sz="1500" dirty="0"/>
          </a:p>
          <a:p>
            <a:pPr marL="0" indent="0">
              <a:buNone/>
            </a:pP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@Query("SELECT l FROM Libro l WHERE l.editorial.nombre = :nombreEditorial")</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List&lt;Libro&gt; buscarPorNombreDeEditorial(@Param("nombreEditorial") String nombreEditorial);</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Dos pasos de navegación, y un parámetro que debe coincidir</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46888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560320"/>
            <a:ext cx="10543032" cy="155448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l.editorial.nombre navega dos pasos con propiedades Java —primero a la relación editorial de Libro, luego a su propiedad nombre—, nunca con nombres de columna. @Param("nombreEditorial") conecta el :nombreEditorial de la consulta con el parámetro del método: el texto entre paréntesis tiene que coincidir exactamente con el que escribes tras los dos puntos en el JPQL.</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Aquí, un error de escritura no espera a que ejecutes la consulta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1371600"/>
            <a:ext cx="11091672" cy="1645920"/>
          </a:xfrm>
          <a:prstGeom prst="roundRect">
            <a:avLst/>
          </a:prstGeom>
          <a:solidFill>
            <a:srgbClr val="FBE9E7"/>
          </a:solidFill>
          <a:ln w="22225">
            <a:solidFill>
              <a:srgbClr val="C62828"/>
            </a:solidFill>
            <a:prstDash val="solid"/>
          </a:ln>
        </p:spPr>
        <p:txBody>
          <a:bodyPr/>
          <a:lstStyle/>
          <a:p>
            <a:endParaRPr lang="es-ES"/>
          </a:p>
        </p:txBody>
      </p:sp>
      <p:sp>
        <p:nvSpPr>
          <p:cNvPr id="6" name="Text 4"/>
          <p:cNvSpPr/>
          <p:nvPr/>
        </p:nvSpPr>
        <p:spPr>
          <a:xfrm>
            <a:off x="822960" y="1481328"/>
            <a:ext cx="10543032" cy="1426464"/>
          </a:xfrm>
          <a:prstGeom prst="rect">
            <a:avLst/>
          </a:prstGeom>
          <a:noFill/>
          <a:ln/>
        </p:spPr>
        <p:txBody>
          <a:bodyPr wrap="square" rtlCol="0" anchor="t"/>
          <a:lstStyle/>
          <a:p>
            <a:pPr marL="0" indent="0">
              <a:buNone/>
            </a:pPr>
            <a:r>
              <a:rPr lang="en-US" sz="1900" b="1" dirty="0">
                <a:solidFill>
                  <a:srgbClr val="C62828"/>
                </a:solidFill>
                <a:latin typeface="Arial" pitchFamily="34" charset="0"/>
                <a:ea typeface="Arial" pitchFamily="34" charset="-122"/>
                <a:cs typeface="Arial" pitchFamily="34" charset="-120"/>
              </a:rPr>
              <a:t>⚠ Se valida al arrancar, no al ejecutar
</a:t>
            </a:r>
            <a:endParaRPr lang="en-US" sz="1900" dirty="0"/>
          </a:p>
          <a:p>
            <a:pPr marL="0" indent="0">
              <a:buNone/>
            </a:pPr>
            <a:r>
              <a:rPr lang="en-US" sz="1800" dirty="0">
                <a:solidFill>
                  <a:srgbClr val="212121"/>
                </a:solidFill>
                <a:latin typeface="Arial" pitchFamily="34" charset="0"/>
                <a:ea typeface="Arial" pitchFamily="34" charset="-122"/>
                <a:cs typeface="Arial" pitchFamily="34" charset="-120"/>
              </a:rPr>
              <a:t>Si escribieras l.editorial.nombree (una letra de más) o :nombreEditoral (un parámetro que no casa), Spring no esperaría a la primera petición para fallar: valida la sintaxis de cada @Query JPQL en cuanto arranca la aplicación, contra el propio modelo de tus entidades.</a:t>
            </a:r>
            <a:endParaRPr lang="en-US" sz="1900" dirty="0"/>
          </a:p>
        </p:txBody>
      </p:sp>
      <p:sp>
        <p:nvSpPr>
          <p:cNvPr id="7" name="Text 5"/>
          <p:cNvSpPr/>
          <p:nvPr/>
        </p:nvSpPr>
        <p:spPr>
          <a:xfrm>
            <a:off x="548640" y="3337560"/>
            <a:ext cx="11091672" cy="1051560"/>
          </a:xfrm>
          <a:prstGeom prst="rect">
            <a:avLst/>
          </a:prstGeom>
          <a:noFill/>
          <a:ln/>
        </p:spPr>
        <p:txBody>
          <a:bodyPr wrap="square" rtlCol="0" anchor="t"/>
          <a:lstStyle/>
          <a:p>
            <a:pPr marL="0" indent="0">
              <a:buNone/>
            </a:pPr>
            <a:r>
              <a:rPr lang="en-US" sz="1600" dirty="0">
                <a:solidFill>
                  <a:srgbClr val="757575"/>
                </a:solidFill>
                <a:latin typeface="Arial" pitchFamily="34" charset="0"/>
                <a:ea typeface="Arial" pitchFamily="34" charset="-122"/>
                <a:cs typeface="Arial" pitchFamily="34" charset="-120"/>
              </a:rPr>
              <a:t>Es justo lo contrario de lo que le pasa a una Specification, que solo descubre un nombre de propiedad equivocado en el momento en que alguien la ejecuta de verdad, con una petición HTTP real. Un fallo en el arranque es más incómodo a corto plazo, pero mucho más seguro.</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Un ejemplo completo: el ranking de editoriales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365760" y="1098213"/>
            <a:ext cx="11091672" cy="1038497"/>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640080" y="977381"/>
            <a:ext cx="10543032" cy="1280160"/>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Imagina que quieres un ranking de editoriales ordenado por cuántos libros tiene cada una en el catálogo. Es una consulta fija, pero con JOIN, agregación y ordenación por el resultado de esa agregación — el caso típico de @Query.</a:t>
            </a:r>
            <a:endParaRPr lang="en-US" sz="1600" dirty="0"/>
          </a:p>
        </p:txBody>
      </p:sp>
      <p:pic>
        <p:nvPicPr>
          <p:cNvPr id="8" name="Imagen 7">
            <a:extLst>
              <a:ext uri="{FF2B5EF4-FFF2-40B4-BE49-F238E27FC236}">
                <a16:creationId xmlns:a16="http://schemas.microsoft.com/office/drawing/2014/main" id="{2DE6764F-7FDA-B0DD-C1B4-E7D9B48D4EBB}"/>
              </a:ext>
            </a:extLst>
          </p:cNvPr>
          <p:cNvPicPr>
            <a:picLocks noChangeAspect="1"/>
          </p:cNvPicPr>
          <p:nvPr/>
        </p:nvPicPr>
        <p:blipFill>
          <a:blip r:embed="rId3"/>
          <a:srcRect l="1378" t="7043" r="-1378" b="8750"/>
          <a:stretch>
            <a:fillRect/>
          </a:stretch>
        </p:blipFill>
        <p:spPr>
          <a:xfrm>
            <a:off x="1679511" y="2257541"/>
            <a:ext cx="9214472" cy="387966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 consulta con @Query</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011680"/>
            <a:ext cx="11091672" cy="310896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2011680"/>
            <a:ext cx="73152" cy="310896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121408"/>
            <a:ext cx="10588752" cy="2889504"/>
          </a:xfrm>
          <a:prstGeom prst="rect">
            <a:avLst/>
          </a:prstGeom>
          <a:noFill/>
          <a:ln/>
        </p:spPr>
        <p:txBody>
          <a:bodyPr wrap="square" rtlCol="0" anchor="t"/>
          <a:lstStyle/>
          <a:p>
            <a:pPr marL="0" indent="0">
              <a:buNone/>
            </a:pPr>
            <a:r>
              <a:rPr lang="en-US" sz="1450" dirty="0">
                <a:solidFill>
                  <a:srgbClr val="263238"/>
                </a:solidFill>
                <a:latin typeface="Courier New" pitchFamily="34" charset="0"/>
                <a:ea typeface="Courier New" pitchFamily="34" charset="-122"/>
                <a:cs typeface="Courier New" pitchFamily="34" charset="-120"/>
              </a:rPr>
              <a:t>public interface EditorialRepository extends JpaRepository&lt;Editorial, Long&gt; {</a:t>
            </a:r>
            <a:endParaRPr lang="en-US" sz="1450" dirty="0"/>
          </a:p>
          <a:p>
            <a:pPr marL="0" indent="0">
              <a:buNone/>
            </a:pP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@Query("""</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SELECT e</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FROM Editorial e</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LEFT JOIN e.libros l</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GROUP BY e</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ORDER BY COUNT(l) DESC</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List&lt;Editorial&gt; rankingPorNumeroDeLibros();</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Una etiqueta descriptiva, no la consulta en sí</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28600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377440"/>
            <a:ext cx="10543032" cy="15544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@Query le dice a Spring Data: "no derives la consulta a partir del nombre del método, usa literalmente este JPQL que te doy". Es la diferencia clave con el naming de método: ahí el nombre del método es la consulta; aquí el nombre es solo una etiqueta descriptiva, y la consulta real vive entera dentro de la anotación.</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Desglosado, fragmento a fragmento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4279392"/>
        </p:xfrm>
        <a:graphic>
          <a:graphicData uri="http://schemas.openxmlformats.org/drawingml/2006/table">
            <a:tbl>
              <a:tblPr/>
              <a:tblGrid>
                <a:gridCol w="3105668">
                  <a:extLst>
                    <a:ext uri="{9D8B030D-6E8A-4147-A177-3AD203B41FA5}">
                      <a16:colId xmlns:a16="http://schemas.microsoft.com/office/drawing/2014/main" val="20000"/>
                    </a:ext>
                  </a:extLst>
                </a:gridCol>
                <a:gridCol w="7986004">
                  <a:extLst>
                    <a:ext uri="{9D8B030D-6E8A-4147-A177-3AD203B41FA5}">
                      <a16:colId xmlns:a16="http://schemas.microsoft.com/office/drawing/2014/main" val="20001"/>
                    </a:ext>
                  </a:extLst>
                </a:gridCol>
              </a:tblGrid>
              <a:tr h="713232">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Fragmento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Qué hace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713232">
                <a:tc>
                  <a:txBody>
                    <a:bodyPr/>
                    <a:lstStyle/>
                    <a:p>
                      <a:pPr marL="0" indent="0">
                        <a:buNone/>
                      </a:pPr>
                      <a:r>
                        <a:rPr lang="en-US" sz="1350" b="1" dirty="0">
                          <a:solidFill>
                            <a:srgbClr val="212121"/>
                          </a:solidFill>
                          <a:latin typeface="Arial" pitchFamily="34" charset="0"/>
                          <a:ea typeface="Arial" pitchFamily="34" charset="-122"/>
                          <a:cs typeface="Arial" pitchFamily="34" charset="-120"/>
                        </a:rPr>
                        <a:t>SELECT e</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50" dirty="0">
                          <a:solidFill>
                            <a:srgbClr val="212121"/>
                          </a:solidFill>
                          <a:latin typeface="Arial" pitchFamily="34" charset="0"/>
                          <a:ea typeface="Arial" pitchFamily="34" charset="-122"/>
                          <a:cs typeface="Arial" pitchFamily="34" charset="-120"/>
                        </a:rPr>
                        <a:t>Devuelve el objeto Editorial completo — no una columna suelta, como harías en SQL.</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350" b="1" dirty="0">
                          <a:solidFill>
                            <a:srgbClr val="212121"/>
                          </a:solidFill>
                          <a:latin typeface="Arial" pitchFamily="34" charset="0"/>
                          <a:ea typeface="Arial" pitchFamily="34" charset="-122"/>
                          <a:cs typeface="Arial" pitchFamily="34" charset="-120"/>
                        </a:rPr>
                        <a:t>FROM Editorial e</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50" dirty="0">
                          <a:solidFill>
                            <a:srgbClr val="212121"/>
                          </a:solidFill>
                          <a:latin typeface="Arial" pitchFamily="34" charset="0"/>
                          <a:ea typeface="Arial" pitchFamily="34" charset="-122"/>
                          <a:cs typeface="Arial" pitchFamily="34" charset="-120"/>
                        </a:rPr>
                        <a:t>La entidad de partida, con el alias e para referirte a ella en el resto de la consulta.</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13232">
                <a:tc>
                  <a:txBody>
                    <a:bodyPr/>
                    <a:lstStyle/>
                    <a:p>
                      <a:pPr marL="0" indent="0">
                        <a:buNone/>
                      </a:pPr>
                      <a:r>
                        <a:rPr lang="en-US" sz="1350" b="1" dirty="0">
                          <a:solidFill>
                            <a:srgbClr val="212121"/>
                          </a:solidFill>
                          <a:latin typeface="Arial" pitchFamily="34" charset="0"/>
                          <a:ea typeface="Arial" pitchFamily="34" charset="-122"/>
                          <a:cs typeface="Arial" pitchFamily="34" charset="-120"/>
                        </a:rPr>
                        <a:t>LEFT JOIN e.libros l</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50" dirty="0">
                          <a:solidFill>
                            <a:srgbClr val="212121"/>
                          </a:solidFill>
                          <a:latin typeface="Arial" pitchFamily="34" charset="0"/>
                          <a:ea typeface="Arial" pitchFamily="34" charset="-122"/>
                          <a:cs typeface="Arial" pitchFamily="34" charset="-120"/>
                        </a:rPr>
                        <a:t>Navega la relación Editorial → libros y mantiene también las editoriales sin ningún libro.</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350" b="1" dirty="0">
                          <a:solidFill>
                            <a:srgbClr val="212121"/>
                          </a:solidFill>
                          <a:latin typeface="Arial" pitchFamily="34" charset="0"/>
                          <a:ea typeface="Arial" pitchFamily="34" charset="-122"/>
                          <a:cs typeface="Arial" pitchFamily="34" charset="-120"/>
                        </a:rPr>
                        <a:t>GROUP BY e</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350" dirty="0">
                          <a:solidFill>
                            <a:srgbClr val="212121"/>
                          </a:solidFill>
                          <a:latin typeface="Arial" pitchFamily="34" charset="0"/>
                          <a:ea typeface="Arial" pitchFamily="34" charset="-122"/>
                          <a:cs typeface="Arial" pitchFamily="34" charset="-120"/>
                        </a:rPr>
                        <a:t>Agrupa, por cada editorial, todos los libros que comparten esa misma editorial.</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713232">
                <a:tc>
                  <a:txBody>
                    <a:bodyPr/>
                    <a:lstStyle/>
                    <a:p>
                      <a:pPr marL="0" indent="0">
                        <a:buNone/>
                      </a:pPr>
                      <a:r>
                        <a:rPr lang="en-US" sz="1350" b="1" dirty="0">
                          <a:solidFill>
                            <a:srgbClr val="212121"/>
                          </a:solidFill>
                          <a:latin typeface="Arial" pitchFamily="34" charset="0"/>
                          <a:ea typeface="Arial" pitchFamily="34" charset="-122"/>
                          <a:cs typeface="Arial" pitchFamily="34" charset="-120"/>
                        </a:rPr>
                        <a:t>ORDER BY COUNT(l) DESC</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350" dirty="0">
                          <a:solidFill>
                            <a:srgbClr val="212121"/>
                          </a:solidFill>
                          <a:latin typeface="Arial" pitchFamily="34" charset="0"/>
                          <a:ea typeface="Arial" pitchFamily="34" charset="-122"/>
                          <a:cs typeface="Arial" pitchFamily="34" charset="-120"/>
                        </a:rPr>
                        <a:t>Ordena esos grupos por cuántos libros tiene cada uno, de mayor a menor.</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Junta las cinco piezas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301752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3108960"/>
            <a:ext cx="10543032" cy="128016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La consulta completa dice: «para cada editorial, cuenta sus libros y ordénalas de la que más tiene a la que menos».</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Por qué LEFT JOIN, y no un JOIN normal</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Text 3"/>
          <p:cNvSpPr/>
          <p:nvPr/>
        </p:nvSpPr>
        <p:spPr>
          <a:xfrm>
            <a:off x="548640" y="1554480"/>
            <a:ext cx="11091672" cy="96012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Se utiliza LEFT JOIN para que también aparezcan las editoriales que todavía no tienen libros. En ese caso, COUNT(l) vale 0 y la editorial queda al final del ranking.</a:t>
            </a:r>
            <a:endParaRPr lang="en-US" sz="1900" dirty="0"/>
          </a:p>
        </p:txBody>
      </p:sp>
      <p:sp>
        <p:nvSpPr>
          <p:cNvPr id="6" name="Shape 4"/>
          <p:cNvSpPr/>
          <p:nvPr/>
        </p:nvSpPr>
        <p:spPr>
          <a:xfrm>
            <a:off x="548640" y="2834640"/>
            <a:ext cx="11091672" cy="105156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834640"/>
            <a:ext cx="73152" cy="105156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944368"/>
            <a:ext cx="10588752" cy="83210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Editorial con 5 libros → COUNT(l) = 5</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Editorial con 2 libros → COUNT(l) = 2</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Editorial sin libros    → COUNT(l) = 0</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Cuando necesitas SQL directamente: nativeQuery = true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46888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560320"/>
            <a:ext cx="10543032" cy="155448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JPQL cubre la mayoría de casos, pero hay funcionalidad que directamente no existe en JPQL — las funciones de ventana (window functions) de SQL son el ejemplo más claro. La más simple es ROW_NUMBER(): numera cada fila, una a una, según el orden que le indiques.</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ROW_NUMBER(), la función de ventana más simple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1645920"/>
            <a:ext cx="11091672" cy="114300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645920"/>
            <a:ext cx="73152" cy="114300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755648"/>
            <a:ext cx="10588752" cy="92354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SELECT titulo, precio,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ROW_NUMBER() OVER (ORDER BY precio DESC) AS posicion</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FROM libro;</a:t>
            </a:r>
            <a:endParaRPr lang="en-US" sz="1600" dirty="0"/>
          </a:p>
        </p:txBody>
      </p:sp>
      <p:sp>
        <p:nvSpPr>
          <p:cNvPr id="8" name="Text 6"/>
          <p:cNvSpPr/>
          <p:nvPr/>
        </p:nvSpPr>
        <p:spPr>
          <a:xfrm>
            <a:off x="548640" y="3154680"/>
            <a:ext cx="11091672" cy="105156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Esto no agrupa nada — sigues teniendo una fila por libro— pero cada fila lleva ahora un número de posición. OVER (ORDER BY precio DESC) es la "ventana": le dice a ROW_NUMBER() en qué orden mirar las filas para numerarlas.</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Antes y después de ROW_NUMBER()</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Text 3"/>
          <p:cNvSpPr/>
          <p:nvPr/>
        </p:nvSpPr>
        <p:spPr>
          <a:xfrm>
            <a:off x="548640" y="1188720"/>
            <a:ext cx="5010729" cy="36576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Libros de partida:</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010729" cy="2743200"/>
        </p:xfrm>
        <a:graphic>
          <a:graphicData uri="http://schemas.openxmlformats.org/drawingml/2006/table">
            <a:tbl>
              <a:tblPr/>
              <a:tblGrid>
                <a:gridCol w="3256974">
                  <a:extLst>
                    <a:ext uri="{9D8B030D-6E8A-4147-A177-3AD203B41FA5}">
                      <a16:colId xmlns:a16="http://schemas.microsoft.com/office/drawing/2014/main" val="20000"/>
                    </a:ext>
                  </a:extLst>
                </a:gridCol>
                <a:gridCol w="1753755">
                  <a:extLst>
                    <a:ext uri="{9D8B030D-6E8A-4147-A177-3AD203B41FA5}">
                      <a16:colId xmlns:a16="http://schemas.microsoft.com/office/drawing/2014/main" val="20001"/>
                    </a:ext>
                  </a:extLst>
                </a:gridCol>
              </a:tblGrid>
              <a:tr h="548640">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titulo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precio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548640">
                <a:tc>
                  <a:txBody>
                    <a:bodyPr/>
                    <a:lstStyle/>
                    <a:p>
                      <a:pPr marL="0" indent="0">
                        <a:buNone/>
                      </a:pPr>
                      <a:r>
                        <a:rPr lang="en-US" sz="1150" dirty="0">
                          <a:solidFill>
                            <a:srgbClr val="212121"/>
                          </a:solidFill>
                          <a:latin typeface="Arial" pitchFamily="34" charset="0"/>
                          <a:ea typeface="Arial" pitchFamily="34" charset="-122"/>
                          <a:cs typeface="Arial" pitchFamily="34" charset="-120"/>
                        </a:rPr>
                        <a:t>El nombre del viento</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150" dirty="0">
                          <a:solidFill>
                            <a:srgbClr val="212121"/>
                          </a:solidFill>
                          <a:latin typeface="Arial" pitchFamily="34" charset="0"/>
                          <a:ea typeface="Arial" pitchFamily="34" charset="-122"/>
                          <a:cs typeface="Arial" pitchFamily="34" charset="-120"/>
                        </a:rPr>
                        <a:t>24.99</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50" dirty="0">
                          <a:solidFill>
                            <a:srgbClr val="212121"/>
                          </a:solidFill>
                          <a:latin typeface="Arial" pitchFamily="34" charset="0"/>
                          <a:ea typeface="Arial" pitchFamily="34" charset="-122"/>
                          <a:cs typeface="Arial" pitchFamily="34" charset="-120"/>
                        </a:rPr>
                        <a:t>Palabras de fuego</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150" dirty="0">
                          <a:solidFill>
                            <a:srgbClr val="212121"/>
                          </a:solidFill>
                          <a:latin typeface="Arial" pitchFamily="34" charset="0"/>
                          <a:ea typeface="Arial" pitchFamily="34" charset="-122"/>
                          <a:cs typeface="Arial" pitchFamily="34" charset="-120"/>
                        </a:rPr>
                        <a:t>22.50</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48640">
                <a:tc>
                  <a:txBody>
                    <a:bodyPr/>
                    <a:lstStyle/>
                    <a:p>
                      <a:pPr marL="0" indent="0">
                        <a:buNone/>
                      </a:pPr>
                      <a:r>
                        <a:rPr lang="en-US" sz="1150" dirty="0">
                          <a:solidFill>
                            <a:srgbClr val="212121"/>
                          </a:solidFill>
                          <a:latin typeface="Arial" pitchFamily="34" charset="0"/>
                          <a:ea typeface="Arial" pitchFamily="34" charset="-122"/>
                          <a:cs typeface="Arial" pitchFamily="34" charset="-120"/>
                        </a:rPr>
                        <a:t>La sombra del viento</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150" dirty="0">
                          <a:solidFill>
                            <a:srgbClr val="212121"/>
                          </a:solidFill>
                          <a:latin typeface="Arial" pitchFamily="34" charset="0"/>
                          <a:ea typeface="Arial" pitchFamily="34" charset="-122"/>
                          <a:cs typeface="Arial" pitchFamily="34" charset="-120"/>
                        </a:rPr>
                        <a:t>19.99</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150" dirty="0">
                          <a:solidFill>
                            <a:srgbClr val="212121"/>
                          </a:solidFill>
                          <a:latin typeface="Arial" pitchFamily="34" charset="0"/>
                          <a:ea typeface="Arial" pitchFamily="34" charset="-122"/>
                          <a:cs typeface="Arial" pitchFamily="34" charset="-120"/>
                        </a:rPr>
                        <a:t>1984</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150" dirty="0">
                          <a:solidFill>
                            <a:srgbClr val="212121"/>
                          </a:solidFill>
                          <a:latin typeface="Arial" pitchFamily="34" charset="0"/>
                          <a:ea typeface="Arial" pitchFamily="34" charset="-122"/>
                          <a:cs typeface="Arial" pitchFamily="34" charset="-120"/>
                        </a:rPr>
                        <a:t>12.99</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7" name="Text 4"/>
          <p:cNvSpPr/>
          <p:nvPr/>
        </p:nvSpPr>
        <p:spPr>
          <a:xfrm>
            <a:off x="5742249" y="1188720"/>
            <a:ext cx="5898063" cy="36576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Con la columna posicion añadida:</a:t>
            </a:r>
            <a:endParaRPr lang="en-US" sz="1600" dirty="0"/>
          </a:p>
        </p:txBody>
      </p:sp>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5742249" y="1600200"/>
          <a:ext cx="5898062" cy="2743200"/>
        </p:xfrm>
        <a:graphic>
          <a:graphicData uri="http://schemas.openxmlformats.org/drawingml/2006/table">
            <a:tbl>
              <a:tblPr/>
              <a:tblGrid>
                <a:gridCol w="3420876">
                  <a:extLst>
                    <a:ext uri="{9D8B030D-6E8A-4147-A177-3AD203B41FA5}">
                      <a16:colId xmlns:a16="http://schemas.microsoft.com/office/drawing/2014/main" val="20000"/>
                    </a:ext>
                  </a:extLst>
                </a:gridCol>
                <a:gridCol w="1415535">
                  <a:extLst>
                    <a:ext uri="{9D8B030D-6E8A-4147-A177-3AD203B41FA5}">
                      <a16:colId xmlns:a16="http://schemas.microsoft.com/office/drawing/2014/main" val="20001"/>
                    </a:ext>
                  </a:extLst>
                </a:gridCol>
                <a:gridCol w="1061651">
                  <a:extLst>
                    <a:ext uri="{9D8B030D-6E8A-4147-A177-3AD203B41FA5}">
                      <a16:colId xmlns:a16="http://schemas.microsoft.com/office/drawing/2014/main" val="20002"/>
                    </a:ext>
                  </a:extLst>
                </a:gridCol>
              </a:tblGrid>
              <a:tr h="548640">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titulo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precio</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pos.</a:t>
                      </a:r>
                      <a:endParaRPr lang="en-US" sz="13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548640">
                <a:tc>
                  <a:txBody>
                    <a:bodyPr/>
                    <a:lstStyle/>
                    <a:p>
                      <a:pPr marL="0" indent="0">
                        <a:buNone/>
                      </a:pPr>
                      <a:r>
                        <a:rPr lang="en-US" sz="1150" dirty="0">
                          <a:solidFill>
                            <a:srgbClr val="212121"/>
                          </a:solidFill>
                          <a:latin typeface="Arial" pitchFamily="34" charset="0"/>
                          <a:ea typeface="Arial" pitchFamily="34" charset="-122"/>
                          <a:cs typeface="Arial" pitchFamily="34" charset="-120"/>
                        </a:rPr>
                        <a:t>El nombre del viento</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150" dirty="0">
                          <a:solidFill>
                            <a:srgbClr val="212121"/>
                          </a:solidFill>
                          <a:latin typeface="Arial" pitchFamily="34" charset="0"/>
                          <a:ea typeface="Arial" pitchFamily="34" charset="-122"/>
                          <a:cs typeface="Arial" pitchFamily="34" charset="-120"/>
                        </a:rPr>
                        <a:t>24.99</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150" dirty="0">
                          <a:solidFill>
                            <a:srgbClr val="212121"/>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50" dirty="0">
                          <a:solidFill>
                            <a:srgbClr val="212121"/>
                          </a:solidFill>
                          <a:latin typeface="Arial" pitchFamily="34" charset="0"/>
                          <a:ea typeface="Arial" pitchFamily="34" charset="-122"/>
                          <a:cs typeface="Arial" pitchFamily="34" charset="-120"/>
                        </a:rPr>
                        <a:t>Palabras de fuego</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150" dirty="0">
                          <a:solidFill>
                            <a:srgbClr val="212121"/>
                          </a:solidFill>
                          <a:latin typeface="Arial" pitchFamily="34" charset="0"/>
                          <a:ea typeface="Arial" pitchFamily="34" charset="-122"/>
                          <a:cs typeface="Arial" pitchFamily="34" charset="-120"/>
                        </a:rPr>
                        <a:t>22.50</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150" dirty="0">
                          <a:solidFill>
                            <a:srgbClr val="212121"/>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48640">
                <a:tc>
                  <a:txBody>
                    <a:bodyPr/>
                    <a:lstStyle/>
                    <a:p>
                      <a:pPr marL="0" indent="0">
                        <a:buNone/>
                      </a:pPr>
                      <a:r>
                        <a:rPr lang="en-US" sz="1150" dirty="0">
                          <a:solidFill>
                            <a:srgbClr val="212121"/>
                          </a:solidFill>
                          <a:latin typeface="Arial" pitchFamily="34" charset="0"/>
                          <a:ea typeface="Arial" pitchFamily="34" charset="-122"/>
                          <a:cs typeface="Arial" pitchFamily="34" charset="-120"/>
                        </a:rPr>
                        <a:t>La sombra del viento</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150" dirty="0">
                          <a:solidFill>
                            <a:srgbClr val="212121"/>
                          </a:solidFill>
                          <a:latin typeface="Arial" pitchFamily="34" charset="0"/>
                          <a:ea typeface="Arial" pitchFamily="34" charset="-122"/>
                          <a:cs typeface="Arial" pitchFamily="34" charset="-120"/>
                        </a:rPr>
                        <a:t>19.99</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150" dirty="0">
                          <a:solidFill>
                            <a:srgbClr val="212121"/>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150" dirty="0">
                          <a:solidFill>
                            <a:srgbClr val="212121"/>
                          </a:solidFill>
                          <a:latin typeface="Arial" pitchFamily="34" charset="0"/>
                          <a:ea typeface="Arial" pitchFamily="34" charset="-122"/>
                          <a:cs typeface="Arial" pitchFamily="34" charset="-120"/>
                        </a:rPr>
                        <a:t>1984</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150" dirty="0">
                          <a:solidFill>
                            <a:srgbClr val="212121"/>
                          </a:solidFill>
                          <a:latin typeface="Arial" pitchFamily="34" charset="0"/>
                          <a:ea typeface="Arial" pitchFamily="34" charset="-122"/>
                          <a:cs typeface="Arial" pitchFamily="34" charset="-120"/>
                        </a:rPr>
                        <a:t>12.99</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150" dirty="0">
                          <a:solidFill>
                            <a:srgbClr val="212121"/>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Ahora aplica la misma idea al ranking de editoriales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28600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377440"/>
            <a:ext cx="10543032" cy="15544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Quieres que el propio ranking devuelva ya la posición numérica de cada editorial (1º, 2º, 3º...), en vez de calcularla tú en Java. Aquí la ventana no numera filas sueltas de libros, sino los grupos que ya forma el GROUP BY — así que combinas las dos cosas en la misma consulta. Eso ya es SQL de verdad, no JPQL.</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ranking con posición, en SQL nativo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103120"/>
            <a:ext cx="11091672" cy="192024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2103120"/>
            <a:ext cx="73152" cy="192024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212848"/>
            <a:ext cx="10588752" cy="1700784"/>
          </a:xfrm>
          <a:prstGeom prst="rect">
            <a:avLst/>
          </a:prstGeom>
          <a:noFill/>
          <a:ln/>
        </p:spPr>
        <p:txBody>
          <a:bodyPr wrap="square" rtlCol="0" anchor="t"/>
          <a:lstStyle/>
          <a:p>
            <a:pPr marL="0" indent="0">
              <a:buNone/>
            </a:pPr>
            <a:r>
              <a:rPr lang="en-US" sz="1450" dirty="0">
                <a:solidFill>
                  <a:srgbClr val="263238"/>
                </a:solidFill>
                <a:latin typeface="Courier New" pitchFamily="34" charset="0"/>
                <a:ea typeface="Courier New" pitchFamily="34" charset="-122"/>
                <a:cs typeface="Courier New" pitchFamily="34" charset="-120"/>
              </a:rPr>
              <a:t>@Query(value =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SELECT e.*, ROW_NUMBER() OVER (ORDER BY COUNT(l.id) DESC) AS posicion</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FROM editorial e LEFT JOIN libro l ON l.editorial_id = e.id</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GROUP BY e.id</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 nativeQuery = true)</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List&lt;Object[]&gt; rankingConPosicion();</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precio de pedirle a la BD algo que JPQL no puede expresar</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011680"/>
            <a:ext cx="11091672" cy="10515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103120"/>
            <a:ext cx="10543032" cy="86868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nativeQuery = true le dice a Spring Data que ese texto no es JPQL — es SQL tal cual lo entiende tu gestor, con sus tablas, columnas y funciones específicas.</a:t>
            </a:r>
            <a:endParaRPr lang="en-US" sz="1800" dirty="0"/>
          </a:p>
        </p:txBody>
      </p:sp>
      <p:sp>
        <p:nvSpPr>
          <p:cNvPr id="7" name="Text 5"/>
          <p:cNvSpPr/>
          <p:nvPr/>
        </p:nvSpPr>
        <p:spPr>
          <a:xfrm>
            <a:off x="548640" y="3337560"/>
            <a:ext cx="11091672" cy="2194560"/>
          </a:xfrm>
          <a:prstGeom prst="rect">
            <a:avLst/>
          </a:prstGeom>
          <a:noFill/>
          <a:ln/>
        </p:spPr>
        <p:txBody>
          <a:bodyPr wrap="square" rtlCol="0" anchor="t"/>
          <a:lstStyle/>
          <a:p>
            <a:pPr marL="190500" indent="-190500">
              <a:spcAft>
                <a:spcPts val="1200"/>
              </a:spcAft>
              <a:buSzPct val="100000"/>
              <a:buChar char="•"/>
            </a:pPr>
            <a:r>
              <a:rPr lang="en-US" sz="1700" dirty="0">
                <a:solidFill>
                  <a:srgbClr val="212121"/>
                </a:solidFill>
                <a:latin typeface="Arial" pitchFamily="34" charset="0"/>
                <a:ea typeface="Arial" pitchFamily="34" charset="-122"/>
                <a:cs typeface="Arial" pitchFamily="34" charset="-120"/>
              </a:rPr>
              <a:t>Pierdes la independencia de motor que sí tenía JPQL — esta consulta solo funciona en gestores que soporten esa sintaxis.</a:t>
            </a:r>
            <a:endParaRPr lang="en-US" sz="1700" dirty="0"/>
          </a:p>
          <a:p>
            <a:pPr marL="190500" indent="-190500">
              <a:spcAft>
                <a:spcPts val="1200"/>
              </a:spcAft>
              <a:buSzPct val="100000"/>
              <a:buChar char="•"/>
            </a:pPr>
            <a:r>
              <a:rPr lang="en-US" sz="1700" dirty="0">
                <a:solidFill>
                  <a:srgbClr val="212121"/>
                </a:solidFill>
                <a:latin typeface="Arial" pitchFamily="34" charset="0"/>
                <a:ea typeface="Arial" pitchFamily="34" charset="-122"/>
                <a:cs typeface="Arial" pitchFamily="34" charset="-120"/>
              </a:rPr>
              <a:t>El resultado deja de ser una lista de Editorial — pasa a ser List&lt;Object[]&gt; (cada fila, tal cual la devuelve la base de datos), porque el motor no sabe mapear una columna calculada como posicion a ningún campo de tu entidad.</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Transacciones al escribir con JPQL: @Modifying</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Text 3"/>
          <p:cNvSpPr/>
          <p:nvPr/>
        </p:nvSpPr>
        <p:spPr>
          <a:xfrm>
            <a:off x="548640" y="1463040"/>
            <a:ext cx="11091672" cy="91440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Todo lo visto hasta ahora son lecturas, pero JPQL también puede ejecutar un UPDATE o un DELETE que afecte a varias filas sin cargarlas antes en Java una a una.</a:t>
            </a:r>
            <a:endParaRPr lang="en-US" sz="2000" dirty="0"/>
          </a:p>
        </p:txBody>
      </p:sp>
      <p:sp>
        <p:nvSpPr>
          <p:cNvPr id="6" name="Shape 4"/>
          <p:cNvSpPr/>
          <p:nvPr/>
        </p:nvSpPr>
        <p:spPr>
          <a:xfrm>
            <a:off x="548640" y="2697480"/>
            <a:ext cx="11091672" cy="118872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2788920"/>
            <a:ext cx="10543032" cy="100584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Ya has hecho algo parecido mediante un procedimiento almacenado. Ahora vas a conocer otra posibilidad: escribir la actualización directamente en el repository mediante @Query.</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Aplicar un descuento a todos los libros de una editorial</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3017520"/>
            <a:ext cx="11091672" cy="146304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3017520"/>
            <a:ext cx="73152" cy="146304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3127248"/>
            <a:ext cx="10588752" cy="1243584"/>
          </a:xfrm>
          <a:prstGeom prst="rect">
            <a:avLst/>
          </a:prstGeom>
          <a:noFill/>
          <a:ln/>
        </p:spPr>
        <p:txBody>
          <a:bodyPr wrap="square" rtlCol="0" anchor="t"/>
          <a:lstStyle/>
          <a:p>
            <a:pPr marL="0" indent="0">
              <a:buNone/>
            </a:pPr>
            <a:r>
              <a:rPr lang="en-US" sz="1450" dirty="0">
                <a:solidFill>
                  <a:srgbClr val="263238"/>
                </a:solidFill>
                <a:latin typeface="Courier New" pitchFamily="34" charset="0"/>
                <a:ea typeface="Courier New" pitchFamily="34" charset="-122"/>
                <a:cs typeface="Courier New" pitchFamily="34" charset="-120"/>
              </a:rPr>
              <a:t>@Modifying</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@Transactional</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@Query("UPDATE Libro l SET l.precio = l.precio * 0.9 WHERE l.editorial.id = :editorialId")</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int aplicarDescuento(@Param("editorialId") Long editorialId);</a:t>
            </a:r>
            <a:endParaRPr lang="en-US" sz="1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@Modifying, y el int que devuelve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46888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560320"/>
            <a:ext cx="10543032" cy="15544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@Modifying le dice a Spring Data que esta consulta no es un SELECT, sino una operación que modifica datos. El método devuelve un int: el número de filas que se han actualizado. Por ejemplo, si el descuento se aplica a cinco libros, el método devolverá 5. Ninguna de esas filas necesita convertirse antes en un objeto Libro dentro de Java.</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 diferencia con el procedimiento almacenado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Text 3"/>
          <p:cNvSpPr/>
          <p:nvPr/>
        </p:nvSpPr>
        <p:spPr>
          <a:xfrm>
            <a:off x="548640" y="1463040"/>
            <a:ext cx="11091672" cy="96012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Tanto este método como el procedimiento almacenado evitan recuperar todos los libros y recorrerlos con un bucle. La diferencia principal es dónde escribes la operación:</a:t>
            </a:r>
            <a:endParaRPr lang="en-US" sz="1900" dirty="0"/>
          </a:p>
        </p:txBody>
      </p:sp>
      <p:sp>
        <p:nvSpPr>
          <p:cNvPr id="6" name="Text 4"/>
          <p:cNvSpPr/>
          <p:nvPr/>
        </p:nvSpPr>
        <p:spPr>
          <a:xfrm>
            <a:off x="548640" y="2743200"/>
            <a:ext cx="11091672" cy="1097280"/>
          </a:xfrm>
          <a:prstGeom prst="rect">
            <a:avLst/>
          </a:prstGeom>
          <a:noFill/>
          <a:ln/>
        </p:spPr>
        <p:txBody>
          <a:bodyPr wrap="square" rtlCol="0" anchor="t"/>
          <a:lstStyle/>
          <a:p>
            <a:pPr marL="190500" indent="-190500">
              <a:spcAft>
                <a:spcPts val="1400"/>
              </a:spcAft>
              <a:buSzPct val="100000"/>
              <a:buChar char="•"/>
            </a:pPr>
            <a:r>
              <a:rPr lang="en-US" sz="1900" dirty="0">
                <a:solidFill>
                  <a:srgbClr val="212121"/>
                </a:solidFill>
                <a:latin typeface="Arial" pitchFamily="34" charset="0"/>
                <a:ea typeface="Arial" pitchFamily="34" charset="-122"/>
                <a:cs typeface="Arial" pitchFamily="34" charset="-120"/>
              </a:rPr>
              <a:t>En el procedimiento almacenado, la operación se guarda dentro de PostgreSQL.</a:t>
            </a:r>
            <a:endParaRPr lang="en-US" sz="1900" dirty="0"/>
          </a:p>
          <a:p>
            <a:pPr marL="190500" indent="-190500">
              <a:spcAft>
                <a:spcPts val="1400"/>
              </a:spcAft>
              <a:buSzPct val="100000"/>
              <a:buChar char="•"/>
            </a:pPr>
            <a:r>
              <a:rPr lang="en-US" sz="1900" dirty="0">
                <a:solidFill>
                  <a:srgbClr val="212121"/>
                </a:solidFill>
                <a:latin typeface="Arial" pitchFamily="34" charset="0"/>
                <a:ea typeface="Arial" pitchFamily="34" charset="-122"/>
                <a:cs typeface="Arial" pitchFamily="34" charset="-120"/>
              </a:rPr>
              <a:t>Con JPQL, la actualización se declara en el repository de la aplicación.</a:t>
            </a:r>
            <a:endParaRPr lang="en-US" sz="1900" dirty="0"/>
          </a:p>
        </p:txBody>
      </p:sp>
      <p:sp>
        <p:nvSpPr>
          <p:cNvPr id="7" name="Text 5"/>
          <p:cNvSpPr/>
          <p:nvPr/>
        </p:nvSpPr>
        <p:spPr>
          <a:xfrm>
            <a:off x="548640" y="4160520"/>
            <a:ext cx="11091672" cy="777240"/>
          </a:xfrm>
          <a:prstGeom prst="rect">
            <a:avLst/>
          </a:prstGeom>
          <a:noFill/>
          <a:ln/>
        </p:spPr>
        <p:txBody>
          <a:bodyPr wrap="square" rtlCol="0" anchor="t"/>
          <a:lstStyle/>
          <a:p>
            <a:pPr marL="0" indent="0">
              <a:buNone/>
            </a:pPr>
            <a:r>
              <a:rPr lang="en-US" sz="1700" dirty="0">
                <a:solidFill>
                  <a:srgbClr val="757575"/>
                </a:solidFill>
                <a:latin typeface="Arial" pitchFamily="34" charset="0"/>
                <a:ea typeface="Arial" pitchFamily="34" charset="-122"/>
                <a:cs typeface="Arial" pitchFamily="34" charset="-120"/>
              </a:rPr>
              <a:t>En este apartado utilizarás la segunda opción porque el objetivo es aprender a escribir consultas de modificación mediante @Query y @Modifying.</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Aquí @Transactional no puede ser readOnly</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Shape 3"/>
          <p:cNvSpPr/>
          <p:nvPr/>
        </p:nvSpPr>
        <p:spPr>
          <a:xfrm>
            <a:off x="548640" y="2468880"/>
            <a:ext cx="11091672" cy="1888516"/>
          </a:xfrm>
          <a:prstGeom prst="roundRect">
            <a:avLst/>
          </a:prstGeom>
          <a:solidFill>
            <a:srgbClr val="FBE9E7"/>
          </a:solidFill>
          <a:ln w="22225">
            <a:solidFill>
              <a:srgbClr val="C62828"/>
            </a:solidFill>
            <a:prstDash val="solid"/>
          </a:ln>
        </p:spPr>
        <p:txBody>
          <a:bodyPr/>
          <a:lstStyle/>
          <a:p>
            <a:endParaRPr lang="es-ES"/>
          </a:p>
        </p:txBody>
      </p:sp>
      <p:sp>
        <p:nvSpPr>
          <p:cNvPr id="6" name="Text 4"/>
          <p:cNvSpPr/>
          <p:nvPr/>
        </p:nvSpPr>
        <p:spPr>
          <a:xfrm>
            <a:off x="822960" y="2578608"/>
            <a:ext cx="10543032" cy="1517904"/>
          </a:xfrm>
          <a:prstGeom prst="rect">
            <a:avLst/>
          </a:prstGeom>
          <a:noFill/>
          <a:ln/>
        </p:spPr>
        <p:txBody>
          <a:bodyPr wrap="square" rtlCol="0" anchor="t"/>
          <a:lstStyle/>
          <a:p>
            <a:pPr marL="0" indent="0">
              <a:buNone/>
            </a:pPr>
            <a:r>
              <a:rPr lang="en-US" sz="2100" b="1" dirty="0">
                <a:solidFill>
                  <a:srgbClr val="C62828"/>
                </a:solidFill>
                <a:latin typeface="Arial" pitchFamily="34" charset="0"/>
                <a:ea typeface="Arial" pitchFamily="34" charset="-122"/>
                <a:cs typeface="Arial" pitchFamily="34" charset="-120"/>
              </a:rPr>
              <a:t>⚠ Una transacción de escritura, sin readOnly
</a:t>
            </a:r>
            <a:endParaRPr lang="en-US" sz="2100" dirty="0"/>
          </a:p>
          <a:p>
            <a:pPr marL="0" indent="0">
              <a:buNone/>
            </a:pPr>
            <a:r>
              <a:rPr lang="en-US" sz="2000" dirty="0">
                <a:solidFill>
                  <a:srgbClr val="212121"/>
                </a:solidFill>
                <a:latin typeface="Arial" pitchFamily="34" charset="0"/>
                <a:ea typeface="Arial" pitchFamily="34" charset="-122"/>
                <a:cs typeface="Arial" pitchFamily="34" charset="-120"/>
              </a:rPr>
              <a:t>Un UPDATE o un DELETE modifica datos, por lo que necesita una transacción de escritura. Debes utilizar @Transactional a secas, igual que en los métodos create() y update() de tus servicios.</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Ideas clave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Text 3"/>
          <p:cNvSpPr/>
          <p:nvPr/>
        </p:nvSpPr>
        <p:spPr>
          <a:xfrm>
            <a:off x="548640" y="1554480"/>
            <a:ext cx="11091672" cy="4023360"/>
          </a:xfrm>
          <a:prstGeom prst="rect">
            <a:avLst/>
          </a:prstGeom>
          <a:noFill/>
          <a:ln/>
        </p:spPr>
        <p:txBody>
          <a:bodyPr wrap="square" rtlCol="0" anchor="t"/>
          <a:lstStyle/>
          <a:p>
            <a:pPr marL="190500" indent="-190500">
              <a:spcAft>
                <a:spcPts val="1800"/>
              </a:spcAft>
              <a:buSzPct val="100000"/>
              <a:buChar char="•"/>
            </a:pPr>
            <a:r>
              <a:rPr lang="en-US" sz="1800" dirty="0">
                <a:solidFill>
                  <a:srgbClr val="212121"/>
                </a:solidFill>
                <a:latin typeface="Arial" pitchFamily="34" charset="0"/>
                <a:ea typeface="Arial" pitchFamily="34" charset="-122"/>
                <a:cs typeface="Arial" pitchFamily="34" charset="-120"/>
              </a:rPr>
              <a:t>JPQL opera sobre entidades y propiedades Java, no sobre tablas y columnas SQL.</a:t>
            </a:r>
            <a:endParaRPr lang="en-US" sz="1800" dirty="0"/>
          </a:p>
          <a:p>
            <a:pPr marL="190500" indent="-190500">
              <a:spcAft>
                <a:spcPts val="1800"/>
              </a:spcAft>
              <a:buSzPct val="100000"/>
              <a:buChar char="•"/>
            </a:pPr>
            <a:r>
              <a:rPr lang="en-US" sz="1800" dirty="0">
                <a:solidFill>
                  <a:srgbClr val="212121"/>
                </a:solidFill>
                <a:latin typeface="Arial" pitchFamily="34" charset="0"/>
                <a:ea typeface="Arial" pitchFamily="34" charset="-122"/>
                <a:cs typeface="Arial" pitchFamily="34" charset="-120"/>
              </a:rPr>
              <a:t>Las tres vías de consulta de Spring Data: naming de método (simple y fijo), Specifications (dinámico), @Query/JPQL (complejo y fijo, típicamente agregaciones).</a:t>
            </a:r>
            <a:endParaRPr lang="en-US" sz="1800" dirty="0"/>
          </a:p>
          <a:p>
            <a:pPr marL="190500" indent="-190500">
              <a:spcAft>
                <a:spcPts val="1800"/>
              </a:spcAft>
              <a:buSzPct val="100000"/>
              <a:buChar char="•"/>
            </a:pPr>
            <a:r>
              <a:rPr lang="en-US" sz="1800" dirty="0">
                <a:solidFill>
                  <a:srgbClr val="212121"/>
                </a:solidFill>
                <a:latin typeface="Arial" pitchFamily="34" charset="0"/>
                <a:ea typeface="Arial" pitchFamily="34" charset="-122"/>
                <a:cs typeface="Arial" pitchFamily="34" charset="-120"/>
              </a:rPr>
              <a:t>@Param conecta un :parámetro del JPQL con un argumento del método — el nombre tiene que coincidir exactamente.</a:t>
            </a:r>
            <a:endParaRPr lang="en-US" sz="1800" dirty="0"/>
          </a:p>
          <a:p>
            <a:pPr marL="190500" indent="-190500">
              <a:spcAft>
                <a:spcPts val="1800"/>
              </a:spcAft>
              <a:buSzPct val="100000"/>
              <a:buChar char="•"/>
            </a:pPr>
            <a:r>
              <a:rPr lang="en-US" sz="1800" dirty="0">
                <a:solidFill>
                  <a:srgbClr val="212121"/>
                </a:solidFill>
                <a:latin typeface="Arial" pitchFamily="34" charset="0"/>
                <a:ea typeface="Arial" pitchFamily="34" charset="-122"/>
                <a:cs typeface="Arial" pitchFamily="34" charset="-120"/>
              </a:rPr>
              <a:t>Spring comprueba las consultas escritas con @Query al arrancar la aplicación; en una Specification, algunos errores solo aparecen al ejecutar la búsqueda.</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Ideas clave (cont.)</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Consultas JPQL y transacciones</a:t>
            </a:r>
            <a:endParaRPr lang="en-US" sz="1100" dirty="0"/>
          </a:p>
        </p:txBody>
      </p:sp>
      <p:sp>
        <p:nvSpPr>
          <p:cNvPr id="5" name="Text 3"/>
          <p:cNvSpPr/>
          <p:nvPr/>
        </p:nvSpPr>
        <p:spPr>
          <a:xfrm>
            <a:off x="548640" y="2194560"/>
            <a:ext cx="11091672" cy="3291840"/>
          </a:xfrm>
          <a:prstGeom prst="rect">
            <a:avLst/>
          </a:prstGeom>
          <a:noFill/>
          <a:ln/>
        </p:spPr>
        <p:txBody>
          <a:bodyPr wrap="square" rtlCol="0" anchor="t"/>
          <a:lstStyle/>
          <a:p>
            <a:pPr marL="190500" indent="-190500">
              <a:spcAft>
                <a:spcPts val="2000"/>
              </a:spcAft>
              <a:buSzPct val="100000"/>
              <a:buChar char="•"/>
            </a:pPr>
            <a:r>
              <a:rPr lang="en-US" sz="1800" dirty="0">
                <a:solidFill>
                  <a:srgbClr val="212121"/>
                </a:solidFill>
                <a:latin typeface="Arial" pitchFamily="34" charset="0"/>
                <a:ea typeface="Arial" pitchFamily="34" charset="-122"/>
                <a:cs typeface="Arial" pitchFamily="34" charset="-120"/>
              </a:rPr>
              <a:t>@Query(nativeQuery = true) escribe SQL literal cuando JPQL no llega — a cambio, pierdes independencia de motor y el resultado ya no son entidades, sino Object[] por fila.</a:t>
            </a:r>
            <a:endParaRPr lang="en-US" sz="1800" dirty="0"/>
          </a:p>
          <a:p>
            <a:pPr marL="190500" indent="-190500">
              <a:spcAft>
                <a:spcPts val="2000"/>
              </a:spcAft>
              <a:buSzPct val="100000"/>
              <a:buChar char="•"/>
            </a:pPr>
            <a:r>
              <a:rPr lang="en-US" sz="1800" dirty="0">
                <a:solidFill>
                  <a:srgbClr val="212121"/>
                </a:solidFill>
                <a:latin typeface="Arial" pitchFamily="34" charset="0"/>
                <a:ea typeface="Arial" pitchFamily="34" charset="-122"/>
                <a:cs typeface="Arial" pitchFamily="34" charset="-120"/>
              </a:rPr>
              <a:t>Una agregación (COUNT, SUM, AVG... con GROUP BY) resume varias filas en un resultado.</a:t>
            </a:r>
            <a:endParaRPr lang="en-US" sz="1800" dirty="0"/>
          </a:p>
          <a:p>
            <a:pPr marL="190500" indent="-190500">
              <a:spcAft>
                <a:spcPts val="2000"/>
              </a:spcAft>
              <a:buSzPct val="100000"/>
              <a:buChar char="•"/>
            </a:pPr>
            <a:r>
              <a:rPr lang="en-US" sz="1800" dirty="0">
                <a:solidFill>
                  <a:srgbClr val="212121"/>
                </a:solidFill>
                <a:latin typeface="Arial" pitchFamily="34" charset="0"/>
                <a:ea typeface="Arial" pitchFamily="34" charset="-122"/>
                <a:cs typeface="Arial" pitchFamily="34" charset="-120"/>
              </a:rPr>
              <a:t>@Modifying marca una @Query JPQL como escritura (UPDATE/DELETE); necesita @Transactional a secas, nunca readOnly, y devuelve el número de filas afectadas, no una lista.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2692</Words>
  <Application>Microsoft Office PowerPoint</Application>
  <PresentationFormat>Panorámica</PresentationFormat>
  <Paragraphs>228</Paragraphs>
  <Slides>35</Slides>
  <Notes>35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35</vt:i4>
      </vt:variant>
    </vt:vector>
  </HeadingPairs>
  <TitlesOfParts>
    <vt:vector size="38"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Consultas JPQL y transacciones</dc:title>
  <dc:subject>PptxGenJS Presentation</dc:subject>
  <dc:creator>Acceso a Datos</dc:creator>
  <cp:lastModifiedBy>VENTURA EDO, AITOR</cp:lastModifiedBy>
  <cp:revision>4</cp:revision>
  <dcterms:created xsi:type="dcterms:W3CDTF">2026-08-05T23:14:52Z</dcterms:created>
  <dcterms:modified xsi:type="dcterms:W3CDTF">2026-09-17T14:58:55Z</dcterms:modified>
</cp:coreProperties>
</file>