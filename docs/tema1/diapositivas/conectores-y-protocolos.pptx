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03599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7F0000"/>
        </a:solidFill>
        <a:effectLst/>
      </p:bgPr>
    </p:bg>
    <p:spTree>
      <p:nvGrpSpPr>
        <p:cNvPr id="1" name=""/>
        <p:cNvGrpSpPr/>
        <p:nvPr/>
      </p:nvGrpSpPr>
      <p:grpSpPr>
        <a:xfrm>
          <a:off x="0" y="0"/>
          <a:ext cx="0" cy="0"/>
          <a:chOff x="0" y="0"/>
          <a:chExt cx="0" cy="0"/>
        </a:xfrm>
      </p:grpSpPr>
      <p:sp>
        <p:nvSpPr>
          <p:cNvPr id="2" name="Text 0"/>
          <p:cNvSpPr/>
          <p:nvPr/>
        </p:nvSpPr>
        <p:spPr>
          <a:xfrm>
            <a:off x="548640" y="502920"/>
            <a:ext cx="11091672" cy="411480"/>
          </a:xfrm>
          <a:prstGeom prst="rect">
            <a:avLst/>
          </a:prstGeom>
          <a:noFill/>
          <a:ln/>
        </p:spPr>
        <p:txBody>
          <a:bodyPr wrap="square" rtlCol="0" anchor="ctr"/>
          <a:lstStyle/>
          <a:p>
            <a:pPr marL="0" indent="0">
              <a:buNone/>
            </a:pPr>
            <a:r>
              <a:rPr lang="en-US" sz="1400" dirty="0">
                <a:solidFill>
                  <a:srgbClr val="E0A8A8"/>
                </a:solidFill>
                <a:latin typeface="Arial" pitchFamily="34" charset="0"/>
                <a:ea typeface="Arial" pitchFamily="34" charset="-122"/>
                <a:cs typeface="Arial" pitchFamily="34" charset="-120"/>
              </a:rPr>
              <a:t>ACCESO A DATOS  —  TEMA 1: MANEJO DE CONECTORES Y HERRAMIENTAS ORM</a:t>
            </a:r>
            <a:endParaRPr lang="en-US" sz="1400" dirty="0"/>
          </a:p>
        </p:txBody>
      </p:sp>
      <p:sp>
        <p:nvSpPr>
          <p:cNvPr id="3" name="Text 1"/>
          <p:cNvSpPr/>
          <p:nvPr/>
        </p:nvSpPr>
        <p:spPr>
          <a:xfrm>
            <a:off x="548640" y="1554480"/>
            <a:ext cx="11091672" cy="2377440"/>
          </a:xfrm>
          <a:prstGeom prst="rect">
            <a:avLst/>
          </a:prstGeom>
          <a:noFill/>
          <a:ln/>
        </p:spPr>
        <p:txBody>
          <a:bodyPr wrap="square" rtlCol="0" anchor="ctr"/>
          <a:lstStyle/>
          <a:p>
            <a:pPr marL="0" indent="0" algn="l">
              <a:buNone/>
            </a:pPr>
            <a:r>
              <a:rPr lang="en-US" sz="4000" b="1" dirty="0">
                <a:solidFill>
                  <a:srgbClr val="FFFFFF"/>
                </a:solidFill>
                <a:latin typeface="Arial" pitchFamily="34" charset="0"/>
                <a:ea typeface="Arial" pitchFamily="34" charset="-122"/>
                <a:cs typeface="Arial" pitchFamily="34" charset="-120"/>
              </a:rPr>
              <a:t>Conectores y protocolos</a:t>
            </a:r>
            <a:endParaRPr lang="en-US" sz="4000" dirty="0"/>
          </a:p>
          <a:p>
            <a:pPr marL="0" indent="0" algn="l">
              <a:buNone/>
            </a:pPr>
            <a:r>
              <a:rPr lang="en-US" sz="4000" b="1" dirty="0">
                <a:solidFill>
                  <a:srgbClr val="FFFFFF"/>
                </a:solidFill>
                <a:latin typeface="Arial" pitchFamily="34" charset="0"/>
                <a:ea typeface="Arial" pitchFamily="34" charset="-122"/>
                <a:cs typeface="Arial" pitchFamily="34" charset="-120"/>
              </a:rPr>
              <a:t>de acceso a bases de datos</a:t>
            </a:r>
            <a:endParaRPr lang="en-US" sz="4000" dirty="0"/>
          </a:p>
        </p:txBody>
      </p:sp>
      <p:sp>
        <p:nvSpPr>
          <p:cNvPr id="4" name="Shape 2"/>
          <p:cNvSpPr/>
          <p:nvPr/>
        </p:nvSpPr>
        <p:spPr>
          <a:xfrm>
            <a:off x="0" y="5120640"/>
            <a:ext cx="12188952" cy="914400"/>
          </a:xfrm>
          <a:prstGeom prst="rect">
            <a:avLst/>
          </a:prstGeom>
          <a:solidFill>
            <a:srgbClr val="E64A19"/>
          </a:solidFill>
          <a:ln w="12700">
            <a:solidFill>
              <a:srgbClr val="E64A19"/>
            </a:solidFill>
            <a:prstDash val="solid"/>
          </a:ln>
        </p:spPr>
        <p:txBody>
          <a:bodyPr/>
          <a:lstStyle/>
          <a:p>
            <a:endParaRPr lang="es-ES"/>
          </a:p>
        </p:txBody>
      </p:sp>
      <p:sp>
        <p:nvSpPr>
          <p:cNvPr id="5" name="Text 3"/>
          <p:cNvSpPr/>
          <p:nvPr/>
        </p:nvSpPr>
        <p:spPr>
          <a:xfrm>
            <a:off x="548640" y="5120640"/>
            <a:ext cx="11091672" cy="914400"/>
          </a:xfrm>
          <a:prstGeom prst="rect">
            <a:avLst/>
          </a:prstGeom>
          <a:noFill/>
          <a:ln/>
        </p:spPr>
        <p:txBody>
          <a:bodyPr wrap="square" rtlCol="0" anchor="ctr"/>
          <a:lstStyle/>
          <a:p>
            <a:pPr marL="0" indent="0">
              <a:buNone/>
            </a:pPr>
            <a:r>
              <a:rPr lang="en-US" sz="2000" i="1" dirty="0">
                <a:solidFill>
                  <a:srgbClr val="FFFFFF"/>
                </a:solidFill>
                <a:latin typeface="Arial" pitchFamily="34" charset="0"/>
                <a:ea typeface="Arial" pitchFamily="34" charset="-122"/>
                <a:cs typeface="Arial" pitchFamily="34" charset="-120"/>
              </a:rPr>
              <a:t>2. Conectores y protocolos de acceso a bases de datos</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Conectores y protocolos de acceso a bases de datos</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Conectores y protocolos</a:t>
            </a:r>
            <a:endParaRPr lang="en-US" sz="1100" dirty="0"/>
          </a:p>
        </p:txBody>
      </p:sp>
      <p:sp>
        <p:nvSpPr>
          <p:cNvPr id="5" name="Shape 3"/>
          <p:cNvSpPr/>
          <p:nvPr/>
        </p:nvSpPr>
        <p:spPr>
          <a:xfrm>
            <a:off x="548640" y="2514600"/>
            <a:ext cx="11091672" cy="2468880"/>
          </a:xfrm>
          <a:prstGeom prst="roundRect">
            <a:avLst/>
          </a:prstGeom>
          <a:solidFill>
            <a:srgbClr val="FBE9E7"/>
          </a:solidFill>
          <a:ln w="19050">
            <a:solidFill>
              <a:srgbClr val="E64A19"/>
            </a:solidFill>
            <a:prstDash val="solid"/>
          </a:ln>
        </p:spPr>
        <p:txBody>
          <a:bodyPr/>
          <a:lstStyle/>
          <a:p>
            <a:endParaRPr lang="es-ES"/>
          </a:p>
        </p:txBody>
      </p:sp>
      <p:sp>
        <p:nvSpPr>
          <p:cNvPr id="6" name="Text 4"/>
          <p:cNvSpPr/>
          <p:nvPr/>
        </p:nvSpPr>
        <p:spPr>
          <a:xfrm>
            <a:off x="822960" y="2606040"/>
            <a:ext cx="10543032" cy="2286000"/>
          </a:xfrm>
          <a:prstGeom prst="rect">
            <a:avLst/>
          </a:prstGeom>
          <a:noFill/>
          <a:ln/>
        </p:spPr>
        <p:txBody>
          <a:bodyPr wrap="square" rtlCol="0" anchor="ctr"/>
          <a:lstStyle/>
          <a:p>
            <a:pPr marL="0" indent="0">
              <a:buNone/>
            </a:pPr>
            <a:r>
              <a:rPr lang="en-US" sz="2300" dirty="0">
                <a:solidFill>
                  <a:srgbClr val="212121"/>
                </a:solidFill>
                <a:latin typeface="Arial" pitchFamily="34" charset="0"/>
                <a:ea typeface="Arial" pitchFamily="34" charset="-122"/>
                <a:cs typeface="Arial" pitchFamily="34" charset="-120"/>
              </a:rPr>
              <a:t>Conoces SQL y bases de datos relacionales desde 1º de DAM — pero hasta ahora las has usado siempre desde una herramienta externa (un cliente SQL, un script). En el apartado anterior has visto que el repository es la capa que habla con la base de datos, sin entrar en cómo lo hace por dentro. Este apartado responde a esa pregunta: ¿cómo habla tu programa Java, con sus clases y objetos, con una base de datos que solo entiende tablas y filas?</a:t>
            </a:r>
            <a:endParaRPr lang="en-US" sz="2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El problema de partida: objetos contra tablas</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Conectores y protocolos</a:t>
            </a:r>
            <a:endParaRPr lang="en-US" sz="1100" dirty="0"/>
          </a:p>
        </p:txBody>
      </p:sp>
      <p:sp>
        <p:nvSpPr>
          <p:cNvPr id="5" name="Text 3"/>
          <p:cNvSpPr/>
          <p:nvPr/>
        </p:nvSpPr>
        <p:spPr>
          <a:xfrm>
            <a:off x="548640" y="1097280"/>
            <a:ext cx="11091672" cy="548640"/>
          </a:xfrm>
          <a:prstGeom prst="rect">
            <a:avLst/>
          </a:prstGeom>
          <a:noFill/>
          <a:ln/>
        </p:spPr>
        <p:txBody>
          <a:bodyPr wrap="square" rtlCol="0" anchor="t"/>
          <a:lstStyle/>
          <a:p>
            <a:pPr marL="0" indent="0">
              <a:buNone/>
            </a:pPr>
            <a:r>
              <a:rPr lang="en-US" sz="1900" dirty="0">
                <a:solidFill>
                  <a:srgbClr val="212121"/>
                </a:solidFill>
                <a:latin typeface="Arial" pitchFamily="34" charset="0"/>
                <a:ea typeface="Arial" pitchFamily="34" charset="-122"/>
                <a:cs typeface="Arial" pitchFamily="34" charset="-120"/>
              </a:rPr>
              <a:t>Imagina una clase Editorial con una lista de Libro — la misma pareja de clases que vas a usar durante todo este tema:</a:t>
            </a:r>
            <a:endParaRPr lang="en-US" sz="1900" dirty="0"/>
          </a:p>
        </p:txBody>
      </p:sp>
      <p:sp>
        <p:nvSpPr>
          <p:cNvPr id="6" name="Shape 4"/>
          <p:cNvSpPr/>
          <p:nvPr/>
        </p:nvSpPr>
        <p:spPr>
          <a:xfrm>
            <a:off x="548640" y="1828800"/>
            <a:ext cx="11091672" cy="1371600"/>
          </a:xfrm>
          <a:prstGeom prst="rect">
            <a:avLst/>
          </a:prstGeom>
          <a:solidFill>
            <a:srgbClr val="ECEFF1"/>
          </a:solidFill>
          <a:ln w="12700">
            <a:solidFill>
              <a:srgbClr val="EEEEEE"/>
            </a:solidFill>
            <a:prstDash val="solid"/>
          </a:ln>
        </p:spPr>
        <p:txBody>
          <a:bodyPr/>
          <a:lstStyle/>
          <a:p>
            <a:endParaRPr lang="es-ES"/>
          </a:p>
        </p:txBody>
      </p:sp>
      <p:sp>
        <p:nvSpPr>
          <p:cNvPr id="7" name="Shape 5"/>
          <p:cNvSpPr/>
          <p:nvPr/>
        </p:nvSpPr>
        <p:spPr>
          <a:xfrm>
            <a:off x="548640" y="1828800"/>
            <a:ext cx="73152" cy="1371600"/>
          </a:xfrm>
          <a:prstGeom prst="rect">
            <a:avLst/>
          </a:prstGeom>
          <a:solidFill>
            <a:srgbClr val="E64A19"/>
          </a:solidFill>
          <a:ln w="12700">
            <a:solidFill>
              <a:srgbClr val="E64A19"/>
            </a:solidFill>
            <a:prstDash val="solid"/>
          </a:ln>
        </p:spPr>
        <p:txBody>
          <a:bodyPr/>
          <a:lstStyle/>
          <a:p>
            <a:endParaRPr lang="es-ES"/>
          </a:p>
        </p:txBody>
      </p:sp>
      <p:sp>
        <p:nvSpPr>
          <p:cNvPr id="8" name="Text 6"/>
          <p:cNvSpPr/>
          <p:nvPr/>
        </p:nvSpPr>
        <p:spPr>
          <a:xfrm>
            <a:off x="822960" y="1938528"/>
            <a:ext cx="10588752" cy="1152144"/>
          </a:xfrm>
          <a:prstGeom prst="rect">
            <a:avLst/>
          </a:prstGeom>
          <a:noFill/>
          <a:ln/>
        </p:spPr>
        <p:txBody>
          <a:bodyPr wrap="square" rtlCol="0" anchor="t"/>
          <a:lstStyle/>
          <a:p>
            <a:pPr marL="0" indent="0">
              <a:buNone/>
            </a:pPr>
            <a:r>
              <a:rPr lang="en-US" sz="1800" dirty="0">
                <a:solidFill>
                  <a:srgbClr val="263238"/>
                </a:solidFill>
                <a:latin typeface="Courier New" pitchFamily="34" charset="0"/>
                <a:ea typeface="Courier New" pitchFamily="34" charset="-122"/>
                <a:cs typeface="Courier New" pitchFamily="34" charset="-120"/>
              </a:rPr>
              <a:t>class Editorial {</a:t>
            </a:r>
            <a:endParaRPr lang="en-US" sz="1800" dirty="0"/>
          </a:p>
          <a:p>
            <a:pPr marL="0" indent="0">
              <a:buNone/>
            </a:pPr>
            <a:r>
              <a:rPr lang="en-US" sz="1800" dirty="0">
                <a:solidFill>
                  <a:srgbClr val="263238"/>
                </a:solidFill>
                <a:latin typeface="Courier New" pitchFamily="34" charset="0"/>
                <a:ea typeface="Courier New" pitchFamily="34" charset="-122"/>
                <a:cs typeface="Courier New" pitchFamily="34" charset="-120"/>
              </a:rPr>
              <a:t>    String nombre;</a:t>
            </a:r>
            <a:endParaRPr lang="en-US" sz="1800" dirty="0"/>
          </a:p>
          <a:p>
            <a:pPr marL="0" indent="0">
              <a:buNone/>
            </a:pPr>
            <a:r>
              <a:rPr lang="en-US" sz="1800" dirty="0">
                <a:solidFill>
                  <a:srgbClr val="263238"/>
                </a:solidFill>
                <a:latin typeface="Courier New" pitchFamily="34" charset="0"/>
                <a:ea typeface="Courier New" pitchFamily="34" charset="-122"/>
                <a:cs typeface="Courier New" pitchFamily="34" charset="-120"/>
              </a:rPr>
              <a:t>    List&lt;Libro&gt; libros;</a:t>
            </a:r>
            <a:endParaRPr lang="en-US" sz="1800" dirty="0"/>
          </a:p>
          <a:p>
            <a:pPr marL="0" indent="0">
              <a:buNone/>
            </a:pPr>
            <a:r>
              <a:rPr lang="en-US" sz="1800" dirty="0">
                <a:solidFill>
                  <a:srgbClr val="263238"/>
                </a:solidFill>
                <a:latin typeface="Courier New" pitchFamily="34" charset="0"/>
                <a:ea typeface="Courier New" pitchFamily="34" charset="-122"/>
                <a:cs typeface="Courier New" pitchFamily="34" charset="-120"/>
              </a:rPr>
              <a:t>}</a:t>
            </a:r>
            <a:endParaRPr lang="en-US" sz="1800" dirty="0"/>
          </a:p>
        </p:txBody>
      </p:sp>
      <p:sp>
        <p:nvSpPr>
          <p:cNvPr id="9" name="Text 7"/>
          <p:cNvSpPr/>
          <p:nvPr/>
        </p:nvSpPr>
        <p:spPr>
          <a:xfrm>
            <a:off x="548640" y="3474720"/>
            <a:ext cx="11091672" cy="457200"/>
          </a:xfrm>
          <a:prstGeom prst="rect">
            <a:avLst/>
          </a:prstGeom>
          <a:noFill/>
          <a:ln/>
        </p:spPr>
        <p:txBody>
          <a:bodyPr wrap="square" rtlCol="0" anchor="t"/>
          <a:lstStyle/>
          <a:p>
            <a:pPr marL="0" indent="0">
              <a:buNone/>
            </a:pPr>
            <a:r>
              <a:rPr lang="en-US" sz="1900" dirty="0">
                <a:solidFill>
                  <a:srgbClr val="212121"/>
                </a:solidFill>
                <a:latin typeface="Arial" pitchFamily="34" charset="0"/>
                <a:ea typeface="Arial" pitchFamily="34" charset="-122"/>
                <a:cs typeface="Arial" pitchFamily="34" charset="-120"/>
              </a:rPr>
              <a:t>Y, en la base de datos, dos tablas relacionadas por clave foránea:</a:t>
            </a:r>
            <a:endParaRPr lang="en-US" sz="1900" dirty="0"/>
          </a:p>
        </p:txBody>
      </p:sp>
      <p:sp>
        <p:nvSpPr>
          <p:cNvPr id="10" name="Shape 8"/>
          <p:cNvSpPr/>
          <p:nvPr/>
        </p:nvSpPr>
        <p:spPr>
          <a:xfrm>
            <a:off x="548640" y="4114800"/>
            <a:ext cx="11091672" cy="1005840"/>
          </a:xfrm>
          <a:prstGeom prst="rect">
            <a:avLst/>
          </a:prstGeom>
          <a:solidFill>
            <a:srgbClr val="ECEFF1"/>
          </a:solidFill>
          <a:ln w="12700">
            <a:solidFill>
              <a:srgbClr val="EEEEEE"/>
            </a:solidFill>
            <a:prstDash val="solid"/>
          </a:ln>
        </p:spPr>
        <p:txBody>
          <a:bodyPr/>
          <a:lstStyle/>
          <a:p>
            <a:endParaRPr lang="es-ES"/>
          </a:p>
        </p:txBody>
      </p:sp>
      <p:sp>
        <p:nvSpPr>
          <p:cNvPr id="11" name="Shape 9"/>
          <p:cNvSpPr/>
          <p:nvPr/>
        </p:nvSpPr>
        <p:spPr>
          <a:xfrm>
            <a:off x="548640" y="4114800"/>
            <a:ext cx="73152" cy="1005840"/>
          </a:xfrm>
          <a:prstGeom prst="rect">
            <a:avLst/>
          </a:prstGeom>
          <a:solidFill>
            <a:srgbClr val="E64A19"/>
          </a:solidFill>
          <a:ln w="12700">
            <a:solidFill>
              <a:srgbClr val="E64A19"/>
            </a:solidFill>
            <a:prstDash val="solid"/>
          </a:ln>
        </p:spPr>
        <p:txBody>
          <a:bodyPr/>
          <a:lstStyle/>
          <a:p>
            <a:endParaRPr lang="es-ES"/>
          </a:p>
        </p:txBody>
      </p:sp>
      <p:sp>
        <p:nvSpPr>
          <p:cNvPr id="12" name="Text 10"/>
          <p:cNvSpPr/>
          <p:nvPr/>
        </p:nvSpPr>
        <p:spPr>
          <a:xfrm>
            <a:off x="822960" y="4224528"/>
            <a:ext cx="10588752" cy="786384"/>
          </a:xfrm>
          <a:prstGeom prst="rect">
            <a:avLst/>
          </a:prstGeom>
          <a:noFill/>
          <a:ln/>
        </p:spPr>
        <p:txBody>
          <a:bodyPr wrap="square" rtlCol="0" anchor="t"/>
          <a:lstStyle/>
          <a:p>
            <a:pPr marL="0" indent="0">
              <a:buNone/>
            </a:pPr>
            <a:r>
              <a:rPr lang="en-US" sz="1500" dirty="0">
                <a:solidFill>
                  <a:srgbClr val="263238"/>
                </a:solidFill>
                <a:latin typeface="Courier New" pitchFamily="34" charset="0"/>
                <a:ea typeface="Courier New" pitchFamily="34" charset="-122"/>
                <a:cs typeface="Courier New" pitchFamily="34" charset="-120"/>
              </a:rPr>
              <a:t>CREATE TABLE editorial (id INT PRIMARY KEY, nombre VARCHAR(100));</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CREATE TABLE libro (id INT PRIMARY KEY, editorial_id INT REFERENCES editorial(id));</a:t>
            </a:r>
            <a:endParaRPr lang="en-US" sz="1500" dirty="0"/>
          </a:p>
        </p:txBody>
      </p:sp>
      <p:sp>
        <p:nvSpPr>
          <p:cNvPr id="13" name="Text 11"/>
          <p:cNvSpPr/>
          <p:nvPr/>
        </p:nvSpPr>
        <p:spPr>
          <a:xfrm>
            <a:off x="548640" y="5394960"/>
            <a:ext cx="11091672" cy="457200"/>
          </a:xfrm>
          <a:prstGeom prst="rect">
            <a:avLst/>
          </a:prstGeom>
          <a:noFill/>
          <a:ln/>
        </p:spPr>
        <p:txBody>
          <a:bodyPr wrap="square" rtlCol="0" anchor="t"/>
          <a:lstStyle/>
          <a:p>
            <a:pPr marL="0" indent="0">
              <a:buNone/>
            </a:pPr>
            <a:r>
              <a:rPr lang="en-US" sz="1900" i="1" dirty="0">
                <a:solidFill>
                  <a:srgbClr val="757575"/>
                </a:solidFill>
                <a:latin typeface="Arial" pitchFamily="34" charset="0"/>
                <a:ea typeface="Arial" pitchFamily="34" charset="-122"/>
                <a:cs typeface="Arial" pitchFamily="34" charset="-120"/>
              </a:rPr>
              <a:t>Aunque representan la misma idea, la forma de trabajar con cada una es distinta:</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El problema de partida (cont.)</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Conectores y protocolos</a:t>
            </a:r>
            <a:endParaRPr lang="en-US" sz="1100" dirty="0"/>
          </a:p>
        </p:txBody>
      </p:sp>
      <p:sp>
        <p:nvSpPr>
          <p:cNvPr id="5" name="Text 3"/>
          <p:cNvSpPr/>
          <p:nvPr/>
        </p:nvSpPr>
        <p:spPr>
          <a:xfrm>
            <a:off x="548640" y="1234440"/>
            <a:ext cx="11091672" cy="2926080"/>
          </a:xfrm>
          <a:prstGeom prst="rect">
            <a:avLst/>
          </a:prstGeom>
          <a:noFill/>
          <a:ln/>
        </p:spPr>
        <p:txBody>
          <a:bodyPr wrap="square" rtlCol="0" anchor="t"/>
          <a:lstStyle/>
          <a:p>
            <a:pPr marL="190500" indent="-190500">
              <a:spcAft>
                <a:spcPts val="1400"/>
              </a:spcAft>
              <a:buSzPct val="100000"/>
              <a:buChar char="•"/>
            </a:pPr>
            <a:r>
              <a:rPr lang="en-US" sz="1900" dirty="0">
                <a:solidFill>
                  <a:srgbClr val="212121"/>
                </a:solidFill>
                <a:latin typeface="Arial" pitchFamily="34" charset="0"/>
                <a:ea typeface="Arial" pitchFamily="34" charset="-122"/>
                <a:cs typeface="Arial" pitchFamily="34" charset="-120"/>
              </a:rPr>
              <a:t>Tipos que no coinciden: Java tiene List&lt;Libro&gt;, LocalDate, boolean; SQL tiene INT, VARCHAR, DATE. No hay una correspondencia 1:1 automática.</a:t>
            </a:r>
            <a:endParaRPr lang="en-US" sz="1900" dirty="0"/>
          </a:p>
          <a:p>
            <a:pPr marL="190500" indent="-190500">
              <a:spcAft>
                <a:spcPts val="1400"/>
              </a:spcAft>
              <a:buSzPct val="100000"/>
              <a:buChar char="•"/>
            </a:pPr>
            <a:r>
              <a:rPr lang="en-US" sz="1900" dirty="0">
                <a:solidFill>
                  <a:srgbClr val="212121"/>
                </a:solidFill>
                <a:latin typeface="Arial" pitchFamily="34" charset="0"/>
                <a:ea typeface="Arial" pitchFamily="34" charset="-122"/>
                <a:cs typeface="Arial" pitchFamily="34" charset="-120"/>
              </a:rPr>
              <a:t>Relaciones expresadas de forma distinta: en Java, una editorial contiene su lista de libros (una referencia en memoria); en SQL, esa misma relación es una clave foránea en la tabla libro — hace falta un JOIN para reconstruirla.</a:t>
            </a:r>
            <a:endParaRPr lang="en-US" sz="1900" dirty="0"/>
          </a:p>
          <a:p>
            <a:pPr marL="190500" indent="-190500">
              <a:spcAft>
                <a:spcPts val="1400"/>
              </a:spcAft>
              <a:buSzPct val="100000"/>
              <a:buChar char="•"/>
            </a:pPr>
            <a:r>
              <a:rPr lang="en-US" sz="1900" dirty="0">
                <a:solidFill>
                  <a:srgbClr val="212121"/>
                </a:solidFill>
                <a:latin typeface="Arial" pitchFamily="34" charset="0"/>
                <a:ea typeface="Arial" pitchFamily="34" charset="-122"/>
                <a:cs typeface="Arial" pitchFamily="34" charset="-120"/>
              </a:rPr>
              <a:t>Identidad: en Java, dos objetos son iguales si == los considera el mismo (o si equals() lo dice); en la base de datos, la identidad de una fila es su clave primaria.</a:t>
            </a:r>
            <a:endParaRPr lang="en-US" sz="1900" dirty="0"/>
          </a:p>
        </p:txBody>
      </p:sp>
      <p:sp>
        <p:nvSpPr>
          <p:cNvPr id="6" name="Shape 4"/>
          <p:cNvSpPr/>
          <p:nvPr/>
        </p:nvSpPr>
        <p:spPr>
          <a:xfrm>
            <a:off x="548640" y="4480560"/>
            <a:ext cx="11091672" cy="1280160"/>
          </a:xfrm>
          <a:prstGeom prst="roundRect">
            <a:avLst/>
          </a:prstGeom>
          <a:solidFill>
            <a:srgbClr val="FBE9E7"/>
          </a:solidFill>
          <a:ln w="19050">
            <a:solidFill>
              <a:srgbClr val="E64A19"/>
            </a:solidFill>
            <a:prstDash val="solid"/>
          </a:ln>
        </p:spPr>
        <p:txBody>
          <a:bodyPr/>
          <a:lstStyle/>
          <a:p>
            <a:endParaRPr lang="es-ES"/>
          </a:p>
        </p:txBody>
      </p:sp>
      <p:sp>
        <p:nvSpPr>
          <p:cNvPr id="7" name="Text 5"/>
          <p:cNvSpPr/>
          <p:nvPr/>
        </p:nvSpPr>
        <p:spPr>
          <a:xfrm>
            <a:off x="822960" y="4572000"/>
            <a:ext cx="10543032" cy="1097280"/>
          </a:xfrm>
          <a:prstGeom prst="rect">
            <a:avLst/>
          </a:prstGeom>
          <a:noFill/>
          <a:ln/>
        </p:spPr>
        <p:txBody>
          <a:bodyPr wrap="square" rtlCol="0" anchor="ctr"/>
          <a:lstStyle/>
          <a:p>
            <a:pPr marL="0" indent="0">
              <a:buNone/>
            </a:pPr>
            <a:r>
              <a:rPr lang="en-US" sz="1900" dirty="0">
                <a:solidFill>
                  <a:srgbClr val="212121"/>
                </a:solidFill>
                <a:latin typeface="Arial" pitchFamily="34" charset="0"/>
                <a:ea typeface="Arial" pitchFamily="34" charset="-122"/>
                <a:cs typeface="Arial" pitchFamily="34" charset="-120"/>
              </a:rPr>
              <a:t>Esta diferencia de fondo tiene nombre: desfase objeto-relacional (impedance mismatch). No es un error de diseño de nadie — los dos mundos, orientado a objetos y relacional, modelan la información de forma distinta por naturaleza.</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La solución: una herramienta ORM</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Conectores y protocolos</a:t>
            </a:r>
            <a:endParaRPr lang="en-US" sz="1100" dirty="0"/>
          </a:p>
        </p:txBody>
      </p:sp>
      <p:sp>
        <p:nvSpPr>
          <p:cNvPr id="5" name="Text 3"/>
          <p:cNvSpPr/>
          <p:nvPr/>
        </p:nvSpPr>
        <p:spPr>
          <a:xfrm>
            <a:off x="548640" y="1280160"/>
            <a:ext cx="11091672" cy="1554480"/>
          </a:xfrm>
          <a:prstGeom prst="rect">
            <a:avLst/>
          </a:prstGeom>
          <a:noFill/>
          <a:ln/>
        </p:spPr>
        <p:txBody>
          <a:bodyPr wrap="square" rtlCol="0" anchor="t"/>
          <a:lstStyle/>
          <a:p>
            <a:pPr marL="0" indent="0">
              <a:buNone/>
            </a:pPr>
            <a:r>
              <a:rPr lang="en-US" sz="2000" dirty="0">
                <a:solidFill>
                  <a:srgbClr val="212121"/>
                </a:solidFill>
                <a:latin typeface="Arial" pitchFamily="34" charset="0"/>
                <a:ea typeface="Arial" pitchFamily="34" charset="-122"/>
                <a:cs typeface="Arial" pitchFamily="34" charset="-120"/>
              </a:rPr>
              <a:t>Vas a resolver este desfase con una herramienta ORM (Object-Relational Mapping): declaras, una sola vez, las reglas de correspondencia entre una clase y una tabla — y a partir de ahí, guardar, actualizar y consultar objetos se traduce automáticamente al SQL correspondiente, sin que lo escribas tú.</a:t>
            </a:r>
            <a:endParaRPr lang="en-US" sz="2000" dirty="0"/>
          </a:p>
        </p:txBody>
      </p:sp>
      <p:sp>
        <p:nvSpPr>
          <p:cNvPr id="6" name="Text 4"/>
          <p:cNvSpPr/>
          <p:nvPr/>
        </p:nvSpPr>
        <p:spPr>
          <a:xfrm>
            <a:off x="548640" y="3154680"/>
            <a:ext cx="11091672" cy="1188720"/>
          </a:xfrm>
          <a:prstGeom prst="rect">
            <a:avLst/>
          </a:prstGeom>
          <a:noFill/>
          <a:ln/>
        </p:spPr>
        <p:txBody>
          <a:bodyPr wrap="square" rtlCol="0" anchor="t"/>
          <a:lstStyle/>
          <a:p>
            <a:pPr marL="0" indent="0">
              <a:buNone/>
            </a:pPr>
            <a:r>
              <a:rPr lang="en-US" sz="1900" dirty="0">
                <a:solidFill>
                  <a:srgbClr val="212121"/>
                </a:solidFill>
                <a:latin typeface="Arial" pitchFamily="34" charset="0"/>
                <a:ea typeface="Arial" pitchFamily="34" charset="-122"/>
                <a:cs typeface="Arial" pitchFamily="34" charset="-120"/>
              </a:rPr>
              <a:t>JPA (Jakarta Persistence API) es la especificación estándar de Java: el documento de reglas que dice qué anotaciones (@Entity, @Id, @OneToMany...) debe ofrecer cualquier ORM que quiera usarse en Java — sin ejecutar nada por sí sola.</a:t>
            </a:r>
            <a:endParaRPr lang="en-US" sz="1900" dirty="0"/>
          </a:p>
        </p:txBody>
      </p:sp>
      <p:sp>
        <p:nvSpPr>
          <p:cNvPr id="7" name="Text 5"/>
          <p:cNvSpPr/>
          <p:nvPr/>
        </p:nvSpPr>
        <p:spPr>
          <a:xfrm>
            <a:off x="548640" y="4617720"/>
            <a:ext cx="11091672" cy="914400"/>
          </a:xfrm>
          <a:prstGeom prst="rect">
            <a:avLst/>
          </a:prstGeom>
          <a:noFill/>
          <a:ln/>
        </p:spPr>
        <p:txBody>
          <a:bodyPr wrap="square" rtlCol="0" anchor="t"/>
          <a:lstStyle/>
          <a:p>
            <a:pPr marL="0" indent="0">
              <a:buNone/>
            </a:pPr>
            <a:r>
              <a:rPr lang="en-US" sz="1900" dirty="0">
                <a:solidFill>
                  <a:srgbClr val="212121"/>
                </a:solidFill>
                <a:latin typeface="Arial" pitchFamily="34" charset="0"/>
                <a:ea typeface="Arial" pitchFamily="34" charset="-122"/>
                <a:cs typeface="Arial" pitchFamily="34" charset="-120"/>
              </a:rPr>
              <a:t>Hibernate es quien cumple esas reglas de verdad: la implementación de JPA más usada, el motor que traduce cada anotación en el SQL real que llega a PostgreSQL.</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La solución: una herramienta ORM (cont.)</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Conectores y protocolos</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3352875101"/>
              </p:ext>
            </p:extLst>
          </p:nvPr>
        </p:nvGraphicFramePr>
        <p:xfrm>
          <a:off x="735252" y="2457685"/>
          <a:ext cx="7831198" cy="2331720"/>
        </p:xfrm>
        <a:graphic>
          <a:graphicData uri="http://schemas.openxmlformats.org/drawingml/2006/table">
            <a:tbl>
              <a:tblPr/>
              <a:tblGrid>
                <a:gridCol w="1233507">
                  <a:extLst>
                    <a:ext uri="{9D8B030D-6E8A-4147-A177-3AD203B41FA5}">
                      <a16:colId xmlns:a16="http://schemas.microsoft.com/office/drawing/2014/main" val="20000"/>
                    </a:ext>
                  </a:extLst>
                </a:gridCol>
                <a:gridCol w="3275045">
                  <a:extLst>
                    <a:ext uri="{9D8B030D-6E8A-4147-A177-3AD203B41FA5}">
                      <a16:colId xmlns:a16="http://schemas.microsoft.com/office/drawing/2014/main" val="20001"/>
                    </a:ext>
                  </a:extLst>
                </a:gridCol>
                <a:gridCol w="3322646">
                  <a:extLst>
                    <a:ext uri="{9D8B030D-6E8A-4147-A177-3AD203B41FA5}">
                      <a16:colId xmlns:a16="http://schemas.microsoft.com/office/drawing/2014/main" val="20002"/>
                    </a:ext>
                  </a:extLst>
                </a:gridCol>
              </a:tblGrid>
              <a:tr h="777240">
                <a:tc>
                  <a:txBody>
                    <a:bodyPr/>
                    <a:lstStyle/>
                    <a:p>
                      <a:pPr marL="0" indent="0" algn="ctr">
                        <a:buNone/>
                      </a:pPr>
                      <a:r>
                        <a:rPr lang="en-US" sz="1800" b="1" dirty="0">
                          <a:solidFill>
                            <a:srgbClr val="FFFFFF"/>
                          </a:solidFill>
                          <a:latin typeface="Arial" pitchFamily="34" charset="0"/>
                          <a:ea typeface="Arial" pitchFamily="34" charset="-122"/>
                          <a:cs typeface="Arial" pitchFamily="34" charset="-120"/>
                        </a:rPr>
                        <a:t>Nombre</a:t>
                      </a:r>
                      <a:endParaRPr lang="en-US" sz="18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c>
                  <a:txBody>
                    <a:bodyPr/>
                    <a:lstStyle/>
                    <a:p>
                      <a:pPr marL="0" indent="0" algn="ctr">
                        <a:buNone/>
                      </a:pPr>
                      <a:r>
                        <a:rPr lang="en-US" sz="1800" b="1" dirty="0">
                          <a:solidFill>
                            <a:srgbClr val="FFFFFF"/>
                          </a:solidFill>
                          <a:latin typeface="Arial" pitchFamily="34" charset="0"/>
                          <a:ea typeface="Arial" pitchFamily="34" charset="-122"/>
                          <a:cs typeface="Arial" pitchFamily="34" charset="-120"/>
                        </a:rPr>
                        <a:t>Qué es</a:t>
                      </a:r>
                      <a:endParaRPr lang="en-US" sz="18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c>
                  <a:txBody>
                    <a:bodyPr/>
                    <a:lstStyle/>
                    <a:p>
                      <a:pPr marL="0" indent="0" algn="ctr">
                        <a:buNone/>
                      </a:pPr>
                      <a:r>
                        <a:rPr lang="en-US" sz="1800" b="1" dirty="0">
                          <a:solidFill>
                            <a:srgbClr val="FFFFFF"/>
                          </a:solidFill>
                          <a:latin typeface="Arial" pitchFamily="34" charset="0"/>
                          <a:ea typeface="Arial" pitchFamily="34" charset="-122"/>
                          <a:cs typeface="Arial" pitchFamily="34" charset="-120"/>
                        </a:rPr>
                        <a:t>Su equivalente en POO</a:t>
                      </a:r>
                      <a:endParaRPr lang="en-US" sz="18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extLst>
                  <a:ext uri="{0D108BD9-81ED-4DB2-BD59-A6C34878D82A}">
                    <a16:rowId xmlns:a16="http://schemas.microsoft.com/office/drawing/2014/main" val="10000"/>
                  </a:ext>
                </a:extLst>
              </a:tr>
              <a:tr h="777240">
                <a:tc>
                  <a:txBody>
                    <a:bodyPr/>
                    <a:lstStyle/>
                    <a:p>
                      <a:pPr marL="0" indent="0">
                        <a:buNone/>
                      </a:pPr>
                      <a:r>
                        <a:rPr lang="en-US" sz="1700" b="1" dirty="0">
                          <a:solidFill>
                            <a:srgbClr val="212121"/>
                          </a:solidFill>
                          <a:latin typeface="Arial" pitchFamily="34" charset="0"/>
                          <a:ea typeface="Arial" pitchFamily="34" charset="-122"/>
                          <a:cs typeface="Arial" pitchFamily="34" charset="-120"/>
                        </a:rPr>
                        <a:t>JPA</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700" dirty="0">
                          <a:solidFill>
                            <a:srgbClr val="212121"/>
                          </a:solidFill>
                          <a:latin typeface="Arial" pitchFamily="34" charset="0"/>
                          <a:ea typeface="Arial" pitchFamily="34" charset="-122"/>
                          <a:cs typeface="Arial" pitchFamily="34" charset="-120"/>
                        </a:rPr>
                        <a:t>El contrato: qué debe ofrecer un ORM en Java</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700" dirty="0">
                          <a:solidFill>
                            <a:srgbClr val="212121"/>
                          </a:solidFill>
                          <a:latin typeface="Arial" pitchFamily="34" charset="0"/>
                          <a:ea typeface="Arial" pitchFamily="34" charset="-122"/>
                          <a:cs typeface="Arial" pitchFamily="34" charset="-120"/>
                        </a:rPr>
                        <a:t>Una interfaz</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marL="0" indent="0">
                        <a:buNone/>
                      </a:pPr>
                      <a:r>
                        <a:rPr lang="en-US" sz="1700" b="1" dirty="0">
                          <a:solidFill>
                            <a:srgbClr val="212121"/>
                          </a:solidFill>
                          <a:latin typeface="Arial" pitchFamily="34" charset="0"/>
                          <a:ea typeface="Arial" pitchFamily="34" charset="-122"/>
                          <a:cs typeface="Arial" pitchFamily="34" charset="-120"/>
                        </a:rPr>
                        <a:t>Hibernate</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700" dirty="0">
                          <a:solidFill>
                            <a:srgbClr val="212121"/>
                          </a:solidFill>
                          <a:latin typeface="Arial" pitchFamily="34" charset="0"/>
                          <a:ea typeface="Arial" pitchFamily="34" charset="-122"/>
                          <a:cs typeface="Arial" pitchFamily="34" charset="-120"/>
                        </a:rPr>
                        <a:t>Quien lo cumple: el motor que hace el trabajo real</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700" dirty="0">
                          <a:solidFill>
                            <a:srgbClr val="212121"/>
                          </a:solidFill>
                          <a:latin typeface="Arial" pitchFamily="34" charset="0"/>
                          <a:ea typeface="Arial" pitchFamily="34" charset="-122"/>
                          <a:cs typeface="Arial" pitchFamily="34" charset="-120"/>
                        </a:rPr>
                        <a:t>Una clase que la implementa</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bl>
          </a:graphicData>
        </a:graphic>
      </p:graphicFrame>
      <p:pic>
        <p:nvPicPr>
          <p:cNvPr id="6" name="Image 0" descr="C:/Users/Aitor/docxgen/img/conectores-orm-jpa-hibernate.png"/>
          <p:cNvPicPr>
            <a:picLocks noChangeAspect="1"/>
          </p:cNvPicPr>
          <p:nvPr/>
        </p:nvPicPr>
        <p:blipFill>
          <a:blip r:embed="rId3"/>
          <a:stretch>
            <a:fillRect/>
          </a:stretch>
        </p:blipFill>
        <p:spPr>
          <a:xfrm>
            <a:off x="9157421" y="1188720"/>
            <a:ext cx="2482891" cy="494778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La solución: una herramienta ORM (cont.)</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Conectores y protocolos</a:t>
            </a:r>
            <a:endParaRPr lang="en-US" sz="1100" dirty="0"/>
          </a:p>
        </p:txBody>
      </p:sp>
      <p:sp>
        <p:nvSpPr>
          <p:cNvPr id="5" name="Text 3"/>
          <p:cNvSpPr/>
          <p:nvPr/>
        </p:nvSpPr>
        <p:spPr>
          <a:xfrm>
            <a:off x="548640" y="1325880"/>
            <a:ext cx="11091672" cy="1371600"/>
          </a:xfrm>
          <a:prstGeom prst="rect">
            <a:avLst/>
          </a:prstGeom>
          <a:noFill/>
          <a:ln/>
        </p:spPr>
        <p:txBody>
          <a:bodyPr wrap="square" rtlCol="0" anchor="t"/>
          <a:lstStyle/>
          <a:p>
            <a:pPr marL="0" indent="0">
              <a:buNone/>
            </a:pPr>
            <a:r>
              <a:rPr lang="en-US" sz="2000" dirty="0">
                <a:solidFill>
                  <a:srgbClr val="212121"/>
                </a:solidFill>
                <a:latin typeface="Arial" pitchFamily="34" charset="0"/>
                <a:ea typeface="Arial" pitchFamily="34" charset="-122"/>
                <a:cs typeface="Arial" pitchFamily="34" charset="-120"/>
              </a:rPr>
              <a:t>Spring Data JPA (el JpaRepository que vas a usar durante todo este tema) no es un ORM distinto — es una capa adicional de comodidad por encima de JPA/Hibernate: te genera automáticamente implementaciones de repositorios (save, findById, findAll...).</a:t>
            </a:r>
            <a:endParaRPr lang="en-US" sz="2000" dirty="0"/>
          </a:p>
        </p:txBody>
      </p:sp>
      <p:sp>
        <p:nvSpPr>
          <p:cNvPr id="6" name="Shape 4"/>
          <p:cNvSpPr/>
          <p:nvPr/>
        </p:nvSpPr>
        <p:spPr>
          <a:xfrm>
            <a:off x="548640" y="3017520"/>
            <a:ext cx="11091672" cy="1371600"/>
          </a:xfrm>
          <a:prstGeom prst="roundRect">
            <a:avLst/>
          </a:prstGeom>
          <a:solidFill>
            <a:srgbClr val="FBE9E7"/>
          </a:solidFill>
          <a:ln w="19050">
            <a:solidFill>
              <a:srgbClr val="E64A19"/>
            </a:solidFill>
            <a:prstDash val="solid"/>
          </a:ln>
        </p:spPr>
        <p:txBody>
          <a:bodyPr/>
          <a:lstStyle/>
          <a:p>
            <a:endParaRPr lang="es-ES"/>
          </a:p>
        </p:txBody>
      </p:sp>
      <p:sp>
        <p:nvSpPr>
          <p:cNvPr id="7" name="Text 5"/>
          <p:cNvSpPr/>
          <p:nvPr/>
        </p:nvSpPr>
        <p:spPr>
          <a:xfrm>
            <a:off x="822960" y="3108960"/>
            <a:ext cx="10543032" cy="1188720"/>
          </a:xfrm>
          <a:prstGeom prst="rect">
            <a:avLst/>
          </a:prstGeom>
          <a:noFill/>
          <a:ln/>
        </p:spPr>
        <p:txBody>
          <a:bodyPr wrap="square" rtlCol="0" anchor="ctr"/>
          <a:lstStyle/>
          <a:p>
            <a:pPr marL="0" indent="0">
              <a:buNone/>
            </a:pPr>
            <a:r>
              <a:rPr lang="en-US" sz="1900" dirty="0">
                <a:solidFill>
                  <a:srgbClr val="212121"/>
                </a:solidFill>
                <a:latin typeface="Arial" pitchFamily="34" charset="0"/>
                <a:ea typeface="Arial" pitchFamily="34" charset="-122"/>
                <a:cs typeface="Arial" pitchFamily="34" charset="-120"/>
              </a:rPr>
              <a:t>Hibernate no es la única opción: es la implementación de JPA más usada, pero no la única — EclipseLink es otra implementación completa de la misma especificación. Fuera de Java, cada lenguaje tiene su propio ORM (SQLAlchemy en Python, Entity Framework en C#).</a:t>
            </a:r>
            <a:endParaRPr lang="en-US" sz="1900" dirty="0"/>
          </a:p>
        </p:txBody>
      </p:sp>
      <p:sp>
        <p:nvSpPr>
          <p:cNvPr id="8" name="Text 6"/>
          <p:cNvSpPr/>
          <p:nvPr/>
        </p:nvSpPr>
        <p:spPr>
          <a:xfrm>
            <a:off x="548640" y="4709160"/>
            <a:ext cx="11091672" cy="777240"/>
          </a:xfrm>
          <a:prstGeom prst="rect">
            <a:avLst/>
          </a:prstGeom>
          <a:noFill/>
          <a:ln/>
        </p:spPr>
        <p:txBody>
          <a:bodyPr wrap="square" rtlCol="0" anchor="t"/>
          <a:lstStyle/>
          <a:p>
            <a:pPr marL="0" indent="0">
              <a:buNone/>
            </a:pPr>
            <a:r>
              <a:rPr lang="en-US" sz="1800" dirty="0">
                <a:solidFill>
                  <a:srgbClr val="757575"/>
                </a:solidFill>
                <a:latin typeface="Arial" pitchFamily="34" charset="0"/>
                <a:ea typeface="Arial" pitchFamily="34" charset="-122"/>
                <a:cs typeface="Arial" pitchFamily="34" charset="-120"/>
              </a:rPr>
              <a:t>Las anotaciones que vas a ver más abajo (@Entity, @Id, @OneToMany...) son, literalmente, cómo se declara ese mapeo — por debajo es la propia herramienta ORM en funcionamiento.</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JDBC y los conectores de bases de datos</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Conectores y protocolos</a:t>
            </a:r>
            <a:endParaRPr lang="en-US" sz="1100" dirty="0"/>
          </a:p>
        </p:txBody>
      </p:sp>
      <p:sp>
        <p:nvSpPr>
          <p:cNvPr id="5" name="Text 3"/>
          <p:cNvSpPr/>
          <p:nvPr/>
        </p:nvSpPr>
        <p:spPr>
          <a:xfrm>
            <a:off x="548640" y="2103120"/>
            <a:ext cx="11091672" cy="1463040"/>
          </a:xfrm>
          <a:prstGeom prst="rect">
            <a:avLst/>
          </a:prstGeom>
          <a:noFill/>
          <a:ln/>
        </p:spPr>
        <p:txBody>
          <a:bodyPr wrap="square" rtlCol="0" anchor="t"/>
          <a:lstStyle/>
          <a:p>
            <a:pPr marL="0" indent="0">
              <a:buNone/>
            </a:pPr>
            <a:r>
              <a:rPr lang="en-US" sz="2200" dirty="0">
                <a:solidFill>
                  <a:srgbClr val="212121"/>
                </a:solidFill>
                <a:latin typeface="Arial" pitchFamily="34" charset="0"/>
                <a:ea typeface="Arial" pitchFamily="34" charset="-122"/>
                <a:cs typeface="Arial" pitchFamily="34" charset="-120"/>
              </a:rPr>
              <a:t>Para que tu programa Java pueda comunicarse con una base de datos necesita un conector —también llamado driver— preparado para ese gestor concreto. PostgreSQL tiene su propio driver, MySQL tiene otro y SQL Server tiene el suyo.</a:t>
            </a:r>
            <a:endParaRPr lang="en-US" sz="2200" dirty="0"/>
          </a:p>
        </p:txBody>
      </p:sp>
      <p:sp>
        <p:nvSpPr>
          <p:cNvPr id="6" name="Text 4"/>
          <p:cNvSpPr/>
          <p:nvPr/>
        </p:nvSpPr>
        <p:spPr>
          <a:xfrm>
            <a:off x="548640" y="3977640"/>
            <a:ext cx="11091672" cy="1737360"/>
          </a:xfrm>
          <a:prstGeom prst="rect">
            <a:avLst/>
          </a:prstGeom>
          <a:noFill/>
          <a:ln/>
        </p:spPr>
        <p:txBody>
          <a:bodyPr wrap="square" rtlCol="0" anchor="t"/>
          <a:lstStyle/>
          <a:p>
            <a:pPr marL="0" indent="0">
              <a:buNone/>
            </a:pPr>
            <a:r>
              <a:rPr lang="en-US" sz="2200" dirty="0">
                <a:solidFill>
                  <a:srgbClr val="212121"/>
                </a:solidFill>
                <a:latin typeface="Arial" pitchFamily="34" charset="0"/>
                <a:ea typeface="Arial" pitchFamily="34" charset="-122"/>
                <a:cs typeface="Arial" pitchFamily="34" charset="-120"/>
              </a:rPr>
              <a:t>Sin embargo, no tendría sentido aprender una forma completamente distinta de programar para cada base de datos. Java resuelve este problema mediante JDBC (Java Database Connectivity): una API estándar que define una forma común de acceder a bases de datos relacionales desde una aplicación Java.</a:t>
            </a:r>
            <a:endParaRPr 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JDBC y los conectores (cont.)</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Conectores y protocolos</a:t>
            </a:r>
            <a:endParaRPr lang="en-US" sz="1100" dirty="0"/>
          </a:p>
        </p:txBody>
      </p:sp>
      <p:sp>
        <p:nvSpPr>
          <p:cNvPr id="5" name="Text 3"/>
          <p:cNvSpPr/>
          <p:nvPr/>
        </p:nvSpPr>
        <p:spPr>
          <a:xfrm>
            <a:off x="548640" y="1874520"/>
            <a:ext cx="11091672" cy="822960"/>
          </a:xfrm>
          <a:prstGeom prst="rect">
            <a:avLst/>
          </a:prstGeom>
          <a:noFill/>
          <a:ln/>
        </p:spPr>
        <p:txBody>
          <a:bodyPr wrap="square" rtlCol="0" anchor="t"/>
          <a:lstStyle/>
          <a:p>
            <a:pPr marL="0" indent="0">
              <a:buNone/>
            </a:pPr>
            <a:r>
              <a:rPr lang="en-US" sz="2000" dirty="0">
                <a:solidFill>
                  <a:srgbClr val="212121"/>
                </a:solidFill>
                <a:latin typeface="Arial" pitchFamily="34" charset="0"/>
                <a:ea typeface="Arial" pitchFamily="34" charset="-122"/>
                <a:cs typeface="Arial" pitchFamily="34" charset="-120"/>
              </a:rPr>
              <a:t>Tu aplicación utiliza JDBC, y el driver concreto se encarga de traducir esas operaciones para que las entienda el gestor que estés usando:</a:t>
            </a:r>
            <a:endParaRPr lang="en-US" sz="2000" dirty="0"/>
          </a:p>
        </p:txBody>
      </p:sp>
      <p:pic>
        <p:nvPicPr>
          <p:cNvPr id="6" name="Image 0" descr="C:/Users/Aitor/docxgen/img/conectores-jdbc-driver-pg.png"/>
          <p:cNvPicPr>
            <a:picLocks noChangeAspect="1"/>
          </p:cNvPicPr>
          <p:nvPr/>
        </p:nvPicPr>
        <p:blipFill>
          <a:blip r:embed="rId3"/>
          <a:stretch>
            <a:fillRect/>
          </a:stretch>
        </p:blipFill>
        <p:spPr>
          <a:xfrm>
            <a:off x="1990863" y="3063240"/>
            <a:ext cx="8207226" cy="1188720"/>
          </a:xfrm>
          <a:prstGeom prst="rect">
            <a:avLst/>
          </a:prstGeom>
        </p:spPr>
      </p:pic>
      <p:sp>
        <p:nvSpPr>
          <p:cNvPr id="7" name="Shape 4"/>
          <p:cNvSpPr/>
          <p:nvPr/>
        </p:nvSpPr>
        <p:spPr>
          <a:xfrm>
            <a:off x="548640" y="4663440"/>
            <a:ext cx="11091672" cy="1371600"/>
          </a:xfrm>
          <a:prstGeom prst="roundRect">
            <a:avLst/>
          </a:prstGeom>
          <a:solidFill>
            <a:srgbClr val="FBE9E7"/>
          </a:solidFill>
          <a:ln w="19050">
            <a:solidFill>
              <a:srgbClr val="E64A19"/>
            </a:solidFill>
            <a:prstDash val="solid"/>
          </a:ln>
        </p:spPr>
        <p:txBody>
          <a:bodyPr/>
          <a:lstStyle/>
          <a:p>
            <a:endParaRPr lang="es-ES"/>
          </a:p>
        </p:txBody>
      </p:sp>
      <p:sp>
        <p:nvSpPr>
          <p:cNvPr id="8" name="Text 5"/>
          <p:cNvSpPr/>
          <p:nvPr/>
        </p:nvSpPr>
        <p:spPr>
          <a:xfrm>
            <a:off x="822960" y="4754880"/>
            <a:ext cx="10543032" cy="1188720"/>
          </a:xfrm>
          <a:prstGeom prst="rect">
            <a:avLst/>
          </a:prstGeom>
          <a:noFill/>
          <a:ln/>
        </p:spPr>
        <p:txBody>
          <a:bodyPr wrap="square" rtlCol="0" anchor="ctr"/>
          <a:lstStyle/>
          <a:p>
            <a:pPr marL="0" indent="0">
              <a:buNone/>
            </a:pPr>
            <a:r>
              <a:rPr lang="en-US" sz="2000" dirty="0">
                <a:solidFill>
                  <a:srgbClr val="212121"/>
                </a:solidFill>
                <a:latin typeface="Arial" pitchFamily="34" charset="0"/>
                <a:ea typeface="Arial" pitchFamily="34" charset="-122"/>
                <a:cs typeface="Arial" pitchFamily="34" charset="-120"/>
              </a:rPr>
              <a:t>La ventaja es que la forma general de programar el acceso a los datos se mantiene aunque cambie el gestor. Si una aplicación pasara de PostgreSQL a MySQL, habría que cambiar el driver y la dirección de conexión, pero no aprender una API Java completamente nueva.</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Gestor embebido vs. independiente</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Conectores y protocolos</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940280562"/>
              </p:ext>
            </p:extLst>
          </p:nvPr>
        </p:nvGraphicFramePr>
        <p:xfrm>
          <a:off x="548640" y="1386530"/>
          <a:ext cx="11091672" cy="4023360"/>
        </p:xfrm>
        <a:graphic>
          <a:graphicData uri="http://schemas.openxmlformats.org/drawingml/2006/table">
            <a:tbl>
              <a:tblPr/>
              <a:tblGrid>
                <a:gridCol w="2440168">
                  <a:extLst>
                    <a:ext uri="{9D8B030D-6E8A-4147-A177-3AD203B41FA5}">
                      <a16:colId xmlns:a16="http://schemas.microsoft.com/office/drawing/2014/main" val="20000"/>
                    </a:ext>
                  </a:extLst>
                </a:gridCol>
                <a:gridCol w="4325752">
                  <a:extLst>
                    <a:ext uri="{9D8B030D-6E8A-4147-A177-3AD203B41FA5}">
                      <a16:colId xmlns:a16="http://schemas.microsoft.com/office/drawing/2014/main" val="20001"/>
                    </a:ext>
                  </a:extLst>
                </a:gridCol>
                <a:gridCol w="4325752">
                  <a:extLst>
                    <a:ext uri="{9D8B030D-6E8A-4147-A177-3AD203B41FA5}">
                      <a16:colId xmlns:a16="http://schemas.microsoft.com/office/drawing/2014/main" val="20002"/>
                    </a:ext>
                  </a:extLst>
                </a:gridCol>
              </a:tblGrid>
              <a:tr h="1005840">
                <a:tc>
                  <a:txBody>
                    <a:bodyPr/>
                    <a:lstStyle/>
                    <a:p>
                      <a:pPr marL="0" indent="0" algn="ctr">
                        <a:buNone/>
                      </a:pPr>
                      <a:endParaRPr lang="en-US" sz="19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c>
                  <a:txBody>
                    <a:bodyPr/>
                    <a:lstStyle/>
                    <a:p>
                      <a:pPr marL="0" indent="0" algn="ctr">
                        <a:buNone/>
                      </a:pPr>
                      <a:r>
                        <a:rPr lang="en-US" sz="1900" b="1" dirty="0">
                          <a:solidFill>
                            <a:srgbClr val="FFFFFF"/>
                          </a:solidFill>
                          <a:latin typeface="Arial" pitchFamily="34" charset="0"/>
                          <a:ea typeface="Arial" pitchFamily="34" charset="-122"/>
                          <a:cs typeface="Arial" pitchFamily="34" charset="-120"/>
                        </a:rPr>
                        <a:t>Embebido</a:t>
                      </a:r>
                      <a:endParaRPr lang="en-US" sz="19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c>
                  <a:txBody>
                    <a:bodyPr/>
                    <a:lstStyle/>
                    <a:p>
                      <a:pPr marL="0" indent="0" algn="ctr">
                        <a:buNone/>
                      </a:pPr>
                      <a:r>
                        <a:rPr lang="en-US" sz="1900" b="1" dirty="0">
                          <a:solidFill>
                            <a:srgbClr val="FFFFFF"/>
                          </a:solidFill>
                          <a:latin typeface="Arial" pitchFamily="34" charset="0"/>
                          <a:ea typeface="Arial" pitchFamily="34" charset="-122"/>
                          <a:cs typeface="Arial" pitchFamily="34" charset="-120"/>
                        </a:rPr>
                        <a:t>Independiente</a:t>
                      </a:r>
                      <a:endParaRPr lang="en-US" sz="19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extLst>
                  <a:ext uri="{0D108BD9-81ED-4DB2-BD59-A6C34878D82A}">
                    <a16:rowId xmlns:a16="http://schemas.microsoft.com/office/drawing/2014/main" val="10000"/>
                  </a:ext>
                </a:extLst>
              </a:tr>
              <a:tr h="1005840">
                <a:tc>
                  <a:txBody>
                    <a:bodyPr/>
                    <a:lstStyle/>
                    <a:p>
                      <a:pPr marL="0" indent="0">
                        <a:buNone/>
                      </a:pPr>
                      <a:r>
                        <a:rPr lang="en-US" sz="1700" b="1" dirty="0">
                          <a:solidFill>
                            <a:srgbClr val="212121"/>
                          </a:solidFill>
                          <a:latin typeface="Arial" pitchFamily="34" charset="0"/>
                          <a:ea typeface="Arial" pitchFamily="34" charset="-122"/>
                          <a:cs typeface="Arial" pitchFamily="34" charset="-120"/>
                        </a:rPr>
                        <a:t>Cómo corre</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700" dirty="0">
                          <a:solidFill>
                            <a:srgbClr val="212121"/>
                          </a:solidFill>
                          <a:latin typeface="Arial" pitchFamily="34" charset="0"/>
                          <a:ea typeface="Arial" pitchFamily="34" charset="-122"/>
                          <a:cs typeface="Arial" pitchFamily="34" charset="-120"/>
                        </a:rPr>
                        <a:t>Dentro del propio proceso de tu aplicación, sin servidor aparte</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700" dirty="0">
                          <a:solidFill>
                            <a:srgbClr val="212121"/>
                          </a:solidFill>
                          <a:latin typeface="Arial" pitchFamily="34" charset="0"/>
                          <a:ea typeface="Arial" pitchFamily="34" charset="-122"/>
                          <a:cs typeface="Arial" pitchFamily="34" charset="-120"/>
                        </a:rPr>
                        <a:t>Como un proceso/servidor separado, al que te conectas por red</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005840">
                <a:tc>
                  <a:txBody>
                    <a:bodyPr/>
                    <a:lstStyle/>
                    <a:p>
                      <a:pPr marL="0" indent="0">
                        <a:buNone/>
                      </a:pPr>
                      <a:r>
                        <a:rPr lang="en-US" sz="1700" b="1" dirty="0">
                          <a:solidFill>
                            <a:srgbClr val="212121"/>
                          </a:solidFill>
                          <a:latin typeface="Arial" pitchFamily="34" charset="0"/>
                          <a:ea typeface="Arial" pitchFamily="34" charset="-122"/>
                          <a:cs typeface="Arial" pitchFamily="34" charset="-120"/>
                        </a:rPr>
                        <a:t>Ejemplos</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700" dirty="0">
                          <a:solidFill>
                            <a:srgbClr val="212121"/>
                          </a:solidFill>
                          <a:latin typeface="Arial" pitchFamily="34" charset="0"/>
                          <a:ea typeface="Arial" pitchFamily="34" charset="-122"/>
                          <a:cs typeface="Arial" pitchFamily="34" charset="-120"/>
                        </a:rPr>
                        <a:t>H2, SQLite</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700" dirty="0">
                          <a:solidFill>
                            <a:srgbClr val="212121"/>
                          </a:solidFill>
                          <a:latin typeface="Arial" pitchFamily="34" charset="0"/>
                          <a:ea typeface="Arial" pitchFamily="34" charset="-122"/>
                          <a:cs typeface="Arial" pitchFamily="34" charset="-120"/>
                        </a:rPr>
                        <a:t>PostgreSQL, MySQL, SQL Server</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1005840">
                <a:tc>
                  <a:txBody>
                    <a:bodyPr/>
                    <a:lstStyle/>
                    <a:p>
                      <a:pPr marL="0" indent="0">
                        <a:buNone/>
                      </a:pPr>
                      <a:r>
                        <a:rPr lang="en-US" sz="1700" b="1" dirty="0">
                          <a:solidFill>
                            <a:srgbClr val="212121"/>
                          </a:solidFill>
                          <a:latin typeface="Arial" pitchFamily="34" charset="0"/>
                          <a:ea typeface="Arial" pitchFamily="34" charset="-122"/>
                          <a:cs typeface="Arial" pitchFamily="34" charset="-120"/>
                        </a:rPr>
                        <a:t>Cuándo conviene</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700" dirty="0">
                          <a:solidFill>
                            <a:srgbClr val="212121"/>
                          </a:solidFill>
                          <a:latin typeface="Arial" pitchFamily="34" charset="0"/>
                          <a:ea typeface="Arial" pitchFamily="34" charset="-122"/>
                          <a:cs typeface="Arial" pitchFamily="34" charset="-120"/>
                        </a:rPr>
                        <a:t>Tests rápidos, prototipos, apps de escritorio sin instalación</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700" dirty="0">
                          <a:solidFill>
                            <a:srgbClr val="212121"/>
                          </a:solidFill>
                          <a:latin typeface="Arial" pitchFamily="34" charset="0"/>
                          <a:ea typeface="Arial" pitchFamily="34" charset="-122"/>
                          <a:cs typeface="Arial" pitchFamily="34" charset="-120"/>
                        </a:rPr>
                        <a:t>Aplicaciones reales, con varios clientes concurrentes</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Gestor embebido vs. independiente (cont.)</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Conectores y protocolos</a:t>
            </a:r>
            <a:endParaRPr lang="en-US" sz="1100" dirty="0"/>
          </a:p>
        </p:txBody>
      </p:sp>
      <p:sp>
        <p:nvSpPr>
          <p:cNvPr id="5" name="Text 3"/>
          <p:cNvSpPr/>
          <p:nvPr/>
        </p:nvSpPr>
        <p:spPr>
          <a:xfrm>
            <a:off x="628884" y="1230863"/>
            <a:ext cx="3803158" cy="2314769"/>
          </a:xfrm>
          <a:prstGeom prst="rect">
            <a:avLst/>
          </a:prstGeom>
          <a:noFill/>
          <a:ln/>
        </p:spPr>
        <p:txBody>
          <a:bodyPr wrap="square" rtlCol="0" anchor="t"/>
          <a:lstStyle/>
          <a:p>
            <a:pPr marL="0" indent="0">
              <a:buNone/>
            </a:pPr>
            <a:r>
              <a:rPr lang="en-US" dirty="0">
                <a:solidFill>
                  <a:srgbClr val="212121"/>
                </a:solidFill>
                <a:latin typeface="Arial" pitchFamily="34" charset="0"/>
                <a:ea typeface="Arial" pitchFamily="34" charset="-122"/>
                <a:cs typeface="Arial" pitchFamily="34" charset="-120"/>
              </a:rPr>
              <a:t>Un gestor embebido vive dentro de tu propio proceso: no hay nada que instalar ni levantar aparte, arranca y desaparece con tu aplicación. Es rápido de poner en marcha, pero normalmente no está pensado para que varias aplicaciones distintas lo usen a la vez.</a:t>
            </a:r>
            <a:endParaRPr lang="en-US" dirty="0"/>
          </a:p>
        </p:txBody>
      </p:sp>
      <p:sp>
        <p:nvSpPr>
          <p:cNvPr id="6" name="Text 4"/>
          <p:cNvSpPr/>
          <p:nvPr/>
        </p:nvSpPr>
        <p:spPr>
          <a:xfrm>
            <a:off x="628884" y="3688608"/>
            <a:ext cx="3803158" cy="2785344"/>
          </a:xfrm>
          <a:prstGeom prst="rect">
            <a:avLst/>
          </a:prstGeom>
          <a:noFill/>
          <a:ln/>
        </p:spPr>
        <p:txBody>
          <a:bodyPr wrap="square" rtlCol="0" anchor="t"/>
          <a:lstStyle/>
          <a:p>
            <a:pPr marL="0" indent="0">
              <a:buNone/>
            </a:pPr>
            <a:r>
              <a:rPr lang="en-US" dirty="0">
                <a:solidFill>
                  <a:srgbClr val="212121"/>
                </a:solidFill>
                <a:latin typeface="Arial" pitchFamily="34" charset="0"/>
                <a:ea typeface="Arial" pitchFamily="34" charset="-122"/>
                <a:cs typeface="Arial" pitchFamily="34" charset="-120"/>
              </a:rPr>
              <a:t>Un gestor independiente corre como su propio servicio, escuchando en un puerto de red, y puede atender a muchos clientes al mismo tiempo. Es el mismo concepto de IP/puerto del apartado 1: un contenedor de PostgreSQL, separado de tu aplicación, al que te conectas por IP/puerto.</a:t>
            </a:r>
            <a:endParaRPr lang="en-US" dirty="0"/>
          </a:p>
        </p:txBody>
      </p:sp>
      <p:pic>
        <p:nvPicPr>
          <p:cNvPr id="8" name="Imagen 7">
            <a:extLst>
              <a:ext uri="{FF2B5EF4-FFF2-40B4-BE49-F238E27FC236}">
                <a16:creationId xmlns:a16="http://schemas.microsoft.com/office/drawing/2014/main" id="{DC18964C-1833-F775-E818-ACB99111B432}"/>
              </a:ext>
            </a:extLst>
          </p:cNvPr>
          <p:cNvPicPr>
            <a:picLocks noChangeAspect="1"/>
          </p:cNvPicPr>
          <p:nvPr/>
        </p:nvPicPr>
        <p:blipFill>
          <a:blip r:embed="rId3"/>
          <a:srcRect l="3789" t="11333" r="2815" b="12381"/>
          <a:stretch>
            <a:fillRect/>
          </a:stretch>
        </p:blipFill>
        <p:spPr>
          <a:xfrm>
            <a:off x="4480000" y="1626295"/>
            <a:ext cx="7343192" cy="399860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Pooling de conexiones</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Conectores y protocolos</a:t>
            </a:r>
            <a:endParaRPr lang="en-US" sz="1100" dirty="0"/>
          </a:p>
        </p:txBody>
      </p:sp>
      <p:sp>
        <p:nvSpPr>
          <p:cNvPr id="5" name="Text 3"/>
          <p:cNvSpPr/>
          <p:nvPr/>
        </p:nvSpPr>
        <p:spPr>
          <a:xfrm>
            <a:off x="548640" y="1188720"/>
            <a:ext cx="11091672" cy="1371600"/>
          </a:xfrm>
          <a:prstGeom prst="rect">
            <a:avLst/>
          </a:prstGeom>
          <a:noFill/>
          <a:ln/>
        </p:spPr>
        <p:txBody>
          <a:bodyPr wrap="square" rtlCol="0" anchor="t"/>
          <a:lstStyle/>
          <a:p>
            <a:pPr marL="0" indent="0">
              <a:buNone/>
            </a:pPr>
            <a:r>
              <a:rPr lang="en-US" sz="1900" dirty="0">
                <a:solidFill>
                  <a:srgbClr val="212121"/>
                </a:solidFill>
                <a:latin typeface="Arial" pitchFamily="34" charset="0"/>
                <a:ea typeface="Arial" pitchFamily="34" charset="-122"/>
                <a:cs typeface="Arial" pitchFamily="34" charset="-120"/>
              </a:rPr>
              <a:t>Abrir una conexión a una base de datos no es gratis: implica negociación de red, autenticación, reserva de recursos — tiene un coste real, medible en milisegundos. El pooling de conexiones resuelve esto manteniendo un conjunto de conexiones ya abiertas y listas para usar.</a:t>
            </a:r>
            <a:endParaRPr lang="en-US" sz="1900" dirty="0"/>
          </a:p>
        </p:txBody>
      </p:sp>
      <p:pic>
        <p:nvPicPr>
          <p:cNvPr id="6" name="Image 0" descr="C:/Users/Aitor/docxgen/img/conectores-pooling.png"/>
          <p:cNvPicPr>
            <a:picLocks noChangeAspect="1"/>
          </p:cNvPicPr>
          <p:nvPr/>
        </p:nvPicPr>
        <p:blipFill>
          <a:blip r:embed="rId3"/>
          <a:stretch>
            <a:fillRect/>
          </a:stretch>
        </p:blipFill>
        <p:spPr>
          <a:xfrm>
            <a:off x="2179093" y="2880360"/>
            <a:ext cx="7830766" cy="1051560"/>
          </a:xfrm>
          <a:prstGeom prst="rect">
            <a:avLst/>
          </a:prstGeom>
        </p:spPr>
      </p:pic>
      <p:sp>
        <p:nvSpPr>
          <p:cNvPr id="7" name="Shape 4"/>
          <p:cNvSpPr/>
          <p:nvPr/>
        </p:nvSpPr>
        <p:spPr>
          <a:xfrm>
            <a:off x="548640" y="4297680"/>
            <a:ext cx="11091672" cy="1188720"/>
          </a:xfrm>
          <a:prstGeom prst="roundRect">
            <a:avLst/>
          </a:prstGeom>
          <a:solidFill>
            <a:srgbClr val="FBE9E7"/>
          </a:solidFill>
          <a:ln w="19050">
            <a:solidFill>
              <a:srgbClr val="E64A19"/>
            </a:solidFill>
            <a:prstDash val="solid"/>
          </a:ln>
        </p:spPr>
        <p:txBody>
          <a:bodyPr/>
          <a:lstStyle/>
          <a:p>
            <a:endParaRPr lang="es-ES"/>
          </a:p>
        </p:txBody>
      </p:sp>
      <p:sp>
        <p:nvSpPr>
          <p:cNvPr id="8" name="Text 5"/>
          <p:cNvSpPr/>
          <p:nvPr/>
        </p:nvSpPr>
        <p:spPr>
          <a:xfrm>
            <a:off x="822960" y="4389120"/>
            <a:ext cx="10543032" cy="1005840"/>
          </a:xfrm>
          <a:prstGeom prst="rect">
            <a:avLst/>
          </a:prstGeom>
          <a:noFill/>
          <a:ln/>
        </p:spPr>
        <p:txBody>
          <a:bodyPr wrap="square" rtlCol="0" anchor="ctr"/>
          <a:lstStyle/>
          <a:p>
            <a:pPr marL="0" indent="0">
              <a:buNone/>
            </a:pPr>
            <a:r>
              <a:rPr lang="en-US" sz="1900" dirty="0">
                <a:solidFill>
                  <a:srgbClr val="212121"/>
                </a:solidFill>
                <a:latin typeface="Arial" pitchFamily="34" charset="0"/>
                <a:ea typeface="Arial" pitchFamily="34" charset="-122"/>
                <a:cs typeface="Arial" pitchFamily="34" charset="-120"/>
              </a:rPr>
              <a:t>Analogía: taquillas ya abiertas. Forzar una cerradura nueva cada vez que necesitas guardar algo es lento. Un pool de conexiones es como un conjunto de taquillas que ya están abiertas de antemano: coges una libre, la usas, y la dejas lista para el siguiente.</a:t>
            </a:r>
            <a:endParaRPr lang="en-US" sz="1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Tipos de relación entre entidades</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Conectores y protocolos</a:t>
            </a:r>
            <a:endParaRPr lang="en-US" sz="1100" dirty="0"/>
          </a:p>
        </p:txBody>
      </p:sp>
      <p:sp>
        <p:nvSpPr>
          <p:cNvPr id="5" name="Text 3"/>
          <p:cNvSpPr/>
          <p:nvPr/>
        </p:nvSpPr>
        <p:spPr>
          <a:xfrm>
            <a:off x="548640" y="1188720"/>
            <a:ext cx="11091672" cy="1371600"/>
          </a:xfrm>
          <a:prstGeom prst="rect">
            <a:avLst/>
          </a:prstGeom>
          <a:noFill/>
          <a:ln/>
        </p:spPr>
        <p:txBody>
          <a:bodyPr wrap="square" rtlCol="0" anchor="t"/>
          <a:lstStyle/>
          <a:p>
            <a:pPr marL="0" indent="0">
              <a:buNone/>
            </a:pPr>
            <a:r>
              <a:rPr lang="en-US" sz="1900" dirty="0">
                <a:solidFill>
                  <a:srgbClr val="212121"/>
                </a:solidFill>
                <a:latin typeface="Arial" pitchFamily="34" charset="0"/>
                <a:ea typeface="Arial" pitchFamily="34" charset="-122"/>
                <a:cs typeface="Arial" pitchFamily="34" charset="-120"/>
              </a:rPr>
              <a:t>Cuando dos clases están relacionadas, no basta con decir "están relacionadas" — hace falta precisar cuántas instancias de una pueden asociarse con cuántas de la otra. A ese matiz se le llama multiplicidad (o cardinalidad), y determina qué anotación JPA usas para mapear la relación.</a:t>
            </a:r>
            <a:endParaRPr lang="en-US" sz="1900" dirty="0"/>
          </a:p>
        </p:txBody>
      </p:sp>
      <p:pic>
        <p:nvPicPr>
          <p:cNvPr id="6" name="Image 0" descr="C:/Users/Aitor/docxgen/img/conectores-er-relaciones.png"/>
          <p:cNvPicPr>
            <a:picLocks noChangeAspect="1"/>
          </p:cNvPicPr>
          <p:nvPr/>
        </p:nvPicPr>
        <p:blipFill>
          <a:blip r:embed="rId3"/>
          <a:stretch>
            <a:fillRect/>
          </a:stretch>
        </p:blipFill>
        <p:spPr>
          <a:xfrm>
            <a:off x="3953367" y="2370695"/>
            <a:ext cx="3623089" cy="410325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Tipos de relación entre entidades (cont.)</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Conectores y protocolos</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091672" cy="4023360"/>
        </p:xfrm>
        <a:graphic>
          <a:graphicData uri="http://schemas.openxmlformats.org/drawingml/2006/table">
            <a:tbl>
              <a:tblPr/>
              <a:tblGrid>
                <a:gridCol w="2440168">
                  <a:extLst>
                    <a:ext uri="{9D8B030D-6E8A-4147-A177-3AD203B41FA5}">
                      <a16:colId xmlns:a16="http://schemas.microsoft.com/office/drawing/2014/main" val="20000"/>
                    </a:ext>
                  </a:extLst>
                </a:gridCol>
                <a:gridCol w="5545836">
                  <a:extLst>
                    <a:ext uri="{9D8B030D-6E8A-4147-A177-3AD203B41FA5}">
                      <a16:colId xmlns:a16="http://schemas.microsoft.com/office/drawing/2014/main" val="20001"/>
                    </a:ext>
                  </a:extLst>
                </a:gridCol>
                <a:gridCol w="3105668">
                  <a:extLst>
                    <a:ext uri="{9D8B030D-6E8A-4147-A177-3AD203B41FA5}">
                      <a16:colId xmlns:a16="http://schemas.microsoft.com/office/drawing/2014/main" val="20002"/>
                    </a:ext>
                  </a:extLst>
                </a:gridCol>
              </a:tblGrid>
              <a:tr h="1005840">
                <a:tc>
                  <a:txBody>
                    <a:bodyPr/>
                    <a:lstStyle/>
                    <a:p>
                      <a:pPr marL="0" indent="0" algn="ctr">
                        <a:buNone/>
                      </a:pPr>
                      <a:r>
                        <a:rPr lang="en-US" sz="1900" b="1" dirty="0">
                          <a:solidFill>
                            <a:srgbClr val="FFFFFF"/>
                          </a:solidFill>
                          <a:latin typeface="Arial" pitchFamily="34" charset="0"/>
                          <a:ea typeface="Arial" pitchFamily="34" charset="-122"/>
                          <a:cs typeface="Arial" pitchFamily="34" charset="-120"/>
                        </a:rPr>
                        <a:t>Relación</a:t>
                      </a:r>
                      <a:endParaRPr lang="en-US" sz="19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c>
                  <a:txBody>
                    <a:bodyPr/>
                    <a:lstStyle/>
                    <a:p>
                      <a:pPr marL="0" indent="0" algn="ctr">
                        <a:buNone/>
                      </a:pPr>
                      <a:r>
                        <a:rPr lang="en-US" sz="1900" b="1" dirty="0">
                          <a:solidFill>
                            <a:srgbClr val="FFFFFF"/>
                          </a:solidFill>
                          <a:latin typeface="Arial" pitchFamily="34" charset="0"/>
                          <a:ea typeface="Arial" pitchFamily="34" charset="-122"/>
                          <a:cs typeface="Arial" pitchFamily="34" charset="-120"/>
                        </a:rPr>
                        <a:t>Ejemplo en la librería</a:t>
                      </a:r>
                      <a:endParaRPr lang="en-US" sz="19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c>
                  <a:txBody>
                    <a:bodyPr/>
                    <a:lstStyle/>
                    <a:p>
                      <a:pPr marL="0" indent="0" algn="ctr">
                        <a:buNone/>
                      </a:pPr>
                      <a:r>
                        <a:rPr lang="en-US" sz="1900" b="1" dirty="0">
                          <a:solidFill>
                            <a:srgbClr val="FFFFFF"/>
                          </a:solidFill>
                          <a:latin typeface="Arial" pitchFamily="34" charset="0"/>
                          <a:ea typeface="Arial" pitchFamily="34" charset="-122"/>
                          <a:cs typeface="Arial" pitchFamily="34" charset="-120"/>
                        </a:rPr>
                        <a:t>Anotación</a:t>
                      </a:r>
                      <a:endParaRPr lang="en-US" sz="19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extLst>
                  <a:ext uri="{0D108BD9-81ED-4DB2-BD59-A6C34878D82A}">
                    <a16:rowId xmlns:a16="http://schemas.microsoft.com/office/drawing/2014/main" val="10000"/>
                  </a:ext>
                </a:extLst>
              </a:tr>
              <a:tr h="1005840">
                <a:tc>
                  <a:txBody>
                    <a:bodyPr/>
                    <a:lstStyle/>
                    <a:p>
                      <a:pPr marL="0" indent="0">
                        <a:buNone/>
                      </a:pPr>
                      <a:r>
                        <a:rPr lang="en-US" sz="1700" b="1" dirty="0">
                          <a:solidFill>
                            <a:srgbClr val="212121"/>
                          </a:solidFill>
                          <a:latin typeface="Arial" pitchFamily="34" charset="0"/>
                          <a:ea typeface="Arial" pitchFamily="34" charset="-122"/>
                          <a:cs typeface="Arial" pitchFamily="34" charset="-120"/>
                        </a:rPr>
                        <a:t>Uno a uno (1:1)</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700" dirty="0">
                          <a:solidFill>
                            <a:srgbClr val="212121"/>
                          </a:solidFill>
                          <a:latin typeface="Arial" pitchFamily="34" charset="0"/>
                          <a:ea typeface="Arial" pitchFamily="34" charset="-122"/>
                          <a:cs typeface="Arial" pitchFamily="34" charset="-120"/>
                        </a:rPr>
                        <a:t>Un libro tiene una única ficha técnica con sus datos extendidos</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700" dirty="0">
                          <a:solidFill>
                            <a:srgbClr val="212121"/>
                          </a:solidFill>
                          <a:latin typeface="Arial" pitchFamily="34" charset="0"/>
                          <a:ea typeface="Arial" pitchFamily="34" charset="-122"/>
                          <a:cs typeface="Arial" pitchFamily="34" charset="-120"/>
                        </a:rPr>
                        <a:t>@OneToOne en los dos lados</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005840">
                <a:tc>
                  <a:txBody>
                    <a:bodyPr/>
                    <a:lstStyle/>
                    <a:p>
                      <a:pPr marL="0" indent="0">
                        <a:buNone/>
                      </a:pPr>
                      <a:r>
                        <a:rPr lang="en-US" sz="1700" b="1" dirty="0">
                          <a:solidFill>
                            <a:srgbClr val="212121"/>
                          </a:solidFill>
                          <a:latin typeface="Arial" pitchFamily="34" charset="0"/>
                          <a:ea typeface="Arial" pitchFamily="34" charset="-122"/>
                          <a:cs typeface="Arial" pitchFamily="34" charset="-120"/>
                        </a:rPr>
                        <a:t>Uno a muchos (1:N)</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700" dirty="0">
                          <a:solidFill>
                            <a:srgbClr val="212121"/>
                          </a:solidFill>
                          <a:latin typeface="Arial" pitchFamily="34" charset="0"/>
                          <a:ea typeface="Arial" pitchFamily="34" charset="-122"/>
                          <a:cs typeface="Arial" pitchFamily="34" charset="-120"/>
                        </a:rPr>
                        <a:t>Una editorial publica muchos libros</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700" dirty="0">
                          <a:solidFill>
                            <a:srgbClr val="212121"/>
                          </a:solidFill>
                          <a:latin typeface="Arial" pitchFamily="34" charset="0"/>
                          <a:ea typeface="Arial" pitchFamily="34" charset="-122"/>
                          <a:cs typeface="Arial" pitchFamily="34" charset="-120"/>
                        </a:rPr>
                        <a:t>@OneToMany + @ManyToOne</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1005840">
                <a:tc>
                  <a:txBody>
                    <a:bodyPr/>
                    <a:lstStyle/>
                    <a:p>
                      <a:pPr marL="0" indent="0">
                        <a:buNone/>
                      </a:pPr>
                      <a:r>
                        <a:rPr lang="en-US" sz="1700" b="1" dirty="0">
                          <a:solidFill>
                            <a:srgbClr val="212121"/>
                          </a:solidFill>
                          <a:latin typeface="Arial" pitchFamily="34" charset="0"/>
                          <a:ea typeface="Arial" pitchFamily="34" charset="-122"/>
                          <a:cs typeface="Arial" pitchFamily="34" charset="-120"/>
                        </a:rPr>
                        <a:t>Muchos a muchos (N:M)</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700" dirty="0">
                          <a:solidFill>
                            <a:srgbClr val="212121"/>
                          </a:solidFill>
                          <a:latin typeface="Arial" pitchFamily="34" charset="0"/>
                          <a:ea typeface="Arial" pitchFamily="34" charset="-122"/>
                          <a:cs typeface="Arial" pitchFamily="34" charset="-120"/>
                        </a:rPr>
                        <a:t>Un libro puede tener varios autores, y viceversa</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700" dirty="0">
                          <a:solidFill>
                            <a:srgbClr val="212121"/>
                          </a:solidFill>
                          <a:latin typeface="Arial" pitchFamily="34" charset="0"/>
                          <a:ea typeface="Arial" pitchFamily="34" charset="-122"/>
                          <a:cs typeface="Arial" pitchFamily="34" charset="-120"/>
                        </a:rPr>
                        <a:t>@ManyToMany en los dos lados</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Uno a uno: Libro y FichaTecnica</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Conectores y protocolos</a:t>
            </a:r>
            <a:endParaRPr lang="en-US" sz="1100" dirty="0"/>
          </a:p>
        </p:txBody>
      </p:sp>
      <p:sp>
        <p:nvSpPr>
          <p:cNvPr id="5" name="Text 3"/>
          <p:cNvSpPr/>
          <p:nvPr/>
        </p:nvSpPr>
        <p:spPr>
          <a:xfrm>
            <a:off x="548640" y="2057400"/>
            <a:ext cx="11091672" cy="411480"/>
          </a:xfrm>
          <a:prstGeom prst="rect">
            <a:avLst/>
          </a:prstGeom>
          <a:noFill/>
          <a:ln/>
        </p:spPr>
        <p:txBody>
          <a:bodyPr wrap="square" rtlCol="0" anchor="t"/>
          <a:lstStyle/>
          <a:p>
            <a:pPr marL="0" indent="0">
              <a:buNone/>
            </a:pPr>
            <a:r>
              <a:rPr lang="en-US" sz="2000" b="1" dirty="0">
                <a:solidFill>
                  <a:srgbClr val="212121"/>
                </a:solidFill>
                <a:latin typeface="Arial" pitchFamily="34" charset="0"/>
                <a:ea typeface="Arial" pitchFamily="34" charset="-122"/>
                <a:cs typeface="Arial" pitchFamily="34" charset="-120"/>
              </a:rPr>
              <a:t>El lado Libro — inverso de la relación (mappedBy):</a:t>
            </a:r>
            <a:endParaRPr lang="en-US" sz="2000" dirty="0"/>
          </a:p>
        </p:txBody>
      </p:sp>
      <p:sp>
        <p:nvSpPr>
          <p:cNvPr id="6" name="Shape 4"/>
          <p:cNvSpPr/>
          <p:nvPr/>
        </p:nvSpPr>
        <p:spPr>
          <a:xfrm>
            <a:off x="548640" y="2697480"/>
            <a:ext cx="11091672" cy="2743200"/>
          </a:xfrm>
          <a:prstGeom prst="rect">
            <a:avLst/>
          </a:prstGeom>
          <a:solidFill>
            <a:srgbClr val="ECEFF1"/>
          </a:solidFill>
          <a:ln w="12700">
            <a:solidFill>
              <a:srgbClr val="EEEEEE"/>
            </a:solidFill>
            <a:prstDash val="solid"/>
          </a:ln>
        </p:spPr>
        <p:txBody>
          <a:bodyPr/>
          <a:lstStyle/>
          <a:p>
            <a:endParaRPr lang="es-ES"/>
          </a:p>
        </p:txBody>
      </p:sp>
      <p:sp>
        <p:nvSpPr>
          <p:cNvPr id="7" name="Shape 5"/>
          <p:cNvSpPr/>
          <p:nvPr/>
        </p:nvSpPr>
        <p:spPr>
          <a:xfrm>
            <a:off x="548640" y="2697480"/>
            <a:ext cx="73152" cy="2743200"/>
          </a:xfrm>
          <a:prstGeom prst="rect">
            <a:avLst/>
          </a:prstGeom>
          <a:solidFill>
            <a:srgbClr val="E64A19"/>
          </a:solidFill>
          <a:ln w="12700">
            <a:solidFill>
              <a:srgbClr val="E64A19"/>
            </a:solidFill>
            <a:prstDash val="solid"/>
          </a:ln>
        </p:spPr>
        <p:txBody>
          <a:bodyPr/>
          <a:lstStyle/>
          <a:p>
            <a:endParaRPr lang="es-ES"/>
          </a:p>
        </p:txBody>
      </p:sp>
      <p:sp>
        <p:nvSpPr>
          <p:cNvPr id="8" name="Text 6"/>
          <p:cNvSpPr/>
          <p:nvPr/>
        </p:nvSpPr>
        <p:spPr>
          <a:xfrm>
            <a:off x="822960" y="2807208"/>
            <a:ext cx="10588752" cy="2523744"/>
          </a:xfrm>
          <a:prstGeom prst="rect">
            <a:avLst/>
          </a:prstGeom>
          <a:noFill/>
          <a:ln/>
        </p:spPr>
        <p:txBody>
          <a:bodyPr wrap="square" rtlCol="0" anchor="t"/>
          <a:lstStyle/>
          <a:p>
            <a:pPr marL="0" indent="0">
              <a:buNone/>
            </a:pPr>
            <a:r>
              <a:rPr lang="en-US" sz="1700" dirty="0">
                <a:solidFill>
                  <a:srgbClr val="263238"/>
                </a:solidFill>
                <a:latin typeface="Courier New" pitchFamily="34" charset="0"/>
                <a:ea typeface="Courier New" pitchFamily="34" charset="-122"/>
                <a:cs typeface="Courier New" pitchFamily="34" charset="-120"/>
              </a:rPr>
              <a:t>@Entity</a:t>
            </a:r>
            <a:endParaRPr lang="en-US" sz="1700" dirty="0"/>
          </a:p>
          <a:p>
            <a:pPr marL="0" indent="0">
              <a:buNone/>
            </a:pPr>
            <a:r>
              <a:rPr lang="en-US" sz="1700" dirty="0">
                <a:solidFill>
                  <a:srgbClr val="263238"/>
                </a:solidFill>
                <a:latin typeface="Courier New" pitchFamily="34" charset="0"/>
                <a:ea typeface="Courier New" pitchFamily="34" charset="-122"/>
                <a:cs typeface="Courier New" pitchFamily="34" charset="-120"/>
              </a:rPr>
              <a:t>public class Libro {</a:t>
            </a:r>
            <a:endParaRPr lang="en-US" sz="1700" dirty="0"/>
          </a:p>
          <a:p>
            <a:pPr marL="0" indent="0">
              <a:buNone/>
            </a:pPr>
            <a:r>
              <a:rPr lang="en-US" sz="1700" dirty="0">
                <a:solidFill>
                  <a:srgbClr val="263238"/>
                </a:solidFill>
                <a:latin typeface="Courier New" pitchFamily="34" charset="0"/>
                <a:ea typeface="Courier New" pitchFamily="34" charset="-122"/>
                <a:cs typeface="Courier New" pitchFamily="34" charset="-120"/>
              </a:rPr>
              <a:t>    @Id</a:t>
            </a:r>
            <a:endParaRPr lang="en-US" sz="1700" dirty="0"/>
          </a:p>
          <a:p>
            <a:pPr marL="0" indent="0">
              <a:buNone/>
            </a:pPr>
            <a:r>
              <a:rPr lang="en-US" sz="1700" dirty="0">
                <a:solidFill>
                  <a:srgbClr val="263238"/>
                </a:solidFill>
                <a:latin typeface="Courier New" pitchFamily="34" charset="0"/>
                <a:ea typeface="Courier New" pitchFamily="34" charset="-122"/>
                <a:cs typeface="Courier New" pitchFamily="34" charset="-120"/>
              </a:rPr>
              <a:t>    @GeneratedValue(strategy = GenerationType.IDENTITY)</a:t>
            </a:r>
            <a:endParaRPr lang="en-US" sz="1700" dirty="0"/>
          </a:p>
          <a:p>
            <a:pPr marL="0" indent="0">
              <a:buNone/>
            </a:pPr>
            <a:r>
              <a:rPr lang="en-US" sz="1700" dirty="0">
                <a:solidFill>
                  <a:srgbClr val="263238"/>
                </a:solidFill>
                <a:latin typeface="Courier New" pitchFamily="34" charset="0"/>
                <a:ea typeface="Courier New" pitchFamily="34" charset="-122"/>
                <a:cs typeface="Courier New" pitchFamily="34" charset="-120"/>
              </a:rPr>
              <a:t>    private Long id;</a:t>
            </a:r>
            <a:endParaRPr lang="en-US" sz="1700" dirty="0"/>
          </a:p>
          <a:p>
            <a:pPr marL="0" indent="0">
              <a:buNone/>
            </a:pPr>
            <a:endParaRPr lang="en-US" sz="1700" dirty="0"/>
          </a:p>
          <a:p>
            <a:pPr marL="0" indent="0">
              <a:buNone/>
            </a:pPr>
            <a:r>
              <a:rPr lang="en-US" sz="1700" dirty="0">
                <a:solidFill>
                  <a:srgbClr val="263238"/>
                </a:solidFill>
                <a:latin typeface="Courier New" pitchFamily="34" charset="0"/>
                <a:ea typeface="Courier New" pitchFamily="34" charset="-122"/>
                <a:cs typeface="Courier New" pitchFamily="34" charset="-120"/>
              </a:rPr>
              <a:t>    @OneToOne(mappedBy = "libro", cascade = CascadeType.ALL)</a:t>
            </a:r>
            <a:endParaRPr lang="en-US" sz="1700" dirty="0"/>
          </a:p>
          <a:p>
            <a:pPr marL="0" indent="0">
              <a:buNone/>
            </a:pPr>
            <a:r>
              <a:rPr lang="en-US" sz="1700" dirty="0">
                <a:solidFill>
                  <a:srgbClr val="263238"/>
                </a:solidFill>
                <a:latin typeface="Courier New" pitchFamily="34" charset="0"/>
                <a:ea typeface="Courier New" pitchFamily="34" charset="-122"/>
                <a:cs typeface="Courier New" pitchFamily="34" charset="-120"/>
              </a:rPr>
              <a:t>    private FichaTecnica fichaTecnica;</a:t>
            </a:r>
            <a:endParaRPr lang="en-US" sz="1700" dirty="0"/>
          </a:p>
          <a:p>
            <a:pPr marL="0" indent="0">
              <a:buNone/>
            </a:pPr>
            <a:r>
              <a:rPr lang="en-US" sz="1700" dirty="0">
                <a:solidFill>
                  <a:srgbClr val="263238"/>
                </a:solidFill>
                <a:latin typeface="Courier New" pitchFamily="34" charset="0"/>
                <a:ea typeface="Courier New" pitchFamily="34" charset="-122"/>
                <a:cs typeface="Courier New" pitchFamily="34" charset="-120"/>
              </a:rPr>
              <a:t>}</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Uno a uno: Libro y FichaTecnica (cont.)</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Conectores y protocolos</a:t>
            </a:r>
            <a:endParaRPr lang="en-US" sz="1100" dirty="0"/>
          </a:p>
        </p:txBody>
      </p:sp>
      <p:sp>
        <p:nvSpPr>
          <p:cNvPr id="5" name="Text 3"/>
          <p:cNvSpPr/>
          <p:nvPr/>
        </p:nvSpPr>
        <p:spPr>
          <a:xfrm>
            <a:off x="548640" y="1097280"/>
            <a:ext cx="11091672" cy="365760"/>
          </a:xfrm>
          <a:prstGeom prst="rect">
            <a:avLst/>
          </a:prstGeom>
          <a:noFill/>
          <a:ln/>
        </p:spPr>
        <p:txBody>
          <a:bodyPr wrap="square" rtlCol="0" anchor="t"/>
          <a:lstStyle/>
          <a:p>
            <a:pPr marL="0" indent="0">
              <a:buNone/>
            </a:pPr>
            <a:r>
              <a:rPr lang="en-US" sz="1800" b="1" dirty="0">
                <a:solidFill>
                  <a:srgbClr val="212121"/>
                </a:solidFill>
                <a:latin typeface="Arial" pitchFamily="34" charset="0"/>
                <a:ea typeface="Arial" pitchFamily="34" charset="-122"/>
                <a:cs typeface="Arial" pitchFamily="34" charset="-120"/>
              </a:rPr>
              <a:t>El lado FichaTecnica — el que tiene la clave foránea real:</a:t>
            </a:r>
            <a:endParaRPr lang="en-US" sz="1800" dirty="0"/>
          </a:p>
        </p:txBody>
      </p:sp>
      <p:sp>
        <p:nvSpPr>
          <p:cNvPr id="6" name="Shape 4"/>
          <p:cNvSpPr/>
          <p:nvPr/>
        </p:nvSpPr>
        <p:spPr>
          <a:xfrm>
            <a:off x="548640" y="1645920"/>
            <a:ext cx="11091672" cy="3200400"/>
          </a:xfrm>
          <a:prstGeom prst="rect">
            <a:avLst/>
          </a:prstGeom>
          <a:solidFill>
            <a:srgbClr val="ECEFF1"/>
          </a:solidFill>
          <a:ln w="12700">
            <a:solidFill>
              <a:srgbClr val="EEEEEE"/>
            </a:solidFill>
            <a:prstDash val="solid"/>
          </a:ln>
        </p:spPr>
        <p:txBody>
          <a:bodyPr/>
          <a:lstStyle/>
          <a:p>
            <a:endParaRPr lang="es-ES"/>
          </a:p>
        </p:txBody>
      </p:sp>
      <p:sp>
        <p:nvSpPr>
          <p:cNvPr id="7" name="Shape 5"/>
          <p:cNvSpPr/>
          <p:nvPr/>
        </p:nvSpPr>
        <p:spPr>
          <a:xfrm>
            <a:off x="548640" y="1645920"/>
            <a:ext cx="73152" cy="3200400"/>
          </a:xfrm>
          <a:prstGeom prst="rect">
            <a:avLst/>
          </a:prstGeom>
          <a:solidFill>
            <a:srgbClr val="E64A19"/>
          </a:solidFill>
          <a:ln w="12700">
            <a:solidFill>
              <a:srgbClr val="E64A19"/>
            </a:solidFill>
            <a:prstDash val="solid"/>
          </a:ln>
        </p:spPr>
        <p:txBody>
          <a:bodyPr/>
          <a:lstStyle/>
          <a:p>
            <a:endParaRPr lang="es-ES"/>
          </a:p>
        </p:txBody>
      </p:sp>
      <p:sp>
        <p:nvSpPr>
          <p:cNvPr id="8" name="Text 6"/>
          <p:cNvSpPr/>
          <p:nvPr/>
        </p:nvSpPr>
        <p:spPr>
          <a:xfrm>
            <a:off x="822960" y="1755648"/>
            <a:ext cx="10588752" cy="2980944"/>
          </a:xfrm>
          <a:prstGeom prst="rect">
            <a:avLst/>
          </a:prstGeom>
          <a:noFill/>
          <a:ln/>
        </p:spPr>
        <p:txBody>
          <a:bodyPr wrap="square" rtlCol="0" anchor="t"/>
          <a:lstStyle/>
          <a:p>
            <a:pPr marL="0" indent="0">
              <a:buNone/>
            </a:pPr>
            <a:r>
              <a:rPr lang="en-US" sz="1500" dirty="0">
                <a:solidFill>
                  <a:srgbClr val="263238"/>
                </a:solidFill>
                <a:latin typeface="Courier New" pitchFamily="34" charset="0"/>
                <a:ea typeface="Courier New" pitchFamily="34" charset="-122"/>
                <a:cs typeface="Courier New" pitchFamily="34" charset="-120"/>
              </a:rPr>
              <a:t>@Entity</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public class FichaTecnica {</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@Id</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@GeneratedValue(strategy = GenerationType.IDENTITY)</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private Long id;</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private Integer numeroPaginas;</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private String idioma;</a:t>
            </a:r>
            <a:endParaRPr lang="en-US" sz="1500" dirty="0"/>
          </a:p>
          <a:p>
            <a:pPr marL="0" indent="0">
              <a:buNone/>
            </a:pP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@OneToOne</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@JoinColumn(name = "libro_id", unique = true)</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private Libro libro;</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a:t>
            </a:r>
            <a:endParaRPr lang="en-US" sz="1500" dirty="0"/>
          </a:p>
        </p:txBody>
      </p:sp>
      <p:sp>
        <p:nvSpPr>
          <p:cNvPr id="9" name="Text 7"/>
          <p:cNvSpPr/>
          <p:nvPr/>
        </p:nvSpPr>
        <p:spPr>
          <a:xfrm>
            <a:off x="548640" y="5074920"/>
            <a:ext cx="11091672" cy="685800"/>
          </a:xfrm>
          <a:prstGeom prst="rect">
            <a:avLst/>
          </a:prstGeom>
          <a:noFill/>
          <a:ln/>
        </p:spPr>
        <p:txBody>
          <a:bodyPr wrap="square" rtlCol="0" anchor="t"/>
          <a:lstStyle/>
          <a:p>
            <a:pPr marL="0" indent="0">
              <a:buNone/>
            </a:pPr>
            <a:r>
              <a:rPr lang="en-US" sz="1600" dirty="0">
                <a:solidFill>
                  <a:srgbClr val="757575"/>
                </a:solidFill>
                <a:latin typeface="Arial" pitchFamily="34" charset="0"/>
                <a:ea typeface="Arial" pitchFamily="34" charset="-122"/>
                <a:cs typeface="Arial" pitchFamily="34" charset="-120"/>
              </a:rPr>
              <a:t>Lo único que distingue un 1:1 de un 1:N en la base de datos es la columna unique = true: sin ella, varias fichas técnicas podrían apuntar al mismo libro.</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Uno a muchos: Editorial y Libro</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Conectores y protocolos</a:t>
            </a:r>
            <a:endParaRPr lang="en-US" sz="1100" dirty="0"/>
          </a:p>
        </p:txBody>
      </p:sp>
      <p:sp>
        <p:nvSpPr>
          <p:cNvPr id="5" name="Shape 3"/>
          <p:cNvSpPr/>
          <p:nvPr/>
        </p:nvSpPr>
        <p:spPr>
          <a:xfrm>
            <a:off x="548640" y="2560320"/>
            <a:ext cx="11091672" cy="1371600"/>
          </a:xfrm>
          <a:prstGeom prst="roundRect">
            <a:avLst/>
          </a:prstGeom>
          <a:solidFill>
            <a:srgbClr val="FBE9E7"/>
          </a:solidFill>
          <a:ln w="19050">
            <a:solidFill>
              <a:srgbClr val="E64A19"/>
            </a:solidFill>
            <a:prstDash val="solid"/>
          </a:ln>
        </p:spPr>
        <p:txBody>
          <a:bodyPr/>
          <a:lstStyle/>
          <a:p>
            <a:endParaRPr lang="es-ES"/>
          </a:p>
        </p:txBody>
      </p:sp>
      <p:sp>
        <p:nvSpPr>
          <p:cNvPr id="6" name="Text 4"/>
          <p:cNvSpPr/>
          <p:nvPr/>
        </p:nvSpPr>
        <p:spPr>
          <a:xfrm>
            <a:off x="822960" y="2651760"/>
            <a:ext cx="10543032" cy="1188720"/>
          </a:xfrm>
          <a:prstGeom prst="rect">
            <a:avLst/>
          </a:prstGeom>
          <a:noFill/>
          <a:ln/>
        </p:spPr>
        <p:txBody>
          <a:bodyPr wrap="square" rtlCol="0" anchor="ctr"/>
          <a:lstStyle/>
          <a:p>
            <a:pPr marL="0" indent="0">
              <a:buNone/>
            </a:pPr>
            <a:r>
              <a:rPr lang="en-US" sz="2200" dirty="0">
                <a:solidFill>
                  <a:srgbClr val="212121"/>
                </a:solidFill>
                <a:latin typeface="Arial" pitchFamily="34" charset="0"/>
                <a:ea typeface="Arial" pitchFamily="34" charset="-122"/>
                <a:cs typeface="Arial" pitchFamily="34" charset="-120"/>
              </a:rPr>
              <a:t>Es la relación que ya conoces del principio del apartado: una editorial tiene muchos libros, pero cada libro pertenece a una única editorial. Es la que vas a ver a continuación con código real.</a:t>
            </a:r>
            <a:endParaRPr lang="en-US" sz="2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Muchos a muchos: Libro y Autor</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Conectores y protocolos</a:t>
            </a:r>
            <a:endParaRPr lang="en-US" sz="1100" dirty="0"/>
          </a:p>
        </p:txBody>
      </p:sp>
      <p:sp>
        <p:nvSpPr>
          <p:cNvPr id="5" name="Text 3"/>
          <p:cNvSpPr/>
          <p:nvPr/>
        </p:nvSpPr>
        <p:spPr>
          <a:xfrm>
            <a:off x="548640" y="1280160"/>
            <a:ext cx="11091672" cy="365760"/>
          </a:xfrm>
          <a:prstGeom prst="rect">
            <a:avLst/>
          </a:prstGeom>
          <a:noFill/>
          <a:ln/>
        </p:spPr>
        <p:txBody>
          <a:bodyPr wrap="square" rtlCol="0" anchor="t"/>
          <a:lstStyle/>
          <a:p>
            <a:pPr marL="0" indent="0">
              <a:buNone/>
            </a:pPr>
            <a:r>
              <a:rPr lang="en-US" sz="1900" b="1" dirty="0">
                <a:solidFill>
                  <a:srgbClr val="212121"/>
                </a:solidFill>
                <a:latin typeface="Arial" pitchFamily="34" charset="0"/>
                <a:ea typeface="Arial" pitchFamily="34" charset="-122"/>
                <a:cs typeface="Arial" pitchFamily="34" charset="-120"/>
              </a:rPr>
              <a:t>El lado Libro — con la tabla intermedia libro_autor:</a:t>
            </a:r>
            <a:endParaRPr lang="en-US" sz="1900" dirty="0"/>
          </a:p>
        </p:txBody>
      </p:sp>
      <p:sp>
        <p:nvSpPr>
          <p:cNvPr id="6" name="Shape 4"/>
          <p:cNvSpPr/>
          <p:nvPr/>
        </p:nvSpPr>
        <p:spPr>
          <a:xfrm>
            <a:off x="548640" y="1828800"/>
            <a:ext cx="11091672" cy="3566160"/>
          </a:xfrm>
          <a:prstGeom prst="rect">
            <a:avLst/>
          </a:prstGeom>
          <a:solidFill>
            <a:srgbClr val="ECEFF1"/>
          </a:solidFill>
          <a:ln w="12700">
            <a:solidFill>
              <a:srgbClr val="EEEEEE"/>
            </a:solidFill>
            <a:prstDash val="solid"/>
          </a:ln>
        </p:spPr>
        <p:txBody>
          <a:bodyPr/>
          <a:lstStyle/>
          <a:p>
            <a:endParaRPr lang="es-ES"/>
          </a:p>
        </p:txBody>
      </p:sp>
      <p:sp>
        <p:nvSpPr>
          <p:cNvPr id="7" name="Shape 5"/>
          <p:cNvSpPr/>
          <p:nvPr/>
        </p:nvSpPr>
        <p:spPr>
          <a:xfrm>
            <a:off x="548640" y="1828800"/>
            <a:ext cx="73152" cy="3566160"/>
          </a:xfrm>
          <a:prstGeom prst="rect">
            <a:avLst/>
          </a:prstGeom>
          <a:solidFill>
            <a:srgbClr val="E64A19"/>
          </a:solidFill>
          <a:ln w="12700">
            <a:solidFill>
              <a:srgbClr val="E64A19"/>
            </a:solidFill>
            <a:prstDash val="solid"/>
          </a:ln>
        </p:spPr>
        <p:txBody>
          <a:bodyPr/>
          <a:lstStyle/>
          <a:p>
            <a:endParaRPr lang="es-ES"/>
          </a:p>
        </p:txBody>
      </p:sp>
      <p:sp>
        <p:nvSpPr>
          <p:cNvPr id="8" name="Text 6"/>
          <p:cNvSpPr/>
          <p:nvPr/>
        </p:nvSpPr>
        <p:spPr>
          <a:xfrm>
            <a:off x="822960" y="1938528"/>
            <a:ext cx="10588752" cy="3346704"/>
          </a:xfrm>
          <a:prstGeom prst="rect">
            <a:avLst/>
          </a:prstGeom>
          <a:noFill/>
          <a:ln/>
        </p:spPr>
        <p:txBody>
          <a:bodyPr wrap="square" rtlCol="0" anchor="t"/>
          <a:lstStyle/>
          <a:p>
            <a:pPr marL="0" indent="0">
              <a:buNone/>
            </a:pPr>
            <a:r>
              <a:rPr lang="en-US" sz="1500" dirty="0">
                <a:solidFill>
                  <a:srgbClr val="263238"/>
                </a:solidFill>
                <a:latin typeface="Courier New" pitchFamily="34" charset="0"/>
                <a:ea typeface="Courier New" pitchFamily="34" charset="-122"/>
                <a:cs typeface="Courier New" pitchFamily="34" charset="-120"/>
              </a:rPr>
              <a:t>@Entity</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public class Libro {</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@Id</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@GeneratedValue(strategy = GenerationType.IDENTITY)</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private Long id;</a:t>
            </a:r>
            <a:endParaRPr lang="en-US" sz="1500" dirty="0"/>
          </a:p>
          <a:p>
            <a:pPr marL="0" indent="0">
              <a:buNone/>
            </a:pP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@ManyToMany</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@JoinTable(</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name = "libro_autor",</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joinColumns = @JoinColumn(name = "libro_id"),</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inverseJoinColumns = @JoinColumn(name = "autor_id")</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private List&lt;Autor&gt; autores;</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Muchos a muchos: Libro y Autor (cont.)</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Conectores y protocolos</a:t>
            </a:r>
            <a:endParaRPr lang="en-US" sz="1100" dirty="0"/>
          </a:p>
        </p:txBody>
      </p:sp>
      <p:sp>
        <p:nvSpPr>
          <p:cNvPr id="5" name="Text 3"/>
          <p:cNvSpPr/>
          <p:nvPr/>
        </p:nvSpPr>
        <p:spPr>
          <a:xfrm>
            <a:off x="548640" y="1280160"/>
            <a:ext cx="11091672" cy="365760"/>
          </a:xfrm>
          <a:prstGeom prst="rect">
            <a:avLst/>
          </a:prstGeom>
          <a:noFill/>
          <a:ln/>
        </p:spPr>
        <p:txBody>
          <a:bodyPr wrap="square" rtlCol="0" anchor="t"/>
          <a:lstStyle/>
          <a:p>
            <a:pPr marL="0" indent="0">
              <a:buNone/>
            </a:pPr>
            <a:r>
              <a:rPr lang="en-US" sz="1900" b="1" dirty="0">
                <a:solidFill>
                  <a:srgbClr val="212121"/>
                </a:solidFill>
                <a:latin typeface="Arial" pitchFamily="34" charset="0"/>
                <a:ea typeface="Arial" pitchFamily="34" charset="-122"/>
                <a:cs typeface="Arial" pitchFamily="34" charset="-120"/>
              </a:rPr>
              <a:t>El lado Autor — inverso de la relación:</a:t>
            </a:r>
            <a:endParaRPr lang="en-US" sz="1900" dirty="0"/>
          </a:p>
        </p:txBody>
      </p:sp>
      <p:sp>
        <p:nvSpPr>
          <p:cNvPr id="6" name="Shape 4"/>
          <p:cNvSpPr/>
          <p:nvPr/>
        </p:nvSpPr>
        <p:spPr>
          <a:xfrm>
            <a:off x="548640" y="1828800"/>
            <a:ext cx="11091672" cy="2651760"/>
          </a:xfrm>
          <a:prstGeom prst="rect">
            <a:avLst/>
          </a:prstGeom>
          <a:solidFill>
            <a:srgbClr val="ECEFF1"/>
          </a:solidFill>
          <a:ln w="12700">
            <a:solidFill>
              <a:srgbClr val="EEEEEE"/>
            </a:solidFill>
            <a:prstDash val="solid"/>
          </a:ln>
        </p:spPr>
        <p:txBody>
          <a:bodyPr/>
          <a:lstStyle/>
          <a:p>
            <a:endParaRPr lang="es-ES"/>
          </a:p>
        </p:txBody>
      </p:sp>
      <p:sp>
        <p:nvSpPr>
          <p:cNvPr id="7" name="Shape 5"/>
          <p:cNvSpPr/>
          <p:nvPr/>
        </p:nvSpPr>
        <p:spPr>
          <a:xfrm>
            <a:off x="548640" y="1828800"/>
            <a:ext cx="73152" cy="2651760"/>
          </a:xfrm>
          <a:prstGeom prst="rect">
            <a:avLst/>
          </a:prstGeom>
          <a:solidFill>
            <a:srgbClr val="E64A19"/>
          </a:solidFill>
          <a:ln w="12700">
            <a:solidFill>
              <a:srgbClr val="E64A19"/>
            </a:solidFill>
            <a:prstDash val="solid"/>
          </a:ln>
        </p:spPr>
        <p:txBody>
          <a:bodyPr/>
          <a:lstStyle/>
          <a:p>
            <a:endParaRPr lang="es-ES"/>
          </a:p>
        </p:txBody>
      </p:sp>
      <p:sp>
        <p:nvSpPr>
          <p:cNvPr id="8" name="Text 6"/>
          <p:cNvSpPr/>
          <p:nvPr/>
        </p:nvSpPr>
        <p:spPr>
          <a:xfrm>
            <a:off x="822960" y="1938528"/>
            <a:ext cx="10588752" cy="2432304"/>
          </a:xfrm>
          <a:prstGeom prst="rect">
            <a:avLst/>
          </a:prstGeom>
          <a:noFill/>
          <a:ln/>
        </p:spPr>
        <p:txBody>
          <a:bodyPr wrap="square" rtlCol="0" anchor="t"/>
          <a:lstStyle/>
          <a:p>
            <a:pPr marL="0" indent="0">
              <a:buNone/>
            </a:pPr>
            <a:r>
              <a:rPr lang="en-US" sz="1700" dirty="0">
                <a:solidFill>
                  <a:srgbClr val="263238"/>
                </a:solidFill>
                <a:latin typeface="Courier New" pitchFamily="34" charset="0"/>
                <a:ea typeface="Courier New" pitchFamily="34" charset="-122"/>
                <a:cs typeface="Courier New" pitchFamily="34" charset="-120"/>
              </a:rPr>
              <a:t>@Entity</a:t>
            </a:r>
            <a:endParaRPr lang="en-US" sz="1700" dirty="0"/>
          </a:p>
          <a:p>
            <a:pPr marL="0" indent="0">
              <a:buNone/>
            </a:pPr>
            <a:r>
              <a:rPr lang="en-US" sz="1700" dirty="0">
                <a:solidFill>
                  <a:srgbClr val="263238"/>
                </a:solidFill>
                <a:latin typeface="Courier New" pitchFamily="34" charset="0"/>
                <a:ea typeface="Courier New" pitchFamily="34" charset="-122"/>
                <a:cs typeface="Courier New" pitchFamily="34" charset="-120"/>
              </a:rPr>
              <a:t>public class Autor {</a:t>
            </a:r>
            <a:endParaRPr lang="en-US" sz="1700" dirty="0"/>
          </a:p>
          <a:p>
            <a:pPr marL="0" indent="0">
              <a:buNone/>
            </a:pPr>
            <a:r>
              <a:rPr lang="en-US" sz="1700" dirty="0">
                <a:solidFill>
                  <a:srgbClr val="263238"/>
                </a:solidFill>
                <a:latin typeface="Courier New" pitchFamily="34" charset="0"/>
                <a:ea typeface="Courier New" pitchFamily="34" charset="-122"/>
                <a:cs typeface="Courier New" pitchFamily="34" charset="-120"/>
              </a:rPr>
              <a:t>    @Id</a:t>
            </a:r>
            <a:endParaRPr lang="en-US" sz="1700" dirty="0"/>
          </a:p>
          <a:p>
            <a:pPr marL="0" indent="0">
              <a:buNone/>
            </a:pPr>
            <a:r>
              <a:rPr lang="en-US" sz="1700" dirty="0">
                <a:solidFill>
                  <a:srgbClr val="263238"/>
                </a:solidFill>
                <a:latin typeface="Courier New" pitchFamily="34" charset="0"/>
                <a:ea typeface="Courier New" pitchFamily="34" charset="-122"/>
                <a:cs typeface="Courier New" pitchFamily="34" charset="-120"/>
              </a:rPr>
              <a:t>    @GeneratedValue(strategy = GenerationType.IDENTITY)</a:t>
            </a:r>
            <a:endParaRPr lang="en-US" sz="1700" dirty="0"/>
          </a:p>
          <a:p>
            <a:pPr marL="0" indent="0">
              <a:buNone/>
            </a:pPr>
            <a:r>
              <a:rPr lang="en-US" sz="1700" dirty="0">
                <a:solidFill>
                  <a:srgbClr val="263238"/>
                </a:solidFill>
                <a:latin typeface="Courier New" pitchFamily="34" charset="0"/>
                <a:ea typeface="Courier New" pitchFamily="34" charset="-122"/>
                <a:cs typeface="Courier New" pitchFamily="34" charset="-120"/>
              </a:rPr>
              <a:t>    private Long id;</a:t>
            </a:r>
            <a:endParaRPr lang="en-US" sz="1700" dirty="0"/>
          </a:p>
          <a:p>
            <a:pPr marL="0" indent="0">
              <a:buNone/>
            </a:pPr>
            <a:r>
              <a:rPr lang="en-US" sz="1700" dirty="0">
                <a:solidFill>
                  <a:srgbClr val="263238"/>
                </a:solidFill>
                <a:latin typeface="Courier New" pitchFamily="34" charset="0"/>
                <a:ea typeface="Courier New" pitchFamily="34" charset="-122"/>
                <a:cs typeface="Courier New" pitchFamily="34" charset="-120"/>
              </a:rPr>
              <a:t>    private String nombre;</a:t>
            </a:r>
            <a:endParaRPr lang="en-US" sz="1700" dirty="0"/>
          </a:p>
          <a:p>
            <a:pPr marL="0" indent="0">
              <a:buNone/>
            </a:pPr>
            <a:endParaRPr lang="en-US" sz="1700" dirty="0"/>
          </a:p>
          <a:p>
            <a:pPr marL="0" indent="0">
              <a:buNone/>
            </a:pPr>
            <a:r>
              <a:rPr lang="en-US" sz="1700" dirty="0">
                <a:solidFill>
                  <a:srgbClr val="263238"/>
                </a:solidFill>
                <a:latin typeface="Courier New" pitchFamily="34" charset="0"/>
                <a:ea typeface="Courier New" pitchFamily="34" charset="-122"/>
                <a:cs typeface="Courier New" pitchFamily="34" charset="-120"/>
              </a:rPr>
              <a:t>    @ManyToMany(mappedBy = "autores")</a:t>
            </a:r>
            <a:endParaRPr lang="en-US" sz="1700" dirty="0"/>
          </a:p>
          <a:p>
            <a:pPr marL="0" indent="0">
              <a:buNone/>
            </a:pPr>
            <a:r>
              <a:rPr lang="en-US" sz="1700" dirty="0">
                <a:solidFill>
                  <a:srgbClr val="263238"/>
                </a:solidFill>
                <a:latin typeface="Courier New" pitchFamily="34" charset="0"/>
                <a:ea typeface="Courier New" pitchFamily="34" charset="-122"/>
                <a:cs typeface="Courier New" pitchFamily="34" charset="-120"/>
              </a:rPr>
              <a:t>    private List&lt;Libro&gt; libros;</a:t>
            </a:r>
            <a:endParaRPr lang="en-US" sz="1700" dirty="0"/>
          </a:p>
          <a:p>
            <a:pPr marL="0" indent="0">
              <a:buNone/>
            </a:pPr>
            <a:r>
              <a:rPr lang="en-US" sz="1700" dirty="0">
                <a:solidFill>
                  <a:srgbClr val="263238"/>
                </a:solidFill>
                <a:latin typeface="Courier New" pitchFamily="34" charset="0"/>
                <a:ea typeface="Courier New" pitchFamily="34" charset="-122"/>
                <a:cs typeface="Courier New" pitchFamily="34" charset="-120"/>
              </a:rPr>
              <a:t>}</a:t>
            </a:r>
            <a:endParaRPr lang="en-US" sz="1700" dirty="0"/>
          </a:p>
        </p:txBody>
      </p:sp>
      <p:sp>
        <p:nvSpPr>
          <p:cNvPr id="9" name="Shape 7"/>
          <p:cNvSpPr/>
          <p:nvPr/>
        </p:nvSpPr>
        <p:spPr>
          <a:xfrm>
            <a:off x="548640" y="4754880"/>
            <a:ext cx="11091672" cy="1051560"/>
          </a:xfrm>
          <a:prstGeom prst="roundRect">
            <a:avLst/>
          </a:prstGeom>
          <a:solidFill>
            <a:srgbClr val="FBE9E7"/>
          </a:solidFill>
          <a:ln w="19050">
            <a:solidFill>
              <a:srgbClr val="E64A19"/>
            </a:solidFill>
            <a:prstDash val="solid"/>
          </a:ln>
        </p:spPr>
        <p:txBody>
          <a:bodyPr/>
          <a:lstStyle/>
          <a:p>
            <a:endParaRPr lang="es-ES"/>
          </a:p>
        </p:txBody>
      </p:sp>
      <p:sp>
        <p:nvSpPr>
          <p:cNvPr id="10" name="Text 8"/>
          <p:cNvSpPr/>
          <p:nvPr/>
        </p:nvSpPr>
        <p:spPr>
          <a:xfrm>
            <a:off x="822960" y="4846320"/>
            <a:ext cx="10543032" cy="868680"/>
          </a:xfrm>
          <a:prstGeom prst="rect">
            <a:avLst/>
          </a:prstGeom>
          <a:noFill/>
          <a:ln/>
        </p:spPr>
        <p:txBody>
          <a:bodyPr wrap="square" rtlCol="0" anchor="ctr"/>
          <a:lstStyle/>
          <a:p>
            <a:pPr marL="0" indent="0">
              <a:buNone/>
            </a:pPr>
            <a:r>
              <a:rPr lang="en-US" sz="1700" dirty="0">
                <a:solidFill>
                  <a:srgbClr val="212121"/>
                </a:solidFill>
                <a:latin typeface="Arial" pitchFamily="34" charset="0"/>
                <a:ea typeface="Arial" pitchFamily="34" charset="-122"/>
                <a:cs typeface="Arial" pitchFamily="34" charset="-120"/>
              </a:rPr>
              <a:t>Ninguna de las dos tablas puede llevar la clave foránea: la solución es una tabla intermedia (libro_autor) con dos claves foráneas. @JoinTable le dice a Hibernate cómo se llama y cuáles son sus columnas.</a:t>
            </a:r>
            <a:endParaRPr lang="en-US" sz="1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Las piezas en un proyecto: el gestor</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Conectores y protocolos</a:t>
            </a:r>
            <a:endParaRPr lang="en-US" sz="1100" dirty="0"/>
          </a:p>
        </p:txBody>
      </p:sp>
      <p:sp>
        <p:nvSpPr>
          <p:cNvPr id="5" name="Text 3"/>
          <p:cNvSpPr/>
          <p:nvPr/>
        </p:nvSpPr>
        <p:spPr>
          <a:xfrm>
            <a:off x="548640" y="1097280"/>
            <a:ext cx="11091672" cy="411480"/>
          </a:xfrm>
          <a:prstGeom prst="rect">
            <a:avLst/>
          </a:prstGeom>
          <a:noFill/>
          <a:ln/>
        </p:spPr>
        <p:txBody>
          <a:bodyPr wrap="square" rtlCol="0" anchor="t"/>
          <a:lstStyle/>
          <a:p>
            <a:pPr marL="0" indent="0">
              <a:buNone/>
            </a:pPr>
            <a:r>
              <a:rPr lang="en-US" sz="1900" dirty="0">
                <a:solidFill>
                  <a:srgbClr val="212121"/>
                </a:solidFill>
                <a:latin typeface="Arial" pitchFamily="34" charset="0"/>
                <a:ea typeface="Arial" pitchFamily="34" charset="-122"/>
                <a:cs typeface="Arial" pitchFamily="34" charset="-120"/>
              </a:rPr>
              <a:t>Un docker-compose.yml como este levanta PostgreSQL como gestor independiente:</a:t>
            </a:r>
            <a:endParaRPr lang="en-US" sz="1900" dirty="0"/>
          </a:p>
        </p:txBody>
      </p:sp>
      <p:sp>
        <p:nvSpPr>
          <p:cNvPr id="6" name="Shape 4"/>
          <p:cNvSpPr/>
          <p:nvPr/>
        </p:nvSpPr>
        <p:spPr>
          <a:xfrm>
            <a:off x="548640" y="1691640"/>
            <a:ext cx="11091672" cy="2468880"/>
          </a:xfrm>
          <a:prstGeom prst="rect">
            <a:avLst/>
          </a:prstGeom>
          <a:solidFill>
            <a:srgbClr val="ECEFF1"/>
          </a:solidFill>
          <a:ln w="12700">
            <a:solidFill>
              <a:srgbClr val="EEEEEE"/>
            </a:solidFill>
            <a:prstDash val="solid"/>
          </a:ln>
        </p:spPr>
        <p:txBody>
          <a:bodyPr/>
          <a:lstStyle/>
          <a:p>
            <a:endParaRPr lang="es-ES"/>
          </a:p>
        </p:txBody>
      </p:sp>
      <p:sp>
        <p:nvSpPr>
          <p:cNvPr id="7" name="Shape 5"/>
          <p:cNvSpPr/>
          <p:nvPr/>
        </p:nvSpPr>
        <p:spPr>
          <a:xfrm>
            <a:off x="548640" y="1691640"/>
            <a:ext cx="73152" cy="2468880"/>
          </a:xfrm>
          <a:prstGeom prst="rect">
            <a:avLst/>
          </a:prstGeom>
          <a:solidFill>
            <a:srgbClr val="E64A19"/>
          </a:solidFill>
          <a:ln w="12700">
            <a:solidFill>
              <a:srgbClr val="E64A19"/>
            </a:solidFill>
            <a:prstDash val="solid"/>
          </a:ln>
        </p:spPr>
        <p:txBody>
          <a:bodyPr/>
          <a:lstStyle/>
          <a:p>
            <a:endParaRPr lang="es-ES"/>
          </a:p>
        </p:txBody>
      </p:sp>
      <p:sp>
        <p:nvSpPr>
          <p:cNvPr id="8" name="Text 6"/>
          <p:cNvSpPr/>
          <p:nvPr/>
        </p:nvSpPr>
        <p:spPr>
          <a:xfrm>
            <a:off x="822960" y="1801368"/>
            <a:ext cx="10588752" cy="2249424"/>
          </a:xfrm>
          <a:prstGeom prst="rect">
            <a:avLst/>
          </a:prstGeom>
          <a:noFill/>
          <a:ln/>
        </p:spPr>
        <p:txBody>
          <a:bodyPr wrap="square" rtlCol="0" anchor="t"/>
          <a:lstStyle/>
          <a:p>
            <a:pPr marL="0" indent="0">
              <a:buNone/>
            </a:pPr>
            <a:r>
              <a:rPr lang="en-US" sz="1600" dirty="0">
                <a:solidFill>
                  <a:srgbClr val="263238"/>
                </a:solidFill>
                <a:latin typeface="Courier New" pitchFamily="34" charset="0"/>
                <a:ea typeface="Courier New" pitchFamily="34" charset="-122"/>
                <a:cs typeface="Courier New" pitchFamily="34" charset="-120"/>
              </a:rPr>
              <a:t>services:</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postgres:</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image: postgres:18-alpine</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environment:</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POSTGRES_DB: libreria_db</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POSTGRES_USER: libreria_user</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POSTGRES_PASSWORD: password123</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ports:</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 "5432:5432"</a:t>
            </a:r>
            <a:endParaRPr lang="en-US" sz="1600" dirty="0"/>
          </a:p>
        </p:txBody>
      </p:sp>
      <p:sp>
        <p:nvSpPr>
          <p:cNvPr id="9" name="Shape 7"/>
          <p:cNvSpPr/>
          <p:nvPr/>
        </p:nvSpPr>
        <p:spPr>
          <a:xfrm>
            <a:off x="548640" y="4434840"/>
            <a:ext cx="11091672" cy="1005840"/>
          </a:xfrm>
          <a:prstGeom prst="roundRect">
            <a:avLst/>
          </a:prstGeom>
          <a:solidFill>
            <a:srgbClr val="FBE9E7"/>
          </a:solidFill>
          <a:ln w="19050">
            <a:solidFill>
              <a:srgbClr val="E64A19"/>
            </a:solidFill>
            <a:prstDash val="solid"/>
          </a:ln>
        </p:spPr>
        <p:txBody>
          <a:bodyPr/>
          <a:lstStyle/>
          <a:p>
            <a:endParaRPr lang="es-ES"/>
          </a:p>
        </p:txBody>
      </p:sp>
      <p:sp>
        <p:nvSpPr>
          <p:cNvPr id="10" name="Text 8"/>
          <p:cNvSpPr/>
          <p:nvPr/>
        </p:nvSpPr>
        <p:spPr>
          <a:xfrm>
            <a:off x="822960" y="4526280"/>
            <a:ext cx="10543032" cy="822960"/>
          </a:xfrm>
          <a:prstGeom prst="rect">
            <a:avLst/>
          </a:prstGeom>
          <a:noFill/>
          <a:ln/>
        </p:spPr>
        <p:txBody>
          <a:bodyPr wrap="square" rtlCol="0" anchor="ctr"/>
          <a:lstStyle/>
          <a:p>
            <a:pPr marL="0" indent="0">
              <a:buNone/>
            </a:pPr>
            <a:r>
              <a:rPr lang="en-US" sz="1700" dirty="0">
                <a:solidFill>
                  <a:srgbClr val="212121"/>
                </a:solidFill>
                <a:latin typeface="Arial" pitchFamily="34" charset="0"/>
                <a:ea typeface="Arial" pitchFamily="34" charset="-122"/>
                <a:cs typeface="Arial" pitchFamily="34" charset="-120"/>
              </a:rPr>
              <a:t>Una mejora posible: H2 embebido para tests. Práctica habitual: añadir H2 en un perfil test para los tests unitarios más simples, que así no dependen de tener Docker levantado.</a:t>
            </a:r>
            <a:endParaRPr lang="en-US" sz="1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La conexión: application-dev.yml</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Conectores y protocolos</a:t>
            </a:r>
            <a:endParaRPr lang="en-US" sz="1100" dirty="0"/>
          </a:p>
        </p:txBody>
      </p:sp>
      <p:sp>
        <p:nvSpPr>
          <p:cNvPr id="5" name="Shape 3"/>
          <p:cNvSpPr/>
          <p:nvPr/>
        </p:nvSpPr>
        <p:spPr>
          <a:xfrm>
            <a:off x="548640" y="1965960"/>
            <a:ext cx="11091672" cy="1783080"/>
          </a:xfrm>
          <a:prstGeom prst="rect">
            <a:avLst/>
          </a:prstGeom>
          <a:solidFill>
            <a:srgbClr val="ECEFF1"/>
          </a:solidFill>
          <a:ln w="12700">
            <a:solidFill>
              <a:srgbClr val="EEEEEE"/>
            </a:solidFill>
            <a:prstDash val="solid"/>
          </a:ln>
        </p:spPr>
        <p:txBody>
          <a:bodyPr/>
          <a:lstStyle/>
          <a:p>
            <a:endParaRPr lang="es-ES"/>
          </a:p>
        </p:txBody>
      </p:sp>
      <p:sp>
        <p:nvSpPr>
          <p:cNvPr id="6" name="Shape 4"/>
          <p:cNvSpPr/>
          <p:nvPr/>
        </p:nvSpPr>
        <p:spPr>
          <a:xfrm>
            <a:off x="548640" y="1965960"/>
            <a:ext cx="73152" cy="1783080"/>
          </a:xfrm>
          <a:prstGeom prst="rect">
            <a:avLst/>
          </a:prstGeom>
          <a:solidFill>
            <a:srgbClr val="E64A19"/>
          </a:solidFill>
          <a:ln w="12700">
            <a:solidFill>
              <a:srgbClr val="E64A19"/>
            </a:solidFill>
            <a:prstDash val="solid"/>
          </a:ln>
        </p:spPr>
        <p:txBody>
          <a:bodyPr/>
          <a:lstStyle/>
          <a:p>
            <a:endParaRPr lang="es-ES"/>
          </a:p>
        </p:txBody>
      </p:sp>
      <p:sp>
        <p:nvSpPr>
          <p:cNvPr id="7" name="Text 5"/>
          <p:cNvSpPr/>
          <p:nvPr/>
        </p:nvSpPr>
        <p:spPr>
          <a:xfrm>
            <a:off x="822960" y="2075688"/>
            <a:ext cx="10588752" cy="1563624"/>
          </a:xfrm>
          <a:prstGeom prst="rect">
            <a:avLst/>
          </a:prstGeom>
          <a:noFill/>
          <a:ln/>
        </p:spPr>
        <p:txBody>
          <a:bodyPr wrap="square" rtlCol="0" anchor="t"/>
          <a:lstStyle/>
          <a:p>
            <a:pPr marL="0" indent="0">
              <a:buNone/>
            </a:pPr>
            <a:r>
              <a:rPr lang="en-US" sz="1900" dirty="0">
                <a:solidFill>
                  <a:srgbClr val="263238"/>
                </a:solidFill>
                <a:latin typeface="Courier New" pitchFamily="34" charset="0"/>
                <a:ea typeface="Courier New" pitchFamily="34" charset="-122"/>
                <a:cs typeface="Courier New" pitchFamily="34" charset="-120"/>
              </a:rPr>
              <a:t>spring:</a:t>
            </a:r>
            <a:endParaRPr lang="en-US" sz="1900" dirty="0"/>
          </a:p>
          <a:p>
            <a:pPr marL="0" indent="0">
              <a:buNone/>
            </a:pPr>
            <a:r>
              <a:rPr lang="en-US" sz="1900" dirty="0">
                <a:solidFill>
                  <a:srgbClr val="263238"/>
                </a:solidFill>
                <a:latin typeface="Courier New" pitchFamily="34" charset="0"/>
                <a:ea typeface="Courier New" pitchFamily="34" charset="-122"/>
                <a:cs typeface="Courier New" pitchFamily="34" charset="-120"/>
              </a:rPr>
              <a:t>  datasource:</a:t>
            </a:r>
            <a:endParaRPr lang="en-US" sz="1900" dirty="0"/>
          </a:p>
          <a:p>
            <a:pPr marL="0" indent="0">
              <a:buNone/>
            </a:pPr>
            <a:r>
              <a:rPr lang="en-US" sz="1900" dirty="0">
                <a:solidFill>
                  <a:srgbClr val="263238"/>
                </a:solidFill>
                <a:latin typeface="Courier New" pitchFamily="34" charset="0"/>
                <a:ea typeface="Courier New" pitchFamily="34" charset="-122"/>
                <a:cs typeface="Courier New" pitchFamily="34" charset="-120"/>
              </a:rPr>
              <a:t>    url: jdbc:postgresql://localhost:5432/libreria_db</a:t>
            </a:r>
            <a:endParaRPr lang="en-US" sz="1900" dirty="0"/>
          </a:p>
          <a:p>
            <a:pPr marL="0" indent="0">
              <a:buNone/>
            </a:pPr>
            <a:r>
              <a:rPr lang="en-US" sz="1900" dirty="0">
                <a:solidFill>
                  <a:srgbClr val="263238"/>
                </a:solidFill>
                <a:latin typeface="Courier New" pitchFamily="34" charset="0"/>
                <a:ea typeface="Courier New" pitchFamily="34" charset="-122"/>
                <a:cs typeface="Courier New" pitchFamily="34" charset="-120"/>
              </a:rPr>
              <a:t>    username: libreria_user</a:t>
            </a:r>
            <a:endParaRPr lang="en-US" sz="1900" dirty="0"/>
          </a:p>
          <a:p>
            <a:pPr marL="0" indent="0">
              <a:buNone/>
            </a:pPr>
            <a:r>
              <a:rPr lang="en-US" sz="1900" dirty="0">
                <a:solidFill>
                  <a:srgbClr val="263238"/>
                </a:solidFill>
                <a:latin typeface="Courier New" pitchFamily="34" charset="0"/>
                <a:ea typeface="Courier New" pitchFamily="34" charset="-122"/>
                <a:cs typeface="Courier New" pitchFamily="34" charset="-120"/>
              </a:rPr>
              <a:t>    password: password123</a:t>
            </a:r>
            <a:endParaRPr lang="en-US" sz="1900" dirty="0"/>
          </a:p>
        </p:txBody>
      </p:sp>
      <p:sp>
        <p:nvSpPr>
          <p:cNvPr id="8" name="Text 6"/>
          <p:cNvSpPr/>
          <p:nvPr/>
        </p:nvSpPr>
        <p:spPr>
          <a:xfrm>
            <a:off x="548640" y="4114800"/>
            <a:ext cx="11091672" cy="1645920"/>
          </a:xfrm>
          <a:prstGeom prst="rect">
            <a:avLst/>
          </a:prstGeom>
          <a:noFill/>
          <a:ln/>
        </p:spPr>
        <p:txBody>
          <a:bodyPr wrap="square" rtlCol="0" anchor="t"/>
          <a:lstStyle/>
          <a:p>
            <a:pPr marL="0" indent="0">
              <a:buNone/>
            </a:pPr>
            <a:r>
              <a:rPr lang="en-US" sz="2000" dirty="0">
                <a:solidFill>
                  <a:srgbClr val="212121"/>
                </a:solidFill>
                <a:latin typeface="Arial" pitchFamily="34" charset="0"/>
                <a:ea typeface="Arial" pitchFamily="34" charset="-122"/>
                <a:cs typeface="Arial" pitchFamily="34" charset="-120"/>
              </a:rPr>
              <a:t>spring.datasource.* es toda la información que Spring Boot necesita para conectar: la URL JDBC (protocolo, host, puerto y base de datos), usuario y contraseña. El pooling no lo configuras tú a mano: Spring Boot trae por defecto HikariCP, que se activa solo con tener el driver en el pom.xml.</a:t>
            </a:r>
            <a:endParaRPr 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La estructura: entidad Editorial</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Conectores y protocolos</a:t>
            </a:r>
            <a:endParaRPr lang="en-US" sz="1100" dirty="0"/>
          </a:p>
        </p:txBody>
      </p:sp>
      <p:sp>
        <p:nvSpPr>
          <p:cNvPr id="5" name="Text 3"/>
          <p:cNvSpPr/>
          <p:nvPr/>
        </p:nvSpPr>
        <p:spPr>
          <a:xfrm>
            <a:off x="548640" y="1920240"/>
            <a:ext cx="11091672" cy="548640"/>
          </a:xfrm>
          <a:prstGeom prst="rect">
            <a:avLst/>
          </a:prstGeom>
          <a:noFill/>
          <a:ln/>
        </p:spPr>
        <p:txBody>
          <a:bodyPr wrap="square" rtlCol="0" anchor="t"/>
          <a:lstStyle/>
          <a:p>
            <a:pPr marL="0" indent="0">
              <a:buNone/>
            </a:pPr>
            <a:r>
              <a:rPr lang="en-US" sz="2000" dirty="0">
                <a:solidFill>
                  <a:srgbClr val="212121"/>
                </a:solidFill>
                <a:latin typeface="Arial" pitchFamily="34" charset="0"/>
                <a:ea typeface="Arial" pitchFamily="34" charset="-122"/>
                <a:cs typeface="Arial" pitchFamily="34" charset="-120"/>
              </a:rPr>
              <a:t>La estructura de la base de datos se declara sobre las propias clases Java, con anotaciones — el ORM que acabas de conocer, en código real:</a:t>
            </a:r>
            <a:endParaRPr lang="en-US" sz="2000" dirty="0"/>
          </a:p>
        </p:txBody>
      </p:sp>
      <p:sp>
        <p:nvSpPr>
          <p:cNvPr id="6" name="Shape 4"/>
          <p:cNvSpPr/>
          <p:nvPr/>
        </p:nvSpPr>
        <p:spPr>
          <a:xfrm>
            <a:off x="548640" y="2743200"/>
            <a:ext cx="11091672" cy="2834640"/>
          </a:xfrm>
          <a:prstGeom prst="rect">
            <a:avLst/>
          </a:prstGeom>
          <a:solidFill>
            <a:srgbClr val="ECEFF1"/>
          </a:solidFill>
          <a:ln w="12700">
            <a:solidFill>
              <a:srgbClr val="EEEEEE"/>
            </a:solidFill>
            <a:prstDash val="solid"/>
          </a:ln>
        </p:spPr>
        <p:txBody>
          <a:bodyPr/>
          <a:lstStyle/>
          <a:p>
            <a:endParaRPr lang="es-ES"/>
          </a:p>
        </p:txBody>
      </p:sp>
      <p:sp>
        <p:nvSpPr>
          <p:cNvPr id="7" name="Shape 5"/>
          <p:cNvSpPr/>
          <p:nvPr/>
        </p:nvSpPr>
        <p:spPr>
          <a:xfrm>
            <a:off x="548640" y="2743200"/>
            <a:ext cx="73152" cy="2834640"/>
          </a:xfrm>
          <a:prstGeom prst="rect">
            <a:avLst/>
          </a:prstGeom>
          <a:solidFill>
            <a:srgbClr val="E64A19"/>
          </a:solidFill>
          <a:ln w="12700">
            <a:solidFill>
              <a:srgbClr val="E64A19"/>
            </a:solidFill>
            <a:prstDash val="solid"/>
          </a:ln>
        </p:spPr>
        <p:txBody>
          <a:bodyPr/>
          <a:lstStyle/>
          <a:p>
            <a:endParaRPr lang="es-ES"/>
          </a:p>
        </p:txBody>
      </p:sp>
      <p:sp>
        <p:nvSpPr>
          <p:cNvPr id="8" name="Text 6"/>
          <p:cNvSpPr/>
          <p:nvPr/>
        </p:nvSpPr>
        <p:spPr>
          <a:xfrm>
            <a:off x="822960" y="2852928"/>
            <a:ext cx="10588752" cy="2615184"/>
          </a:xfrm>
          <a:prstGeom prst="rect">
            <a:avLst/>
          </a:prstGeom>
          <a:noFill/>
          <a:ln/>
        </p:spPr>
        <p:txBody>
          <a:bodyPr wrap="square" rtlCol="0" anchor="t"/>
          <a:lstStyle/>
          <a:p>
            <a:pPr marL="0" indent="0">
              <a:buNone/>
            </a:pPr>
            <a:r>
              <a:rPr lang="en-US" sz="1500" dirty="0">
                <a:solidFill>
                  <a:srgbClr val="263238"/>
                </a:solidFill>
                <a:latin typeface="Courier New" pitchFamily="34" charset="0"/>
                <a:ea typeface="Courier New" pitchFamily="34" charset="-122"/>
                <a:cs typeface="Courier New" pitchFamily="34" charset="-120"/>
              </a:rPr>
              <a:t>@Entity</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@Table(name = "editorial")</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public class Editorial {</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@Id</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@GeneratedValue(strategy = GenerationType.IDENTITY)</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private Long id;</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private String nombre;</a:t>
            </a:r>
            <a:endParaRPr lang="en-US" sz="1500" dirty="0"/>
          </a:p>
          <a:p>
            <a:pPr marL="0" indent="0">
              <a:buNone/>
            </a:pP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@OneToMany(mappedBy = "editorial", cascade = CascadeType.ALL, orphanRemoval = true)</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private List&lt;Libro&gt; libros;</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La estructura: entidad Editorial (cont.)</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Conectores y protocolos</a:t>
            </a:r>
            <a:endParaRPr lang="en-US" sz="1100" dirty="0"/>
          </a:p>
        </p:txBody>
      </p:sp>
      <p:sp>
        <p:nvSpPr>
          <p:cNvPr id="5" name="Text 3"/>
          <p:cNvSpPr/>
          <p:nvPr/>
        </p:nvSpPr>
        <p:spPr>
          <a:xfrm>
            <a:off x="548640" y="2468880"/>
            <a:ext cx="11091672" cy="2743200"/>
          </a:xfrm>
          <a:prstGeom prst="rect">
            <a:avLst/>
          </a:prstGeom>
          <a:noFill/>
          <a:ln/>
        </p:spPr>
        <p:txBody>
          <a:bodyPr wrap="square" rtlCol="0" anchor="t"/>
          <a:lstStyle/>
          <a:p>
            <a:pPr marL="190500" indent="-190500">
              <a:spcAft>
                <a:spcPts val="2600"/>
              </a:spcAft>
              <a:buSzPct val="100000"/>
              <a:buChar char="•"/>
            </a:pPr>
            <a:r>
              <a:rPr lang="en-US" sz="2300" dirty="0">
                <a:solidFill>
                  <a:srgbClr val="212121"/>
                </a:solidFill>
                <a:latin typeface="Arial" pitchFamily="34" charset="0"/>
                <a:ea typeface="Arial" pitchFamily="34" charset="-122"/>
                <a:cs typeface="Arial" pitchFamily="34" charset="-120"/>
              </a:rPr>
              <a:t>@Entity + @Table(name = "editorial"): esta clase se mapea contra la tabla editorial.</a:t>
            </a:r>
            <a:endParaRPr lang="en-US" sz="2300" dirty="0"/>
          </a:p>
          <a:p>
            <a:pPr marL="190500" indent="-190500">
              <a:spcAft>
                <a:spcPts val="2600"/>
              </a:spcAft>
              <a:buSzPct val="100000"/>
              <a:buChar char="•"/>
            </a:pPr>
            <a:r>
              <a:rPr lang="en-US" sz="2300" dirty="0">
                <a:solidFill>
                  <a:srgbClr val="212121"/>
                </a:solidFill>
                <a:latin typeface="Arial" pitchFamily="34" charset="0"/>
                <a:ea typeface="Arial" pitchFamily="34" charset="-122"/>
                <a:cs typeface="Arial" pitchFamily="34" charset="-120"/>
              </a:rPr>
              <a:t>@Id + @GeneratedValue: el identificador y cómo se genera (aquí, autoincremental, delegado en la propia base de datos).</a:t>
            </a:r>
            <a:endParaRPr lang="en-US" sz="2300" dirty="0"/>
          </a:p>
          <a:p>
            <a:pPr marL="190500" indent="-190500">
              <a:spcAft>
                <a:spcPts val="2600"/>
              </a:spcAft>
              <a:buSzPct val="100000"/>
              <a:buChar char="•"/>
            </a:pPr>
            <a:r>
              <a:rPr lang="en-US" sz="2300" dirty="0">
                <a:solidFill>
                  <a:srgbClr val="212121"/>
                </a:solidFill>
                <a:latin typeface="Arial" pitchFamily="34" charset="0"/>
                <a:ea typeface="Arial" pitchFamily="34" charset="-122"/>
                <a:cs typeface="Arial" pitchFamily="34" charset="-120"/>
              </a:rPr>
              <a:t>@OneToMany(mappedBy = "editorial", ...): mappedBy indica que la clave foránea real vive en Libro (que llevará su propio @ManyToOne apuntando de vuelta a Editorial), no aquí.</a:t>
            </a:r>
            <a:endParaRPr lang="en-US" sz="2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La estructura: entidad Editorial (cont.)</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Conectores y protocolos</a:t>
            </a:r>
            <a:endParaRPr lang="en-US" sz="1100" dirty="0"/>
          </a:p>
        </p:txBody>
      </p:sp>
      <p:sp>
        <p:nvSpPr>
          <p:cNvPr id="5" name="Text 3"/>
          <p:cNvSpPr/>
          <p:nvPr/>
        </p:nvSpPr>
        <p:spPr>
          <a:xfrm>
            <a:off x="548640" y="1965960"/>
            <a:ext cx="11091672" cy="2103120"/>
          </a:xfrm>
          <a:prstGeom prst="rect">
            <a:avLst/>
          </a:prstGeom>
          <a:noFill/>
          <a:ln/>
        </p:spPr>
        <p:txBody>
          <a:bodyPr wrap="square" rtlCol="0" anchor="t"/>
          <a:lstStyle/>
          <a:p>
            <a:pPr marL="190500" indent="-190500">
              <a:spcAft>
                <a:spcPts val="2000"/>
              </a:spcAft>
              <a:buSzPct val="100000"/>
              <a:buChar char="•"/>
            </a:pPr>
            <a:r>
              <a:rPr lang="en-US" sz="2000" dirty="0">
                <a:solidFill>
                  <a:srgbClr val="212121"/>
                </a:solidFill>
                <a:latin typeface="Arial" pitchFamily="34" charset="0"/>
                <a:ea typeface="Arial" pitchFamily="34" charset="-122"/>
                <a:cs typeface="Arial" pitchFamily="34" charset="-120"/>
              </a:rPr>
              <a:t>cascade = CascadeType.ALL: propaga las operaciones de Editorial a sus Libro — si guardas o borras una editorial, Hibernate aplica esa misma operación a todos sus libros automáticamente.</a:t>
            </a:r>
            <a:endParaRPr lang="en-US" sz="2000" dirty="0"/>
          </a:p>
          <a:p>
            <a:pPr marL="190500" indent="-190500">
              <a:spcAft>
                <a:spcPts val="2000"/>
              </a:spcAft>
              <a:buSzPct val="100000"/>
              <a:buChar char="•"/>
            </a:pPr>
            <a:r>
              <a:rPr lang="en-US" sz="2000" dirty="0">
                <a:solidFill>
                  <a:srgbClr val="212121"/>
                </a:solidFill>
                <a:latin typeface="Arial" pitchFamily="34" charset="0"/>
                <a:ea typeface="Arial" pitchFamily="34" charset="-122"/>
                <a:cs typeface="Arial" pitchFamily="34" charset="-120"/>
              </a:rPr>
              <a:t>orphanRemoval = true: si quitas un libro de la lista libros sin borrar la editorial entera, ese libro queda "huérfano" y Hibernate lo elimina de la base de datos por su cuenta.</a:t>
            </a:r>
            <a:endParaRPr lang="en-US" sz="2000" dirty="0"/>
          </a:p>
        </p:txBody>
      </p:sp>
      <p:sp>
        <p:nvSpPr>
          <p:cNvPr id="6" name="Shape 4"/>
          <p:cNvSpPr/>
          <p:nvPr/>
        </p:nvSpPr>
        <p:spPr>
          <a:xfrm>
            <a:off x="548640" y="4434840"/>
            <a:ext cx="11091672" cy="1463040"/>
          </a:xfrm>
          <a:prstGeom prst="roundRect">
            <a:avLst/>
          </a:prstGeom>
          <a:solidFill>
            <a:srgbClr val="FBE9E7"/>
          </a:solidFill>
          <a:ln w="19050">
            <a:solidFill>
              <a:srgbClr val="E64A19"/>
            </a:solidFill>
            <a:prstDash val="solid"/>
          </a:ln>
        </p:spPr>
        <p:txBody>
          <a:bodyPr/>
          <a:lstStyle/>
          <a:p>
            <a:endParaRPr lang="es-ES"/>
          </a:p>
        </p:txBody>
      </p:sp>
      <p:sp>
        <p:nvSpPr>
          <p:cNvPr id="7" name="Text 5"/>
          <p:cNvSpPr/>
          <p:nvPr/>
        </p:nvSpPr>
        <p:spPr>
          <a:xfrm>
            <a:off x="822960" y="4526280"/>
            <a:ext cx="10543032" cy="1280160"/>
          </a:xfrm>
          <a:prstGeom prst="rect">
            <a:avLst/>
          </a:prstGeom>
          <a:noFill/>
          <a:ln/>
        </p:spPr>
        <p:txBody>
          <a:bodyPr wrap="square" rtlCol="0" anchor="ctr"/>
          <a:lstStyle/>
          <a:p>
            <a:pPr marL="0" indent="0">
              <a:buNone/>
            </a:pPr>
            <a:r>
              <a:rPr lang="en-US" sz="1800" dirty="0">
                <a:solidFill>
                  <a:srgbClr val="212121"/>
                </a:solidFill>
                <a:latin typeface="Arial" pitchFamily="34" charset="0"/>
                <a:ea typeface="Arial" pitchFamily="34" charset="-122"/>
                <a:cs typeface="Arial" pitchFamily="34" charset="-120"/>
              </a:rPr>
              <a:t>spring.jpa.hibernate.ddl-auto: update hace que, al arrancar, Hibernate cree o actualice las tablas según esas anotaciones. En producción casi nunca se usa update ni create-drop — se prefieren migraciones controladas (Flyway, Liquibase).</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Ideas clave</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Conectores y protocolos</a:t>
            </a:r>
            <a:endParaRPr lang="en-US" sz="1100" dirty="0"/>
          </a:p>
        </p:txBody>
      </p:sp>
      <p:sp>
        <p:nvSpPr>
          <p:cNvPr id="5" name="Text 3"/>
          <p:cNvSpPr/>
          <p:nvPr/>
        </p:nvSpPr>
        <p:spPr>
          <a:xfrm>
            <a:off x="548640" y="1828800"/>
            <a:ext cx="11091672" cy="3749040"/>
          </a:xfrm>
          <a:prstGeom prst="rect">
            <a:avLst/>
          </a:prstGeom>
          <a:noFill/>
          <a:ln/>
        </p:spPr>
        <p:txBody>
          <a:bodyPr wrap="square" rtlCol="0" anchor="t"/>
          <a:lstStyle/>
          <a:p>
            <a:pPr marL="190500" indent="-190500">
              <a:spcAft>
                <a:spcPts val="2600"/>
              </a:spcAft>
              <a:buSzPct val="100000"/>
              <a:buChar char="•"/>
            </a:pPr>
            <a:r>
              <a:rPr lang="en-US" sz="2100" dirty="0">
                <a:solidFill>
                  <a:srgbClr val="212121"/>
                </a:solidFill>
                <a:latin typeface="Arial" pitchFamily="34" charset="0"/>
                <a:ea typeface="Arial" pitchFamily="34" charset="-122"/>
                <a:cs typeface="Arial" pitchFamily="34" charset="-120"/>
              </a:rPr>
              <a:t>El desfase objeto-relacional es la diferencia estructural entre cómo Java modela la información (objetos, referencias) y cómo lo hace SQL (tablas, claves foráneas) — no es un error, es una diferencia de naturaleza.</a:t>
            </a:r>
            <a:endParaRPr lang="en-US" sz="2100" dirty="0"/>
          </a:p>
          <a:p>
            <a:pPr marL="190500" indent="-190500">
              <a:spcAft>
                <a:spcPts val="2600"/>
              </a:spcAft>
              <a:buSzPct val="100000"/>
              <a:buChar char="•"/>
            </a:pPr>
            <a:r>
              <a:rPr lang="en-US" sz="2100" dirty="0">
                <a:solidFill>
                  <a:srgbClr val="212121"/>
                </a:solidFill>
                <a:latin typeface="Arial" pitchFamily="34" charset="0"/>
                <a:ea typeface="Arial" pitchFamily="34" charset="-122"/>
                <a:cs typeface="Arial" pitchFamily="34" charset="-120"/>
              </a:rPr>
              <a:t>Una herramienta ORM resuelve ese desfase; JPA es la especificación estándar de Java, Hibernate su implementación más usada, y Spring Data JPA añade los repositorios como capa de comodidad.</a:t>
            </a:r>
            <a:endParaRPr lang="en-US" sz="2100" dirty="0"/>
          </a:p>
          <a:p>
            <a:pPr marL="190500" indent="-190500">
              <a:spcAft>
                <a:spcPts val="2600"/>
              </a:spcAft>
              <a:buSzPct val="100000"/>
              <a:buChar char="•"/>
            </a:pPr>
            <a:r>
              <a:rPr lang="en-US" sz="2100" dirty="0">
                <a:solidFill>
                  <a:srgbClr val="212121"/>
                </a:solidFill>
                <a:latin typeface="Arial" pitchFamily="34" charset="0"/>
                <a:ea typeface="Arial" pitchFamily="34" charset="-122"/>
                <a:cs typeface="Arial" pitchFamily="34" charset="-120"/>
              </a:rPr>
              <a:t>JDBC es la API estándar de Java para hablar con bases de datos; un driver/conector la implementa para un gestor concreto.</a:t>
            </a:r>
            <a:endParaRPr lang="en-US" sz="2100" dirty="0"/>
          </a:p>
          <a:p>
            <a:pPr marL="190500" indent="-190500">
              <a:spcAft>
                <a:spcPts val="2600"/>
              </a:spcAft>
              <a:buSzPct val="100000"/>
              <a:buChar char="•"/>
            </a:pPr>
            <a:r>
              <a:rPr lang="en-US" sz="2100" dirty="0">
                <a:solidFill>
                  <a:srgbClr val="212121"/>
                </a:solidFill>
                <a:latin typeface="Arial" pitchFamily="34" charset="0"/>
                <a:ea typeface="Arial" pitchFamily="34" charset="-122"/>
                <a:cs typeface="Arial" pitchFamily="34" charset="-120"/>
              </a:rPr>
              <a:t>Un gestor embebido (H2, SQLite) corre dentro de tu proceso; uno independiente (PostgreSQL, MySQL) corre como servicio aparte, al que te conectas por red.</a:t>
            </a:r>
            <a:endParaRPr lang="en-US" sz="2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Ideas clave (cont.)</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Conectores y protocolos</a:t>
            </a:r>
            <a:endParaRPr lang="en-US" sz="1100" dirty="0"/>
          </a:p>
        </p:txBody>
      </p:sp>
      <p:sp>
        <p:nvSpPr>
          <p:cNvPr id="5" name="Text 3"/>
          <p:cNvSpPr/>
          <p:nvPr/>
        </p:nvSpPr>
        <p:spPr>
          <a:xfrm>
            <a:off x="548640" y="1783080"/>
            <a:ext cx="11091672" cy="3840480"/>
          </a:xfrm>
          <a:prstGeom prst="rect">
            <a:avLst/>
          </a:prstGeom>
          <a:noFill/>
          <a:ln/>
        </p:spPr>
        <p:txBody>
          <a:bodyPr wrap="square" rtlCol="0" anchor="t"/>
          <a:lstStyle/>
          <a:p>
            <a:pPr marL="190500" indent="-190500">
              <a:spcAft>
                <a:spcPts val="2600"/>
              </a:spcAft>
              <a:buSzPct val="100000"/>
              <a:buChar char="•"/>
            </a:pPr>
            <a:r>
              <a:rPr lang="en-US" sz="2000" dirty="0">
                <a:solidFill>
                  <a:srgbClr val="212121"/>
                </a:solidFill>
                <a:latin typeface="Arial" pitchFamily="34" charset="0"/>
                <a:ea typeface="Arial" pitchFamily="34" charset="-122"/>
                <a:cs typeface="Arial" pitchFamily="34" charset="-120"/>
              </a:rPr>
              <a:t>El pooling de conexiones reutiliza conexiones ya abiertas en vez de crear una nueva cada vez — en Spring Boot lo gestiona HikariCP por defecto.</a:t>
            </a:r>
            <a:endParaRPr lang="en-US" sz="2000" dirty="0"/>
          </a:p>
          <a:p>
            <a:pPr marL="190500" indent="-190500">
              <a:spcAft>
                <a:spcPts val="2600"/>
              </a:spcAft>
              <a:buSzPct val="100000"/>
              <a:buChar char="•"/>
            </a:pPr>
            <a:r>
              <a:rPr lang="en-US" sz="2000" dirty="0">
                <a:solidFill>
                  <a:srgbClr val="212121"/>
                </a:solidFill>
                <a:latin typeface="Arial" pitchFamily="34" charset="0"/>
                <a:ea typeface="Arial" pitchFamily="34" charset="-122"/>
                <a:cs typeface="Arial" pitchFamily="34" charset="-120"/>
              </a:rPr>
              <a:t>Las relaciones entre entidades tienen multiplicidad: 1:1 (@OneToOne), 1:N (@OneToMany/@ManyToOne) y N:M (@ManyToMany, con tabla intermedia vía @JoinTable).</a:t>
            </a:r>
            <a:endParaRPr lang="en-US" sz="2000" dirty="0"/>
          </a:p>
          <a:p>
            <a:pPr marL="190500" indent="-190500">
              <a:spcAft>
                <a:spcPts val="2600"/>
              </a:spcAft>
              <a:buSzPct val="100000"/>
              <a:buChar char="•"/>
            </a:pPr>
            <a:r>
              <a:rPr lang="en-US" sz="2000" dirty="0">
                <a:solidFill>
                  <a:srgbClr val="212121"/>
                </a:solidFill>
                <a:latin typeface="Arial" pitchFamily="34" charset="0"/>
                <a:ea typeface="Arial" pitchFamily="34" charset="-122"/>
                <a:cs typeface="Arial" pitchFamily="34" charset="-120"/>
              </a:rPr>
              <a:t>En este curso el gestor es PostgreSQL independiente vía Docker; la conexión se configura en application-dev.yml (spring.datasource.*).</a:t>
            </a:r>
            <a:endParaRPr lang="en-US" sz="2000" dirty="0"/>
          </a:p>
          <a:p>
            <a:pPr marL="190500" indent="-190500">
              <a:spcAft>
                <a:spcPts val="2600"/>
              </a:spcAft>
              <a:buSzPct val="100000"/>
              <a:buChar char="•"/>
            </a:pPr>
            <a:r>
              <a:rPr lang="en-US" sz="2000" dirty="0">
                <a:solidFill>
                  <a:srgbClr val="212121"/>
                </a:solidFill>
                <a:latin typeface="Arial" pitchFamily="34" charset="0"/>
                <a:ea typeface="Arial" pitchFamily="34" charset="-122"/>
                <a:cs typeface="Arial" pitchFamily="34" charset="-120"/>
              </a:rPr>
              <a:t>La estructura se declara con anotaciones JPA sobre las propias clases Java; mappedBy señala el lado inverso, cascade propaga operaciones y orphanRemoval borra huérfanos. ddl-auto controla si Hibernate crea/actualiza las tablas.</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2796</Words>
  <Application>Microsoft Office PowerPoint</Application>
  <PresentationFormat>Panorámica</PresentationFormat>
  <Paragraphs>236</Paragraphs>
  <Slides>26</Slides>
  <Notes>26</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26</vt:i4>
      </vt:variant>
    </vt:vector>
  </HeadingPairs>
  <TitlesOfParts>
    <vt:vector size="29" baseType="lpstr">
      <vt:lpstr>Arial</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Conectores y protocolos de acceso a bases de datos</dc:title>
  <dc:subject>PptxGenJS Presentation</dc:subject>
  <dc:creator>Acceso a Datos</dc:creator>
  <cp:lastModifiedBy>VENTURA EDO, AITOR</cp:lastModifiedBy>
  <cp:revision>3</cp:revision>
  <dcterms:created xsi:type="dcterms:W3CDTF">2026-08-05T20:41:15Z</dcterms:created>
  <dcterms:modified xsi:type="dcterms:W3CDTF">2026-09-17T14:41:30Z</dcterms:modified>
</cp:coreProperties>
</file>