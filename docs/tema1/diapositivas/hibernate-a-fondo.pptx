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92"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79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26C2B-61D1-B772-89CC-81A1D7088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352FC-623F-7E58-054E-5E6DE3E4E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819D17-03FE-1F4D-8A6A-E517A6725F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F3DD55-40F4-1BD4-001B-CC75A9CF2B9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74672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1: MANEJO DE CONECTORES Y HERRAMIENTAS ORM</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3800" b="1" dirty="0">
                <a:solidFill>
                  <a:srgbClr val="FFFFFF"/>
                </a:solidFill>
                <a:latin typeface="Arial" pitchFamily="34" charset="0"/>
                <a:ea typeface="Arial" pitchFamily="34" charset="-122"/>
                <a:cs typeface="Arial" pitchFamily="34" charset="-120"/>
              </a:rPr>
              <a:t>Hibernate a fondo:</a:t>
            </a:r>
            <a:endParaRPr lang="en-US" sz="3800" dirty="0"/>
          </a:p>
          <a:p>
            <a:pPr marL="0" indent="0" algn="l">
              <a:buNone/>
            </a:pPr>
            <a:r>
              <a:rPr lang="en-US" sz="3800" b="1" dirty="0">
                <a:solidFill>
                  <a:srgbClr val="FFFFFF"/>
                </a:solidFill>
                <a:latin typeface="Arial" pitchFamily="34" charset="0"/>
                <a:ea typeface="Arial" pitchFamily="34" charset="-122"/>
                <a:cs typeface="Arial" pitchFamily="34" charset="-120"/>
              </a:rPr>
              <a:t>decisiones de mapeo</a:t>
            </a:r>
            <a:endParaRPr lang="en-US" sz="3800" dirty="0"/>
          </a:p>
          <a:p>
            <a:pPr marL="0" indent="0" algn="l">
              <a:buNone/>
            </a:pPr>
            <a:r>
              <a:rPr lang="en-US" sz="3800" b="1" dirty="0">
                <a:solidFill>
                  <a:srgbClr val="FFFFFF"/>
                </a:solidFill>
                <a:latin typeface="Arial" pitchFamily="34" charset="0"/>
                <a:ea typeface="Arial" pitchFamily="34" charset="-122"/>
                <a:cs typeface="Arial" pitchFamily="34" charset="-120"/>
              </a:rPr>
              <a:t>y ciclo de vida</a:t>
            </a:r>
            <a:endParaRPr lang="en-US" sz="38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6. Hibernate a fondo: decisiones de mapeo y ciclo de vida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Hibernate a fondo: decisiones de mapeo y ciclo de vida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1920240"/>
            <a:ext cx="11091672" cy="201168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011680"/>
            <a:ext cx="10543032" cy="182880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Ya sabes qué es un ORM y llevas usando sus anotaciones desde la primera actividad. Toca profundizar en lo que hasta ahora dabas por sentado: que esas anotaciones se podrían haber declarado de forma distinta, qué estados atraviesa un objeto mientras el ORM lo gestiona, y por qué tomaste ciertas decisiones de mapeo (IDENTITY, LAZY, cascade...) que hasta ahora no habías cuestionado.</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Clase persistente y formas de declarar el mapeo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234440"/>
            <a:ext cx="11091672" cy="10515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Una clase persistente (o entidad) es una clase Java cuyos objetos el ORM sabe guardar y recuperar de la base de datos. Existen dos formas históricas de declarar el mapeo entre una clase y una tabla:</a:t>
            </a:r>
            <a:endParaRPr lang="en-US" sz="1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2880360"/>
        </p:xfrm>
        <a:graphic>
          <a:graphicData uri="http://schemas.openxmlformats.org/drawingml/2006/table">
            <a:tbl>
              <a:tblPr/>
              <a:tblGrid>
                <a:gridCol w="1996501">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gridCol w="3549335">
                  <a:extLst>
                    <a:ext uri="{9D8B030D-6E8A-4147-A177-3AD203B41FA5}">
                      <a16:colId xmlns:a16="http://schemas.microsoft.com/office/drawing/2014/main" val="20002"/>
                    </a:ext>
                  </a:extLst>
                </a:gridCol>
              </a:tblGrid>
              <a:tr h="960120">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Forma de mapeo</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Cómo se declara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Estado hoy</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960120">
                <a:tc>
                  <a:txBody>
                    <a:bodyPr/>
                    <a:lstStyle/>
                    <a:p>
                      <a:pPr marL="0" indent="0">
                        <a:buNone/>
                      </a:pPr>
                      <a:r>
                        <a:rPr lang="en-US" sz="1400" b="1" dirty="0">
                          <a:solidFill>
                            <a:srgbClr val="212121"/>
                          </a:solidFill>
                          <a:latin typeface="Arial" pitchFamily="34" charset="0"/>
                          <a:ea typeface="Arial" pitchFamily="34" charset="-122"/>
                          <a:cs typeface="Arial" pitchFamily="34" charset="-120"/>
                        </a:rPr>
                        <a:t>Fichero XML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Documento aparte (&lt;hibernate-mapping&gt;, un &lt;class&gt; por entidad, un &lt;property&gt; por campo)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Legado — apenas se usa en proyectos nuevos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400" b="1" dirty="0">
                          <a:solidFill>
                            <a:srgbClr val="212121"/>
                          </a:solidFill>
                          <a:latin typeface="Arial" pitchFamily="34" charset="0"/>
                          <a:ea typeface="Arial" pitchFamily="34" charset="-122"/>
                          <a:cs typeface="Arial" pitchFamily="34" charset="-120"/>
                        </a:rPr>
                        <a:t>Anotaciones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Directamente sobre la propia clase (@Entity, @Column...)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que usas tú desde la Actividad 1.1, y el estándar actual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Por qué ganaron las anotaciones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Las anotaciones ganaron terreno porque viven pegadas al propio código: cambias un campo y su mapeo a la vez, en el mismo fichero, sin mantener sincronizados un .java y un .xml por separado.</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Los estados de un objeto en el ORM</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920240"/>
            <a:ext cx="11091672" cy="45720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Un objeto gestionado por un ORM pasa por distintos estados a lo largo de su vida:</a:t>
            </a:r>
            <a:endParaRPr lang="en-US" sz="2000" dirty="0"/>
          </a:p>
        </p:txBody>
      </p:sp>
      <p:sp>
        <p:nvSpPr>
          <p:cNvPr id="6" name="Text 4"/>
          <p:cNvSpPr/>
          <p:nvPr/>
        </p:nvSpPr>
        <p:spPr>
          <a:xfrm>
            <a:off x="548640" y="2606040"/>
            <a:ext cx="11091672" cy="3108960"/>
          </a:xfrm>
          <a:prstGeom prst="rect">
            <a:avLst/>
          </a:prstGeom>
          <a:noFill/>
          <a:ln/>
        </p:spPr>
        <p:txBody>
          <a:bodyPr wrap="square" rtlCol="0" anchor="t"/>
          <a:lstStyle/>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Transient: objeto Java recién creado, sin relación todavía con la base de datos — Hibernate no sabe que existe.</a:t>
            </a:r>
            <a:endParaRPr lang="en-US" sz="1800" dirty="0"/>
          </a:p>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Managed (o persistent): Hibernate lo está gestionando activamente — si cambias alguno de sus campos, detectará el cambio y lo guardará al finalizar.</a:t>
            </a:r>
            <a:endParaRPr lang="en-US" sz="1800" dirty="0"/>
          </a:p>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Detached: Hibernate ya no está gestionando el objeto — conserva sus datos, pero los cambios ya no se sincronizan automáticamente.</a:t>
            </a:r>
            <a:endParaRPr lang="en-US" sz="1800" dirty="0"/>
          </a:p>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Removed: marcado para eliminarse de la base de datos.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D6C59-69C9-C677-73C3-A939EAE384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60F046-677D-32F7-E640-DA916A21C801}"/>
              </a:ext>
            </a:extLst>
          </p:cNvPr>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a:extLst>
              <a:ext uri="{FF2B5EF4-FFF2-40B4-BE49-F238E27FC236}">
                <a16:creationId xmlns:a16="http://schemas.microsoft.com/office/drawing/2014/main" id="{17BD8020-104B-DAB8-0A49-614771279DEE}"/>
              </a:ext>
            </a:extLst>
          </p:cNvPr>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Los estados de un objeto en el ORM</a:t>
            </a:r>
            <a:endParaRPr lang="en-US" sz="2500" dirty="0"/>
          </a:p>
        </p:txBody>
      </p:sp>
      <p:sp>
        <p:nvSpPr>
          <p:cNvPr id="4" name="Text 2">
            <a:extLst>
              <a:ext uri="{FF2B5EF4-FFF2-40B4-BE49-F238E27FC236}">
                <a16:creationId xmlns:a16="http://schemas.microsoft.com/office/drawing/2014/main" id="{912DB59A-4EF4-604B-8522-EE633767E5A1}"/>
              </a:ext>
            </a:extLst>
          </p:cNvPr>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pic>
        <p:nvPicPr>
          <p:cNvPr id="8" name="Imagen 7">
            <a:extLst>
              <a:ext uri="{FF2B5EF4-FFF2-40B4-BE49-F238E27FC236}">
                <a16:creationId xmlns:a16="http://schemas.microsoft.com/office/drawing/2014/main" id="{911DB458-8857-C467-0831-E3885707B395}"/>
              </a:ext>
            </a:extLst>
          </p:cNvPr>
          <p:cNvPicPr>
            <a:picLocks noChangeAspect="1"/>
          </p:cNvPicPr>
          <p:nvPr/>
        </p:nvPicPr>
        <p:blipFill>
          <a:blip r:embed="rId3"/>
          <a:srcRect t="9387" b="16327"/>
          <a:stretch>
            <a:fillRect/>
          </a:stretch>
        </p:blipFill>
        <p:spPr>
          <a:xfrm>
            <a:off x="1204427" y="1175657"/>
            <a:ext cx="9451133" cy="4680562"/>
          </a:xfrm>
          <a:prstGeom prst="rect">
            <a:avLst/>
          </a:prstGeom>
        </p:spPr>
      </p:pic>
    </p:spTree>
    <p:extLst>
      <p:ext uri="{BB962C8B-B14F-4D97-AF65-F5344CB8AC3E}">
        <p14:creationId xmlns:p14="http://schemas.microsoft.com/office/powerpoint/2010/main" val="2850613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Crear una entidad nueva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331720"/>
            <a:ext cx="11091672" cy="141732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331720"/>
            <a:ext cx="73152" cy="141732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441448"/>
            <a:ext cx="10588752" cy="119786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Videojuego videojuego = new Videojuego(); // TRANSIENT</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videojuego.setTitulo("Celeste");</a:t>
            </a:r>
            <a:endParaRPr lang="en-US" sz="1700" dirty="0"/>
          </a:p>
          <a:p>
            <a:pPr marL="0" indent="0">
              <a:buNone/>
            </a:pP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Videojuego guardado = videojuegoRepository.save(videojuego);</a:t>
            </a:r>
            <a:endParaRPr lang="en-US" sz="1700" dirty="0"/>
          </a:p>
        </p:txBody>
      </p:sp>
      <p:sp>
        <p:nvSpPr>
          <p:cNvPr id="8" name="Text 6"/>
          <p:cNvSpPr/>
          <p:nvPr/>
        </p:nvSpPr>
        <p:spPr>
          <a:xfrm>
            <a:off x="548640" y="4114800"/>
            <a:ext cx="11091672" cy="105156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Al utilizar new, el objeto solo existe en la memoria de Java: está en estado transient. Cuando se guarda, Hibernate empieza a gestionarlo y lo inserta en la base de datos.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Recoge siempre el objeto que devuelve save()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103120"/>
            <a:ext cx="11091672" cy="7772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103120"/>
            <a:ext cx="73152" cy="7772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212848"/>
            <a:ext cx="10588752" cy="55778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Videojuego guardado = videojuegoRepository.save(videojuego);</a:t>
            </a:r>
            <a:endParaRPr lang="en-US" sz="1600" dirty="0"/>
          </a:p>
        </p:txBody>
      </p:sp>
      <p:sp>
        <p:nvSpPr>
          <p:cNvPr id="8" name="Shape 6"/>
          <p:cNvSpPr/>
          <p:nvPr/>
        </p:nvSpPr>
        <p:spPr>
          <a:xfrm>
            <a:off x="548640" y="3246120"/>
            <a:ext cx="11091672" cy="1097280"/>
          </a:xfrm>
          <a:prstGeom prst="roundRect">
            <a:avLst/>
          </a:prstGeom>
          <a:solidFill>
            <a:srgbClr val="FBE9E7"/>
          </a:solidFill>
          <a:ln w="19050">
            <a:solidFill>
              <a:srgbClr val="E64A19"/>
            </a:solidFill>
            <a:prstDash val="solid"/>
          </a:ln>
        </p:spPr>
        <p:txBody>
          <a:bodyPr/>
          <a:lstStyle/>
          <a:p>
            <a:endParaRPr lang="es-ES"/>
          </a:p>
        </p:txBody>
      </p:sp>
      <p:sp>
        <p:nvSpPr>
          <p:cNvPr id="9" name="Text 7"/>
          <p:cNvSpPr/>
          <p:nvPr/>
        </p:nvSpPr>
        <p:spPr>
          <a:xfrm>
            <a:off x="822960" y="3337560"/>
            <a:ext cx="10543032" cy="91440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Ese objeto contiene el estado definitivo de la entidad, incluido el identificador generado por la base de datos.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Recuperar y modificar una entidad</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148839"/>
            <a:ext cx="11091672" cy="1956629"/>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148840"/>
            <a:ext cx="73152" cy="1956628"/>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258568"/>
            <a:ext cx="10588752" cy="156362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@Transactional</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void cambiarPrecio(Long id, BigDecimal nuevoPrecio)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Videojuego videojuego = videojuegoRepository.findById(id)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.orElseThrow();</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videojuego.setPrecio(nuevoPrecio);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8" name="Text 6"/>
          <p:cNvSpPr/>
          <p:nvPr/>
        </p:nvSpPr>
        <p:spPr>
          <a:xfrm>
            <a:off x="548640" y="4297680"/>
            <a:ext cx="11091672" cy="100584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La entidad obtenida mediante findById() está en estado managed mientras dura la transacción. Hibernate detecta el cambio de precio y lo guarda cuando la transacción termina, aunque no aparezca una nueva llamada a save().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Cuando la transacción termina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Cuando la transacción finaliza y Hibernate deja de gestionar ese objeto, pasa a estado detached. Conserva todos sus datos, pero los cambios posteriores ya no se sincronizan automáticamente con la base de datos.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Eliminar una entidad</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1737360"/>
            <a:ext cx="11091672" cy="1976224"/>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737359"/>
            <a:ext cx="73152" cy="1976223"/>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847088"/>
            <a:ext cx="10588752" cy="156362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@Transactional</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void eliminar(Long id)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Videojuego videojuego = videojuegoRepository.findById(id)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.orElseThrow();</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videojuegoRepository.delete(videojuego);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8" name="Text 6"/>
          <p:cNvSpPr/>
          <p:nvPr/>
        </p:nvSpPr>
        <p:spPr>
          <a:xfrm>
            <a:off x="548640" y="3886200"/>
            <a:ext cx="11091672" cy="8229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Al llamar a delete(), la entidad queda en estado removed: Hibernate la marca para eliminarla de la base de datos al confirmar la transacción.</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Los cuatro estados, de un vistazo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pic>
        <p:nvPicPr>
          <p:cNvPr id="5" name="Image 0" descr="C:/Users/Aitor/docxgen/img/hib-estados.png"/>
          <p:cNvPicPr>
            <a:picLocks noChangeAspect="1"/>
          </p:cNvPicPr>
          <p:nvPr/>
        </p:nvPicPr>
        <p:blipFill>
          <a:blip r:embed="rId3"/>
          <a:stretch>
            <a:fillRect/>
          </a:stretch>
        </p:blipFill>
        <p:spPr>
          <a:xfrm>
            <a:off x="630378" y="2323322"/>
            <a:ext cx="11192814" cy="28010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persist() y merge(), ocultos tras save()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554480"/>
            <a:ext cx="11091672" cy="12344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En JPA existen operaciones internas distintas para guardar entidades nuevas y entidades que ya existían: persist() y merge(). Spring Data JPA oculta esa diferencia detrás de save(). No necesitas decidir cuál utilizar en cada caso.</a:t>
            </a:r>
            <a:endParaRPr lang="en-US" sz="2000" dirty="0"/>
          </a:p>
        </p:txBody>
      </p:sp>
      <p:sp>
        <p:nvSpPr>
          <p:cNvPr id="6" name="Text 4"/>
          <p:cNvSpPr/>
          <p:nvPr/>
        </p:nvSpPr>
        <p:spPr>
          <a:xfrm>
            <a:off x="548640" y="3108960"/>
            <a:ext cx="11091672" cy="4572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Para trabajar de forma segura, quédate con dos reglas:</a:t>
            </a:r>
            <a:endParaRPr lang="en-US" sz="1900" dirty="0"/>
          </a:p>
        </p:txBody>
      </p:sp>
      <p:sp>
        <p:nvSpPr>
          <p:cNvPr id="7" name="Text 5"/>
          <p:cNvSpPr/>
          <p:nvPr/>
        </p:nvSpPr>
        <p:spPr>
          <a:xfrm>
            <a:off x="548640" y="3703320"/>
            <a:ext cx="11091672" cy="1097280"/>
          </a:xfrm>
          <a:prstGeom prst="rect">
            <a:avLst/>
          </a:prstGeom>
          <a:noFill/>
          <a:ln/>
        </p:spPr>
        <p:txBody>
          <a:bodyPr wrap="square" rtlCol="0" anchor="t"/>
          <a:lstStyle/>
          <a:p>
            <a:pPr marL="190500" indent="-190500">
              <a:spcAft>
                <a:spcPts val="1200"/>
              </a:spcAft>
              <a:buSzPct val="100000"/>
              <a:buChar char="•"/>
            </a:pPr>
            <a:r>
              <a:rPr lang="en-US" sz="1900" dirty="0">
                <a:solidFill>
                  <a:srgbClr val="212121"/>
                </a:solidFill>
                <a:latin typeface="Arial" pitchFamily="34" charset="0"/>
                <a:ea typeface="Arial" pitchFamily="34" charset="-122"/>
                <a:cs typeface="Arial" pitchFamily="34" charset="-120"/>
              </a:rPr>
              <a:t>Si cargas una entidad dentro de una transacción, puedes modificarla y Hibernate detectará los cambios.</a:t>
            </a:r>
            <a:endParaRPr lang="en-US" sz="1900" dirty="0"/>
          </a:p>
          <a:p>
            <a:pPr marL="190500" indent="-190500">
              <a:spcAft>
                <a:spcPts val="1200"/>
              </a:spcAft>
              <a:buSzPct val="100000"/>
              <a:buChar char="•"/>
            </a:pPr>
            <a:r>
              <a:rPr lang="en-US" sz="1900" dirty="0">
                <a:solidFill>
                  <a:srgbClr val="212121"/>
                </a:solidFill>
                <a:latin typeface="Arial" pitchFamily="34" charset="0"/>
                <a:ea typeface="Arial" pitchFamily="34" charset="-122"/>
                <a:cs typeface="Arial" pitchFamily="34" charset="-120"/>
              </a:rPr>
              <a:t>Cuando llames a save(), utiliza el objeto que devuelve el repository.</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¿Cuándo deja de estar managed?</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234440"/>
            <a:ext cx="11091672" cy="14173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Hibernate mantiene una zona de trabajo en la que controla los objetos que ha cargado o guardado. Esta zona se llama contexto de persistencia. Mientras un objeto está dentro de ese contexto, permanece managed: Hibernate detecta sus cambios y puede guardarlos automáticamente.</a:t>
            </a:r>
            <a:endParaRPr lang="en-US" sz="1900" dirty="0"/>
          </a:p>
        </p:txBody>
      </p:sp>
      <p:sp>
        <p:nvSpPr>
          <p:cNvPr id="6" name="Shape 4"/>
          <p:cNvSpPr/>
          <p:nvPr/>
        </p:nvSpPr>
        <p:spPr>
          <a:xfrm>
            <a:off x="548640" y="2926080"/>
            <a:ext cx="11091672" cy="9144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926080"/>
            <a:ext cx="73152" cy="9144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035808"/>
            <a:ext cx="10588752" cy="69494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managed  → Hibernate vigila los cambios</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detached → Hibernate ya no vigila los cambios</a:t>
            </a:r>
            <a:endParaRPr lang="en-US" sz="1700" dirty="0"/>
          </a:p>
        </p:txBody>
      </p:sp>
      <p:sp>
        <p:nvSpPr>
          <p:cNvPr id="9" name="Text 7"/>
          <p:cNvSpPr/>
          <p:nvPr/>
        </p:nvSpPr>
        <p:spPr>
          <a:xfrm>
            <a:off x="548640" y="4114800"/>
            <a:ext cx="11091672" cy="68580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En los métodos anotados con @Transactional, lo habitual es que el objeto permanezca gestionado durante toda la transacción.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"Instalar" Hibernate no es un paso manual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371600"/>
            <a:ext cx="11091672" cy="105156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A diferencia de lo que sugiere la palabra "instalar", en un proyecto Spring Boot no descargas ni configuras Hibernate por separado: viene incluido en la dependencia que ya conoces del Tema 1.</a:t>
            </a:r>
            <a:endParaRPr lang="en-US" sz="2000" dirty="0"/>
          </a:p>
        </p:txBody>
      </p:sp>
      <p:sp>
        <p:nvSpPr>
          <p:cNvPr id="6" name="Shape 4"/>
          <p:cNvSpPr/>
          <p:nvPr/>
        </p:nvSpPr>
        <p:spPr>
          <a:xfrm>
            <a:off x="548640" y="2697480"/>
            <a:ext cx="11091672" cy="11430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697480"/>
            <a:ext cx="73152" cy="11430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807208"/>
            <a:ext cx="10588752" cy="9235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&lt;dependency&gt;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&lt;groupId&gt;org.springframework.boot&lt;/groupId&gt;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&lt;artifactId&gt;spring-boot-starter-data-jpa&lt;/artifactId&gt;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&lt;/dependency&gt;</a:t>
            </a:r>
            <a:endParaRPr lang="en-US" sz="1600" dirty="0"/>
          </a:p>
        </p:txBody>
      </p:sp>
      <p:sp>
        <p:nvSpPr>
          <p:cNvPr id="9" name="Text 7"/>
          <p:cNvSpPr/>
          <p:nvPr/>
        </p:nvSpPr>
        <p:spPr>
          <a:xfrm>
            <a:off x="548640" y="4114800"/>
            <a:ext cx="11091672" cy="77724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spring-boot-starter-data-jpa trae Hibernate como implementación de JPA por defecto, además de Spring Data JPA — ya lo tienes en tu pom.xml desde la Actividad 1.1.</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Decisiones de mapeo que ya has tomado, explicadas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Tu Videojuego y tu Estudio de la Actividad 1.1 ya llevan varias anotaciones concretas — las has escrito siguiendo el patrón de la teoría, sin que se justificara todavía cada elección. Toca cerrar ese hueco.</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GenerationType.IDENTITY, ¿por qué esa estrategia?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188720"/>
            <a:ext cx="11091672" cy="640080"/>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GenerationType tiene cinco valores. Todos resuelven el mismo problema —generar un identificador único—, pero lo hacen de formas diferentes:</a:t>
            </a:r>
            <a:endParaRPr lang="en-US" sz="1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730752"/>
        </p:xfrm>
        <a:graphic>
          <a:graphicData uri="http://schemas.openxmlformats.org/drawingml/2006/table">
            <a:tbl>
              <a:tblPr/>
              <a:tblGrid>
                <a:gridCol w="1552834">
                  <a:extLst>
                    <a:ext uri="{9D8B030D-6E8A-4147-A177-3AD203B41FA5}">
                      <a16:colId xmlns:a16="http://schemas.microsoft.com/office/drawing/2014/main" val="20000"/>
                    </a:ext>
                  </a:extLst>
                </a:gridCol>
                <a:gridCol w="5213086">
                  <a:extLst>
                    <a:ext uri="{9D8B030D-6E8A-4147-A177-3AD203B41FA5}">
                      <a16:colId xmlns:a16="http://schemas.microsoft.com/office/drawing/2014/main" val="20001"/>
                    </a:ext>
                  </a:extLst>
                </a:gridCol>
                <a:gridCol w="4325752">
                  <a:extLst>
                    <a:ext uri="{9D8B030D-6E8A-4147-A177-3AD203B41FA5}">
                      <a16:colId xmlns:a16="http://schemas.microsoft.com/office/drawing/2014/main" val="20002"/>
                    </a:ext>
                  </a:extLst>
                </a:gridCol>
              </a:tblGrid>
              <a:tr h="62179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Estrategia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Cómo genera el id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Cuándo conviene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621792">
                <a:tc>
                  <a:txBody>
                    <a:bodyPr/>
                    <a:lstStyle/>
                    <a:p>
                      <a:pPr marL="0" indent="0">
                        <a:buNone/>
                      </a:pPr>
                      <a:r>
                        <a:rPr lang="en-US" sz="1250" b="1" dirty="0">
                          <a:solidFill>
                            <a:srgbClr val="212121"/>
                          </a:solidFill>
                          <a:latin typeface="Arial" pitchFamily="34" charset="0"/>
                          <a:ea typeface="Arial" pitchFamily="34" charset="-122"/>
                          <a:cs typeface="Arial" pitchFamily="34" charset="-120"/>
                        </a:rPr>
                        <a:t>IDENTITY</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Delega en una columna autoincremental de la propia base de datos.</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La que usas en Videojuego y Estudio, con identificadores Long.</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250" b="1" dirty="0">
                          <a:solidFill>
                            <a:srgbClr val="212121"/>
                          </a:solidFill>
                          <a:latin typeface="Arial" pitchFamily="34" charset="0"/>
                          <a:ea typeface="Arial" pitchFamily="34" charset="-122"/>
                          <a:cs typeface="Arial" pitchFamily="34" charset="-120"/>
                        </a:rPr>
                        <a:t>SEQUENCE</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Utiliza una secuencia de la base de datos que Hibernate consulta antes de insertar.</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Cuando necesitas reservar identificadores por adelantado.</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21792">
                <a:tc>
                  <a:txBody>
                    <a:bodyPr/>
                    <a:lstStyle/>
                    <a:p>
                      <a:pPr marL="0" indent="0">
                        <a:buNone/>
                      </a:pPr>
                      <a:r>
                        <a:rPr lang="en-US" sz="1250" b="1" dirty="0">
                          <a:solidFill>
                            <a:srgbClr val="212121"/>
                          </a:solidFill>
                          <a:latin typeface="Arial" pitchFamily="34" charset="0"/>
                          <a:ea typeface="Arial" pitchFamily="34" charset="-122"/>
                          <a:cs typeface="Arial" pitchFamily="34" charset="-120"/>
                        </a:rPr>
                        <a:t>TABLE</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Simula una secuencia mediante una tabla auxiliar gestionada por Hibernate.</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Cuando el gestor no dispone de columnas identity ni secuencias.</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250" b="1" dirty="0">
                          <a:solidFill>
                            <a:srgbClr val="212121"/>
                          </a:solidFill>
                          <a:latin typeface="Arial" pitchFamily="34" charset="0"/>
                          <a:ea typeface="Arial" pitchFamily="34" charset="-122"/>
                          <a:cs typeface="Arial" pitchFamily="34" charset="-120"/>
                        </a:rPr>
                        <a:t>UUID</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Genera un identificador UUID (550e8400-e29b-...).</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Cuando interesa generar ids únicos sin depender de una secuencia central.</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21792">
                <a:tc>
                  <a:txBody>
                    <a:bodyPr/>
                    <a:lstStyle/>
                    <a:p>
                      <a:pPr marL="0" indent="0">
                        <a:buNone/>
                      </a:pPr>
                      <a:r>
                        <a:rPr lang="en-US" sz="1250" b="1" dirty="0">
                          <a:solidFill>
                            <a:srgbClr val="212121"/>
                          </a:solidFill>
                          <a:latin typeface="Arial" pitchFamily="34" charset="0"/>
                          <a:ea typeface="Arial" pitchFamily="34" charset="-122"/>
                          <a:cs typeface="Arial" pitchFamily="34" charset="-120"/>
                        </a:rPr>
                        <a:t>AUTO</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Deja que Hibernate elija la estrategia más adecuada.</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Cuando prefieres delegar la elección en el ORM.</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En este proyecto, IDENTITY</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2377440"/>
            <a:ext cx="11091672" cy="12344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En este proyecto continuarás utilizando IDENTITY, porque tus entidades tienen un identificador numérico Long y PostgreSQL puede generarlo automáticamente. UUID es otra posibilidad útil, pero requeriría declarar el identificador con el tipo UUID:</a:t>
            </a:r>
            <a:endParaRPr lang="en-US" sz="1900" dirty="0"/>
          </a:p>
        </p:txBody>
      </p:sp>
      <p:sp>
        <p:nvSpPr>
          <p:cNvPr id="6" name="Shape 4"/>
          <p:cNvSpPr/>
          <p:nvPr/>
        </p:nvSpPr>
        <p:spPr>
          <a:xfrm>
            <a:off x="548640" y="3931920"/>
            <a:ext cx="11091672" cy="11430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931920"/>
            <a:ext cx="73152" cy="11430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4041648"/>
            <a:ext cx="10588752" cy="92354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@Id</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@GeneratedValue(strategy = GenerationType.UUID)</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private UUID id;</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TABLE, en concreto: la tabla auxiliar que crea Hibernate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188720"/>
            <a:ext cx="11091672" cy="105156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TABLE es de las estrategias más difíciles de visualizar, porque no usa ninguna función nativa del motor — Hibernate crea una tabla normal, con una fila por entidad, y hace un SELECT + UPDATE dentro de una transacción cada vez que necesita un id nuevo:</a:t>
            </a:r>
            <a:endParaRPr lang="en-US" sz="1600" dirty="0"/>
          </a:p>
        </p:txBody>
      </p:sp>
      <p:sp>
        <p:nvSpPr>
          <p:cNvPr id="6" name="Shape 4"/>
          <p:cNvSpPr/>
          <p:nvPr/>
        </p:nvSpPr>
        <p:spPr>
          <a:xfrm>
            <a:off x="548640" y="2423160"/>
            <a:ext cx="11091672" cy="21488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423160"/>
            <a:ext cx="73152" cy="214884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532888"/>
            <a:ext cx="10588752" cy="192938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CREATE TABLE hibernate_sequence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entidad VARCHAR(255) PRIMARY KEY,</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valor_actual BIGINT</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SELECT valor_actual FROM hibernate_sequence WHERE entidad = 'videojuego'; -- 1. lee</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UPDATE hibernate_sequence SET valor_actual = valor_actual + 1 WHERE entidad = 'videojuego'; -- 2. incrementa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TABLE (cont.) — por qué suele ser la menos eficiente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834640"/>
            <a:ext cx="11091672" cy="18288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26080"/>
            <a:ext cx="10543032" cy="16459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Es literalmente lo mismo que hace SEQUENCE por dentro — la diferencia es que SEQUENCE es un objeto del motor, optimizado para que muchas inserciones a la vez no se bloqueen entre sí; TABLE es una tabla corriente, y ese SELECT/UPDATE se bloquea como cualquier otra fila. Con muchas inserciones simultáneas se convierte en un cuello de botella.</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@Column(precision, scale), y por qué importa en dinero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188720"/>
            <a:ext cx="11091672" cy="4572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Para guardar dinero tenías, en realidad, tres alternativas:</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3108960"/>
        </p:xfrm>
        <a:graphic>
          <a:graphicData uri="http://schemas.openxmlformats.org/drawingml/2006/table">
            <a:tbl>
              <a:tblPr/>
              <a:tblGrid>
                <a:gridCol w="3105668">
                  <a:extLst>
                    <a:ext uri="{9D8B030D-6E8A-4147-A177-3AD203B41FA5}">
                      <a16:colId xmlns:a16="http://schemas.microsoft.com/office/drawing/2014/main" val="20000"/>
                    </a:ext>
                  </a:extLst>
                </a:gridCol>
                <a:gridCol w="3993002">
                  <a:extLst>
                    <a:ext uri="{9D8B030D-6E8A-4147-A177-3AD203B41FA5}">
                      <a16:colId xmlns:a16="http://schemas.microsoft.com/office/drawing/2014/main" val="20001"/>
                    </a:ext>
                  </a:extLst>
                </a:gridCol>
                <a:gridCol w="3993002">
                  <a:extLst>
                    <a:ext uri="{9D8B030D-6E8A-4147-A177-3AD203B41FA5}">
                      <a16:colId xmlns:a16="http://schemas.microsoft.com/office/drawing/2014/main" val="20002"/>
                    </a:ext>
                  </a:extLst>
                </a:gridCol>
              </a:tblGrid>
              <a:tr h="7772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Alternativa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Cómo funciona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Por qué no se usó (o sí)</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777240">
                <a:tc>
                  <a:txBody>
                    <a:bodyPr/>
                    <a:lstStyle/>
                    <a:p>
                      <a:pPr marL="0" indent="0">
                        <a:buNone/>
                      </a:pPr>
                      <a:r>
                        <a:rPr lang="en-US" sz="1250" b="1" dirty="0">
                          <a:solidFill>
                            <a:srgbClr val="212121"/>
                          </a:solidFill>
                          <a:latin typeface="Arial" pitchFamily="34" charset="0"/>
                          <a:ea typeface="Arial" pitchFamily="34" charset="-122"/>
                          <a:cs typeface="Arial" pitchFamily="34" charset="-120"/>
                        </a:rPr>
                        <a:t>BigDecimal sin precision/scale</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Hibernate elige un tipo de columna genérico</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Puede admitir más decimales de los que tiene sentido para un precio</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250" b="1" dirty="0">
                          <a:solidFill>
                            <a:srgbClr val="212121"/>
                          </a:solidFill>
                          <a:latin typeface="Arial" pitchFamily="34" charset="0"/>
                          <a:ea typeface="Arial" pitchFamily="34" charset="-122"/>
                          <a:cs typeface="Arial" pitchFamily="34" charset="-120"/>
                        </a:rPr>
                        <a:t>BigDecimal con precision/scale (la elegida)</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Tú fijas exactamente cuántos dígitos y decimales admite la columna</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Precisión explícita, sin depender del valor por defecto del motor</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250" b="1" dirty="0">
                          <a:solidFill>
                            <a:srgbClr val="212121"/>
                          </a:solidFill>
                          <a:latin typeface="Arial" pitchFamily="34" charset="0"/>
                          <a:ea typeface="Arial" pitchFamily="34" charset="-122"/>
                          <a:cs typeface="Arial" pitchFamily="34" charset="-120"/>
                        </a:rPr>
                        <a:t>Entero en céntimos (Long)</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El dinero se guarda como entero (250099 = 2500,99€)</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50" dirty="0">
                          <a:solidFill>
                            <a:srgbClr val="212121"/>
                          </a:solidFill>
                          <a:latin typeface="Arial" pitchFamily="34" charset="0"/>
                          <a:ea typeface="Arial" pitchFamily="34" charset="-122"/>
                          <a:cs typeface="Arial" pitchFamily="34" charset="-120"/>
                        </a:rPr>
                        <a:t>Elimina el problema de raíz, a cambio de más código al convertir a euros</a:t>
                      </a:r>
                      <a:endParaRPr lang="en-US" sz="12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Puedes comprobar la diferencia tú mismo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46888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55448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Quita temporalmente @Column(precision = 10, scale = 2) de precio, borra la tabla y reinicia con show-sql: true activo — verás que el create table genera un tipo de columna distinto. En una columna que guarda dinero, esa precisión no es un detalle decorativo.</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FetchType.LAZY frente a EAGER</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56032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651760"/>
            <a:ext cx="10543032" cy="128016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Puedes comprobarlo activando el log de SQL (logging.level.org.hibernate.SQL: DEBUG) y contando cuántas consultas distintas aparecen al llamar a GET /api/v1/videojuegos.</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LAZY frente a EAGER, en número real de consultas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pic>
        <p:nvPicPr>
          <p:cNvPr id="5" name="Image 0" descr="C:/Users/Aitor/docxgen/img/hib-lazy-eager.png"/>
          <p:cNvPicPr>
            <a:picLocks noChangeAspect="1"/>
          </p:cNvPicPr>
          <p:nvPr/>
        </p:nvPicPr>
        <p:blipFill>
          <a:blip r:embed="rId3"/>
          <a:stretch>
            <a:fillRect/>
          </a:stretch>
        </p:blipFill>
        <p:spPr>
          <a:xfrm>
            <a:off x="2469423" y="1031363"/>
            <a:ext cx="7253153" cy="479527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Lo que cambia, en la práctica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56032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651760"/>
            <a:ext cx="10543032" cy="155448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Con LAZY, Hibernate no trae el Estudio asociado hasta que de verdad lo pides. Con EAGER, lo trae siempre en la misma consulta o en una adicional inmediata — más consultas (o joins más pesados) por cada petición, incluso cuando el cliente nunca llega a mirar ese dato.</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cascade / orphanRemoval, y qué otras opciones había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188720"/>
            <a:ext cx="11091672" cy="50292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CascadeType.ALL no es la única opción — es un atajo que combina otras cinco por separado:</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3840480"/>
        </p:xfrm>
        <a:graphic>
          <a:graphicData uri="http://schemas.openxmlformats.org/drawingml/2006/table">
            <a:tbl>
              <a:tblPr/>
              <a:tblGrid>
                <a:gridCol w="2883835">
                  <a:extLst>
                    <a:ext uri="{9D8B030D-6E8A-4147-A177-3AD203B41FA5}">
                      <a16:colId xmlns:a16="http://schemas.microsoft.com/office/drawing/2014/main" val="20000"/>
                    </a:ext>
                  </a:extLst>
                </a:gridCol>
                <a:gridCol w="8207837">
                  <a:extLst>
                    <a:ext uri="{9D8B030D-6E8A-4147-A177-3AD203B41FA5}">
                      <a16:colId xmlns:a16="http://schemas.microsoft.com/office/drawing/2014/main" val="20001"/>
                    </a:ext>
                  </a:extLst>
                </a:gridCol>
              </a:tblGrid>
              <a:tr h="5486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Valor de cascade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propaga de Estudio hacia sus Videojuego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48640">
                <a:tc>
                  <a:txBody>
                    <a:bodyPr/>
                    <a:lstStyle/>
                    <a:p>
                      <a:pPr marL="0" indent="0">
                        <a:buNone/>
                      </a:pPr>
                      <a:r>
                        <a:rPr lang="en-US" sz="1350" b="1" dirty="0">
                          <a:solidFill>
                            <a:srgbClr val="212121"/>
                          </a:solidFill>
                          <a:latin typeface="Arial" pitchFamily="34" charset="0"/>
                          <a:ea typeface="Arial" pitchFamily="34" charset="-122"/>
                          <a:cs typeface="Arial" pitchFamily="34" charset="-120"/>
                        </a:rPr>
                        <a:t>(sin cascade)</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Nada — cada operación sobre un Videojuego la harías tú mismo, uno a uno</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b="1" dirty="0">
                          <a:solidFill>
                            <a:srgbClr val="212121"/>
                          </a:solidFill>
                          <a:latin typeface="Arial" pitchFamily="34" charset="0"/>
                          <a:ea typeface="Arial" pitchFamily="34" charset="-122"/>
                          <a:cs typeface="Arial" pitchFamily="34" charset="-120"/>
                        </a:rPr>
                        <a:t>PERSIST</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Guardar el Estudio guarda también los videojuegos nuevos que le hayas añadido</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350" b="1" dirty="0">
                          <a:solidFill>
                            <a:srgbClr val="212121"/>
                          </a:solidFill>
                          <a:latin typeface="Arial" pitchFamily="34" charset="0"/>
                          <a:ea typeface="Arial" pitchFamily="34" charset="-122"/>
                          <a:cs typeface="Arial" pitchFamily="34" charset="-120"/>
                        </a:rPr>
                        <a:t>MERGE</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Actualizar el Estudio sincroniza también los cambios de sus videojuegos ya existentes</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50" b="1" dirty="0">
                          <a:solidFill>
                            <a:srgbClr val="212121"/>
                          </a:solidFill>
                          <a:latin typeface="Arial" pitchFamily="34" charset="0"/>
                          <a:ea typeface="Arial" pitchFamily="34" charset="-122"/>
                          <a:cs typeface="Arial" pitchFamily="34" charset="-120"/>
                        </a:rPr>
                        <a:t>REMOVE</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Borrar el Estudio borra también todos sus videojuegos</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48640">
                <a:tc>
                  <a:txBody>
                    <a:bodyPr/>
                    <a:lstStyle/>
                    <a:p>
                      <a:pPr marL="0" indent="0">
                        <a:buNone/>
                      </a:pPr>
                      <a:r>
                        <a:rPr lang="en-US" sz="1350" b="1" dirty="0">
                          <a:solidFill>
                            <a:srgbClr val="212121"/>
                          </a:solidFill>
                          <a:latin typeface="Arial" pitchFamily="34" charset="0"/>
                          <a:ea typeface="Arial" pitchFamily="34" charset="-122"/>
                          <a:cs typeface="Arial" pitchFamily="34" charset="-120"/>
                        </a:rPr>
                        <a:t>REFRESH / DETACH</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Recargar o desvincular el Estudio hace lo mismo con sus videojuegos</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350" b="1" dirty="0">
                          <a:solidFill>
                            <a:srgbClr val="212121"/>
                          </a:solidFill>
                          <a:latin typeface="Arial" pitchFamily="34" charset="0"/>
                          <a:ea typeface="Arial" pitchFamily="34" charset="-122"/>
                          <a:cs typeface="Arial" pitchFamily="34" charset="-120"/>
                        </a:rPr>
                        <a:t>ALL (la elegida)</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Las cinco anteriores combinadas, en una sola palabra</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Por qué se eligió ALL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371600"/>
            <a:ext cx="11091672" cy="7772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Con tu configuración actual (cascade = CascadeType.ALL, orphanRemoval = true en Estudio.videojuegos), borrar un estudio borra en cascada sus videojuegos.</a:t>
            </a:r>
            <a:endParaRPr lang="en-US" sz="1900" dirty="0"/>
          </a:p>
        </p:txBody>
      </p:sp>
      <p:sp>
        <p:nvSpPr>
          <p:cNvPr id="6" name="Shape 4"/>
          <p:cNvSpPr/>
          <p:nvPr/>
        </p:nvSpPr>
        <p:spPr>
          <a:xfrm>
            <a:off x="548640" y="24231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2514600"/>
            <a:ext cx="10543032" cy="128016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Podrías haber elegido, por ejemplo, cascade = {PERSIST, MERGE} sin REMOVE: guardar y actualizar se propagarían igual, pero borrar un Estudio con videojuegos asociados fallaría por la clave foránea — obligándote a decidir explícitamente qué hacer con ellos.</a:t>
            </a:r>
            <a:endParaRPr lang="en-US" sz="1800" dirty="0"/>
          </a:p>
        </p:txBody>
      </p:sp>
      <p:sp>
        <p:nvSpPr>
          <p:cNvPr id="8" name="Text 6"/>
          <p:cNvSpPr/>
          <p:nvPr/>
        </p:nvSpPr>
        <p:spPr>
          <a:xfrm>
            <a:off x="548640" y="4160520"/>
            <a:ext cx="11091672" cy="77724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Se eligió ALL porque, en este proyecto, un videojuego sin su estudio no tiene sentido de negocio: no hay ningún caso en que interese conservarlo huérfano.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orphanRemoval, una decisión aparte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1371600"/>
            <a:ext cx="11091672" cy="8229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orphanRemoval es una decisión aparte, binaria — true (la elegida) o false (el valor por defecto si no lo escribes):</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2606040"/>
        </p:xfrm>
        <a:graphic>
          <a:graphicData uri="http://schemas.openxmlformats.org/drawingml/2006/table">
            <a:tbl>
              <a:tblPr/>
              <a:tblGrid>
                <a:gridCol w="3327502">
                  <a:extLst>
                    <a:ext uri="{9D8B030D-6E8A-4147-A177-3AD203B41FA5}">
                      <a16:colId xmlns:a16="http://schemas.microsoft.com/office/drawing/2014/main" val="20000"/>
                    </a:ext>
                  </a:extLst>
                </a:gridCol>
                <a:gridCol w="7764170">
                  <a:extLst>
                    <a:ext uri="{9D8B030D-6E8A-4147-A177-3AD203B41FA5}">
                      <a16:colId xmlns:a16="http://schemas.microsoft.com/office/drawing/2014/main" val="20001"/>
                    </a:ext>
                  </a:extLst>
                </a:gridCol>
              </a:tblGrid>
              <a:tr h="86868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Si orphanRemoval es...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Qué pasa al quitar un Videojuego de la lista (sin borrar el Estudio)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868680">
                <a:tc>
                  <a:txBody>
                    <a:bodyPr/>
                    <a:lstStyle/>
                    <a:p>
                      <a:pPr marL="0" indent="0">
                        <a:buNone/>
                      </a:pPr>
                      <a:r>
                        <a:rPr lang="en-US" sz="1600" b="1" dirty="0">
                          <a:solidFill>
                            <a:srgbClr val="212121"/>
                          </a:solidFill>
                          <a:latin typeface="Arial" pitchFamily="34" charset="0"/>
                          <a:ea typeface="Arial" pitchFamily="34" charset="-122"/>
                          <a:cs typeface="Arial" pitchFamily="34" charset="-120"/>
                        </a:rPr>
                        <a:t>true (la elegida)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Hibernate lo detecta como huérfano y lo elimina de la base de datos por su cuenta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600" b="1" dirty="0">
                          <a:solidFill>
                            <a:srgbClr val="212121"/>
                          </a:solidFill>
                          <a:latin typeface="Arial" pitchFamily="34" charset="0"/>
                          <a:ea typeface="Arial" pitchFamily="34" charset="-122"/>
                          <a:cs typeface="Arial" pitchFamily="34" charset="-120"/>
                        </a:rPr>
                        <a:t>false (por defecto)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El videojuego se queda en la base de datos, sin ningún Estudio que lo referencie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Dónde se declara la cascada, y por qué</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1920240"/>
            <a:ext cx="11091672" cy="12344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011680"/>
            <a:ext cx="10543032" cy="10515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orphanRemoval = true se utiliza cuando el objeto hijo no tiene sentido por separado: si deja de pertenecer al objeto padre, también debe desaparecer de la base de datos.</a:t>
            </a:r>
            <a:endParaRPr lang="en-US" sz="2000" dirty="0"/>
          </a:p>
        </p:txBody>
      </p:sp>
      <p:sp>
        <p:nvSpPr>
          <p:cNvPr id="7" name="Text 5"/>
          <p:cNvSpPr/>
          <p:nvPr/>
        </p:nvSpPr>
        <p:spPr>
          <a:xfrm>
            <a:off x="548640" y="3520440"/>
            <a:ext cx="11091672" cy="10515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La cascada se declara en el lado Estudio → Videojuego (el lado "uno" de la relación) porque no tendría sentido al revés: borrar un solo videojuego no debería llevarse por delante el estudio entero.</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Configuración avanzada: cuando el mapeo no es directo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246888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5544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Hibernate necesita, a veces, ayuda extra para mapear tipos sin correspondencia directa con una columna estándar — por ejemplo, para cifrar un campo o dar formato propio a un tipo que Hibernate no reconoce. Esa ayuda se declara con un @Converter (una clase AttributeConverter): no necesitas escribir uno todavía, basta con saber que es ahí donde se completa el mapeo automático.</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ddl-auto: configuración del ORM, no del conector</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2103120"/>
            <a:ext cx="11091672" cy="82296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Ya has usado spring.jpa.hibernate.ddl-auto: update desde la Actividad 1.1, pero desde el ángulo de "cómo se crea la tabla".</a:t>
            </a:r>
            <a:endParaRPr lang="en-US" sz="2000" dirty="0"/>
          </a:p>
        </p:txBody>
      </p:sp>
      <p:sp>
        <p:nvSpPr>
          <p:cNvPr id="6" name="Shape 4"/>
          <p:cNvSpPr/>
          <p:nvPr/>
        </p:nvSpPr>
        <p:spPr>
          <a:xfrm>
            <a:off x="548640" y="324612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3337560"/>
            <a:ext cx="10543032" cy="12801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Con la distinción entre conector y ORM que ya conoces: la conexión (usuario, contraseña, URL) es configuración del conector; qué hace Hibernate con las entidades que declaras (crear tablas, validarlas, no tocar nada) es configuración del ORM — y vive en esa misma propiedad, ddl-auto.</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propiedades de configuración del ORM que más usarás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474720"/>
        </p:xfrm>
        <a:graphic>
          <a:graphicData uri="http://schemas.openxmlformats.org/drawingml/2006/table">
            <a:tbl>
              <a:tblPr/>
              <a:tblGrid>
                <a:gridCol w="4658502">
                  <a:extLst>
                    <a:ext uri="{9D8B030D-6E8A-4147-A177-3AD203B41FA5}">
                      <a16:colId xmlns:a16="http://schemas.microsoft.com/office/drawing/2014/main" val="20000"/>
                    </a:ext>
                  </a:extLst>
                </a:gridCol>
                <a:gridCol w="6433170">
                  <a:extLst>
                    <a:ext uri="{9D8B030D-6E8A-4147-A177-3AD203B41FA5}">
                      <a16:colId xmlns:a16="http://schemas.microsoft.com/office/drawing/2014/main" val="20001"/>
                    </a:ext>
                  </a:extLst>
                </a:gridCol>
              </a:tblGrid>
              <a:tr h="868680">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Propiedad</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Qué controla</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86868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spring.jpa.hibernate.ddl-auto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Si Hibernate crea, actualiza o solo valida las tablas al arrancar.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spring.jpa.show-sql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Si Hibernate imprime en consola el SQL real que ejecuta por debajo.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86868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spring.jpa.properties.hibernate.format_sql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Si ese SQL impreso se formatea legible, en varias líneas.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otro lado de lo automático: data.sql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2606040"/>
            <a:ext cx="11091672" cy="10515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ddl-auto se ocupa de la estructura de la base de datos: crea o actualiza las tablas a partir de las entidades. Para introducir datos iniciales puedes crear un fichero src/main/resources/data.sql, con sentencias INSERT normales:</a:t>
            </a:r>
            <a:endParaRPr lang="en-US" sz="1900" dirty="0"/>
          </a:p>
        </p:txBody>
      </p:sp>
      <p:sp>
        <p:nvSpPr>
          <p:cNvPr id="6" name="Shape 4"/>
          <p:cNvSpPr/>
          <p:nvPr/>
        </p:nvSpPr>
        <p:spPr>
          <a:xfrm>
            <a:off x="548640" y="3931920"/>
            <a:ext cx="11091672" cy="9144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931920"/>
            <a:ext cx="73152" cy="9144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4041648"/>
            <a:ext cx="10588752" cy="6949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INSERT INTO estudio (nombre) VALUES ('Nintendo');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INSERT INTO estudio (nombre) VALUES ('Supergiant Games');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Como el proyecto usa PostgreSQL, hacen falta dos propiedades más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1188720"/>
            <a:ext cx="11091672" cy="233172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188720"/>
            <a:ext cx="73152" cy="233172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298448"/>
            <a:ext cx="10588752" cy="211226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spring:</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jpa:</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hibernate: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ddl-auto: update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defer-datasource-initialization: true</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sql:</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init: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mode: always</a:t>
            </a:r>
            <a:endParaRPr lang="en-US" sz="1500" dirty="0"/>
          </a:p>
        </p:txBody>
      </p:sp>
      <p:sp>
        <p:nvSpPr>
          <p:cNvPr id="8" name="Text 6"/>
          <p:cNvSpPr/>
          <p:nvPr/>
        </p:nvSpPr>
        <p:spPr>
          <a:xfrm>
            <a:off x="548640" y="3794760"/>
            <a:ext cx="11091672" cy="1097280"/>
          </a:xfrm>
          <a:prstGeom prst="rect">
            <a:avLst/>
          </a:prstGeom>
          <a:noFill/>
          <a:ln/>
        </p:spPr>
        <p:txBody>
          <a:bodyPr wrap="square" rtlCol="0" anchor="t"/>
          <a:lstStyle/>
          <a:p>
            <a:pPr marL="190500" indent="-190500">
              <a:spcAft>
                <a:spcPts val="1000"/>
              </a:spcAft>
              <a:buSzPct val="100000"/>
              <a:buChar char="•"/>
            </a:pPr>
            <a:r>
              <a:rPr lang="en-US" sz="1500" dirty="0">
                <a:solidFill>
                  <a:srgbClr val="212121"/>
                </a:solidFill>
                <a:latin typeface="Arial" pitchFamily="34" charset="0"/>
                <a:ea typeface="Arial" pitchFamily="34" charset="-122"/>
                <a:cs typeface="Arial" pitchFamily="34" charset="-120"/>
              </a:rPr>
              <a:t>spring.sql.init.mode: always hace que Spring Boot ejecute data.sql también con PostgreSQL.</a:t>
            </a:r>
            <a:endParaRPr lang="en-US" sz="1500" dirty="0"/>
          </a:p>
          <a:p>
            <a:pPr marL="190500" indent="-190500">
              <a:spcAft>
                <a:spcPts val="1000"/>
              </a:spcAft>
              <a:buSzPct val="100000"/>
              <a:buChar char="•"/>
            </a:pPr>
            <a:r>
              <a:rPr lang="en-US" sz="1500" dirty="0">
                <a:solidFill>
                  <a:srgbClr val="212121"/>
                </a:solidFill>
                <a:latin typeface="Arial" pitchFamily="34" charset="0"/>
                <a:ea typeface="Arial" pitchFamily="34" charset="-122"/>
                <a:cs typeface="Arial" pitchFamily="34" charset="-120"/>
              </a:rPr>
              <a:t>spring.jpa.defer-datasource-initialization: true espera a que Hibernate haya preparado las tablas antes de ejecutar los INSERT.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orden de arranque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Shape 3"/>
          <p:cNvSpPr/>
          <p:nvPr/>
        </p:nvSpPr>
        <p:spPr>
          <a:xfrm>
            <a:off x="548640" y="1920240"/>
            <a:ext cx="11091672" cy="82296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920240"/>
            <a:ext cx="73152" cy="82296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029968"/>
            <a:ext cx="10588752" cy="60350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Hibernate prepara las tablas → Spring Boot ejecuta data.sql → arranca la aplicación</a:t>
            </a:r>
            <a:endParaRPr lang="en-US" sz="1600" dirty="0"/>
          </a:p>
        </p:txBody>
      </p:sp>
      <p:sp>
        <p:nvSpPr>
          <p:cNvPr id="8" name="Shape 6"/>
          <p:cNvSpPr/>
          <p:nvPr/>
        </p:nvSpPr>
        <p:spPr>
          <a:xfrm>
            <a:off x="548640" y="3108960"/>
            <a:ext cx="11091672" cy="1554480"/>
          </a:xfrm>
          <a:prstGeom prst="roundRect">
            <a:avLst/>
          </a:prstGeom>
          <a:solidFill>
            <a:srgbClr val="FBE9E7"/>
          </a:solidFill>
          <a:ln w="22225">
            <a:solidFill>
              <a:srgbClr val="C62828"/>
            </a:solidFill>
            <a:prstDash val="solid"/>
          </a:ln>
        </p:spPr>
        <p:txBody>
          <a:bodyPr/>
          <a:lstStyle/>
          <a:p>
            <a:endParaRPr lang="es-ES"/>
          </a:p>
        </p:txBody>
      </p:sp>
      <p:sp>
        <p:nvSpPr>
          <p:cNvPr id="9" name="Text 7"/>
          <p:cNvSpPr/>
          <p:nvPr/>
        </p:nvSpPr>
        <p:spPr>
          <a:xfrm>
            <a:off x="822960" y="3218688"/>
            <a:ext cx="10543032" cy="1335024"/>
          </a:xfrm>
          <a:prstGeom prst="rect">
            <a:avLst/>
          </a:prstGeom>
          <a:noFill/>
          <a:ln/>
        </p:spPr>
        <p:txBody>
          <a:bodyPr wrap="square" rtlCol="0" anchor="t"/>
          <a:lstStyle/>
          <a:p>
            <a:pPr marL="0" indent="0">
              <a:buNone/>
            </a:pPr>
            <a:r>
              <a:rPr lang="en-US" sz="1900" b="1" dirty="0">
                <a:solidFill>
                  <a:srgbClr val="C62828"/>
                </a:solidFill>
                <a:latin typeface="Arial" pitchFamily="34" charset="0"/>
                <a:ea typeface="Arial" pitchFamily="34" charset="-122"/>
                <a:cs typeface="Arial" pitchFamily="34" charset="-120"/>
              </a:rPr>
              <a:t>⚠ data.sql se ejecuta en cada arranque
</a:t>
            </a:r>
            <a:endParaRPr lang="en-US" sz="1900" dirty="0"/>
          </a:p>
          <a:p>
            <a:pPr marL="0" indent="0">
              <a:buNone/>
            </a:pPr>
            <a:r>
              <a:rPr lang="en-US" sz="1800" dirty="0">
                <a:solidFill>
                  <a:srgbClr val="212121"/>
                </a:solidFill>
                <a:latin typeface="Arial" pitchFamily="34" charset="0"/>
                <a:ea typeface="Arial" pitchFamily="34" charset="-122"/>
                <a:cs typeface="Arial" pitchFamily="34" charset="-120"/>
              </a:rPr>
              <a:t>Los datos del fichero deben estar preparados para no provocar errores por insertar varias veces los mismos registros. En la Actividad 1.5 utilizarás este mecanismo para disponer rápidamente de suficientes datos con los que probar la paginación.</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2011680"/>
            <a:ext cx="11091672" cy="3840480"/>
          </a:xfrm>
          <a:prstGeom prst="rect">
            <a:avLst/>
          </a:prstGeom>
          <a:noFill/>
          <a:ln/>
        </p:spPr>
        <p:txBody>
          <a:bodyPr wrap="square" rtlCol="0" anchor="t"/>
          <a:lstStyle/>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El mapeo se declara con anotaciones sobre la propia entidad (el XML de mapeo es el enfoque legado).</a:t>
            </a:r>
            <a:endParaRPr lang="en-US" sz="1800" dirty="0"/>
          </a:p>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Los estados de un objeto en el ORM: transient (sin relación con la BD) → managed (gestionado, se sincroniza solo) → detached (ya no se sincroniza) / removed (marcado para borrar).</a:t>
            </a:r>
            <a:endParaRPr lang="en-US" sz="1800" dirty="0"/>
          </a:p>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"Instalar" Hibernate en Spring Boot es, en la práctica, añadir spring-boot-starter-data-jpa.</a:t>
            </a:r>
            <a:endParaRPr lang="en-US" sz="1800" dirty="0"/>
          </a:p>
          <a:p>
            <a:pPr marL="190500" indent="-190500">
              <a:spcAft>
                <a:spcPts val="1600"/>
              </a:spcAft>
              <a:buSzPct val="100000"/>
              <a:buChar char="•"/>
            </a:pPr>
            <a:r>
              <a:rPr lang="en-US" sz="1800" dirty="0">
                <a:solidFill>
                  <a:srgbClr val="212121"/>
                </a:solidFill>
                <a:latin typeface="Arial" pitchFamily="34" charset="0"/>
                <a:ea typeface="Arial" pitchFamily="34" charset="-122"/>
                <a:cs typeface="Arial" pitchFamily="34" charset="-120"/>
              </a:rPr>
              <a:t>IDENTITY delega la generación del id en la propia base de datos; SEQUENCE permite reservar ids por adelantado. precision/scale fijan el tipo exacto de columna.</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Hibernate a fondo</a:t>
            </a:r>
            <a:endParaRPr lang="en-US" sz="1100" dirty="0"/>
          </a:p>
        </p:txBody>
      </p:sp>
      <p:sp>
        <p:nvSpPr>
          <p:cNvPr id="5" name="Text 3"/>
          <p:cNvSpPr/>
          <p:nvPr/>
        </p:nvSpPr>
        <p:spPr>
          <a:xfrm>
            <a:off x="548640" y="2286000"/>
            <a:ext cx="11091672" cy="3657600"/>
          </a:xfrm>
          <a:prstGeom prst="rect">
            <a:avLst/>
          </a:prstGeom>
          <a:noFill/>
          <a:ln/>
        </p:spPr>
        <p:txBody>
          <a:bodyPr wrap="square" rtlCol="0" anchor="t"/>
          <a:lstStyle/>
          <a:p>
            <a:pPr marL="190500" indent="-190500">
              <a:spcAft>
                <a:spcPts val="2000"/>
              </a:spcAft>
              <a:buSzPct val="100000"/>
              <a:buChar char="•"/>
            </a:pPr>
            <a:r>
              <a:rPr lang="en-US" sz="1900" dirty="0">
                <a:solidFill>
                  <a:srgbClr val="212121"/>
                </a:solidFill>
                <a:latin typeface="Arial" pitchFamily="34" charset="0"/>
                <a:ea typeface="Arial" pitchFamily="34" charset="-122"/>
                <a:cs typeface="Arial" pitchFamily="34" charset="-120"/>
              </a:rPr>
              <a:t>LAZY difiere la carga de una relación hasta que se pide de verdad; EAGER la trae siempre. cascade/orphanRemoval propagan borrados y limpian huérfanos automáticamente.</a:t>
            </a:r>
            <a:endParaRPr lang="en-US" sz="1900" dirty="0"/>
          </a:p>
          <a:p>
            <a:pPr marL="190500" indent="-190500">
              <a:spcAft>
                <a:spcPts val="2000"/>
              </a:spcAft>
              <a:buSzPct val="100000"/>
              <a:buChar char="•"/>
            </a:pPr>
            <a:r>
              <a:rPr lang="en-US" sz="1900" dirty="0">
                <a:solidFill>
                  <a:srgbClr val="212121"/>
                </a:solidFill>
                <a:latin typeface="Arial" pitchFamily="34" charset="0"/>
                <a:ea typeface="Arial" pitchFamily="34" charset="-122"/>
                <a:cs typeface="Arial" pitchFamily="34" charset="-120"/>
              </a:rPr>
              <a:t>ddl-auto es configuración del ORM (qué hace Hibernate con tus entidades), distinta de la configuración del conector (cómo se conecta); show-sql/format_sql muestran el SQL real generado.</a:t>
            </a:r>
            <a:endParaRPr lang="en-US" sz="1900" dirty="0"/>
          </a:p>
          <a:p>
            <a:pPr marL="190500" indent="-190500">
              <a:spcAft>
                <a:spcPts val="2000"/>
              </a:spcAft>
              <a:buSzPct val="100000"/>
              <a:buChar char="•"/>
            </a:pPr>
            <a:r>
              <a:rPr lang="en-US" sz="1900" dirty="0">
                <a:solidFill>
                  <a:srgbClr val="212121"/>
                </a:solidFill>
                <a:latin typeface="Arial" pitchFamily="34" charset="0"/>
                <a:ea typeface="Arial" pitchFamily="34" charset="-122"/>
                <a:cs typeface="Arial" pitchFamily="34" charset="-120"/>
              </a:rPr>
              <a:t>Para ejecutar un data.sql sobre PostgreSQL se utilizan spring.sql.init.mode: always y spring.jpa.defer-datasource-initialization: true.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3181</Words>
  <Application>Microsoft Office PowerPoint</Application>
  <PresentationFormat>Panorámica</PresentationFormat>
  <Paragraphs>280</Paragraphs>
  <Slides>37</Slides>
  <Notes>37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37</vt:i4>
      </vt:variant>
    </vt:vector>
  </HeadingPairs>
  <TitlesOfParts>
    <vt:vector size="40"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Hibernate a fondo: decisiones de mapeo y ciclo de vida</dc:title>
  <dc:subject>PptxGenJS Presentation</dc:subject>
  <dc:creator>Acceso a Datos</dc:creator>
  <cp:lastModifiedBy>VENTURA EDO, AITOR</cp:lastModifiedBy>
  <cp:revision>3</cp:revision>
  <dcterms:created xsi:type="dcterms:W3CDTF">2026-08-05T22:44:09Z</dcterms:created>
  <dcterms:modified xsi:type="dcterms:W3CDTF">2026-09-17T14:50:02Z</dcterms:modified>
</cp:coreProperties>
</file>