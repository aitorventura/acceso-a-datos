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F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 —  TEMA 1: MANEJO DE CONECTORES Y HERRAMIENTAS ORM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109167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Hibernate a fondo: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decisiones de mapeo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ciclo de vida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0" y="5120640"/>
            <a:ext cx="12188952" cy="9144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Hibernate a fondo: decisiones de mapeo y ciclo de vida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persistente y formas de declarar el mapeo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Hibernate a fondo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43000"/>
            <a:ext cx="11091672" cy="10058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216152"/>
            <a:ext cx="10634472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clase persistente (o entidad) es una clase Java cuyos objetos el ORM sabe guardar y recuperar de la base de datos. Hay dos formas históricas de declarar el mapeo: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5362956" cy="201168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514600"/>
            <a:ext cx="50886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Fichero XML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3108960"/>
            <a:ext cx="4997196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documento aparte: &lt;hibernate-mapping&gt;, un &lt;class&gt; por entidad y un &lt;property&gt; por campo. Legado: apenas se usa en proyectos nuevos.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77356" y="2423160"/>
            <a:ext cx="5362956" cy="201168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2514600"/>
            <a:ext cx="50886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Anotaciones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460236" y="3108960"/>
            <a:ext cx="4997196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Directamente sobre la clase (@Entity, @Column...). Es el estándar actual y el que usas desde la Actividad 1.1.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663440"/>
            <a:ext cx="11091672" cy="1463040"/>
          </a:xfrm>
          <a:prstGeom prst="roundRect">
            <a:avLst/>
          </a:prstGeom>
          <a:solidFill>
            <a:srgbClr val="FBE9E7"/>
          </a:solidFill>
          <a:ln w="28575">
            <a:solidFill>
              <a:srgbClr val="E64A1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75488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ganaron las anotaciones
</a:t>
            </a:r>
            <a:endParaRPr lang="en-US" sz="1900" dirty="0"/>
          </a:p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Viven pegadas al propio código: cambias un campo y su mapeo a la vez, en el mismo fichero, sin mantener sincronizados un .java y un .xml.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estados de un objeto en el ORM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Hibernate a fondo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2601468" cy="169164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280160"/>
            <a:ext cx="23271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Transient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1783080"/>
            <a:ext cx="22357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Recién creado con new. Hibernate no sabe que existe.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378708" y="1188720"/>
            <a:ext cx="2601468" cy="169164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15868" y="1280160"/>
            <a:ext cx="23271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561588" y="1783080"/>
            <a:ext cx="22357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Hibernate lo gestiona: si cambias un campo, lo detecta y lo guarda al terminar.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08776" y="1188720"/>
            <a:ext cx="2601468" cy="169164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45936" y="1280160"/>
            <a:ext cx="23271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Detached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391656" y="1783080"/>
            <a:ext cx="22357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no lo gestiona: conserva los datos, pero los cambios no se sincronizan.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038844" y="1188720"/>
            <a:ext cx="2601468" cy="169164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76004" y="1280160"/>
            <a:ext cx="23271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Removed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221724" y="1783080"/>
            <a:ext cx="22357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Marcado para eliminarse de la base de datos.</a:t>
            </a:r>
            <a:endParaRPr lang="en-US" sz="1500" dirty="0"/>
          </a:p>
        </p:txBody>
      </p:sp>
      <p:pic>
        <p:nvPicPr>
          <p:cNvPr id="17" name="Image 0" descr="C:/Users/Aitor/docxgen/img/hib-estad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108960"/>
            <a:ext cx="11091672" cy="277573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y modificar una entidad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Hibernate a fondo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una entidad nueva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5212080" cy="178308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572768"/>
            <a:ext cx="73152" cy="178308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64208"/>
            <a:ext cx="47548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Videojuego videojuego = 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Videojuego();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7890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TRANSIENT: solo existe en memoria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videojuego.setTitulo(</a:t>
            </a:r>
            <a:pPr indent="0" marL="0">
              <a:buNone/>
            </a:pPr>
            <a:r>
              <a:rPr lang="en-US" sz="1300" dirty="0">
                <a:solidFill>
                  <a:srgbClr val="BF36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"Celeste"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Videojuego guardado =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videojuegoRepository.save(videojuego);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035040" y="1188720"/>
            <a:ext cx="56052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Recuperar y modificar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035040" y="1572768"/>
            <a:ext cx="5605272" cy="21488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35040" y="1572768"/>
            <a:ext cx="73152" cy="21488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1664208"/>
            <a:ext cx="5148072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@Transactional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cambiarPrecio(Long id,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BigDecimal nuevoPrecio)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Videojuego videojuego = videojuegoRepository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.findById(id).orElseThrow();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videojuego.setPrecio(nuevoPrecio);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566160"/>
            <a:ext cx="5212080" cy="182880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621024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Recoge siempre lo que devuelve save()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1520" y="4123944"/>
            <a:ext cx="4846320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guardar, Hibernate pasa a gestionarlo y lo inserta. El objeto devuelto tiene el estado definitivo, incluido el id generado.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035040" y="3840480"/>
            <a:ext cx="5605272" cy="155448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3895344"/>
            <a:ext cx="5239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durante la transacción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17920" y="4398264"/>
            <a:ext cx="5239512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Hibernate detecta el cambio de precio y lo guarda al terminar, sin un nuevo save().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5486400"/>
            <a:ext cx="11091672" cy="8229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559552"/>
            <a:ext cx="1063447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la transacción termina y Hibernate deja de gestionar el objeto, pasa a detached: conserva sus datos, pero los cambios ya no se sincronizan.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Eliminar, y cuándo deja de estar managed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Hibernate a fondo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Eliminar una entidad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5577840" cy="201168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572768"/>
            <a:ext cx="73152" cy="201168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64208"/>
            <a:ext cx="51206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@Transactional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eliminar(Long id)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Videojuego videojuego = videojuegoRepository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.findById(id).orElseThrow();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videojuegoRepository.delete(videojuego);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794760"/>
            <a:ext cx="5577840" cy="155448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849624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delete() → removed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4352544"/>
            <a:ext cx="5212080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Hibernate la marca para eliminarla de la base de datos al confirmar la transacción.</a:t>
            </a:r>
            <a:endParaRPr lang="en-US" sz="1500" dirty="0"/>
          </a:p>
        </p:txBody>
      </p:sp>
      <p:pic>
        <p:nvPicPr>
          <p:cNvPr id="12" name="Image 0" descr="C:/Users/Aitor/Documents/apuntes-profe/acceso-a-datos/docs/tema1/img/tema1_contexto_persistenc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0316" y="1188720"/>
            <a:ext cx="3840480" cy="25603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400800" y="3886200"/>
            <a:ext cx="5239512" cy="146304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83680" y="3941064"/>
            <a:ext cx="4873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de persistencia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583680" y="4306824"/>
            <a:ext cx="4873752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Dentro, el objeto es managed y Hibernate vigila sus cambios. Con @Transactional, suele estar dentro toda la transacción.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5486400"/>
            <a:ext cx="11091672" cy="73152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7240" y="5559552"/>
            <a:ext cx="10634472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cuatro estados, de un vistazo: transient → managed → detached / removed.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save() por dentro, y «instalar» Hibernate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Hibernate a fondo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5385816" cy="182880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43584"/>
            <a:ext cx="50200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persist() y merge(), ocultos tras save()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31520" y="1746504"/>
            <a:ext cx="502005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JPA distingue guardar una entidad nueva (persist) y una que ya existía (merge). Spring Data JPA oculta esa diferencia detrás de save().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5385816" cy="118872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255264"/>
            <a:ext cx="5020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 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3666744"/>
            <a:ext cx="5020056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cargas una entidad dentro de una transacción y la modificas, Hibernate detecta los cambios.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572000"/>
            <a:ext cx="5385816" cy="118872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626864"/>
            <a:ext cx="5020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 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1520" y="5038344"/>
            <a:ext cx="5020056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llamar a save(), usa el objeto que devuelve el repository.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54496" y="1188720"/>
            <a:ext cx="5385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«Instalar» Hibernate no es un paso manual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54496" y="1572768"/>
            <a:ext cx="5385816" cy="18288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54496" y="1572768"/>
            <a:ext cx="73152" cy="18288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28816" y="1664208"/>
            <a:ext cx="4928616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&lt;dependency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&lt;groupId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org.springframework.boot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&lt;/groupId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&lt;artifactId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spring-boot-starter-data-jpa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&lt;/artifactId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&lt;/dependency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54496" y="3566160"/>
            <a:ext cx="5385816" cy="21945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83096" y="3639312"/>
            <a:ext cx="4928616" cy="2048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spring-boot-starter-data-jpa trae Hibernate como implementación de JPA por defecto, además de Spring Data JPA. Ya lo tienes en tu pom.xml desde la Actividad 1.1.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GenerationType: cinco formas de generar el id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Hibernate a fondo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1672" cy="914400"/>
        </p:xfrm>
        <a:graphic>
          <a:graphicData uri="http://schemas.openxmlformats.org/drawingml/2006/table">
            <a:tbl>
              <a:tblPr/>
              <a:tblGrid>
                <a:gridCol w="1663751"/>
                <a:gridCol w="5213086"/>
                <a:gridCol w="4214835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Estrategia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Cómo genera el id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 conviene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IDENTITY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Delega en una columna autoincremental de la propia base de datos.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que usas en Videojuego y Estudio, con ids Long.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SEQUENCE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 secuencia de la base de datos que Hibernate consulta antes de insertar.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Cuando necesitas reservar ids por adelantado.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Simula una secuencia con una tabla auxiliar que gestiona Hibernate.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Cuando el gestor no tiene identity ni secuencias.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UUID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 un identificador UUID (550e8400-e29b-...).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Ids únicos sin depender de una secuencia central.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Deja que Hibernate elija la más adecuada.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Cuando prefieres delegar la elección en el ORM.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8229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559552"/>
            <a:ext cx="1063447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este proyecto seguirás con IDENTITY: tus entidades tienen un id numérico Long y PostgreSQL puede generarlo automáticamente.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y UUID, en concreto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Hibernate a fondo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TABLE: una tabla normal, SELECT + UPDATE por id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6309360" cy="32918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572768"/>
            <a:ext cx="73152" cy="32918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64208"/>
            <a:ext cx="58521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hibernate_sequence 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entidad VARCHAR(255) 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PRIMARY KEY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valor_actual BIGINT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7890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-- 1. lee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valor_actual 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hibernate_sequence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entidad = </a:t>
            </a:r>
            <a:pPr indent="0" marL="0">
              <a:buNone/>
            </a:pPr>
            <a:r>
              <a:rPr lang="en-US" sz="1300" dirty="0">
                <a:solidFill>
                  <a:srgbClr val="BF36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'videojuego'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7890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-- 2. incrementa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hibernate_sequence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valor_actual = valor_actual + 1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entidad = </a:t>
            </a:r>
            <a:pPr indent="0" marL="0">
              <a:buNone/>
            </a:pPr>
            <a:r>
              <a:rPr lang="en-US" sz="1300" dirty="0">
                <a:solidFill>
                  <a:srgbClr val="BF36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'videojuego'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32320" y="1188720"/>
            <a:ext cx="4507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UUID: exige declarar el id como UUID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0" y="1572768"/>
            <a:ext cx="4507992" cy="14173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32320" y="1572768"/>
            <a:ext cx="73152" cy="14173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06640" y="1664208"/>
            <a:ext cx="4050792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@Id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@GeneratedValue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(strategy =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GenerationType.UUID)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UUID id;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3154680"/>
            <a:ext cx="4507992" cy="173736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0" y="3209544"/>
            <a:ext cx="4142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TABLE es la menos eficiente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0" y="3575304"/>
            <a:ext cx="4142232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Hace lo mismo que SEQUENCE, pero es una tabla corriente: ese SELECT/UPDATE se bloquea como cualquier fila.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11091672" cy="9144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5193792"/>
            <a:ext cx="1063447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muchas inserciones simultáneas, TABLE se convierte en un cuello de botella; SEQUENCE es un objeto del motor, optimizado para que no se bloqueen entre sí.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@Column(precision, scale) y el dinero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Hibernate a fondo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514344" cy="283464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280160"/>
            <a:ext cx="32400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BigDecimal sin precision/scale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148840"/>
            <a:ext cx="3148584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Hibernate elige un tipo de columna genérico: puede admitir más decimales de los que tiene sentido para un precio.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37304" y="1188720"/>
            <a:ext cx="3514344" cy="283464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74464" y="1280160"/>
            <a:ext cx="32400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BigDecimal con precision/scale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20184" y="2148840"/>
            <a:ext cx="3148584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Tú fijas cuántos dígitos y decimales admite la columna. La elegida: precisión explícita, sin depender del motor.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5968" y="1188720"/>
            <a:ext cx="3514344" cy="283464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63128" y="1280160"/>
            <a:ext cx="32400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Entero en céntimos (Long)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308848" y="2148840"/>
            <a:ext cx="3148584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250099 = 2500,99 €. Elimina el problema de raíz, a cambio de más código al convertir a euros.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091672" cy="14630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416552"/>
            <a:ext cx="1063447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Compruébalo: quita temporalmente @Column(precision = 10, scale = 2) de precio, borra la tabla y reinicia con show-sql: true. El create table generará un tipo de columna distinto. En dinero, esa precisión no es decorativa.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FetchType.LAZY frente a EAGER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Hibernate a fondo</a:t>
            </a:r>
            <a:endParaRPr lang="en-US" sz="1100" dirty="0"/>
          </a:p>
        </p:txBody>
      </p:sp>
      <p:pic>
        <p:nvPicPr>
          <p:cNvPr id="5" name="Image 0" descr="C:/Users/Aitor/docxgen/img/hib-lazy-e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949440" cy="4594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72400" y="1188720"/>
            <a:ext cx="3867912" cy="146304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955280" y="1243584"/>
            <a:ext cx="35021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LAZY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7955280" y="1746504"/>
            <a:ext cx="3502152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trae el Estudio asociado hasta que de verdad lo pides.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772400" y="2788920"/>
            <a:ext cx="3867912" cy="173736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0" y="2843784"/>
            <a:ext cx="35021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EAGER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7955280" y="3346704"/>
            <a:ext cx="3502152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trae siempre, en la misma consulta o en una adicional: más consultas por petición aunque el cliente nunca mire ese dato.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772400" y="4663440"/>
            <a:ext cx="3867912" cy="16002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01000" y="4736592"/>
            <a:ext cx="3410712" cy="1453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Compruébalo con logging.level.org.hibernate.SQL: DEBUG y cuenta las consultas de GET /api/v1/videojuegos.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cascade: qué otras opciones había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Hibernate a fondo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1672" cy="914400"/>
        </p:xfrm>
        <a:graphic>
          <a:graphicData uri="http://schemas.openxmlformats.org/drawingml/2006/table">
            <a:tbl>
              <a:tblPr/>
              <a:tblGrid>
                <a:gridCol w="2883835"/>
                <a:gridCol w="8207837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de cascade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propaga de Estudio hacia sus Videojuego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(sin cascade)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Nada: cada operación sobre un Videojuego la harías tú, una a una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PERSIST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Guardar el Estudio guarda también los videojuegos nuevos que le hayas añadido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Actualizar el Estudio sincroniza también los cambios de sus videojuegos existentes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Borrar el Estudio borra también todos sus videojuegos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REFRESH / DETACH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Recargar o desvincular el Estudio hace lo mismo con sus videojuegos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(la elegida)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 cinco anteriores combinadas, en una sola palabra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92040"/>
            <a:ext cx="11091672" cy="141732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965192"/>
            <a:ext cx="10634472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eligió ALL porque un videojuego sin su estudio no tiene sentido de negocio. Con cascade = {PERSIST, MERGE} sin REMOVE, borrar un Estudio con videojuegos fallaría por la clave foránea.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orphanRemoval, y dónde se declara la cascada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Hibernate a fondo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1672" cy="914400"/>
        </p:xfrm>
        <a:graphic>
          <a:graphicData uri="http://schemas.openxmlformats.org/drawingml/2006/table">
            <a:tbl>
              <a:tblPr/>
              <a:tblGrid>
                <a:gridCol w="3327502"/>
                <a:gridCol w="776417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 orphanRemoval es...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 quitar un Videojuego de la lista (sin borrar el Estudio)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true (la elegida)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Hibernate lo detecta como huérfano y lo elimina de la base de datos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false (por defecto)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videojuego se queda en la base de datos, sin ningún Estudio que lo referencie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611880"/>
            <a:ext cx="11091672" cy="109728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3685032"/>
            <a:ext cx="10634472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orphanRemoval = true se usa cuando el hijo no tiene sentido por separado: si deja de pertenecer al padre, también debe desaparecer de la base de datos.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4937760"/>
            <a:ext cx="11091672" cy="132588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992624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cascada va en el lado Estudio → Videojuego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731520" y="5495544"/>
            <a:ext cx="1072591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lado «uno» de la relación: al revés no tendría sentido, porque borrar un solo videojuego no debería llevarse por delante el estudio entero.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Configuración del ORM, no del conector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Hibernate a fondo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5362956" cy="146304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280160"/>
            <a:ext cx="50886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Conector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1783080"/>
            <a:ext cx="499719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conecta: usuario, contraseña, URL.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77356" y="1188720"/>
            <a:ext cx="5362956" cy="146304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4516" y="1280160"/>
            <a:ext cx="50886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ORM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60236" y="1783080"/>
            <a:ext cx="499719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hace Hibernate con tus entidades (crear tablas, validarlas, no tocar nada): ddl-auto.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80360"/>
          <a:ext cx="11091672" cy="914400"/>
        </p:xfrm>
        <a:graphic>
          <a:graphicData uri="http://schemas.openxmlformats.org/drawingml/2006/table">
            <a:tbl>
              <a:tblPr/>
              <a:tblGrid>
                <a:gridCol w="4880336"/>
                <a:gridCol w="6211336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Propiedad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controla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spring.jpa.hibernate.ddl-auto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 Hibernate crea, actualiza o solo valida las tablas al arrancar.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spring.jpa.show-sql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 imprime en consola el SQL real que ejecuta por debajo.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spring.jpa.properties.hibernate.format_sql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 ese SQL impreso se formatea en varias líneas.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548640" y="5349240"/>
            <a:ext cx="11091672" cy="10058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" y="5422392"/>
            <a:ext cx="10634472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mapear tipos sin correspondencia directa (cifrar un campo, dar formato propio) Hibernate necesita ayuda: un @Converter (AttributeConverter). No hace falta escribir uno todavía.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otro lado de lo automático: data.sql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Hibernate a fondo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ddl-auto crea la estructura; data.sql, los datos iniciales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5394960" cy="12344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527048"/>
            <a:ext cx="73152" cy="12344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18488"/>
            <a:ext cx="49377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estudio (nombre)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indent="0" marL="0">
              <a:buNone/>
            </a:pPr>
            <a:r>
              <a:rPr lang="en-US" sz="1300" dirty="0">
                <a:solidFill>
                  <a:srgbClr val="BF36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'Nintendo'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estudio (nombre)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indent="0" marL="0">
              <a:buNone/>
            </a:pPr>
            <a:r>
              <a:rPr lang="en-US" sz="1300" dirty="0">
                <a:solidFill>
                  <a:srgbClr val="BF36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'Supergiant Games'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PostgreSQL hacen falta dos propiedades más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310128"/>
            <a:ext cx="5394960" cy="19202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310128"/>
            <a:ext cx="73152" cy="19202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401568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jpa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hibernate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ddl-auto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update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defer-datasource-initialization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true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sql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init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</a:t>
            </a:r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always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1143000"/>
            <a:ext cx="5422392" cy="123444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197864"/>
            <a:ext cx="50566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spring.sql.init.mode: always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1609344"/>
            <a:ext cx="505663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Boot ejecuta data.sql también con PostgreSQL.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2514600"/>
            <a:ext cx="5422392" cy="141732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2569464"/>
            <a:ext cx="50566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defer-datasource-initialization: true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0" y="2980944"/>
            <a:ext cx="5056632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a que Hibernate haya preparado las tablas antes de ejecutar los INSERT.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7920" y="4069080"/>
            <a:ext cx="5422392" cy="118872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4123944"/>
            <a:ext cx="50566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 de arranque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0" y="4489704"/>
            <a:ext cx="505663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Hibernate prepara las tablas → Spring Boot ejecuta data.sql → arranca la aplicación.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5349240"/>
            <a:ext cx="11091672" cy="914400"/>
          </a:xfrm>
          <a:prstGeom prst="roundRect">
            <a:avLst/>
          </a:prstGeom>
          <a:solidFill>
            <a:srgbClr val="FBE9E7"/>
          </a:solidFill>
          <a:ln w="28575">
            <a:solidFill>
              <a:srgbClr val="E64A1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data.sql se ejecuta en cada arranque
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datos deben tolerar insertarse varias veces sin fallar. En la Actividad 1.5 lo usarás para probar la paginación.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clave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Hibernate a fondo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5454396" cy="109728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17320"/>
            <a:ext cx="640080" cy="6400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508760" y="1188720"/>
            <a:ext cx="43113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mapeo se declara con anotaciones sobre la entidad; el XML es el enfoque legado.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185916" y="1188720"/>
            <a:ext cx="5454396" cy="109728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68796" y="1417320"/>
            <a:ext cx="640080" cy="6400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8796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146036" y="1188720"/>
            <a:ext cx="43113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Estados: transient (sin relación con la BD) → managed (se sincroniza solo) → detached (ya no) / removed (marcado para borrar).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2468880"/>
            <a:ext cx="5454396" cy="109728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2697480"/>
            <a:ext cx="640080" cy="6400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697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08760" y="2468880"/>
            <a:ext cx="43113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«Instalar» Hibernate en Spring Boot es añadir spring-boot-starter-data-jpa.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185916" y="2468880"/>
            <a:ext cx="5454396" cy="109728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68796" y="2697480"/>
            <a:ext cx="640080" cy="6400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8796" y="2697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146036" y="2468880"/>
            <a:ext cx="43113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delega el id en la base de datos; SEQUENCE reserva ids por adelantado. precision/scale fijan el tipo de la columna.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548640" y="3749040"/>
            <a:ext cx="5454396" cy="109728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" y="3977640"/>
            <a:ext cx="640080" cy="6400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977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508760" y="3749040"/>
            <a:ext cx="43113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LAZY difiere la carga de una relación hasta que se pide; EAGER la trae siempre.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185916" y="3749040"/>
            <a:ext cx="5454396" cy="109728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68796" y="3977640"/>
            <a:ext cx="640080" cy="6400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68796" y="3977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146036" y="3749040"/>
            <a:ext cx="43113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cascade y orphanRemoval propagan borrados y limpian huérfanos automáticamente.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5454396" cy="109728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1520" y="5257800"/>
            <a:ext cx="640080" cy="6400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5257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508760" y="5029200"/>
            <a:ext cx="43113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ddl-auto es configuración del ORM, no del conector; show-sql y format_sql muestran el SQL real.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6185916" y="5029200"/>
            <a:ext cx="5454396" cy="109728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68796" y="5257800"/>
            <a:ext cx="640080" cy="6400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68796" y="5257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146036" y="5029200"/>
            <a:ext cx="43113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data.sql sobre PostgreSQL: spring.sql.init.mode: always y defer-datasource-initialization: true.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Hibernate a fondo: decisiones de mapeo y ciclo de vida</dc:title>
  <dc:subject>PptxGenJS Presentation</dc:subject>
  <dc:creator>Acceso a Datos</dc:creator>
  <cp:lastModifiedBy>Acceso a Datos</cp:lastModifiedBy>
  <cp:revision>1</cp:revision>
  <dcterms:created xsi:type="dcterms:W3CDTF">2026-09-21T18:49:17Z</dcterms:created>
  <dcterms:modified xsi:type="dcterms:W3CDTF">2026-09-21T18:49:17Z</dcterms:modified>
</cp:coreProperties>
</file>