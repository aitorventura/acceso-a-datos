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1: MANEJO DE CONECTORES Y HERRAMIENTAS ORM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Fundamentos de Spring Boot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consola al servidor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62956" cy="22860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61872"/>
            <a:ext cx="49971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consola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1391412" cy="77724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13914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22932" y="192024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34412" y="1920240"/>
            <a:ext cx="1391412" cy="77724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4412" y="1920240"/>
            <a:ext cx="13914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su trabajo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25824" y="192024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37304" y="1920240"/>
            <a:ext cx="1391412" cy="77724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7304" y="1920240"/>
            <a:ext cx="13914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761488"/>
            <a:ext cx="49971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corto: tú controlas el ritmo.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7356" y="1188720"/>
            <a:ext cx="5362956" cy="22860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0236" y="1261872"/>
            <a:ext cx="49971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(backend)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460236" y="1920240"/>
            <a:ext cx="1391412" cy="7772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0236" y="1920240"/>
            <a:ext cx="13914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arranca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51648" y="192024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263128" y="1920240"/>
            <a:ext cx="1391412" cy="7772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3128" y="1920240"/>
            <a:ext cx="13914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 en un puerto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54540" y="192024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66020" y="1920240"/>
            <a:ext cx="1391412" cy="777240"/>
          </a:xfrm>
          <a:prstGeom prst="round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66020" y="1920240"/>
            <a:ext cx="13914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queda esperando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60236" y="2761488"/>
            <a:ext cx="49971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«usuario» es otro programa (navegador, app, otro servidor) que le habla por la red.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48640" y="3703320"/>
            <a:ext cx="5362956" cy="12344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794760"/>
            <a:ext cx="5088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IP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49971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la máquina dentro de la red: qué ordenador 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77356" y="3703320"/>
            <a:ext cx="5362956" cy="12344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4516" y="3794760"/>
            <a:ext cx="5088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460236" y="4297680"/>
            <a:ext cx="49971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Identifica, dentro de esa máquina, a qué programa va dirigido el mensaje.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120640"/>
            <a:ext cx="11091672" cy="11430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193792"/>
            <a:ext cx="10634472" cy="996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en un bloque de pisos: la IP es la dirección del edificio y el puerto, el número de piso. Un servidor «escuchando en el puerto 8080» espera mensajes dirigidos exactamente a ese piso.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y servidor hablan HTTP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y servidor necesitan un formato de mensaje acordado de antemano: un protocolo. El que vas a usar todo el curso es HTTP, el mismo que usa tu navegador al visitar una página.</a:t>
            </a:r>
            <a:endParaRPr lang="en-US" sz="1900" dirty="0"/>
          </a:p>
        </p:txBody>
      </p:sp>
      <p:pic>
        <p:nvPicPr>
          <p:cNvPr id="6" name="Image 0" descr="C:/Users/Aitor/docxgen/img/spring-boot-fundamentos-cliente-servi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1720"/>
            <a:ext cx="11091672" cy="16602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434840"/>
            <a:ext cx="11091672" cy="13716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507992"/>
            <a:ext cx="10634472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no decide cuándo actuar: se queda a la espera y reacciona cada vez que llega una petición. Tu aplicación será justo eso, un programa Java sin Scanner que responde peticiones HTTP hasta que alguien lo detiene.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134356" cy="17830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43584"/>
            <a:ext cx="47685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framework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746504"/>
            <a:ext cx="47685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flujo lo llevas tú: tu main() llama a tus clases y estas llaman a las librerías cuando las necesitan.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05956" y="1188720"/>
            <a:ext cx="5134356" cy="17830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88836" y="1243584"/>
            <a:ext cx="47685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framework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88836" y="1746504"/>
            <a:ext cx="476859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de control: la relación se invierte y el framework llama a tu código cuando él decide.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82996" y="1188720"/>
            <a:ext cx="822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91672" cy="10515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7355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cocinar en casa o en un restaurante: en casa decides el orden; en el restaurante el camarero avisa «mesa 4, primer plato» y tú solo escribes la receta.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es el framework de Java más usado. Spring Boot le añade: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3514344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9377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web integrado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548640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instalas nada aparte.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37304" y="4846320"/>
            <a:ext cx="3514344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4464" y="49377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automática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20184" y="548640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configura según lo que hay en el classpath.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5968" y="4846320"/>
            <a:ext cx="3514344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3128" y="493776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8848" y="5486400"/>
            <a:ext cx="314858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que traen de golpe todas las dependencias de una funcionalidad.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y el pom.xml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descarga cada .jar con la versión correcta y resuelve también sus dependencias. Tú solo declaras qué necesitas: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583680" cy="23774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57400"/>
            <a:ext cx="73152" cy="237744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6126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&lt;groupId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org.springframework.boot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&lt;/groupId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&lt;artifactId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spring-boot-starter-webmvc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&lt;/artifactId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&lt;groupId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org.springframework.boot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&lt;/groupId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&lt;artifactId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spring-boot-starter-data-jpa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&lt;/artifactId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6583680" cy="15544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690872"/>
            <a:ext cx="612648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Spring Boot 4, spring-boot-starter-web se separó en starter-webmvc (el que usarás) y starter-webflux (reactivo, fuera del curso). Si buscas starter-web a secas, no lo encontrarás.</a:t>
            </a:r>
            <a:endParaRPr lang="en-US" sz="1600" dirty="0"/>
          </a:p>
        </p:txBody>
      </p:sp>
      <p:pic>
        <p:nvPicPr>
          <p:cNvPr id="11" name="Image 0" descr="C:/Users/Aitor/Documents/apuntes-profe/acceso-a-datos/docs/tema1/img/tema1_maven_star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188720"/>
            <a:ext cx="4233672" cy="38690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06640" y="5440680"/>
            <a:ext cx="4233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groupId: quién publica la librería. artifactId: cuál de sus paquetes quieres.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en capas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pic>
        <p:nvPicPr>
          <p:cNvPr id="5" name="Image 0" descr="C:/Users/Aitor/docxgen/img/spring-boot-fundamentos-cap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11091672" cy="15001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926080"/>
            <a:ext cx="3514344" cy="17830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01752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31485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LibroController: recibe la petición HTTP y la traduce a una llamada Java. Solo enruta.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37304" y="2926080"/>
            <a:ext cx="3514344" cy="17830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74464" y="301752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20184" y="3566160"/>
            <a:ext cx="31485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LibroService: la lógica. Qué comprobar, qué calcular y en qué orden.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25968" y="2926080"/>
            <a:ext cx="3514344" cy="17830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63128" y="301752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308848" y="3566160"/>
            <a:ext cx="31485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LibroRepository: es quien habla con la base de datos.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937760"/>
            <a:ext cx="11091672" cy="132588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5010912"/>
            <a:ext cx="10634472" cy="1179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se entiende, se prueba y se cambia sin tocar las demás: si cambia la base de datos, solo el repository. Y cada capa habla solo con la siguiente: el controller nunca accede directamente a la base de datos.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dependencias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DI: el service se construye su dependencia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029200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16002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LibroService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LibroRepository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repositorio =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5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LibroRepository();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029200" cy="173736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3814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1520" y="3941064"/>
            <a:ext cx="466344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unido a esa implementación concreta. En un test no puedes sustituirla por un repositorio simulado.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97880" y="1188720"/>
            <a:ext cx="5742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DI: lo declara por constructor y se lo entregan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897880" y="1600200"/>
            <a:ext cx="5742432" cy="23317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600200"/>
            <a:ext cx="73152" cy="233172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91640"/>
            <a:ext cx="528523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LibroService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LibroRepository repositorio;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LibroService(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LibroRepository repositorio)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.repositorio = repositorio;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97880" y="4114800"/>
            <a:ext cx="5742432" cy="10058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169664"/>
            <a:ext cx="5376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«Para funcionar necesito un LibroRepository»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2239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dependencias: una clase recibe desde fuera los objetos que necesita en vez de construirlos ella misma. Es una aplicación concreta de la inversión de control.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entrega las dependencias: Spring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dependencia se cambia sin tocar el service:</a:t>
            </a:r>
            <a:endParaRPr lang="en-US" sz="1500" dirty="0"/>
          </a:p>
        </p:txBody>
      </p:sp>
      <p:pic>
        <p:nvPicPr>
          <p:cNvPr id="6" name="Image 0" descr="C:/Users/Aitor/docxgen/img/spring-boot-fundamentos-di-real-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858000" cy="17269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188720"/>
            <a:ext cx="3959352" cy="22860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1243584"/>
            <a:ext cx="3593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beans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863840" y="1746504"/>
            <a:ext cx="3593592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arrancar, Spring crea y guarda en su contexto una instancia de cada clase gestionada. No vas tú al almacén: te traen los ingredientes a la mesa.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inyección de dependencias:</a:t>
            </a:r>
            <a:endParaRPr lang="en-US" sz="1500" dirty="0"/>
          </a:p>
        </p:txBody>
      </p:sp>
      <p:pic>
        <p:nvPicPr>
          <p:cNvPr id="11" name="Image 1" descr="C:/Users/Aitor/docxgen/img/spring-boot-fundamentos-sin-d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0"/>
            <a:ext cx="5486400" cy="7085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inyección de dependencias:</a:t>
            </a:r>
            <a:endParaRPr lang="en-US" sz="1500" dirty="0"/>
          </a:p>
        </p:txBody>
      </p:sp>
      <p:pic>
        <p:nvPicPr>
          <p:cNvPr id="13" name="Image 2" descr="C:/Users/Aitor/docxgen/img/spring-boot-fundamentos-con-d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349240"/>
            <a:ext cx="8122596" cy="9144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00800" y="3840480"/>
            <a:ext cx="5239512" cy="12801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629400" y="3913632"/>
            <a:ext cx="4782312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LibroService no va a buscar su LibroRepository: se lo entregan.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clases gestiona Spring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1468" cy="24688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25880"/>
            <a:ext cx="23271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2357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bean con lógica de negocio: capa intermedia entre controlador y datos.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78708" y="1234440"/>
            <a:ext cx="2601468" cy="24688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5868" y="1325880"/>
            <a:ext cx="23271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@Repository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1588" y="1920240"/>
            <a:ext cx="22357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bean que accede a datos, normalmente una interfaz que Spring Data implementa por ti.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08776" y="1234440"/>
            <a:ext cx="2601468" cy="246888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325880"/>
            <a:ext cx="23271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91656" y="1920240"/>
            <a:ext cx="22357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bean que expone endpoints HTTP y devuelve las respuestas en el cuerpo (JSON).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38844" y="1234440"/>
            <a:ext cx="2601468" cy="246888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76004" y="1325880"/>
            <a:ext cx="23271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221724" y="1920240"/>
            <a:ext cx="22357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clase que define a mano uno o varios beans, para los casos que no encajan en las otras.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1091672" cy="9144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0507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le dicen a Spring: «esto es un bean, gestiona su ciclo de vida y pásame lo que necesite por inyección».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2782824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074920"/>
            <a:ext cx="2636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marcadas con las anotaciones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85744" y="5029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las crea  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3064" y="5029200"/>
            <a:ext cx="2782824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6216" y="5074920"/>
            <a:ext cx="2636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 la aplicación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 bean por clase)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40168" y="50292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inyecta  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57488" y="5029200"/>
            <a:ext cx="2782824" cy="118872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30640" y="5074920"/>
            <a:ext cx="2636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 de cada clase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arranque y la cadena completa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aplicación tiene una clase con un main()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126480" cy="1828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LibreriaApplication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args)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SpringApplication.run(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LibreriaApplication.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args);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0" y="1188720"/>
            <a:ext cx="4690872" cy="21945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243584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@SpringBootApplication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746504"/>
            <a:ext cx="4325112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este paquete y los que cuelgan de él buscando beans, y se autoconfigura según el classpath. run(...) arranca el servidor embebido y deja la aplicación escuchando.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cadena, ya en el controller: recibe el service por constructor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7040880" cy="2423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931920"/>
            <a:ext cx="73152" cy="242316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23360"/>
            <a:ext cx="65836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LibroController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LibroService libroService;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LibroController(LibroService libroService)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.libroService = libroService;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BF36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"/{id}"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ResponseEntity&lt;LibroDTO&gt; getById(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Long id)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ResponseEntity.ok(libroService.findById(id));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3931920"/>
            <a:ext cx="3776472" cy="242316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3986784"/>
            <a:ext cx="34107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interesa la forma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046720" y="4489704"/>
            <a:ext cx="3410712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repository, cada uno con su responsabilidad y sin saltarse capas. @GetMapping, @PathVariable y ResponseEntity son de HTTP/REST: los verás en PSP.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y configuración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@RequiredArgsConstructor genera el constructor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309360" cy="2514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73152" cy="25146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58521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LibroService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LibroRepository libroRepository;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4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EditorialRepository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editorialRepository;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Lombok genera aquí, al compilar,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400" i="1" dirty="0">
                <a:solidFill>
                  <a:srgbClr val="7890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 constructor con ambos repositorios.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6309360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35254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campo final más, sin tocar nada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855464"/>
            <a:ext cx="594360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Lombok escribirías el constructor a mano cada vez. Spring inyecta igual, por constructor.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0" y="1188720"/>
            <a:ext cx="4507992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243584"/>
            <a:ext cx="4142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application.yml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0" y="1746504"/>
            <a:ext cx="414223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común: credenciales, puertos, propiedades propias.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0" y="2697480"/>
            <a:ext cx="4507992" cy="137160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752344"/>
            <a:ext cx="4142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application-dev.yml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0" y="3255264"/>
            <a:ext cx="414223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del entorno de desarrollo, por ejemplo la URL de PostgreSQL de la Actividad 1.1.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32320" y="4206240"/>
            <a:ext cx="4507992" cy="13716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4261104"/>
            <a:ext cx="4142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«-dev» es un perfil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315200" y="4764024"/>
            <a:ext cx="414223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se activa si lo pides al arrancar. Mismo código, otra configuración.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806440"/>
            <a:ext cx="11091672" cy="54864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879592"/>
            <a:ext cx="10634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.yml o .yaml: Spring Boot reconoce las dos extensiones. En este curso se usa siempre .yml, por uniformidad.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estás y hacia dónde vas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1/img/tema1_capas_ad_p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315200" cy="4876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0" y="1188720"/>
            <a:ext cx="3502152" cy="19202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243584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321040" y="1746504"/>
            <a:ext cx="313639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Persistencia: del service hacia abajo (JDBC, JPA, JSONB, MongoDB).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138160" y="3246120"/>
            <a:ext cx="3502152" cy="1920240"/>
          </a:xfrm>
          <a:prstGeom prst="roundRect">
            <a:avLst/>
          </a:prstGeom>
          <a:solidFill>
            <a:srgbClr val="FBE9E7"/>
          </a:solidFill>
          <a:ln w="25400">
            <a:solidFill>
              <a:srgbClr val="E64A1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3300984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PSP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321040" y="3803904"/>
            <a:ext cx="313639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en red y seguridad: del controller hacia fuera (REST, JWT, hilos, sockets).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38160" y="5303520"/>
            <a:ext cx="35021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actividades de ambos módulos construirás, pieza a pieza, tu propia aplicación con esta estructura.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Tema 1: Fundamentos de Spring Boot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arranca y se queda escuchando en un puerto. La IP identifica la máquina, el puerto el programa y HTTP es el protocolo.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08776" y="123444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64592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68896" y="123444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framework invierte el control. Spring Boot añade configuración automática, servidor embebido y starters.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33756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08760" y="292608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gestiona las dependencias vía pom.xml: starter-webmvc y starter-data-jpa son las claves del curso.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8776" y="292608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1656" y="333756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68896" y="292608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Capas: controller (HTTP) → service (lógica) → repository (datos). Cada una habla solo con la siguiente.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50292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08760" y="461772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DI: la clase declara lo que necesita por constructor y Spring se lo entrega. @Service, @Repository, @RestController y @Configuration marcan lo que gestiona.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08776" y="4617720"/>
            <a:ext cx="5431536" cy="146304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91656" y="5029200"/>
            <a:ext cx="640080" cy="6400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68896" y="4617720"/>
            <a:ext cx="428853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@RequiredArgsConstructor genera el constructor. application.yml y application-dev.yml centralizan la configuración: un perfil la varía sin tocar código.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Spring Boot</dc:title>
  <dc:subject>PptxGenJS Presentation</dc:subject>
  <dc:creator>Acceso a Datos</dc:creator>
  <cp:lastModifiedBy>Acceso a Datos</cp:lastModifiedBy>
  <cp:revision>1</cp:revision>
  <dcterms:created xsi:type="dcterms:W3CDTF">2026-09-21T18:40:27Z</dcterms:created>
  <dcterms:modified xsi:type="dcterms:W3CDTF">2026-09-21T18:40:27Z</dcterms:modified>
</cp:coreProperties>
</file>