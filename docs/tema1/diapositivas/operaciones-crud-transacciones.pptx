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00"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592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E86E5-32A3-6876-1FB9-FB44ED836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C60E9-C0DB-BE95-9730-242F63372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1F73B-3957-85A7-1A55-570C4FA7B2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A09C71-8342-A854-A346-761AE179C513}"/>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474787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1: MANEJO DE CONECTORES Y HERRAMIENTAS ORM</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Operaciones CRUD</a:t>
            </a:r>
            <a:endParaRPr lang="en-US" sz="4000" dirty="0"/>
          </a:p>
          <a:p>
            <a:pPr marL="0" indent="0" algn="l">
              <a:buNone/>
            </a:pPr>
            <a:r>
              <a:rPr lang="en-US" sz="4000" b="1" dirty="0">
                <a:solidFill>
                  <a:srgbClr val="FFFFFF"/>
                </a:solidFill>
                <a:latin typeface="Arial" pitchFamily="34" charset="0"/>
                <a:ea typeface="Arial" pitchFamily="34" charset="-122"/>
                <a:cs typeface="Arial" pitchFamily="34" charset="-120"/>
              </a:rPr>
              <a:t>y gestión de transacciones</a:t>
            </a:r>
            <a:endParaRPr lang="en-US" sz="40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3. Operaciones CRUD y gestión de transacciones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Operaciones CRUD y gestión de transacciones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286000"/>
            <a:ext cx="11091672" cy="210312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377440"/>
            <a:ext cx="10543032" cy="192024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Ya sabes por qué hacen falta conectores y cómo se declara la estructura de una base de datos desde Java. Toca el paso siguiente: cómo se modifican y consultan los datos desde una aplicación real. Vas a construir el CRUD de Libro igual que lo harías tú solo — empezando por la versión más simple, tropezando con sus problemas, y resolviéndolos uno a uno.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es CRUD</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371600"/>
            <a:ext cx="11091672" cy="10058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CRUD son las siglas de las cuatro operaciones universales sobre datos: Create, Read, Update, Delete. HTTP expresa esas mismas intenciones sobre recursos:</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2743200"/>
        </p:xfrm>
        <a:graphic>
          <a:graphicData uri="http://schemas.openxmlformats.org/drawingml/2006/table">
            <a:tbl>
              <a:tblPr/>
              <a:tblGrid>
                <a:gridCol w="1996501">
                  <a:extLst>
                    <a:ext uri="{9D8B030D-6E8A-4147-A177-3AD203B41FA5}">
                      <a16:colId xmlns:a16="http://schemas.microsoft.com/office/drawing/2014/main" val="20000"/>
                    </a:ext>
                  </a:extLst>
                </a:gridCol>
                <a:gridCol w="2440168">
                  <a:extLst>
                    <a:ext uri="{9D8B030D-6E8A-4147-A177-3AD203B41FA5}">
                      <a16:colId xmlns:a16="http://schemas.microsoft.com/office/drawing/2014/main" val="20001"/>
                    </a:ext>
                  </a:extLst>
                </a:gridCol>
                <a:gridCol w="6655003">
                  <a:extLst>
                    <a:ext uri="{9D8B030D-6E8A-4147-A177-3AD203B41FA5}">
                      <a16:colId xmlns:a16="http://schemas.microsoft.com/office/drawing/2014/main" val="20002"/>
                    </a:ext>
                  </a:extLst>
                </a:gridCol>
              </a:tblGrid>
              <a:tr h="54864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CRUD</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SQL</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HTTP</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486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Create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INSERT</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POST</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Read</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SELECT</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GET</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Update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UPDATE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PUT (reemplazo completo); PATCH (parcial)</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Delete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DELETE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DELETE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760720"/>
            <a:ext cx="11091672" cy="822960"/>
          </a:xfrm>
          <a:prstGeom prst="rect">
            <a:avLst/>
          </a:prstGeom>
          <a:noFill/>
          <a:ln/>
        </p:spPr>
        <p:txBody>
          <a:bodyPr wrap="square" rtlCol="0" anchor="t"/>
          <a:lstStyle/>
          <a:p>
            <a:pPr marL="0" indent="0">
              <a:buNone/>
            </a:pPr>
            <a:r>
              <a:rPr lang="en-US" sz="1700" dirty="0">
                <a:solidFill>
                  <a:srgbClr val="757575"/>
                </a:solidFill>
                <a:latin typeface="Arial" pitchFamily="34" charset="0"/>
                <a:ea typeface="Arial" pitchFamily="34" charset="-122"/>
                <a:cs typeface="Arial" pitchFamily="34" charset="-120"/>
              </a:rPr>
              <a:t>REST está pensado precisamente para modelar estas operaciones sobre recursos con los verbos que HTTP ya trae, en vez de inventar una ruta distinta para cada acción (/libros/crear sería el estilo antiguo, no REST).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primera pieza: el repository</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286000"/>
            <a:ext cx="11091672" cy="178308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El repository es quien de verdad habla con la base de datos. Con JDBC "a pelo" escribir un repository significa escribir tú mismo cada consulta SQL. Con Spring Data JPA ese trabajo desaparece casi por completo: declaras una interfaz vacía, y Spring te da una implementación real ya funcionando.</a:t>
            </a:r>
            <a:endParaRPr lang="en-US" sz="2100" dirty="0"/>
          </a:p>
        </p:txBody>
      </p:sp>
      <p:sp>
        <p:nvSpPr>
          <p:cNvPr id="6" name="Shape 4"/>
          <p:cNvSpPr/>
          <p:nvPr/>
        </p:nvSpPr>
        <p:spPr>
          <a:xfrm>
            <a:off x="548640" y="4480560"/>
            <a:ext cx="11091672" cy="8229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4480560"/>
            <a:ext cx="73152" cy="8229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4590288"/>
            <a:ext cx="10588752" cy="60350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public interface LibroRepository extends JpaRepository&lt;Libro, Long&gt; {}</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significa extends JpaRepository&lt;Libro, Long&gt;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920240"/>
            <a:ext cx="11091672" cy="10058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JpaRepository&lt;T, ID&gt; es una interfaz que trae Spring Data JPA, con dos parámetros de tipo entre &lt; &gt; — como los de List&lt;String&gt; o Optional&lt;Libro&gt;, que ya conoces:</a:t>
            </a:r>
            <a:endParaRPr lang="en-US" sz="2000" dirty="0"/>
          </a:p>
        </p:txBody>
      </p:sp>
      <p:sp>
        <p:nvSpPr>
          <p:cNvPr id="6" name="Shape 4"/>
          <p:cNvSpPr/>
          <p:nvPr/>
        </p:nvSpPr>
        <p:spPr>
          <a:xfrm>
            <a:off x="548640" y="3246120"/>
            <a:ext cx="11091672" cy="9144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246120"/>
            <a:ext cx="73152" cy="9144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355848"/>
            <a:ext cx="10588752" cy="69494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JpaRepository&lt;Libro, Long&gt;</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T       ID</a:t>
            </a:r>
            <a:endParaRPr lang="en-US" sz="1800" dirty="0"/>
          </a:p>
        </p:txBody>
      </p:sp>
      <p:sp>
        <p:nvSpPr>
          <p:cNvPr id="9" name="Text 7"/>
          <p:cNvSpPr/>
          <p:nvPr/>
        </p:nvSpPr>
        <p:spPr>
          <a:xfrm>
            <a:off x="548640" y="4480560"/>
            <a:ext cx="11091672" cy="1188720"/>
          </a:xfrm>
          <a:prstGeom prst="rect">
            <a:avLst/>
          </a:prstGeom>
          <a:noFill/>
          <a:ln/>
        </p:spPr>
        <p:txBody>
          <a:bodyPr wrap="square" rtlCol="0" anchor="t"/>
          <a:lstStyle/>
          <a:p>
            <a:pPr marL="190500" indent="-190500">
              <a:spcAft>
                <a:spcPts val="1400"/>
              </a:spcAft>
              <a:buSzPct val="100000"/>
              <a:buChar char="•"/>
            </a:pPr>
            <a:r>
              <a:rPr lang="en-US" sz="1800" dirty="0">
                <a:solidFill>
                  <a:srgbClr val="212121"/>
                </a:solidFill>
                <a:latin typeface="Arial" pitchFamily="34" charset="0"/>
                <a:ea typeface="Arial" pitchFamily="34" charset="-122"/>
                <a:cs typeface="Arial" pitchFamily="34" charset="-120"/>
              </a:rPr>
              <a:t>T: la entidad que gestiona este repository — aquí, Libro.</a:t>
            </a:r>
            <a:endParaRPr lang="en-US" sz="1800" dirty="0"/>
          </a:p>
          <a:p>
            <a:pPr marL="190500" indent="-190500">
              <a:spcAft>
                <a:spcPts val="1400"/>
              </a:spcAft>
              <a:buSzPct val="100000"/>
              <a:buChar char="•"/>
            </a:pPr>
            <a:r>
              <a:rPr lang="en-US" sz="1800" dirty="0">
                <a:solidFill>
                  <a:srgbClr val="212121"/>
                </a:solidFill>
                <a:latin typeface="Arial" pitchFamily="34" charset="0"/>
                <a:ea typeface="Arial" pitchFamily="34" charset="-122"/>
                <a:cs typeface="Arial" pitchFamily="34" charset="-120"/>
              </a:rPr>
              <a:t>ID: el tipo de la clave primaria de esa entidad — el mismo tipo del campo @Id (en este curso, siempre Long).</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significa extends JpaRepository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011680"/>
            <a:ext cx="11091672" cy="160020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JpaRepository no está vacía: por dentro ya trae declarados decenas de métodos — findAll(), findById(id), save(entidad), deleteById(id)... LibroRepository hereda todos esos métodos automáticamente, ya especializados para Libro, aunque no escribas ni una línea dentro de las llaves.</a:t>
            </a:r>
            <a:endParaRPr lang="en-US" sz="2100" dirty="0"/>
          </a:p>
        </p:txBody>
      </p:sp>
      <p:sp>
        <p:nvSpPr>
          <p:cNvPr id="6" name="Shape 4"/>
          <p:cNvSpPr/>
          <p:nvPr/>
        </p:nvSpPr>
        <p:spPr>
          <a:xfrm>
            <a:off x="548640" y="4023360"/>
            <a:ext cx="11091672" cy="155448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114800"/>
            <a:ext cx="10543032" cy="137160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¿Cómo puede funcionar una interfaz sin implementación? Spring Data JPA, al arrancar la aplicación, genera una clase real que implementa LibroRepository por completo y la registra como un bean, igual que los beans @Service/@Repository que ya conoces. Tú nunca ves esa clase generada — solo inyectas la interfaz.</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Lo que ya tienes disponible, sin escribir nada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4800600"/>
        </p:xfrm>
        <a:graphic>
          <a:graphicData uri="http://schemas.openxmlformats.org/drawingml/2006/table">
            <a:tbl>
              <a:tblPr/>
              <a:tblGrid>
                <a:gridCol w="4658502">
                  <a:extLst>
                    <a:ext uri="{9D8B030D-6E8A-4147-A177-3AD203B41FA5}">
                      <a16:colId xmlns:a16="http://schemas.microsoft.com/office/drawing/2014/main" val="20000"/>
                    </a:ext>
                  </a:extLst>
                </a:gridCol>
                <a:gridCol w="6433170">
                  <a:extLst>
                    <a:ext uri="{9D8B030D-6E8A-4147-A177-3AD203B41FA5}">
                      <a16:colId xmlns:a16="http://schemas.microsoft.com/office/drawing/2014/main" val="20001"/>
                    </a:ext>
                  </a:extLst>
                </a:gridCol>
              </a:tblGrid>
              <a:tr h="68580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Método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Qué hace</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List&lt;Libro&gt; findAll()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Devuelve todas las filas de la tabla libro.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Optional&lt;Libro&gt; findById(Long id)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Busca una fila por su clave primaria. Puede no encontrar nada.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Libro save(Libro libro)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Inserta si el id es null, o actualiza si ya existe — sirve para crear y modificar.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boolean existsById(Long id)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Comprueba si existe una fila, sin cargar la entidad entera.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void deleteById(Long id)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Borra la fila con ese id.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long count()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Cuenta cuántas filas hay en la tabla.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Optional de findById</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874520"/>
            <a:ext cx="11091672" cy="141732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findById no devuelve un Libro, devuelve un Optional&lt;Libro&gt;. Un Optional es un envoltorio que representa "puede que haya un valor, puede que no" — te obliga a decidir explícitamente qué hacer en el caso "no encontrado":</a:t>
            </a:r>
            <a:endParaRPr lang="en-US" sz="2000" dirty="0"/>
          </a:p>
        </p:txBody>
      </p:sp>
      <p:sp>
        <p:nvSpPr>
          <p:cNvPr id="6" name="Shape 4"/>
          <p:cNvSpPr/>
          <p:nvPr/>
        </p:nvSpPr>
        <p:spPr>
          <a:xfrm>
            <a:off x="548640" y="3611880"/>
            <a:ext cx="11091672" cy="12801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611880"/>
            <a:ext cx="73152" cy="12801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721608"/>
            <a:ext cx="10588752" cy="106070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libroRepository.findById(id)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.orElseThrow(() -&gt; new ResponseStatusException(HttpStatus.NOT_FOUND, "Libro no encontrado"));</a:t>
            </a:r>
            <a:endParaRPr lang="en-US" sz="1600" dirty="0"/>
          </a:p>
        </p:txBody>
      </p:sp>
      <p:sp>
        <p:nvSpPr>
          <p:cNvPr id="9" name="Text 7"/>
          <p:cNvSpPr/>
          <p:nvPr/>
        </p:nvSpPr>
        <p:spPr>
          <a:xfrm>
            <a:off x="548640" y="5212080"/>
            <a:ext cx="11091672" cy="685800"/>
          </a:xfrm>
          <a:prstGeom prst="rect">
            <a:avLst/>
          </a:prstGeom>
          <a:noFill/>
          <a:ln/>
        </p:spPr>
        <p:txBody>
          <a:bodyPr wrap="square" rtlCol="0" anchor="t"/>
          <a:lstStyle/>
          <a:p>
            <a:pPr marL="0" indent="0">
              <a:buNone/>
            </a:pPr>
            <a:r>
              <a:rPr lang="en-US" sz="1700" dirty="0">
                <a:solidFill>
                  <a:srgbClr val="757575"/>
                </a:solidFill>
                <a:latin typeface="Arial" pitchFamily="34" charset="0"/>
                <a:ea typeface="Arial" pitchFamily="34" charset="-122"/>
                <a:cs typeface="Arial" pitchFamily="34" charset="-120"/>
              </a:rPr>
              <a:t>orElseThrow(...) dice, en una línea: "si el Optional trae un libro, dámelo; si viene vacío, lanza esta excepción en su lugar".</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Y si necesitas una consulta que no viene de fábrica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188720"/>
            <a:ext cx="11091672" cy="7772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No hace falta escribir SQL a mano ni implementar nada: declaras el método en la interfaz, sin cuerpo, siguiendo un patrón de nombre:</a:t>
            </a:r>
            <a:endParaRPr lang="en-US" sz="1900" dirty="0"/>
          </a:p>
        </p:txBody>
      </p:sp>
      <p:sp>
        <p:nvSpPr>
          <p:cNvPr id="6" name="Shape 4"/>
          <p:cNvSpPr/>
          <p:nvPr/>
        </p:nvSpPr>
        <p:spPr>
          <a:xfrm>
            <a:off x="548640" y="2194560"/>
            <a:ext cx="11091672" cy="118872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194560"/>
            <a:ext cx="73152" cy="118872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304288"/>
            <a:ext cx="10588752" cy="96926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public interface LibroRepository extends JpaRepository&lt;Libro, Long&gt;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List&lt;Libro&gt; findByEditorialId(Long editorialId);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9" name="Text 7"/>
          <p:cNvSpPr/>
          <p:nvPr/>
        </p:nvSpPr>
        <p:spPr>
          <a:xfrm>
            <a:off x="548640" y="3657600"/>
            <a:ext cx="11091672" cy="64008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Spring Data JPA lee el nombre del método, lo descompone (find + By + EditorialId) y genera la consulta él solo. El resultado equivale a:</a:t>
            </a:r>
            <a:endParaRPr lang="en-US" sz="1800" dirty="0"/>
          </a:p>
        </p:txBody>
      </p:sp>
      <p:sp>
        <p:nvSpPr>
          <p:cNvPr id="10" name="Shape 8"/>
          <p:cNvSpPr/>
          <p:nvPr/>
        </p:nvSpPr>
        <p:spPr>
          <a:xfrm>
            <a:off x="548640" y="4480560"/>
            <a:ext cx="11091672" cy="594360"/>
          </a:xfrm>
          <a:prstGeom prst="rect">
            <a:avLst/>
          </a:prstGeom>
          <a:solidFill>
            <a:srgbClr val="ECEFF1"/>
          </a:solidFill>
          <a:ln w="12700">
            <a:solidFill>
              <a:srgbClr val="EEEEEE"/>
            </a:solidFill>
            <a:prstDash val="solid"/>
          </a:ln>
        </p:spPr>
        <p:txBody>
          <a:bodyPr/>
          <a:lstStyle/>
          <a:p>
            <a:endParaRPr lang="es-ES"/>
          </a:p>
        </p:txBody>
      </p:sp>
      <p:sp>
        <p:nvSpPr>
          <p:cNvPr id="11" name="Shape 9"/>
          <p:cNvSpPr/>
          <p:nvPr/>
        </p:nvSpPr>
        <p:spPr>
          <a:xfrm>
            <a:off x="548640" y="4480560"/>
            <a:ext cx="73152" cy="594360"/>
          </a:xfrm>
          <a:prstGeom prst="rect">
            <a:avLst/>
          </a:prstGeom>
          <a:solidFill>
            <a:srgbClr val="E64A19"/>
          </a:solidFill>
          <a:ln w="12700">
            <a:solidFill>
              <a:srgbClr val="E64A19"/>
            </a:solidFill>
            <a:prstDash val="solid"/>
          </a:ln>
        </p:spPr>
        <p:txBody>
          <a:bodyPr/>
          <a:lstStyle/>
          <a:p>
            <a:endParaRPr lang="es-ES"/>
          </a:p>
        </p:txBody>
      </p:sp>
      <p:sp>
        <p:nvSpPr>
          <p:cNvPr id="12" name="Text 10"/>
          <p:cNvSpPr/>
          <p:nvPr/>
        </p:nvSpPr>
        <p:spPr>
          <a:xfrm>
            <a:off x="822960" y="4590288"/>
            <a:ext cx="10588752" cy="3749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SELECT * FROM libro WHERE editorial_id =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patrón de nombres, combinable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3566160"/>
        </p:xfrm>
        <a:graphic>
          <a:graphicData uri="http://schemas.openxmlformats.org/drawingml/2006/table">
            <a:tbl>
              <a:tblPr/>
              <a:tblGrid>
                <a:gridCol w="1996501">
                  <a:extLst>
                    <a:ext uri="{9D8B030D-6E8A-4147-A177-3AD203B41FA5}">
                      <a16:colId xmlns:a16="http://schemas.microsoft.com/office/drawing/2014/main" val="20000"/>
                    </a:ext>
                  </a:extLst>
                </a:gridCol>
                <a:gridCol w="4880336">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594360">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Patrón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Ejemplo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Equivale 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findByX</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findByTitulo(String titulo)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WHERE titulo = ?</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findByXAndY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findByTituloAndPrecioLessThan(...)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WHERE titulo = ? AND precio &lt; ?</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findByXOrderByY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findByEditorialIdOrderByPrecioDesc(...)</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WHERE editorial_id = ? ORDER BY precio DESC</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existsByX</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existsByTitulo(String titulo)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igual que findByX, devuelve boolean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countByX</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countByEditorialId(Long id)</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igual, pero devuelve long</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120640"/>
            <a:ext cx="11091672" cy="1005840"/>
          </a:xfrm>
          <a:prstGeom prst="roundRect">
            <a:avLst/>
          </a:prstGeom>
          <a:solidFill>
            <a:srgbClr val="FBE9E7"/>
          </a:solidFill>
          <a:ln w="19050">
            <a:solidFill>
              <a:srgbClr val="E64A19"/>
            </a:solidFill>
            <a:prstDash val="solid"/>
          </a:ln>
        </p:spPr>
        <p:txBody>
          <a:bodyPr/>
          <a:lstStyle/>
          <a:p>
            <a:endParaRPr lang="es-ES"/>
          </a:p>
        </p:txBody>
      </p:sp>
      <p:sp>
        <p:nvSpPr>
          <p:cNvPr id="7" name="Text 4"/>
          <p:cNvSpPr/>
          <p:nvPr/>
        </p:nvSpPr>
        <p:spPr>
          <a:xfrm>
            <a:off x="822960" y="5212080"/>
            <a:ext cx="10543032" cy="82296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Cuidado con los límites de esta convención: es cómoda para consultas simples y fijas. Para filtros que cambian según el caso están las Specifications y @Query con JPQL, que verás más adelante en este tema.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repository que vas a usar en este apartado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03120"/>
            <a:ext cx="11091672" cy="86868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El CRUD de este apartado no necesita ninguna consulta personalizada todavía — findAll/findById/save/deleteById bastan:</a:t>
            </a:r>
            <a:endParaRPr lang="en-US" sz="2100" dirty="0"/>
          </a:p>
        </p:txBody>
      </p:sp>
      <p:sp>
        <p:nvSpPr>
          <p:cNvPr id="6" name="Shape 4"/>
          <p:cNvSpPr/>
          <p:nvPr/>
        </p:nvSpPr>
        <p:spPr>
          <a:xfrm>
            <a:off x="548640" y="3337560"/>
            <a:ext cx="11091672" cy="118872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337560"/>
            <a:ext cx="73152" cy="118872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447288"/>
            <a:ext cx="10588752" cy="96926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public interface LibroRepository extends JpaRepository&lt;Libro, Long&gt;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public interface EditorialRepository extends JpaRepository&lt;Editorial, Long&gt; {}</a:t>
            </a:r>
            <a:endParaRPr lang="en-US" sz="1700" dirty="0"/>
          </a:p>
        </p:txBody>
      </p:sp>
      <p:sp>
        <p:nvSpPr>
          <p:cNvPr id="9" name="Text 7"/>
          <p:cNvSpPr/>
          <p:nvPr/>
        </p:nvSpPr>
        <p:spPr>
          <a:xfrm>
            <a:off x="548640" y="4892040"/>
            <a:ext cx="11091672" cy="822960"/>
          </a:xfrm>
          <a:prstGeom prst="rect">
            <a:avLst/>
          </a:prstGeom>
          <a:noFill/>
          <a:ln/>
        </p:spPr>
        <p:txBody>
          <a:bodyPr wrap="square" rtlCol="0" anchor="t"/>
          <a:lstStyle/>
          <a:p>
            <a:pPr marL="0" indent="0">
              <a:buNone/>
            </a:pPr>
            <a:r>
              <a:rPr lang="en-US" sz="1900" dirty="0">
                <a:solidFill>
                  <a:srgbClr val="757575"/>
                </a:solidFill>
                <a:latin typeface="Arial" pitchFamily="34" charset="0"/>
                <a:ea typeface="Arial" pitchFamily="34" charset="-122"/>
                <a:cs typeface="Arial" pitchFamily="34" charset="-120"/>
              </a:rPr>
              <a:t>Con las dos interfaces declaradas, tienes las tres capas listas: Controller recibe la petición HTTP, Service decide qué hacer, Repository habla con la base de datos.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Primer intento: leer y devolver la entidad tal cual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097280"/>
            <a:ext cx="11091672" cy="7772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La forma más directa: el controller le pide al service el libro, el service se lo pide al repository, y todo el mundo se pasa el mismo objeto Libro.</a:t>
            </a:r>
            <a:endParaRPr lang="en-US" sz="1900" dirty="0"/>
          </a:p>
        </p:txBody>
      </p:sp>
      <p:sp>
        <p:nvSpPr>
          <p:cNvPr id="6" name="Shape 4"/>
          <p:cNvSpPr/>
          <p:nvPr/>
        </p:nvSpPr>
        <p:spPr>
          <a:xfrm>
            <a:off x="548640" y="2103120"/>
            <a:ext cx="11091672" cy="32918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103120"/>
            <a:ext cx="73152" cy="329184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212848"/>
            <a:ext cx="10588752" cy="3072384"/>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@Service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@RequiredArgsConstructor</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public class LibroService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private final LibroRepository libroRepository;</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@Transactional(readOnly = true)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public Libro findById(Long id)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return libroRepository.findById(id)</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.orElseThrow(() -&gt; new ResponseStatusException(HttpStatus.NOT_FOUND, "Libro no encontrado"));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Primer intento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286000"/>
            <a:ext cx="11091672" cy="33375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286000"/>
            <a:ext cx="73152" cy="333756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395728"/>
            <a:ext cx="10588752" cy="311810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@RestController</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@RequestMapping("/api/v1/libros")</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@RequiredArgsConstructor</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public class LibroController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private final LibroService libroService;</a:t>
            </a:r>
            <a:endParaRPr lang="en-US" sz="1800" dirty="0"/>
          </a:p>
          <a:p>
            <a:pPr marL="0" indent="0">
              <a:buNone/>
            </a:pP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@GetMapping("/{id}")</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public ResponseEntity&lt;Libro&gt; getById(@PathVariable Long id)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return ResponseEntity.ok(libroService.findById(id));</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Primer intento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94560"/>
            <a:ext cx="11091672" cy="146304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@Transactional(readOnly = true) indica que este método trabaja con la base de datos únicamente para consultar, sin intención de modificarla. Más adelante verás qué significa exactamente una transacción y qué aporta readOnly.</a:t>
            </a:r>
            <a:endParaRPr lang="en-US" sz="2100" dirty="0"/>
          </a:p>
        </p:txBody>
      </p:sp>
      <p:sp>
        <p:nvSpPr>
          <p:cNvPr id="6" name="Shape 4"/>
          <p:cNvSpPr/>
          <p:nvPr/>
        </p:nvSpPr>
        <p:spPr>
          <a:xfrm>
            <a:off x="548640" y="406908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160520"/>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El controller no toca el repository directamente, solo habla con el service; el service es quien de verdad llama a libroRepository.findById(...). Ese orden (Controller → Service → Repository) no cambia en todo lo que viene a continuación.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Primer intento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48840"/>
            <a:ext cx="11091672" cy="45720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Compila, funciona, y GET /api/v1/libros/3 te devuelve algo así:</a:t>
            </a:r>
            <a:endParaRPr lang="en-US" sz="2100" dirty="0"/>
          </a:p>
        </p:txBody>
      </p:sp>
      <p:sp>
        <p:nvSpPr>
          <p:cNvPr id="6" name="Shape 4"/>
          <p:cNvSpPr/>
          <p:nvPr/>
        </p:nvSpPr>
        <p:spPr>
          <a:xfrm>
            <a:off x="548640" y="2926080"/>
            <a:ext cx="11091672" cy="25146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926080"/>
            <a:ext cx="73152" cy="25146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035808"/>
            <a:ext cx="10588752" cy="22951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"id": 3,</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"titulo": "El nombre del viento",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"precio": 19.95,</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"coste": 8.40,</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"fechaPublicacion": "2007-03-27",</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"editorial": { "id": 1, "nombre": "Plaza &amp; Janés", "hibernateLazyInitializer": {}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problema: la entidad expone más de lo que quieres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66160"/>
        </p:xfrm>
        <a:graphic>
          <a:graphicData uri="http://schemas.openxmlformats.org/drawingml/2006/table">
            <a:tbl>
              <a:tblPr/>
              <a:tblGrid>
                <a:gridCol w="3327502">
                  <a:extLst>
                    <a:ext uri="{9D8B030D-6E8A-4147-A177-3AD203B41FA5}">
                      <a16:colId xmlns:a16="http://schemas.microsoft.com/office/drawing/2014/main" val="20000"/>
                    </a:ext>
                  </a:extLst>
                </a:gridCol>
                <a:gridCol w="7764170">
                  <a:extLst>
                    <a:ext uri="{9D8B030D-6E8A-4147-A177-3AD203B41FA5}">
                      <a16:colId xmlns:a16="http://schemas.microsoft.com/office/drawing/2014/main" val="20001"/>
                    </a:ext>
                  </a:extLst>
                </a:gridCol>
              </a:tblGrid>
              <a:tr h="118872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Campo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Por qué es un problema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1188720">
                <a:tc>
                  <a:txBody>
                    <a:bodyPr/>
                    <a:lstStyle/>
                    <a:p>
                      <a:pPr marL="0" indent="0">
                        <a:buNone/>
                      </a:pPr>
                      <a:r>
                        <a:rPr lang="en-US" sz="1600" b="1" dirty="0">
                          <a:solidFill>
                            <a:srgbClr val="212121"/>
                          </a:solidFill>
                          <a:latin typeface="Arial" pitchFamily="34" charset="0"/>
                          <a:ea typeface="Arial" pitchFamily="34" charset="-122"/>
                          <a:cs typeface="Arial" pitchFamily="34" charset="-120"/>
                        </a:rPr>
                        <a:t>coste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El precio de compra al proveedor — un dato interno que jamás debería llegar a un cliente de la API. Cualquier campo private de la entidad viaja tal cual al JSON, lo quieras exponer o no.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marL="0" indent="0">
                        <a:buNone/>
                      </a:pPr>
                      <a:r>
                        <a:rPr lang="en-US" sz="1600" b="1" dirty="0">
                          <a:solidFill>
                            <a:srgbClr val="212121"/>
                          </a:solidFill>
                          <a:latin typeface="Arial" pitchFamily="34" charset="0"/>
                          <a:ea typeface="Arial" pitchFamily="34" charset="-122"/>
                          <a:cs typeface="Arial" pitchFamily="34" charset="-120"/>
                        </a:rPr>
                        <a:t>hibernateLazyInitializer</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Un detalle interno de cómo Hibernate representa la relación @ManyToOne con carga lazy, filtrado sin querer al convertir el objeto a JSON.</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
        <p:nvSpPr>
          <p:cNvPr id="6" name="Shape 3"/>
          <p:cNvSpPr/>
          <p:nvPr/>
        </p:nvSpPr>
        <p:spPr>
          <a:xfrm>
            <a:off x="548640" y="5212080"/>
            <a:ext cx="11091672" cy="960120"/>
          </a:xfrm>
          <a:prstGeom prst="roundRect">
            <a:avLst/>
          </a:prstGeom>
          <a:solidFill>
            <a:srgbClr val="FBE9E7"/>
          </a:solidFill>
          <a:ln w="19050">
            <a:solidFill>
              <a:srgbClr val="E64A19"/>
            </a:solidFill>
            <a:prstDash val="solid"/>
          </a:ln>
        </p:spPr>
        <p:txBody>
          <a:bodyPr/>
          <a:lstStyle/>
          <a:p>
            <a:endParaRPr lang="es-ES"/>
          </a:p>
        </p:txBody>
      </p:sp>
      <p:sp>
        <p:nvSpPr>
          <p:cNvPr id="7" name="Text 4"/>
          <p:cNvSpPr/>
          <p:nvPr/>
        </p:nvSpPr>
        <p:spPr>
          <a:xfrm>
            <a:off x="822960" y="5303520"/>
            <a:ext cx="10543032" cy="77724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La entidad Libro está diseñada para que Hibernate la entienda, no para que la vea un cliente HTTP. Son dos propósitos distintos, y una sola clase no puede servir bien a los dos a la vez.</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solución: DTOs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211580"/>
            <a:ext cx="11091672" cy="141732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Un DTO (Data Transfer Object) es un objeto hecho a medida de lo que sale (o entra) de tu aplicación. </a:t>
            </a:r>
          </a:p>
        </p:txBody>
      </p:sp>
      <p:pic>
        <p:nvPicPr>
          <p:cNvPr id="11" name="Imagen 10">
            <a:extLst>
              <a:ext uri="{FF2B5EF4-FFF2-40B4-BE49-F238E27FC236}">
                <a16:creationId xmlns:a16="http://schemas.microsoft.com/office/drawing/2014/main" id="{DA21D6E5-1E8D-6E10-1DE0-BF37B2E033A3}"/>
              </a:ext>
            </a:extLst>
          </p:cNvPr>
          <p:cNvPicPr>
            <a:picLocks noChangeAspect="1"/>
          </p:cNvPicPr>
          <p:nvPr/>
        </p:nvPicPr>
        <p:blipFill>
          <a:blip r:embed="rId3"/>
          <a:stretch>
            <a:fillRect/>
          </a:stretch>
        </p:blipFill>
        <p:spPr>
          <a:xfrm>
            <a:off x="2230793" y="1728755"/>
            <a:ext cx="7501036" cy="500069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322EA-0AC4-6C32-90D4-477820C6A1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B80B47-DF87-53D5-755E-7EC21AAA541C}"/>
              </a:ext>
            </a:extLst>
          </p:cNvPr>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a:extLst>
              <a:ext uri="{FF2B5EF4-FFF2-40B4-BE49-F238E27FC236}">
                <a16:creationId xmlns:a16="http://schemas.microsoft.com/office/drawing/2014/main" id="{B56AEAC8-43A6-6BFF-3E2C-FF78A9462BD6}"/>
              </a:ext>
            </a:extLst>
          </p:cNvPr>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solución: DTOs</a:t>
            </a:r>
            <a:endParaRPr lang="en-US" sz="2600" dirty="0"/>
          </a:p>
        </p:txBody>
      </p:sp>
      <p:sp>
        <p:nvSpPr>
          <p:cNvPr id="4" name="Text 2">
            <a:extLst>
              <a:ext uri="{FF2B5EF4-FFF2-40B4-BE49-F238E27FC236}">
                <a16:creationId xmlns:a16="http://schemas.microsoft.com/office/drawing/2014/main" id="{AF7FF9C5-8ADF-663F-2993-29715D8549DA}"/>
              </a:ext>
            </a:extLst>
          </p:cNvPr>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a:extLst>
              <a:ext uri="{FF2B5EF4-FFF2-40B4-BE49-F238E27FC236}">
                <a16:creationId xmlns:a16="http://schemas.microsoft.com/office/drawing/2014/main" id="{A8D9ED13-D440-FB96-F165-F4DF11EAD278}"/>
              </a:ext>
            </a:extLst>
          </p:cNvPr>
          <p:cNvSpPr/>
          <p:nvPr/>
        </p:nvSpPr>
        <p:spPr>
          <a:xfrm>
            <a:off x="548640" y="1399032"/>
            <a:ext cx="11091672" cy="1417320"/>
          </a:xfrm>
          <a:prstGeom prst="rect">
            <a:avLst/>
          </a:prstGeom>
          <a:noFill/>
          <a:ln/>
        </p:spPr>
        <p:txBody>
          <a:bodyPr wrap="square" rtlCol="0" anchor="t"/>
          <a:lstStyle/>
          <a:p>
            <a:pPr marL="0" indent="0">
              <a:buNone/>
            </a:pPr>
            <a:endParaRPr lang="en-US" sz="2000" dirty="0">
              <a:solidFill>
                <a:srgbClr val="212121"/>
              </a:solidFill>
              <a:latin typeface="Arial" pitchFamily="34" charset="0"/>
              <a:ea typeface="Arial" pitchFamily="34" charset="-122"/>
              <a:cs typeface="Arial" pitchFamily="34" charset="-120"/>
            </a:endParaRPr>
          </a:p>
          <a:p>
            <a:pPr marL="0" indent="0">
              <a:buNone/>
            </a:pPr>
            <a:r>
              <a:rPr lang="en-US" sz="2000" dirty="0">
                <a:solidFill>
                  <a:srgbClr val="212121"/>
                </a:solidFill>
                <a:latin typeface="Arial" pitchFamily="34" charset="0"/>
                <a:ea typeface="Arial" pitchFamily="34" charset="-122"/>
                <a:cs typeface="Arial" pitchFamily="34" charset="-120"/>
              </a:rPr>
              <a:t>Antes de escribirlo, una construcción que encaja perfectamente: el record (desde Java 16), que declara en una línea una clase inmutable:</a:t>
            </a:r>
            <a:endParaRPr lang="en-US" sz="2000" dirty="0"/>
          </a:p>
        </p:txBody>
      </p:sp>
      <p:sp>
        <p:nvSpPr>
          <p:cNvPr id="6" name="Shape 4">
            <a:extLst>
              <a:ext uri="{FF2B5EF4-FFF2-40B4-BE49-F238E27FC236}">
                <a16:creationId xmlns:a16="http://schemas.microsoft.com/office/drawing/2014/main" id="{ED69E927-3B03-5422-48A0-1BC985EB0BA9}"/>
              </a:ext>
            </a:extLst>
          </p:cNvPr>
          <p:cNvSpPr/>
          <p:nvPr/>
        </p:nvSpPr>
        <p:spPr>
          <a:xfrm>
            <a:off x="548640" y="2827174"/>
            <a:ext cx="11091672" cy="640080"/>
          </a:xfrm>
          <a:prstGeom prst="rect">
            <a:avLst/>
          </a:prstGeom>
          <a:solidFill>
            <a:srgbClr val="ECEFF1"/>
          </a:solidFill>
          <a:ln w="12700">
            <a:solidFill>
              <a:srgbClr val="EEEEEE"/>
            </a:solidFill>
            <a:prstDash val="solid"/>
          </a:ln>
        </p:spPr>
        <p:txBody>
          <a:bodyPr/>
          <a:lstStyle/>
          <a:p>
            <a:endParaRPr lang="es-ES"/>
          </a:p>
        </p:txBody>
      </p:sp>
      <p:sp>
        <p:nvSpPr>
          <p:cNvPr id="7" name="Shape 5">
            <a:extLst>
              <a:ext uri="{FF2B5EF4-FFF2-40B4-BE49-F238E27FC236}">
                <a16:creationId xmlns:a16="http://schemas.microsoft.com/office/drawing/2014/main" id="{F4D62E72-28D9-F5D0-BFF3-1DE75FCA1F81}"/>
              </a:ext>
            </a:extLst>
          </p:cNvPr>
          <p:cNvSpPr/>
          <p:nvPr/>
        </p:nvSpPr>
        <p:spPr>
          <a:xfrm>
            <a:off x="548640" y="2827174"/>
            <a:ext cx="73152" cy="640080"/>
          </a:xfrm>
          <a:prstGeom prst="rect">
            <a:avLst/>
          </a:prstGeom>
          <a:solidFill>
            <a:srgbClr val="E64A19"/>
          </a:solidFill>
          <a:ln w="12700">
            <a:solidFill>
              <a:srgbClr val="E64A19"/>
            </a:solidFill>
            <a:prstDash val="solid"/>
          </a:ln>
        </p:spPr>
        <p:txBody>
          <a:bodyPr/>
          <a:lstStyle/>
          <a:p>
            <a:endParaRPr lang="es-ES"/>
          </a:p>
        </p:txBody>
      </p:sp>
      <p:sp>
        <p:nvSpPr>
          <p:cNvPr id="8" name="Text 6">
            <a:extLst>
              <a:ext uri="{FF2B5EF4-FFF2-40B4-BE49-F238E27FC236}">
                <a16:creationId xmlns:a16="http://schemas.microsoft.com/office/drawing/2014/main" id="{DF52EE8E-DB44-196D-D063-E3790B45F552}"/>
              </a:ext>
            </a:extLst>
          </p:cNvPr>
          <p:cNvSpPr/>
          <p:nvPr/>
        </p:nvSpPr>
        <p:spPr>
          <a:xfrm>
            <a:off x="822960" y="2936902"/>
            <a:ext cx="10588752" cy="42062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record Punto(int x, int y) {}</a:t>
            </a:r>
            <a:endParaRPr lang="en-US" sz="1800" dirty="0"/>
          </a:p>
        </p:txBody>
      </p:sp>
      <p:sp>
        <p:nvSpPr>
          <p:cNvPr id="9" name="Text 7">
            <a:extLst>
              <a:ext uri="{FF2B5EF4-FFF2-40B4-BE49-F238E27FC236}">
                <a16:creationId xmlns:a16="http://schemas.microsoft.com/office/drawing/2014/main" id="{BA87F912-26F3-0DD4-D59B-D4814D3357C6}"/>
              </a:ext>
            </a:extLst>
          </p:cNvPr>
          <p:cNvSpPr/>
          <p:nvPr/>
        </p:nvSpPr>
        <p:spPr>
          <a:xfrm>
            <a:off x="548640" y="3787294"/>
            <a:ext cx="11091672" cy="1234440"/>
          </a:xfrm>
          <a:prstGeom prst="rect">
            <a:avLst/>
          </a:prstGeom>
          <a:noFill/>
          <a:ln/>
        </p:spPr>
        <p:txBody>
          <a:bodyPr wrap="square" rtlCol="0" anchor="t"/>
          <a:lstStyle/>
          <a:p>
            <a:pPr marL="0" indent="0">
              <a:buNone/>
            </a:pPr>
            <a:r>
              <a:rPr lang="en-US" sz="1900" dirty="0">
                <a:solidFill>
                  <a:srgbClr val="757575"/>
                </a:solidFill>
                <a:latin typeface="Arial" pitchFamily="34" charset="0"/>
                <a:ea typeface="Arial" pitchFamily="34" charset="-122"/>
                <a:cs typeface="Arial" pitchFamily="34" charset="-120"/>
              </a:rPr>
              <a:t>El compilador genera automáticamente un constructor, un getter por campo (punto.x(), no punto.getX()) y equals()/hashCode()/toString(). Todos los campos son final — no hay setters. Esa inmutabilidad es justo lo que necesitas para un DTO.</a:t>
            </a:r>
            <a:endParaRPr lang="en-US" sz="1900" dirty="0"/>
          </a:p>
        </p:txBody>
      </p:sp>
    </p:spTree>
    <p:extLst>
      <p:ext uri="{BB962C8B-B14F-4D97-AF65-F5344CB8AC3E}">
        <p14:creationId xmlns:p14="http://schemas.microsoft.com/office/powerpoint/2010/main" val="1115683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solución: DTOs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83464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26080"/>
            <a:ext cx="10543032" cy="155448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Un record NO es lo mismo que una @Entity: Libro/Editorial siguen siendo clases normales, con @Getter/@Setter de Lombok, porque necesitan ser mutables (Hibernate las modifica) y tener un identificador gestionado por el framework. Si ves record en una clase, es un DTO; si ves @Entity, es una entidad persistente.</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DTO de salida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1645920"/>
            <a:ext cx="11091672" cy="27432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645920"/>
            <a:ext cx="73152" cy="274320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755648"/>
            <a:ext cx="10588752" cy="25237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public record EditorialDTO(Long id, String nombre) {}</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record LibroResponseDTO(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Long 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String titulo,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BigDecimal precio,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LocalDate fechaPublicacion,</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EditorialDTO editorial</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p:txBody>
      </p:sp>
      <p:sp>
        <p:nvSpPr>
          <p:cNvPr id="8" name="Text 6"/>
          <p:cNvSpPr/>
          <p:nvPr/>
        </p:nvSpPr>
        <p:spPr>
          <a:xfrm>
            <a:off x="548640" y="4709160"/>
            <a:ext cx="11091672" cy="45720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Ni rastro de coste, ni de los detalles internos de Hibernate — solo lo que quieres que vea un cliente.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findById traduce con mapToDTO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047136"/>
            <a:ext cx="11091672" cy="3373949"/>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047136"/>
            <a:ext cx="73152" cy="3373949"/>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156864"/>
            <a:ext cx="10588752" cy="389534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@Transactional(readOnly = true)</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public LibroResponseDTO findById(Long id)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 libro = libroRepository.findById(id)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.orElseThrow(() -&gt; new ResponseStatusException(HttpStatus.NOT_FOUND, "Libro no encontrado"));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mapToDTO(libro);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private LibroResponseDTO mapToDTO(Libro libro)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EditorialDTO editorialDTO = new EditorialDTO(libro.getEditorial().getId(), libro.getEditorial().getNombre());</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new LibroResponseDTO(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libro.getId(), libro.getTitulo(), libro.getPrecio(), libro.getFechaPublicacion(), editorialDTO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mapToDTO, campo a campo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097280"/>
            <a:ext cx="11091672" cy="6858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mapToDTO es private — el controller no lo llama nunca, es solo cómo LibroService traduce cada Libro al DTO que ve el cliente:</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968496"/>
        </p:xfrm>
        <a:graphic>
          <a:graphicData uri="http://schemas.openxmlformats.org/drawingml/2006/table">
            <a:tbl>
              <a:tblPr/>
              <a:tblGrid>
                <a:gridCol w="3549335">
                  <a:extLst>
                    <a:ext uri="{9D8B030D-6E8A-4147-A177-3AD203B41FA5}">
                      <a16:colId xmlns:a16="http://schemas.microsoft.com/office/drawing/2014/main" val="20000"/>
                    </a:ext>
                  </a:extLst>
                </a:gridCol>
                <a:gridCol w="7542337">
                  <a:extLst>
                    <a:ext uri="{9D8B030D-6E8A-4147-A177-3AD203B41FA5}">
                      <a16:colId xmlns:a16="http://schemas.microsoft.com/office/drawing/2014/main" val="20001"/>
                    </a:ext>
                  </a:extLst>
                </a:gridCol>
              </a:tblGrid>
              <a:tr h="566928">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Campo de LibroResponseDTO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De dónde sale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id</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libro.getId()</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titulo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libro.getTitulo()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precio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libro.getPrecio()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fechaPublicacion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libro.getFechaPublicacion()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editorial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 EditorialDTO nuevo, construido a partir de libro.getEditorial()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(no aparece)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coste no tiene fila en esta tabla: no se copia, por eso desaparece del JSON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controller cambia una sola palabra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94560"/>
            <a:ext cx="11091672" cy="12344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A partir de aquí, cualquier método de LibroService que necesite devolver un libro (findAll, create, update) va a llamar a este mismo mapToDTO en vez de repetir la traducción cada vez. El controller solo cambia el tipo que envuelve ResponseEntity:</a:t>
            </a:r>
            <a:endParaRPr lang="en-US" sz="2000" dirty="0"/>
          </a:p>
        </p:txBody>
      </p:sp>
      <p:sp>
        <p:nvSpPr>
          <p:cNvPr id="6" name="Shape 4"/>
          <p:cNvSpPr/>
          <p:nvPr/>
        </p:nvSpPr>
        <p:spPr>
          <a:xfrm>
            <a:off x="548640" y="3794760"/>
            <a:ext cx="11091672" cy="16002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794760"/>
            <a:ext cx="73152" cy="16002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904488"/>
            <a:ext cx="10588752" cy="13807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@GetMapping("/{id}")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ResponseEntity&lt;LibroResponseDTO&gt; getById(@PathVariable Long id)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return ResponseEntity.ok(libroService.findById(id));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Ahora la escritura: create()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097280"/>
            <a:ext cx="11091672" cy="77724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Para crear un libro necesitas un DTO de entrada — no vale reutilizar LibroResponseDTO: al crear no tiene sentido pedir un id. Un primer intento, sin pensarlo mucho:</a:t>
            </a:r>
            <a:endParaRPr lang="en-US" sz="1800" dirty="0"/>
          </a:p>
        </p:txBody>
      </p:sp>
      <p:sp>
        <p:nvSpPr>
          <p:cNvPr id="6" name="Shape 4"/>
          <p:cNvSpPr/>
          <p:nvPr/>
        </p:nvSpPr>
        <p:spPr>
          <a:xfrm>
            <a:off x="548640" y="2057400"/>
            <a:ext cx="11091672" cy="8229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057400"/>
            <a:ext cx="73152" cy="8229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167128"/>
            <a:ext cx="10588752" cy="60350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public record LibroCreateDTO(String titulo, BigDecimal precio, LocalDate fechaPublicacion, Long editorialId) {}</a:t>
            </a:r>
            <a:endParaRPr lang="en-US" sz="1300" dirty="0"/>
          </a:p>
        </p:txBody>
      </p:sp>
      <p:sp>
        <p:nvSpPr>
          <p:cNvPr id="9" name="Shape 7"/>
          <p:cNvSpPr/>
          <p:nvPr/>
        </p:nvSpPr>
        <p:spPr>
          <a:xfrm>
            <a:off x="548640" y="3108960"/>
            <a:ext cx="11091672" cy="2286000"/>
          </a:xfrm>
          <a:prstGeom prst="rect">
            <a:avLst/>
          </a:prstGeom>
          <a:solidFill>
            <a:srgbClr val="ECEFF1"/>
          </a:solidFill>
          <a:ln w="12700">
            <a:solidFill>
              <a:srgbClr val="EEEEEE"/>
            </a:solidFill>
            <a:prstDash val="solid"/>
          </a:ln>
        </p:spPr>
        <p:txBody>
          <a:bodyPr/>
          <a:lstStyle/>
          <a:p>
            <a:endParaRPr lang="es-ES"/>
          </a:p>
        </p:txBody>
      </p:sp>
      <p:sp>
        <p:nvSpPr>
          <p:cNvPr id="10" name="Shape 8"/>
          <p:cNvSpPr/>
          <p:nvPr/>
        </p:nvSpPr>
        <p:spPr>
          <a:xfrm>
            <a:off x="548640" y="3108960"/>
            <a:ext cx="73152" cy="2286000"/>
          </a:xfrm>
          <a:prstGeom prst="rect">
            <a:avLst/>
          </a:prstGeom>
          <a:solidFill>
            <a:srgbClr val="E64A19"/>
          </a:solidFill>
          <a:ln w="12700">
            <a:solidFill>
              <a:srgbClr val="E64A19"/>
            </a:solidFill>
            <a:prstDash val="solid"/>
          </a:ln>
        </p:spPr>
        <p:txBody>
          <a:bodyPr/>
          <a:lstStyle/>
          <a:p>
            <a:endParaRPr lang="es-ES"/>
          </a:p>
        </p:txBody>
      </p:sp>
      <p:sp>
        <p:nvSpPr>
          <p:cNvPr id="11" name="Text 9"/>
          <p:cNvSpPr/>
          <p:nvPr/>
        </p:nvSpPr>
        <p:spPr>
          <a:xfrm>
            <a:off x="822960" y="3218688"/>
            <a:ext cx="10588752" cy="2066544"/>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@Transactional</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public LibroResponseDTO create(LibroCreateDTO dto)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Editorial editorial = editorialRepository.findById(dto.editorialId())</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.orElseThrow(() -&gt; new ResponseStatusException(HttpStatus.NOT_FOUND, "Editorial no encontrada"));</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Libro libro = new Libro();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libro.setTitulo(dto.titulo());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libro.setPrecio(dto.precio());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libro.setFechaPublicacion(dto.fechaPublicacion());</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libro.setEditorial(editorial);</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return mapToDTO(libroRepository.save(libro));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problema de los datos basura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03120"/>
            <a:ext cx="11091672" cy="164592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Funciona... con datos razonables. Pero nada impide mandar {"titulo": "", "precio": -5, "fechaPublicacion": "2099-01-01", "editorialId": -1}. Tu aplicación lo aceptaría igual, porque create() no comprueba nada de eso. La solución: anotaciones de Bean Validation sobre el propio DTO.</a:t>
            </a:r>
            <a:endParaRPr lang="en-US" sz="2100" dirty="0"/>
          </a:p>
        </p:txBody>
      </p:sp>
      <p:sp>
        <p:nvSpPr>
          <p:cNvPr id="6" name="Shape 4"/>
          <p:cNvSpPr/>
          <p:nvPr/>
        </p:nvSpPr>
        <p:spPr>
          <a:xfrm>
            <a:off x="548640" y="416052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251960"/>
            <a:ext cx="10543032" cy="12801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Falta una dependencia en el pom.xml: spring-boot-starter-webmvc no trae Bean Validation incluido. Añade spring-boot-starter-validation, que trae Hibernate Validator — sin ella, @NotBlank y compañía ni siquiera están en el classpath.</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DTO de entrada, con Bean Validation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011680"/>
            <a:ext cx="11091672" cy="21031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011680"/>
            <a:ext cx="73152" cy="210312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121408"/>
            <a:ext cx="10588752" cy="188366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public record LibroCreateDTO(</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@NotBlank String titulo,</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@NotNull @PositiveOrZero BigDecimal precio,</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@NotNull @PastOrPresent LocalDate fechaPublicacion,</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@NotNull @Positive Long editorialId</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familia de Bean Validation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480560"/>
        </p:xfrm>
        <a:graphic>
          <a:graphicData uri="http://schemas.openxmlformats.org/drawingml/2006/table">
            <a:tbl>
              <a:tblPr/>
              <a:tblGrid>
                <a:gridCol w="2883835">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gridCol w="2662001">
                  <a:extLst>
                    <a:ext uri="{9D8B030D-6E8A-4147-A177-3AD203B41FA5}">
                      <a16:colId xmlns:a16="http://schemas.microsoft.com/office/drawing/2014/main" val="20002"/>
                    </a:ext>
                  </a:extLst>
                </a:gridCol>
              </a:tblGrid>
              <a:tr h="640080">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Anotación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Qué exige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En este DTO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@NotNull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valor no puede ser null.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precio, fechaPublicacion, editorialId</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@NotBlank</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Además de no null, si es String no puede estar vacío ni ser solo espacios.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titulo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@NotEmpty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Igual que @NotBlank, pero para colecciones/arrays.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@Size(min=, max=)</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longitud (String o colección) debe caer en ese rango.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@Positive / @PositiveOrZero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número debe ser mayor que cero / mayor o igual.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editorialId / precio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@Negative / @NegativeOrZero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Lo mismo, en negativo.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familia de Bean Validation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950208"/>
        </p:xfrm>
        <a:graphic>
          <a:graphicData uri="http://schemas.openxmlformats.org/drawingml/2006/table">
            <a:tbl>
              <a:tblPr/>
              <a:tblGrid>
                <a:gridCol w="2883835">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gridCol w="2662001">
                  <a:extLst>
                    <a:ext uri="{9D8B030D-6E8A-4147-A177-3AD203B41FA5}">
                      <a16:colId xmlns:a16="http://schemas.microsoft.com/office/drawing/2014/main" val="20002"/>
                    </a:ext>
                  </a:extLst>
                </a:gridCol>
              </a:tblGrid>
              <a:tr h="658368">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Anotación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Qué exige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En este DTO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@Min(valor) / @Max(valor)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número no puede bajar de / superar ese valor.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@Past / @PastOrPresent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fecha debe ser anterior a ahora / anterior o igual.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fechaPublicacion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@Future / @FutureOrPresent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fecha debe ser posterior a ahora / posterior o igual.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@Email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String debe tener forma de dirección de correo.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@Pattern(regexp = ...)</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String debe coincidir con la expresión regular dada.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5779008"/>
            <a:ext cx="11091672" cy="45720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Todas se pueden combinar sobre el mismo campo, como @NotNull @PositiveOrZero en precio.</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@Valid activa las comprobaciones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055533"/>
            <a:ext cx="11091672" cy="17830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055533"/>
            <a:ext cx="73152" cy="16916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165261"/>
            <a:ext cx="10588752" cy="147218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@PostMapping</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public ResponseEntity&lt;LibroResponseDTO&gt; create(@Valid @RequestBody LibroCreateDTO dto)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return ResponseEntity.status(HttpStatus.CREATED).body(libroService.create(dto));</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a:t>
            </a:r>
            <a:endParaRPr lang="en-US" sz="1700" dirty="0"/>
          </a:p>
        </p:txBody>
      </p:sp>
      <p:sp>
        <p:nvSpPr>
          <p:cNvPr id="8" name="Shape 6"/>
          <p:cNvSpPr/>
          <p:nvPr/>
        </p:nvSpPr>
        <p:spPr>
          <a:xfrm>
            <a:off x="548640" y="4251960"/>
            <a:ext cx="11091672" cy="1371600"/>
          </a:xfrm>
          <a:prstGeom prst="roundRect">
            <a:avLst/>
          </a:prstGeom>
          <a:solidFill>
            <a:srgbClr val="FBE9E7"/>
          </a:solidFill>
          <a:ln w="19050">
            <a:solidFill>
              <a:srgbClr val="E64A19"/>
            </a:solidFill>
            <a:prstDash val="solid"/>
          </a:ln>
        </p:spPr>
        <p:txBody>
          <a:bodyPr/>
          <a:lstStyle/>
          <a:p>
            <a:endParaRPr lang="es-ES"/>
          </a:p>
        </p:txBody>
      </p:sp>
      <p:sp>
        <p:nvSpPr>
          <p:cNvPr id="9" name="Text 7"/>
          <p:cNvSpPr/>
          <p:nvPr/>
        </p:nvSpPr>
        <p:spPr>
          <a:xfrm>
            <a:off x="822960" y="4343400"/>
            <a:ext cx="10543032" cy="118872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@RequestBody convierte el JSON en un LibroCreateDTO; @Valid activa de verdad las comprobaciones. Si algún campo incumple su restricción, Spring rechaza la petición con un 400 Bad Request antes de que tu código llegue a ejecutarse.</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update() y delete(): el recurso que no existe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417320"/>
            <a:ext cx="11091672" cy="5029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update() reutiliza LibroCreateDTO y sigue un patrón parecido, con un matiz: primero tiene que cargar el libro que ya existe.</a:t>
            </a:r>
            <a:endParaRPr lang="en-US" sz="1900" dirty="0"/>
          </a:p>
        </p:txBody>
      </p:sp>
      <p:sp>
        <p:nvSpPr>
          <p:cNvPr id="6" name="Shape 4"/>
          <p:cNvSpPr/>
          <p:nvPr/>
        </p:nvSpPr>
        <p:spPr>
          <a:xfrm>
            <a:off x="548640" y="2194560"/>
            <a:ext cx="11091672" cy="33832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194560"/>
            <a:ext cx="73152" cy="338328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304288"/>
            <a:ext cx="10588752" cy="316382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@Transactional</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public LibroResponseDTO update(Long id, LibroCreateDTO dto)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 libro = libroRepository.findById(id)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.orElseThrow(() -&gt; new ResponseStatusException(HttpStatus.NOT_FOUND, "Libro no encontrado"));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Editorial editorial = editorialRepository.findById(dto.editorialId())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.orElseThrow(() -&gt; new ResponseStatusException(HttpStatus.NOT_FOUND, "Editorial no encontrada"));</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libro.setTitulo(dto.titulo());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libro.setPrecio(dto.precio());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libro.setFechaPublicacion(dto.fechaPublicacion());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libro.setEditorial(editorial);</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mapToDTO(libroRepository.save(libro));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update() y delete()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874520"/>
            <a:ext cx="11091672" cy="12344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Sin la comprobación de orElseThrow podrías terminar utilizando un valor null: el código compilaría, pero fallaría durante la ejecución. delete() no tiene nada que cargar, así que usa la comprobación más ligera:</a:t>
            </a:r>
            <a:endParaRPr lang="en-US" sz="2000" dirty="0"/>
          </a:p>
        </p:txBody>
      </p:sp>
      <p:sp>
        <p:nvSpPr>
          <p:cNvPr id="6" name="Shape 4"/>
          <p:cNvSpPr/>
          <p:nvPr/>
        </p:nvSpPr>
        <p:spPr>
          <a:xfrm>
            <a:off x="548640" y="3474720"/>
            <a:ext cx="11091672" cy="21488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474720"/>
            <a:ext cx="73152" cy="214884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584448"/>
            <a:ext cx="10588752" cy="192938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@Transactional</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void delete(Long id)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if (!libroRepository.existsById(id))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throw new ResponseStatusException(HttpStatus.NOT_FOUND, "Libro no encontrado");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libroRepository.deleteById(id);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update() y delete()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83464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26080"/>
            <a:ext cx="10543032" cy="155448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findAll() no tiene ninguno de estos problemas: una lista puede estar vacía sin que eso sea un error. Como solo consulta datos, también utiliza @Transactional(readOnly = true) y transforma cada entidad en su DTO correspondiente.</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garantiza que las escrituras no queden a medias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94560"/>
            <a:ext cx="11091672" cy="123444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Mira otra vez update(): hace dos lecturas y una escritura. ¿Qué pasaría si el proceso se cayera justo después de guardar el libro, pero antes de que la operación completa terminara de confirmarse?</a:t>
            </a:r>
            <a:endParaRPr lang="en-US" sz="2100" dirty="0"/>
          </a:p>
        </p:txBody>
      </p:sp>
      <p:sp>
        <p:nvSpPr>
          <p:cNvPr id="6" name="Shape 4"/>
          <p:cNvSpPr/>
          <p:nvPr/>
        </p:nvSpPr>
        <p:spPr>
          <a:xfrm>
            <a:off x="548640" y="3840480"/>
            <a:ext cx="11091672" cy="164592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931920"/>
            <a:ext cx="10543032" cy="146304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Es el mismo problema, en miniatura, que una transferencia bancaria: restar 100€ de una cuenta y sumar 100€ a otra son dos operaciones — si el programa falla justo después de restar, el dinero desaparece. Una transacción agrupa operaciones para que se comporten como una sola unidad: todo o nada.</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Commit o rollback: todo o nada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371600"/>
            <a:ext cx="11091672" cy="9144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Si todas las operaciones terminan bien, se confirman de golpe (commit); si cualquiera falla a mitad, se deshace todo lo hecho hasta ese punto (rollback), como si nunca hubiera pasado nada:</a:t>
            </a:r>
            <a:endParaRPr lang="en-US" sz="2000" dirty="0"/>
          </a:p>
        </p:txBody>
      </p:sp>
      <p:pic>
        <p:nvPicPr>
          <p:cNvPr id="6" name="Image 0" descr="C:/Users/Aitor/docxgen/img/crud-transaccion-commit-rollback.png"/>
          <p:cNvPicPr>
            <a:picLocks noChangeAspect="1"/>
          </p:cNvPicPr>
          <p:nvPr/>
        </p:nvPicPr>
        <p:blipFill>
          <a:blip r:embed="rId3"/>
          <a:stretch>
            <a:fillRect/>
          </a:stretch>
        </p:blipFill>
        <p:spPr>
          <a:xfrm>
            <a:off x="423930" y="2805715"/>
            <a:ext cx="11316318" cy="260604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Las propiedades ACID</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886200"/>
        </p:xfrm>
        <a:graphic>
          <a:graphicData uri="http://schemas.openxmlformats.org/drawingml/2006/table">
            <a:tbl>
              <a:tblPr/>
              <a:tblGrid>
                <a:gridCol w="2772918">
                  <a:extLst>
                    <a:ext uri="{9D8B030D-6E8A-4147-A177-3AD203B41FA5}">
                      <a16:colId xmlns:a16="http://schemas.microsoft.com/office/drawing/2014/main" val="20000"/>
                    </a:ext>
                  </a:extLst>
                </a:gridCol>
                <a:gridCol w="8318754">
                  <a:extLst>
                    <a:ext uri="{9D8B030D-6E8A-4147-A177-3AD203B41FA5}">
                      <a16:colId xmlns:a16="http://schemas.microsoft.com/office/drawing/2014/main" val="20001"/>
                    </a:ext>
                  </a:extLst>
                </a:gridCol>
              </a:tblGrid>
              <a:tr h="777240">
                <a:tc>
                  <a:txBody>
                    <a:bodyPr/>
                    <a:lstStyle/>
                    <a:p>
                      <a:pPr marL="0" indent="0" algn="ctr">
                        <a:buNone/>
                      </a:pPr>
                      <a:r>
                        <a:rPr lang="en-US" sz="2000" b="1" dirty="0">
                          <a:solidFill>
                            <a:srgbClr val="FFFFFF"/>
                          </a:solidFill>
                          <a:latin typeface="Arial" pitchFamily="34" charset="0"/>
                          <a:ea typeface="Arial" pitchFamily="34" charset="-122"/>
                          <a:cs typeface="Arial" pitchFamily="34" charset="-120"/>
                        </a:rPr>
                        <a:t>Propiedad</a:t>
                      </a:r>
                      <a:endParaRPr lang="en-US" sz="20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2000" b="1" dirty="0">
                          <a:solidFill>
                            <a:srgbClr val="FFFFFF"/>
                          </a:solidFill>
                          <a:latin typeface="Arial" pitchFamily="34" charset="0"/>
                          <a:ea typeface="Arial" pitchFamily="34" charset="-122"/>
                          <a:cs typeface="Arial" pitchFamily="34" charset="-120"/>
                        </a:rPr>
                        <a:t>Qué garantiza</a:t>
                      </a:r>
                      <a:endParaRPr lang="en-US" sz="20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777240">
                <a:tc>
                  <a:txBody>
                    <a:bodyPr/>
                    <a:lstStyle/>
                    <a:p>
                      <a:pPr marL="0" indent="0">
                        <a:buNone/>
                      </a:pPr>
                      <a:r>
                        <a:rPr lang="en-US" sz="1800" b="1" dirty="0">
                          <a:solidFill>
                            <a:srgbClr val="212121"/>
                          </a:solidFill>
                          <a:latin typeface="Arial" pitchFamily="34" charset="0"/>
                          <a:ea typeface="Arial" pitchFamily="34" charset="-122"/>
                          <a:cs typeface="Arial" pitchFamily="34" charset="-120"/>
                        </a:rPr>
                        <a:t>Atomicidad</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800" dirty="0">
                          <a:solidFill>
                            <a:srgbClr val="212121"/>
                          </a:solidFill>
                          <a:latin typeface="Arial" pitchFamily="34" charset="0"/>
                          <a:ea typeface="Arial" pitchFamily="34" charset="-122"/>
                          <a:cs typeface="Arial" pitchFamily="34" charset="-120"/>
                        </a:rPr>
                        <a:t>Se ejecuta entera, o no se ejecuta nada de ella.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800" b="1" dirty="0">
                          <a:solidFill>
                            <a:srgbClr val="212121"/>
                          </a:solidFill>
                          <a:latin typeface="Arial" pitchFamily="34" charset="0"/>
                          <a:ea typeface="Arial" pitchFamily="34" charset="-122"/>
                          <a:cs typeface="Arial" pitchFamily="34" charset="-120"/>
                        </a:rPr>
                        <a:t>Consistencia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800" dirty="0">
                          <a:solidFill>
                            <a:srgbClr val="212121"/>
                          </a:solidFill>
                          <a:latin typeface="Arial" pitchFamily="34" charset="0"/>
                          <a:ea typeface="Arial" pitchFamily="34" charset="-122"/>
                          <a:cs typeface="Arial" pitchFamily="34" charset="-120"/>
                        </a:rPr>
                        <a:t>La base de datos pasa de un estado válido a otro, nunca a uno a medias.</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800" b="1" dirty="0">
                          <a:solidFill>
                            <a:srgbClr val="212121"/>
                          </a:solidFill>
                          <a:latin typeface="Arial" pitchFamily="34" charset="0"/>
                          <a:ea typeface="Arial" pitchFamily="34" charset="-122"/>
                          <a:cs typeface="Arial" pitchFamily="34" charset="-120"/>
                        </a:rPr>
                        <a:t>Aislamiento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800" dirty="0">
                          <a:solidFill>
                            <a:srgbClr val="212121"/>
                          </a:solidFill>
                          <a:latin typeface="Arial" pitchFamily="34" charset="0"/>
                          <a:ea typeface="Arial" pitchFamily="34" charset="-122"/>
                          <a:cs typeface="Arial" pitchFamily="34" charset="-120"/>
                        </a:rPr>
                        <a:t>Dos transacciones que ocurren al mismo tiempo no se interfieren entre sí.</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800" b="1" dirty="0">
                          <a:solidFill>
                            <a:srgbClr val="212121"/>
                          </a:solidFill>
                          <a:latin typeface="Arial" pitchFamily="34" charset="0"/>
                          <a:ea typeface="Arial" pitchFamily="34" charset="-122"/>
                          <a:cs typeface="Arial" pitchFamily="34" charset="-120"/>
                        </a:rPr>
                        <a:t>Durabilidad</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800" dirty="0">
                          <a:solidFill>
                            <a:srgbClr val="212121"/>
                          </a:solidFill>
                          <a:latin typeface="Arial" pitchFamily="34" charset="0"/>
                          <a:ea typeface="Arial" pitchFamily="34" charset="-122"/>
                          <a:cs typeface="Arial" pitchFamily="34" charset="-120"/>
                        </a:rPr>
                        <a:t>Una vez confirmada (commit), sobrevive aunque el sistema se caiga justo después.</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Todo esto lo gestiona Spring por ti</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2103120"/>
            <a:ext cx="11091672" cy="141732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update() y delete() llevan @Transactional; findById/findAll llevan @Transactional(readOnly = true). Eso es todo lo que hace falta — tú no escribes connection.commit() ni connection.rollback() en ningún sitio. Por debajo, Spring:</a:t>
            </a:r>
            <a:endParaRPr lang="en-US" sz="2000" dirty="0"/>
          </a:p>
        </p:txBody>
      </p:sp>
      <p:sp>
        <p:nvSpPr>
          <p:cNvPr id="6" name="Text 4"/>
          <p:cNvSpPr/>
          <p:nvPr/>
        </p:nvSpPr>
        <p:spPr>
          <a:xfrm>
            <a:off x="548640" y="3886200"/>
            <a:ext cx="11091672" cy="1737360"/>
          </a:xfrm>
          <a:prstGeom prst="rect">
            <a:avLst/>
          </a:prstGeom>
          <a:noFill/>
          <a:ln/>
        </p:spPr>
        <p:txBody>
          <a:bodyPr wrap="square" rtlCol="0" anchor="t"/>
          <a:lstStyle/>
          <a:p>
            <a:pPr marL="342900" indent="-342900">
              <a:spcAft>
                <a:spcPts val="800"/>
              </a:spcAft>
              <a:buSzPct val="100000"/>
              <a:buChar char="•"/>
            </a:pPr>
            <a:r>
              <a:rPr lang="en-US" sz="1900" dirty="0">
                <a:solidFill>
                  <a:srgbClr val="212121"/>
                </a:solidFill>
                <a:latin typeface="Arial" pitchFamily="34" charset="0"/>
                <a:ea typeface="Arial" pitchFamily="34" charset="-122"/>
                <a:cs typeface="Arial" pitchFamily="34" charset="-120"/>
              </a:rPr>
              <a:t>Abre la transacción antes de ejecutar el método.</a:t>
            </a:r>
            <a:endParaRPr lang="en-US" sz="1900" dirty="0"/>
          </a:p>
          <a:p>
            <a:pPr marL="342900" indent="-342900">
              <a:spcAft>
                <a:spcPts val="800"/>
              </a:spcAft>
              <a:buSzPct val="100000"/>
              <a:buChar char="•"/>
            </a:pPr>
            <a:r>
              <a:rPr lang="en-US" sz="1900" dirty="0">
                <a:solidFill>
                  <a:srgbClr val="212121"/>
                </a:solidFill>
                <a:latin typeface="Arial" pitchFamily="34" charset="0"/>
                <a:ea typeface="Arial" pitchFamily="34" charset="-122"/>
                <a:cs typeface="Arial" pitchFamily="34" charset="-120"/>
              </a:rPr>
              <a:t>Hace commit automáticamente si el método termina correctamente.</a:t>
            </a:r>
            <a:endParaRPr lang="en-US" sz="1900" dirty="0"/>
          </a:p>
          <a:p>
            <a:pPr marL="342900" indent="-342900">
              <a:spcAft>
                <a:spcPts val="800"/>
              </a:spcAft>
              <a:buSzPct val="100000"/>
              <a:buChar char="•"/>
            </a:pPr>
            <a:r>
              <a:rPr lang="en-US" sz="1900" dirty="0">
                <a:solidFill>
                  <a:srgbClr val="212121"/>
                </a:solidFill>
                <a:latin typeface="Arial" pitchFamily="34" charset="0"/>
                <a:ea typeface="Arial" pitchFamily="34" charset="-122"/>
                <a:cs typeface="Arial" pitchFamily="34" charset="-120"/>
              </a:rPr>
              <a:t>Hace rollback si el método termina con una excepción no comprobada (RuntimeException) o un error grave.</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ciclo de @Transactional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371600"/>
            <a:ext cx="11091672" cy="8229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Las excepciones que usas en este CRUD, como ResponseStatusException, pertenecen al grupo que dispara el rollback automático:</a:t>
            </a:r>
            <a:endParaRPr lang="en-US" sz="2000" dirty="0"/>
          </a:p>
        </p:txBody>
      </p:sp>
      <p:pic>
        <p:nvPicPr>
          <p:cNvPr id="6" name="Image 0" descr="C:/Users/Aitor/docxgen/img/crud-transactional-flow.png"/>
          <p:cNvPicPr>
            <a:picLocks noChangeAspect="1"/>
          </p:cNvPicPr>
          <p:nvPr/>
        </p:nvPicPr>
        <p:blipFill>
          <a:blip r:embed="rId3"/>
          <a:stretch>
            <a:fillRect/>
          </a:stretch>
        </p:blipFill>
        <p:spPr>
          <a:xfrm>
            <a:off x="365760" y="2651760"/>
            <a:ext cx="11417725" cy="24048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Excepciones comprobadas: el caso especial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188720"/>
            <a:ext cx="11091672" cy="14630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Java también tiene excepciones comprobadas, que obligan a capturarlas o declararlas en la firma del método. Estas no provocan un rollback automático con la configuración habitual de Spring. Cuando necesitas que también deshagan la transacción, puedes indicarlo expresamente:</a:t>
            </a:r>
            <a:endParaRPr lang="en-US" sz="1900" dirty="0"/>
          </a:p>
        </p:txBody>
      </p:sp>
      <p:sp>
        <p:nvSpPr>
          <p:cNvPr id="6" name="Shape 4"/>
          <p:cNvSpPr/>
          <p:nvPr/>
        </p:nvSpPr>
        <p:spPr>
          <a:xfrm>
            <a:off x="548640" y="2926080"/>
            <a:ext cx="11091672" cy="13716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926080"/>
            <a:ext cx="73152" cy="13716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035808"/>
            <a:ext cx="10588752" cy="11521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@Transactional(rollbackFor = IOException.class)</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void importarLibros() throws IOException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9" name="Shape 7"/>
          <p:cNvSpPr/>
          <p:nvPr/>
        </p:nvSpPr>
        <p:spPr>
          <a:xfrm>
            <a:off x="548640" y="4617720"/>
            <a:ext cx="11091672" cy="86868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4709160"/>
            <a:ext cx="10543032" cy="68580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Contraste con lo que viene después: en el siguiente apartado (JDBC puro) gestionarás una transacción a mano, desactivando el autocommit y decidiendo cuándo ejecutar commit() o rollback().</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Transacciones de solo lectura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1097280"/>
            <a:ext cx="11091672" cy="15087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097280"/>
            <a:ext cx="73152" cy="150876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207008"/>
            <a:ext cx="10588752" cy="128930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@Transactional(readOnly = true)</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public LibroResponseDTO findById(Long id)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a:t>
            </a:r>
            <a:endParaRPr lang="en-US" sz="1700" dirty="0"/>
          </a:p>
        </p:txBody>
      </p:sp>
      <p:sp>
        <p:nvSpPr>
          <p:cNvPr id="8" name="Text 6"/>
          <p:cNvSpPr/>
          <p:nvPr/>
        </p:nvSpPr>
        <p:spPr>
          <a:xfrm>
            <a:off x="548640" y="2880360"/>
            <a:ext cx="11091672" cy="96012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Esta opción indica a Spring y a Hibernate que durante el método solo se espera consultar información. Eso permite optimizaciones y deja clara la intención del código. Por eso, en este CRUD sigues esta regla:</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91672" cy="164592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48640">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Operación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Anotación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486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Consultar datos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@Transactional(readOnly = true)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Crear, actualizar o eliminar</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@Transactional</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Las piezas juntas: el LibroController completo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097280"/>
            <a:ext cx="11091672" cy="77724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controller completo es la traducción directa de la tabla CRUD↔HTTP del principio — cada método delega en su equivalente de LibroService:</a:t>
            </a:r>
            <a:endParaRPr lang="en-US" sz="1800" dirty="0"/>
          </a:p>
        </p:txBody>
      </p:sp>
      <p:sp>
        <p:nvSpPr>
          <p:cNvPr id="6" name="Shape 4"/>
          <p:cNvSpPr/>
          <p:nvPr/>
        </p:nvSpPr>
        <p:spPr>
          <a:xfrm>
            <a:off x="548640" y="2057400"/>
            <a:ext cx="11091672" cy="37490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057400"/>
            <a:ext cx="73152" cy="374904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167128"/>
            <a:ext cx="10588752" cy="352958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@RestController</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@RequestMapping("/api/v1/libros")</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@RequiredArgsConstructor</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public class LibroController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final LibroService libroService;</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@GetMapping</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public ResponseEntity&lt;List&lt;LibroResponseDTO&gt;&gt; getAll()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ResponseEntity.ok(libroService.findAll());</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@GetMapping("/{id}")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public ResponseEntity&lt;LibroResponseDTO&gt; getById(@PathVariable Long id)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ResponseEntity.ok(libroService.findById(id));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 ...continúa: create, update, delete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LibroController completo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1554480"/>
            <a:ext cx="11091672" cy="38404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554480"/>
            <a:ext cx="73152" cy="384048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664208"/>
            <a:ext cx="10588752" cy="362102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    @PostMapping</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public ResponseEntity&lt;LibroResponseDTO&gt; create(@Valid @RequestBody LibroCreateDTO dto)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ResponseEntity.status(HttpStatus.CREATED).body(libroService.create(dto));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@PutMapping("/{id}")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public ResponseEntity&lt;LibroResponseDTO&gt; update(@PathVariable Long id, @Valid @RequestBody LibroCreateDTO dto)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ResponseEntity.ok(libroService.update(id, dto));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@DeleteMapping("/{id}")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public ResponseEntity&lt;Void&gt; delete(@PathVariable Long id)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libroService.delete(id);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return ResponseEntity.noContent().build();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LibroController completo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Shape 3"/>
          <p:cNvSpPr/>
          <p:nvPr/>
        </p:nvSpPr>
        <p:spPr>
          <a:xfrm>
            <a:off x="548640" y="2377440"/>
            <a:ext cx="11091672" cy="20116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468880"/>
            <a:ext cx="10543032" cy="182880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Cada método usa exactamente el código de estado que anticipaba la tabla del principio: create responde 201, update responde 200, delete responde 204 sin cuerpo. Y se repite la misma regla de todo el apartado: el controller no habla nunca con el repository, ni construye nunca SQL — solo traduce entre HTTP y una llamada a LibroService.</a:t>
            </a:r>
            <a:endParaRPr lang="en-US" sz="2100" dirty="0"/>
          </a:p>
        </p:txBody>
      </p:sp>
      <p:sp>
        <p:nvSpPr>
          <p:cNvPr id="7" name="Text 5"/>
          <p:cNvSpPr/>
          <p:nvPr/>
        </p:nvSpPr>
        <p:spPr>
          <a:xfrm>
            <a:off x="548640" y="4754880"/>
            <a:ext cx="11091672" cy="548640"/>
          </a:xfrm>
          <a:prstGeom prst="rect">
            <a:avLst/>
          </a:prstGeom>
          <a:noFill/>
          <a:ln/>
        </p:spPr>
        <p:txBody>
          <a:bodyPr wrap="square" rtlCol="0" anchor="t"/>
          <a:lstStyle/>
          <a:p>
            <a:pPr marL="0" indent="0" algn="ctr">
              <a:buNone/>
            </a:pPr>
            <a:r>
              <a:rPr lang="en-US" sz="1800" i="1" dirty="0">
                <a:solidFill>
                  <a:srgbClr val="757575"/>
                </a:solidFill>
                <a:latin typeface="Arial" pitchFamily="34" charset="0"/>
                <a:ea typeface="Arial" pitchFamily="34" charset="-122"/>
                <a:cs typeface="Arial" pitchFamily="34" charset="-120"/>
              </a:rPr>
              <a:t>Con todo esto ya puedes abordar la Actividad 1.2: construir, guiado, un CRUD completo como este en tu propio proyecto.</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viaje completo, de principio a fin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097280"/>
            <a:ext cx="1914642" cy="59436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Todas las piezas del apartado, juntas de una vez: así es el recorrido real de un POST /api/v1/libros, desde que llega la petición hasta que el cliente recibe el 201:</a:t>
            </a:r>
            <a:endParaRPr lang="en-US" sz="1700" dirty="0"/>
          </a:p>
        </p:txBody>
      </p:sp>
      <p:pic>
        <p:nvPicPr>
          <p:cNvPr id="6" name="Image 0" descr="C:/Users/Aitor/docxgen/img/crud-sequence-post-libro.png"/>
          <p:cNvPicPr>
            <a:picLocks noChangeAspect="1"/>
          </p:cNvPicPr>
          <p:nvPr/>
        </p:nvPicPr>
        <p:blipFill>
          <a:blip r:embed="rId3"/>
          <a:srcRect b="7858"/>
          <a:stretch>
            <a:fillRect/>
          </a:stretch>
        </p:blipFill>
        <p:spPr>
          <a:xfrm>
            <a:off x="3222339" y="930726"/>
            <a:ext cx="8063409" cy="554025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691640"/>
            <a:ext cx="11091672" cy="3931920"/>
          </a:xfrm>
          <a:prstGeom prst="rect">
            <a:avLst/>
          </a:prstGeom>
          <a:noFill/>
          <a:ln/>
        </p:spPr>
        <p:txBody>
          <a:bodyPr wrap="square" rtlCol="0" anchor="t"/>
          <a:lstStyle/>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CRUD = Create/Read/Update/Delete. En HTTP, Read puede expresarse con GET, y Update con PUT o PATCH.</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Un repository (interface XRepository extends JpaRepository&lt;X, Long&gt;) te da findAll/findById/save/existsById/deleteById sin escribir SQL ni implementación propia.</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Puedes declarar tus propias consultas sin SQL, con un método sin cuerpo cuyo nombre siga la convención (findByEditorialId...) — para filtros dinámicos están las Specifications y @Query.</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Devolver la entidad JPA tal cual expone campos internos que no deberías publicar — por eso se convierte a un DTO antes de salir.</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Un record de Java declara en una línea una clase inmutable — encaja con los DTOs porque nunca cambian tras crearse.</a:t>
            </a:r>
            <a:endParaRPr lang="en-US" sz="1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CRUD y transacciones</a:t>
            </a:r>
            <a:endParaRPr lang="en-US" sz="1100" dirty="0"/>
          </a:p>
        </p:txBody>
      </p:sp>
      <p:sp>
        <p:nvSpPr>
          <p:cNvPr id="5" name="Text 3"/>
          <p:cNvSpPr/>
          <p:nvPr/>
        </p:nvSpPr>
        <p:spPr>
          <a:xfrm>
            <a:off x="548640" y="1691640"/>
            <a:ext cx="11091672" cy="3931920"/>
          </a:xfrm>
          <a:prstGeom prst="rect">
            <a:avLst/>
          </a:prstGeom>
          <a:noFill/>
          <a:ln/>
        </p:spPr>
        <p:txBody>
          <a:bodyPr wrap="square" rtlCol="0" anchor="t"/>
          <a:lstStyle/>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Las anotaciones de Bean Validation (@NotBlank, @PositiveOrZero...) sobre el DTO de entrada, con @Valid en el controller, rechazan datos basura con un 400 antes de ejecutar tu código.</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El caso "recurso no encontrado" se resuelve con orElseThrow(...)/existsById(...) lanzando ResponseStatusException(HttpStatus.NOT_FOUND, ...).</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Una transacción agrupa operaciones como una unidad todo-o-nada: commit si todo va bien, rollback si algo falla. Las propiedades ACID la garantizan.</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@Transactional lo gestiona automáticamente; @Transactional(readOnly = true) marca las operaciones de solo lectura.</a:t>
            </a:r>
            <a:endParaRPr lang="en-US" sz="1900" dirty="0"/>
          </a:p>
          <a:p>
            <a:pPr marL="190500" indent="-190500">
              <a:spcAft>
                <a:spcPts val="2400"/>
              </a:spcAft>
              <a:buSzPct val="100000"/>
              <a:buChar char="•"/>
            </a:pPr>
            <a:r>
              <a:rPr lang="en-US" sz="1900" dirty="0">
                <a:solidFill>
                  <a:srgbClr val="212121"/>
                </a:solidFill>
                <a:latin typeface="Arial" pitchFamily="34" charset="0"/>
                <a:ea typeface="Arial" pitchFamily="34" charset="-122"/>
                <a:cs typeface="Arial" pitchFamily="34" charset="-120"/>
              </a:rPr>
              <a:t>En todo el apartado, el flujo es siempre el mismo: Controller → Service → Repository, cada uno hablando solo con el siguiente.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4558</Words>
  <Application>Microsoft Office PowerPoint</Application>
  <PresentationFormat>Panorámica</PresentationFormat>
  <Paragraphs>470</Paragraphs>
  <Slides>45</Slides>
  <Notes>45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45</vt:i4>
      </vt:variant>
    </vt:vector>
  </HeadingPairs>
  <TitlesOfParts>
    <vt:vector size="48"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Operaciones CRUD y gestión de transacciones</dc:title>
  <dc:subject>PptxGenJS Presentation</dc:subject>
  <dc:creator>Acceso a Datos</dc:creator>
  <cp:lastModifiedBy>VENTURA EDO, AITOR</cp:lastModifiedBy>
  <cp:revision>3</cp:revision>
  <dcterms:created xsi:type="dcterms:W3CDTF">2026-08-05T22:15:35Z</dcterms:created>
  <dcterms:modified xsi:type="dcterms:W3CDTF">2026-09-17T14:46:30Z</dcterms:modified>
</cp:coreProperties>
</file>