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132" y="3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0136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F0000"/>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E0A8A8"/>
                </a:solidFill>
                <a:latin typeface="Arial" pitchFamily="34" charset="0"/>
                <a:ea typeface="Arial" pitchFamily="34" charset="-122"/>
                <a:cs typeface="Arial" pitchFamily="34" charset="-120"/>
              </a:rPr>
              <a:t>ACCESO A DATOS  —  TEMA 0: INTRODUCCIÓN</a:t>
            </a:r>
            <a:endParaRPr lang="en-US" sz="1400" dirty="0"/>
          </a:p>
        </p:txBody>
      </p:sp>
      <p:sp>
        <p:nvSpPr>
          <p:cNvPr id="3" name="Text 1"/>
          <p:cNvSpPr/>
          <p:nvPr/>
        </p:nvSpPr>
        <p:spPr>
          <a:xfrm>
            <a:off x="548640" y="1280160"/>
            <a:ext cx="11091672" cy="256032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Integración Continua</a:t>
            </a:r>
            <a:endParaRPr lang="en-US" sz="4400" dirty="0"/>
          </a:p>
          <a:p>
            <a:pPr marL="0" indent="0" algn="l">
              <a:buNone/>
            </a:pPr>
            <a:r>
              <a:rPr lang="en-US" sz="4400" b="1" dirty="0">
                <a:solidFill>
                  <a:srgbClr val="FFFFFF"/>
                </a:solidFill>
                <a:latin typeface="Arial" pitchFamily="34" charset="0"/>
                <a:ea typeface="Arial" pitchFamily="34" charset="-122"/>
                <a:cs typeface="Arial" pitchFamily="34" charset="-120"/>
              </a:rPr>
              <a:t>con GitHub Actions</a:t>
            </a:r>
            <a:endParaRPr lang="en-US" sz="4400" dirty="0"/>
          </a:p>
        </p:txBody>
      </p:sp>
      <p:sp>
        <p:nvSpPr>
          <p:cNvPr id="4" name="Shape 2"/>
          <p:cNvSpPr/>
          <p:nvPr/>
        </p:nvSpPr>
        <p:spPr>
          <a:xfrm>
            <a:off x="0" y="5120640"/>
            <a:ext cx="12188952" cy="914400"/>
          </a:xfrm>
          <a:prstGeom prst="rect">
            <a:avLst/>
          </a:prstGeom>
          <a:solidFill>
            <a:srgbClr val="E64A19"/>
          </a:solidFill>
          <a:ln w="12700">
            <a:solidFill>
              <a:srgbClr val="E64A19"/>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Apartado 5 — CI, workflows, jobs, steps y Actions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9.1 — ¿Qué problema resuelve la integración continua?</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48640" y="1325880"/>
            <a:ext cx="11091672" cy="10058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777240" y="1399032"/>
            <a:ext cx="10634472" cy="859536"/>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Sin CI: cuatro personas trabajan en el mismo repositorio. Cada una hace merge cuando termina. Nadie sabe si el código del compañero rompe los tests que otro escribió la semana pasada. El error se descubre días después — o en producción.</a:t>
            </a:r>
            <a:endParaRPr lang="en-US" sz="1600" dirty="0"/>
          </a:p>
        </p:txBody>
      </p:sp>
      <p:sp>
        <p:nvSpPr>
          <p:cNvPr id="7" name="Shape 5"/>
          <p:cNvSpPr/>
          <p:nvPr/>
        </p:nvSpPr>
        <p:spPr>
          <a:xfrm>
            <a:off x="548640" y="2560320"/>
            <a:ext cx="11091672" cy="438912"/>
          </a:xfrm>
          <a:prstGeom prst="rect">
            <a:avLst/>
          </a:prstGeom>
          <a:solidFill>
            <a:srgbClr val="C62828"/>
          </a:solidFill>
          <a:ln w="12700">
            <a:solidFill>
              <a:srgbClr val="C62828"/>
            </a:solidFill>
            <a:prstDash val="solid"/>
          </a:ln>
        </p:spPr>
        <p:txBody>
          <a:bodyPr/>
          <a:lstStyle/>
          <a:p>
            <a:endParaRPr lang="es-ES"/>
          </a:p>
        </p:txBody>
      </p:sp>
      <p:sp>
        <p:nvSpPr>
          <p:cNvPr id="8" name="Text 6"/>
          <p:cNvSpPr/>
          <p:nvPr/>
        </p:nvSpPr>
        <p:spPr>
          <a:xfrm>
            <a:off x="731520" y="256032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Con integración continua (CI)</a:t>
            </a:r>
            <a:endParaRPr lang="en-US" sz="1700" dirty="0"/>
          </a:p>
        </p:txBody>
      </p:sp>
      <p:sp>
        <p:nvSpPr>
          <p:cNvPr id="9" name="Shape 7"/>
          <p:cNvSpPr/>
          <p:nvPr/>
        </p:nvSpPr>
        <p:spPr>
          <a:xfrm>
            <a:off x="548640" y="3182112"/>
            <a:ext cx="11091672" cy="914400"/>
          </a:xfrm>
          <a:prstGeom prst="roundRect">
            <a:avLst/>
          </a:prstGeom>
          <a:solidFill>
            <a:srgbClr val="FBE9E7"/>
          </a:solidFill>
          <a:ln w="19050">
            <a:solidFill>
              <a:srgbClr val="E64A19"/>
            </a:solidFill>
            <a:prstDash val="solid"/>
          </a:ln>
        </p:spPr>
        <p:txBody>
          <a:bodyPr/>
          <a:lstStyle/>
          <a:p>
            <a:endParaRPr lang="es-ES"/>
          </a:p>
        </p:txBody>
      </p:sp>
      <p:sp>
        <p:nvSpPr>
          <p:cNvPr id="10" name="Text 8"/>
          <p:cNvSpPr/>
          <p:nvPr/>
        </p:nvSpPr>
        <p:spPr>
          <a:xfrm>
            <a:off x="777240" y="3255264"/>
            <a:ext cx="10634472" cy="768096"/>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La CI ejecuta comprobaciones automáticas (compilar, tests, estilo) cada vez que alguien propone un cambio. Si algo falla, el sistema avisa antes de que el código llegue a main.</a:t>
            </a:r>
            <a:endParaRPr lang="en-US" sz="1600" dirty="0"/>
          </a:p>
        </p:txBody>
      </p:sp>
      <p:sp>
        <p:nvSpPr>
          <p:cNvPr id="11" name="Shape 9"/>
          <p:cNvSpPr/>
          <p:nvPr/>
        </p:nvSpPr>
        <p:spPr>
          <a:xfrm>
            <a:off x="548640" y="4416552"/>
            <a:ext cx="2498598" cy="960120"/>
          </a:xfrm>
          <a:prstGeom prst="roundRect">
            <a:avLst/>
          </a:prstGeom>
          <a:solidFill>
            <a:srgbClr val="FBEAEA"/>
          </a:solidFill>
          <a:ln w="15875">
            <a:solidFill>
              <a:srgbClr val="C62828"/>
            </a:solidFill>
            <a:prstDash val="solid"/>
          </a:ln>
        </p:spPr>
        <p:txBody>
          <a:bodyPr/>
          <a:lstStyle/>
          <a:p>
            <a:endParaRPr lang="es-ES"/>
          </a:p>
        </p:txBody>
      </p:sp>
      <p:sp>
        <p:nvSpPr>
          <p:cNvPr id="12" name="Text 10"/>
          <p:cNvSpPr/>
          <p:nvPr/>
        </p:nvSpPr>
        <p:spPr>
          <a:xfrm>
            <a:off x="594360" y="4462272"/>
            <a:ext cx="2407158" cy="8686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git push / PR</a:t>
            </a:r>
            <a:endParaRPr lang="en-US" sz="1400" dirty="0"/>
          </a:p>
        </p:txBody>
      </p:sp>
      <p:sp>
        <p:nvSpPr>
          <p:cNvPr id="13" name="Text 11"/>
          <p:cNvSpPr/>
          <p:nvPr/>
        </p:nvSpPr>
        <p:spPr>
          <a:xfrm>
            <a:off x="3001518" y="4416552"/>
            <a:ext cx="457200" cy="960120"/>
          </a:xfrm>
          <a:prstGeom prst="rect">
            <a:avLst/>
          </a:prstGeom>
          <a:noFill/>
          <a:ln/>
        </p:spPr>
        <p:txBody>
          <a:bodyPr wrap="square" rtlCol="0" anchor="ctr"/>
          <a:lstStyle/>
          <a:p>
            <a:pPr marL="0" indent="0" algn="ctr">
              <a:buNone/>
            </a:pPr>
            <a:r>
              <a:rPr lang="en-US" sz="2200" b="1" dirty="0">
                <a:solidFill>
                  <a:srgbClr val="C62828"/>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3412998" y="4416552"/>
            <a:ext cx="2498598" cy="960120"/>
          </a:xfrm>
          <a:prstGeom prst="roundRect">
            <a:avLst/>
          </a:prstGeom>
          <a:solidFill>
            <a:srgbClr val="FBEAEA"/>
          </a:solidFill>
          <a:ln w="15875">
            <a:solidFill>
              <a:srgbClr val="C62828"/>
            </a:solidFill>
            <a:prstDash val="solid"/>
          </a:ln>
        </p:spPr>
        <p:txBody>
          <a:bodyPr/>
          <a:lstStyle/>
          <a:p>
            <a:endParaRPr lang="es-ES"/>
          </a:p>
        </p:txBody>
      </p:sp>
      <p:sp>
        <p:nvSpPr>
          <p:cNvPr id="15" name="Text 13"/>
          <p:cNvSpPr/>
          <p:nvPr/>
        </p:nvSpPr>
        <p:spPr>
          <a:xfrm>
            <a:off x="3458718" y="4462272"/>
            <a:ext cx="2407158" cy="8686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GitHub Actions</a:t>
            </a:r>
            <a:endParaRPr lang="en-US" sz="1400" dirty="0"/>
          </a:p>
        </p:txBody>
      </p:sp>
      <p:sp>
        <p:nvSpPr>
          <p:cNvPr id="16" name="Text 14"/>
          <p:cNvSpPr/>
          <p:nvPr/>
        </p:nvSpPr>
        <p:spPr>
          <a:xfrm>
            <a:off x="5865876" y="4416552"/>
            <a:ext cx="457200" cy="960120"/>
          </a:xfrm>
          <a:prstGeom prst="rect">
            <a:avLst/>
          </a:prstGeom>
          <a:noFill/>
          <a:ln/>
        </p:spPr>
        <p:txBody>
          <a:bodyPr wrap="square" rtlCol="0" anchor="ctr"/>
          <a:lstStyle/>
          <a:p>
            <a:pPr marL="0" indent="0" algn="ctr">
              <a:buNone/>
            </a:pPr>
            <a:r>
              <a:rPr lang="en-US" sz="2200" b="1" dirty="0">
                <a:solidFill>
                  <a:srgbClr val="C62828"/>
                </a:solidFill>
                <a:latin typeface="Arial" pitchFamily="34" charset="0"/>
                <a:ea typeface="Arial" pitchFamily="34" charset="-122"/>
                <a:cs typeface="Arial" pitchFamily="34" charset="-120"/>
              </a:rPr>
              <a:t>→</a:t>
            </a:r>
            <a:endParaRPr lang="en-US" sz="2200" dirty="0"/>
          </a:p>
        </p:txBody>
      </p:sp>
      <p:sp>
        <p:nvSpPr>
          <p:cNvPr id="17" name="Shape 15"/>
          <p:cNvSpPr/>
          <p:nvPr/>
        </p:nvSpPr>
        <p:spPr>
          <a:xfrm>
            <a:off x="6277356" y="4416552"/>
            <a:ext cx="2498598" cy="960120"/>
          </a:xfrm>
          <a:prstGeom prst="roundRect">
            <a:avLst/>
          </a:prstGeom>
          <a:solidFill>
            <a:srgbClr val="FBEAEA"/>
          </a:solidFill>
          <a:ln w="15875">
            <a:solidFill>
              <a:srgbClr val="C62828"/>
            </a:solidFill>
            <a:prstDash val="solid"/>
          </a:ln>
        </p:spPr>
        <p:txBody>
          <a:bodyPr/>
          <a:lstStyle/>
          <a:p>
            <a:endParaRPr lang="es-ES"/>
          </a:p>
        </p:txBody>
      </p:sp>
      <p:sp>
        <p:nvSpPr>
          <p:cNvPr id="18" name="Text 16"/>
          <p:cNvSpPr/>
          <p:nvPr/>
        </p:nvSpPr>
        <p:spPr>
          <a:xfrm>
            <a:off x="6323076" y="4462272"/>
            <a:ext cx="2407158" cy="8686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¿Pasan los tests?</a:t>
            </a:r>
            <a:endParaRPr lang="en-US" sz="1400" dirty="0"/>
          </a:p>
        </p:txBody>
      </p:sp>
      <p:sp>
        <p:nvSpPr>
          <p:cNvPr id="19" name="Text 17"/>
          <p:cNvSpPr/>
          <p:nvPr/>
        </p:nvSpPr>
        <p:spPr>
          <a:xfrm>
            <a:off x="8730234" y="4416552"/>
            <a:ext cx="457200" cy="960120"/>
          </a:xfrm>
          <a:prstGeom prst="rect">
            <a:avLst/>
          </a:prstGeom>
          <a:noFill/>
          <a:ln/>
        </p:spPr>
        <p:txBody>
          <a:bodyPr wrap="square" rtlCol="0" anchor="ctr"/>
          <a:lstStyle/>
          <a:p>
            <a:pPr marL="0" indent="0" algn="ctr">
              <a:buNone/>
            </a:pPr>
            <a:r>
              <a:rPr lang="en-US" sz="2200" b="1" dirty="0">
                <a:solidFill>
                  <a:srgbClr val="C62828"/>
                </a:solidFill>
                <a:latin typeface="Arial" pitchFamily="34" charset="0"/>
                <a:ea typeface="Arial" pitchFamily="34" charset="-122"/>
                <a:cs typeface="Arial" pitchFamily="34" charset="-120"/>
              </a:rPr>
              <a:t>→</a:t>
            </a:r>
            <a:endParaRPr lang="en-US" sz="2200" dirty="0"/>
          </a:p>
        </p:txBody>
      </p:sp>
      <p:sp>
        <p:nvSpPr>
          <p:cNvPr id="20" name="Shape 18"/>
          <p:cNvSpPr/>
          <p:nvPr/>
        </p:nvSpPr>
        <p:spPr>
          <a:xfrm>
            <a:off x="9141714" y="4416552"/>
            <a:ext cx="2498598" cy="960120"/>
          </a:xfrm>
          <a:prstGeom prst="roundRect">
            <a:avLst/>
          </a:prstGeom>
          <a:solidFill>
            <a:srgbClr val="FBEAEA"/>
          </a:solidFill>
          <a:ln w="15875">
            <a:solidFill>
              <a:srgbClr val="C62828"/>
            </a:solidFill>
            <a:prstDash val="solid"/>
          </a:ln>
        </p:spPr>
        <p:txBody>
          <a:bodyPr/>
          <a:lstStyle/>
          <a:p>
            <a:endParaRPr lang="es-ES"/>
          </a:p>
        </p:txBody>
      </p:sp>
      <p:sp>
        <p:nvSpPr>
          <p:cNvPr id="21" name="Text 19"/>
          <p:cNvSpPr/>
          <p:nvPr/>
        </p:nvSpPr>
        <p:spPr>
          <a:xfrm>
            <a:off x="9187434" y="4462272"/>
            <a:ext cx="2407158" cy="8686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Merge permitido</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o bloqueado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9.1 — Ventaja clave y ejemplo de este apartado</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50164" y="1288558"/>
            <a:ext cx="11091672" cy="91440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778764" y="1361710"/>
            <a:ext cx="10634472" cy="768096"/>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El equipo puede trabajar más rápido porque confía en que si el pipeline es verde, el código funciona. Sin CI, cada merge es un riesgo. Con CI, es una rutina segura.</a:t>
            </a:r>
            <a:endParaRPr lang="en-US" sz="1600" dirty="0"/>
          </a:p>
        </p:txBody>
      </p:sp>
      <p:sp>
        <p:nvSpPr>
          <p:cNvPr id="7" name="Shape 5"/>
          <p:cNvSpPr/>
          <p:nvPr/>
        </p:nvSpPr>
        <p:spPr>
          <a:xfrm>
            <a:off x="550164" y="2477278"/>
            <a:ext cx="11091672" cy="438912"/>
          </a:xfrm>
          <a:prstGeom prst="rect">
            <a:avLst/>
          </a:prstGeom>
          <a:solidFill>
            <a:srgbClr val="C62828"/>
          </a:solidFill>
          <a:ln w="12700">
            <a:solidFill>
              <a:srgbClr val="C62828"/>
            </a:solidFill>
            <a:prstDash val="solid"/>
          </a:ln>
        </p:spPr>
        <p:txBody>
          <a:bodyPr/>
          <a:lstStyle/>
          <a:p>
            <a:endParaRPr lang="es-ES"/>
          </a:p>
        </p:txBody>
      </p:sp>
      <p:sp>
        <p:nvSpPr>
          <p:cNvPr id="8" name="Text 6"/>
          <p:cNvSpPr/>
          <p:nvPr/>
        </p:nvSpPr>
        <p:spPr>
          <a:xfrm>
            <a:off x="733044" y="2477278"/>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Ejemplo que usaremos en este apartado</a:t>
            </a:r>
            <a:endParaRPr lang="en-US" sz="1700" dirty="0"/>
          </a:p>
        </p:txBody>
      </p:sp>
      <p:sp>
        <p:nvSpPr>
          <p:cNvPr id="9" name="Text 7"/>
          <p:cNvSpPr/>
          <p:nvPr/>
        </p:nvSpPr>
        <p:spPr>
          <a:xfrm>
            <a:off x="550164" y="3099070"/>
            <a:ext cx="11091672" cy="2286000"/>
          </a:xfrm>
          <a:prstGeom prst="rect">
            <a:avLst/>
          </a:prstGeom>
          <a:noFill/>
          <a:ln/>
        </p:spPr>
        <p:txBody>
          <a:bodyPr wrap="square" rtlCol="0" anchor="t"/>
          <a:lstStyle/>
          <a:p>
            <a:pPr marL="342900" indent="-3429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Clase Calculadora con 4 operaciones: sumar, restar, multiplicar, dividir</a:t>
            </a:r>
            <a:endParaRPr lang="en-US" sz="1600" dirty="0"/>
          </a:p>
          <a:p>
            <a:pPr marL="342900" indent="-3429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5 tests unitarios en CalculadoraTest que verifican cada operación</a:t>
            </a:r>
            <a:endParaRPr lang="en-US" sz="1600" dirty="0"/>
          </a:p>
          <a:p>
            <a:pPr marL="342900" indent="-3429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Workflow de CI que compila y ejecuta los tests automáticamente en cada push a main</a:t>
            </a:r>
            <a:endParaRPr lang="en-US" sz="1600" dirty="0"/>
          </a:p>
          <a:p>
            <a:pPr marL="342900" indent="-3429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Introduciremos un bug deliberado para ver cómo GitHub Actions lo detecta</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9.2 — GitHub Actions: eventos que disparan un workflow</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48640" y="1204582"/>
            <a:ext cx="11091672" cy="7772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777240" y="1277734"/>
            <a:ext cx="10634472" cy="630936"/>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GitHub Actions permite definir workflows que se ejecutan en respuesta a eventos del repositorio, en la nube de GitHub, sin instalar nada en tu máquina.</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2485864108"/>
              </p:ext>
            </p:extLst>
          </p:nvPr>
        </p:nvGraphicFramePr>
        <p:xfrm>
          <a:off x="548640" y="2210422"/>
          <a:ext cx="11091672" cy="3291840"/>
        </p:xfrm>
        <a:graphic>
          <a:graphicData uri="http://schemas.openxmlformats.org/drawingml/2006/table">
            <a:tbl>
              <a:tblPr/>
              <a:tblGrid>
                <a:gridCol w="3105668">
                  <a:extLst>
                    <a:ext uri="{9D8B030D-6E8A-4147-A177-3AD203B41FA5}">
                      <a16:colId xmlns:a16="http://schemas.microsoft.com/office/drawing/2014/main" val="20000"/>
                    </a:ext>
                  </a:extLst>
                </a:gridCol>
                <a:gridCol w="7986004">
                  <a:extLst>
                    <a:ext uri="{9D8B030D-6E8A-4147-A177-3AD203B41FA5}">
                      <a16:colId xmlns:a16="http://schemas.microsoft.com/office/drawing/2014/main" val="20001"/>
                    </a:ext>
                  </a:extLst>
                </a:gridCol>
              </a:tblGrid>
              <a:tr h="54864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Evento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Cuándo ocurre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5486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push</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Alguien sube commits a una rama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pull_request</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Se abre, actualiza o cierra una PR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486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schedule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Un temporizador (como un cron job)</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workflow_dispatch</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El usuario lo activa manualmente desde la web</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486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release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Se publica una nueva versión del proyecto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9.2 — Conceptos clave de GitHub Actions</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4183766516"/>
              </p:ext>
            </p:extLst>
          </p:nvPr>
        </p:nvGraphicFramePr>
        <p:xfrm>
          <a:off x="548640" y="1251235"/>
          <a:ext cx="11091672" cy="4160520"/>
        </p:xfrm>
        <a:graphic>
          <a:graphicData uri="http://schemas.openxmlformats.org/drawingml/2006/table">
            <a:tbl>
              <a:tblPr/>
              <a:tblGrid>
                <a:gridCol w="1996501">
                  <a:extLst>
                    <a:ext uri="{9D8B030D-6E8A-4147-A177-3AD203B41FA5}">
                      <a16:colId xmlns:a16="http://schemas.microsoft.com/office/drawing/2014/main" val="20000"/>
                    </a:ext>
                  </a:extLst>
                </a:gridCol>
                <a:gridCol w="9095171">
                  <a:extLst>
                    <a:ext uri="{9D8B030D-6E8A-4147-A177-3AD203B41FA5}">
                      <a16:colId xmlns:a16="http://schemas.microsoft.com/office/drawing/2014/main" val="20001"/>
                    </a:ext>
                  </a:extLst>
                </a:gridCol>
              </a:tblGrid>
              <a:tr h="59436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Concepto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es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Workflow</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fichero YAML que describe qué hacer y cuándo. Vive en .github/workflows/.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Event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disparador que pone en marcha el workflow (push, pull_request...).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Job</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Un bloque de pasos que se ejecuta en una máquina virtual.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Step</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Una acción concreta dentro de un job: comando de shell o Action del Marketplace.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Runner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La máquina virtual donde corre el job. GitHub ofrece Ubuntu, Windows y macOS.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Action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Tarea reutilizable publicada en el Marketplace. Se invoca con uses:.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9.2 — Jerarquía: Event → Workflow → Job → Steps</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02920" y="1484501"/>
            <a:ext cx="2498598" cy="1188720"/>
          </a:xfrm>
          <a:prstGeom prst="roundRect">
            <a:avLst/>
          </a:prstGeom>
          <a:solidFill>
            <a:srgbClr val="FBEAEA"/>
          </a:solidFill>
          <a:ln w="15875">
            <a:solidFill>
              <a:srgbClr val="C62828"/>
            </a:solidFill>
            <a:prstDash val="solid"/>
          </a:ln>
        </p:spPr>
        <p:txBody>
          <a:bodyPr/>
          <a:lstStyle/>
          <a:p>
            <a:endParaRPr lang="es-ES"/>
          </a:p>
        </p:txBody>
      </p:sp>
      <p:sp>
        <p:nvSpPr>
          <p:cNvPr id="6" name="Text 4"/>
          <p:cNvSpPr/>
          <p:nvPr/>
        </p:nvSpPr>
        <p:spPr>
          <a:xfrm>
            <a:off x="548640" y="1530221"/>
            <a:ext cx="2407158" cy="10972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Event</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(push / PR)</a:t>
            </a:r>
            <a:endParaRPr lang="en-US" sz="1400" dirty="0"/>
          </a:p>
        </p:txBody>
      </p:sp>
      <p:sp>
        <p:nvSpPr>
          <p:cNvPr id="7" name="Text 5"/>
          <p:cNvSpPr/>
          <p:nvPr/>
        </p:nvSpPr>
        <p:spPr>
          <a:xfrm>
            <a:off x="2955798" y="1484501"/>
            <a:ext cx="457200" cy="1188720"/>
          </a:xfrm>
          <a:prstGeom prst="rect">
            <a:avLst/>
          </a:prstGeom>
          <a:noFill/>
          <a:ln/>
        </p:spPr>
        <p:txBody>
          <a:bodyPr wrap="square" rtlCol="0" anchor="ctr"/>
          <a:lstStyle/>
          <a:p>
            <a:pPr marL="0" indent="0" algn="ctr">
              <a:buNone/>
            </a:pPr>
            <a:r>
              <a:rPr lang="en-US" sz="2200" b="1" dirty="0">
                <a:solidFill>
                  <a:srgbClr val="C62828"/>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3367278" y="1484501"/>
            <a:ext cx="2498598" cy="1188720"/>
          </a:xfrm>
          <a:prstGeom prst="roundRect">
            <a:avLst/>
          </a:prstGeom>
          <a:solidFill>
            <a:srgbClr val="FBEAEA"/>
          </a:solidFill>
          <a:ln w="15875">
            <a:solidFill>
              <a:srgbClr val="C62828"/>
            </a:solidFill>
            <a:prstDash val="solid"/>
          </a:ln>
        </p:spPr>
        <p:txBody>
          <a:bodyPr/>
          <a:lstStyle/>
          <a:p>
            <a:endParaRPr lang="es-ES"/>
          </a:p>
        </p:txBody>
      </p:sp>
      <p:sp>
        <p:nvSpPr>
          <p:cNvPr id="9" name="Text 7"/>
          <p:cNvSpPr/>
          <p:nvPr/>
        </p:nvSpPr>
        <p:spPr>
          <a:xfrm>
            <a:off x="3412998" y="1530221"/>
            <a:ext cx="2407158" cy="10972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Workflow</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(ci.yml)</a:t>
            </a:r>
            <a:endParaRPr lang="en-US" sz="1400" dirty="0"/>
          </a:p>
        </p:txBody>
      </p:sp>
      <p:sp>
        <p:nvSpPr>
          <p:cNvPr id="10" name="Text 8"/>
          <p:cNvSpPr/>
          <p:nvPr/>
        </p:nvSpPr>
        <p:spPr>
          <a:xfrm>
            <a:off x="5820156" y="1484501"/>
            <a:ext cx="457200" cy="1188720"/>
          </a:xfrm>
          <a:prstGeom prst="rect">
            <a:avLst/>
          </a:prstGeom>
          <a:noFill/>
          <a:ln/>
        </p:spPr>
        <p:txBody>
          <a:bodyPr wrap="square" rtlCol="0" anchor="ctr"/>
          <a:lstStyle/>
          <a:p>
            <a:pPr marL="0" indent="0" algn="ctr">
              <a:buNone/>
            </a:pPr>
            <a:r>
              <a:rPr lang="en-US" sz="2200" b="1" dirty="0">
                <a:solidFill>
                  <a:srgbClr val="C62828"/>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6231636" y="1484501"/>
            <a:ext cx="2498598" cy="1188720"/>
          </a:xfrm>
          <a:prstGeom prst="roundRect">
            <a:avLst/>
          </a:prstGeom>
          <a:solidFill>
            <a:srgbClr val="FBEAEA"/>
          </a:solidFill>
          <a:ln w="15875">
            <a:solidFill>
              <a:srgbClr val="C62828"/>
            </a:solidFill>
            <a:prstDash val="solid"/>
          </a:ln>
        </p:spPr>
        <p:txBody>
          <a:bodyPr/>
          <a:lstStyle/>
          <a:p>
            <a:endParaRPr lang="es-ES"/>
          </a:p>
        </p:txBody>
      </p:sp>
      <p:sp>
        <p:nvSpPr>
          <p:cNvPr id="12" name="Text 10"/>
          <p:cNvSpPr/>
          <p:nvPr/>
        </p:nvSpPr>
        <p:spPr>
          <a:xfrm>
            <a:off x="6277356" y="1530221"/>
            <a:ext cx="2407158" cy="10972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Job</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(build)</a:t>
            </a:r>
            <a:endParaRPr lang="en-US" sz="1400" dirty="0"/>
          </a:p>
        </p:txBody>
      </p:sp>
      <p:sp>
        <p:nvSpPr>
          <p:cNvPr id="13" name="Text 11"/>
          <p:cNvSpPr/>
          <p:nvPr/>
        </p:nvSpPr>
        <p:spPr>
          <a:xfrm>
            <a:off x="8684514" y="1484501"/>
            <a:ext cx="457200" cy="1188720"/>
          </a:xfrm>
          <a:prstGeom prst="rect">
            <a:avLst/>
          </a:prstGeom>
          <a:noFill/>
          <a:ln/>
        </p:spPr>
        <p:txBody>
          <a:bodyPr wrap="square" rtlCol="0" anchor="ctr"/>
          <a:lstStyle/>
          <a:p>
            <a:pPr marL="0" indent="0" algn="ctr">
              <a:buNone/>
            </a:pPr>
            <a:r>
              <a:rPr lang="en-US" sz="2200" b="1" dirty="0">
                <a:solidFill>
                  <a:srgbClr val="C62828"/>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9095994" y="1484501"/>
            <a:ext cx="2498598" cy="1188720"/>
          </a:xfrm>
          <a:prstGeom prst="roundRect">
            <a:avLst/>
          </a:prstGeom>
          <a:solidFill>
            <a:srgbClr val="FBEAEA"/>
          </a:solidFill>
          <a:ln w="15875">
            <a:solidFill>
              <a:srgbClr val="C62828"/>
            </a:solidFill>
            <a:prstDash val="solid"/>
          </a:ln>
        </p:spPr>
        <p:txBody>
          <a:bodyPr/>
          <a:lstStyle/>
          <a:p>
            <a:endParaRPr lang="es-ES"/>
          </a:p>
        </p:txBody>
      </p:sp>
      <p:sp>
        <p:nvSpPr>
          <p:cNvPr id="15" name="Text 13"/>
          <p:cNvSpPr/>
          <p:nvPr/>
        </p:nvSpPr>
        <p:spPr>
          <a:xfrm>
            <a:off x="9141714" y="1530221"/>
            <a:ext cx="2407158" cy="10972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Steps</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(checkout, java,</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compile, test...)</a:t>
            </a:r>
            <a:endParaRPr lang="en-US" sz="1400" dirty="0"/>
          </a:p>
        </p:txBody>
      </p:sp>
      <p:sp>
        <p:nvSpPr>
          <p:cNvPr id="16" name="Shape 14"/>
          <p:cNvSpPr/>
          <p:nvPr/>
        </p:nvSpPr>
        <p:spPr>
          <a:xfrm>
            <a:off x="502920" y="2993261"/>
            <a:ext cx="11091672" cy="822960"/>
          </a:xfrm>
          <a:prstGeom prst="roundRect">
            <a:avLst/>
          </a:prstGeom>
          <a:solidFill>
            <a:srgbClr val="FBE9E7"/>
          </a:solidFill>
          <a:ln w="19050">
            <a:solidFill>
              <a:srgbClr val="E64A19"/>
            </a:solidFill>
            <a:prstDash val="solid"/>
          </a:ln>
        </p:spPr>
        <p:txBody>
          <a:bodyPr/>
          <a:lstStyle/>
          <a:p>
            <a:endParaRPr lang="es-ES"/>
          </a:p>
        </p:txBody>
      </p:sp>
      <p:sp>
        <p:nvSpPr>
          <p:cNvPr id="17" name="Text 15"/>
          <p:cNvSpPr/>
          <p:nvPr/>
        </p:nvSpPr>
        <p:spPr>
          <a:xfrm>
            <a:off x="731520" y="3066413"/>
            <a:ext cx="10634472" cy="676656"/>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En el proyecto Calculadora: el event es push a main → activa el workflow ci.yml → ejecuta el job build → que tiene 5 steps en orden.</a:t>
            </a:r>
            <a:endParaRPr lang="en-US" sz="1600" dirty="0"/>
          </a:p>
        </p:txBody>
      </p:sp>
      <p:sp>
        <p:nvSpPr>
          <p:cNvPr id="18" name="Text 16"/>
          <p:cNvSpPr/>
          <p:nvPr/>
        </p:nvSpPr>
        <p:spPr>
          <a:xfrm>
            <a:off x="502920" y="4090541"/>
            <a:ext cx="11091672" cy="1645920"/>
          </a:xfrm>
          <a:prstGeom prst="rect">
            <a:avLst/>
          </a:prstGeom>
          <a:noFill/>
          <a:ln/>
        </p:spPr>
        <p:txBody>
          <a:bodyPr wrap="square" rtlCol="0" anchor="t"/>
          <a:lstStyle/>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Un workflow puede tener varios jobs (por defecto se ejecutan en paralelo).</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Los steps de un job se ejecutan en orden. Si uno falla, el job se detiene.</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El runner es una máquina virtual Ubuntu que arranca vacía en cada ejecución.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9.3 — Dónde va el workflow en el proyecto</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48640" y="1279227"/>
            <a:ext cx="4788896" cy="283464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279227"/>
            <a:ext cx="73152" cy="283464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777240" y="1370667"/>
            <a:ext cx="4377416" cy="2651760"/>
          </a:xfrm>
          <a:prstGeom prst="rect">
            <a:avLst/>
          </a:prstGeom>
          <a:noFill/>
          <a:ln/>
        </p:spPr>
        <p:txBody>
          <a:bodyPr wrap="square" rtlCol="0" anchor="t"/>
          <a:lstStyle/>
          <a:p>
            <a:pPr marL="0" indent="0">
              <a:buNone/>
            </a:pPr>
            <a:r>
              <a:rPr lang="en-US" sz="1200" dirty="0">
                <a:solidFill>
                  <a:srgbClr val="263238"/>
                </a:solidFill>
                <a:latin typeface="Courier New" pitchFamily="34" charset="0"/>
                <a:ea typeface="Courier New" pitchFamily="34" charset="-122"/>
                <a:cs typeface="Courier New" pitchFamily="34" charset="-120"/>
              </a:rPr>
              <a:t>mi-proyecto-ci/</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.github/</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workflows/</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ci.yml</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src/</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main/java/com/ejemplo/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 Calculadora.java</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test/java/com/ejemplo/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CalculadoraTest.java</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pom.xml</a:t>
            </a:r>
            <a:endParaRPr lang="en-US" sz="1200" dirty="0"/>
          </a:p>
        </p:txBody>
      </p:sp>
      <p:sp>
        <p:nvSpPr>
          <p:cNvPr id="8" name="Text 6"/>
          <p:cNvSpPr/>
          <p:nvPr/>
        </p:nvSpPr>
        <p:spPr>
          <a:xfrm>
            <a:off x="5520416" y="1279227"/>
            <a:ext cx="6119896" cy="2834640"/>
          </a:xfrm>
          <a:prstGeom prst="rect">
            <a:avLst/>
          </a:prstGeom>
          <a:noFill/>
          <a:ln/>
        </p:spPr>
        <p:txBody>
          <a:bodyPr wrap="square" rtlCol="0" anchor="t"/>
          <a:lstStyle/>
          <a:p>
            <a:pPr marL="190500" indent="-1905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name  —  nombre visible en el panel Actions</a:t>
            </a:r>
            <a:endParaRPr lang="en-US" sz="1400" dirty="0"/>
          </a:p>
          <a:p>
            <a:pPr marL="190500" indent="-1905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on  —  eventos que activan el workflow</a:t>
            </a:r>
            <a:endParaRPr lang="en-US" sz="1400" dirty="0"/>
          </a:p>
          <a:p>
            <a:pPr marL="190500" indent="-1905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jobs  —  uno o más bloques de trabajo</a:t>
            </a:r>
            <a:endParaRPr lang="en-US" sz="1400" dirty="0"/>
          </a:p>
          <a:p>
            <a:pPr marL="190500" indent="-1905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runs-on  —  tipo de runner (ubuntu-latest)</a:t>
            </a:r>
            <a:endParaRPr lang="en-US" sz="1400" dirty="0"/>
          </a:p>
          <a:p>
            <a:pPr marL="190500" indent="-1905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steps  —  pasos en orden, uno tras otro</a:t>
            </a:r>
            <a:endParaRPr lang="en-US" sz="1400" dirty="0"/>
          </a:p>
          <a:p>
            <a:pPr marL="190500" indent="-1905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uses  —  Action del Marketplace</a:t>
            </a:r>
            <a:endParaRPr lang="en-US" sz="1400" dirty="0"/>
          </a:p>
          <a:p>
            <a:pPr marL="190500" indent="-1905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run  —  comando de shell directo</a:t>
            </a:r>
            <a:endParaRPr lang="en-US" sz="1400" dirty="0"/>
          </a:p>
        </p:txBody>
      </p:sp>
      <p:sp>
        <p:nvSpPr>
          <p:cNvPr id="9" name="Shape 7"/>
          <p:cNvSpPr/>
          <p:nvPr/>
        </p:nvSpPr>
        <p:spPr>
          <a:xfrm>
            <a:off x="548640" y="4342467"/>
            <a:ext cx="11091672" cy="658368"/>
          </a:xfrm>
          <a:prstGeom prst="roundRect">
            <a:avLst/>
          </a:prstGeom>
          <a:solidFill>
            <a:srgbClr val="FBE9E7"/>
          </a:solidFill>
          <a:ln w="19050">
            <a:solidFill>
              <a:srgbClr val="E64A19"/>
            </a:solidFill>
            <a:prstDash val="solid"/>
          </a:ln>
        </p:spPr>
        <p:txBody>
          <a:bodyPr/>
          <a:lstStyle/>
          <a:p>
            <a:endParaRPr lang="es-ES"/>
          </a:p>
        </p:txBody>
      </p:sp>
      <p:sp>
        <p:nvSpPr>
          <p:cNvPr id="10" name="Text 8"/>
          <p:cNvSpPr/>
          <p:nvPr/>
        </p:nvSpPr>
        <p:spPr>
          <a:xfrm>
            <a:off x="777240" y="4415619"/>
            <a:ext cx="10634472" cy="512064"/>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El fichero .github/workflows/ci.yml es suficiente para activar CI en cualquier repositorio de GitHub.</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9.3 — El workflow ci.yml: cabecera (name, on, jobs)</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50164" y="1311604"/>
            <a:ext cx="11091672" cy="301752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50164" y="1311604"/>
            <a:ext cx="73152" cy="301752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778764" y="1403044"/>
            <a:ext cx="10680192" cy="2834640"/>
          </a:xfrm>
          <a:prstGeom prst="rect">
            <a:avLst/>
          </a:prstGeom>
          <a:noFill/>
          <a:ln/>
        </p:spPr>
        <p:txBody>
          <a:bodyPr wrap="square" rtlCol="0" anchor="t"/>
          <a:lstStyle/>
          <a:p>
            <a:pPr marL="0" indent="0">
              <a:buNone/>
            </a:pPr>
            <a:r>
              <a:rPr lang="en-US" sz="1300" dirty="0">
                <a:solidFill>
                  <a:srgbClr val="263238"/>
                </a:solidFill>
                <a:latin typeface="Courier New" pitchFamily="34" charset="0"/>
                <a:ea typeface="Courier New" pitchFamily="34" charset="-122"/>
                <a:cs typeface="Courier New" pitchFamily="34" charset="-120"/>
              </a:rPr>
              <a:t># .github/workflows/ci.yml</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name: CI — Build y Tests      # nombre en el panel Actions</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on:                           # qué eventos lo activan</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push:</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branches: [main]          # solo en push a main</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pull_request:</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branches: [main]          # en cualquier PR hacia main</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jobs:                         # bloques de trabajo</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build:                      # nombre del job (lo eliges tú)</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runs-on: ubuntu-latest    # máquina virtual Ubuntu</a:t>
            </a:r>
            <a:endParaRPr lang="en-US" sz="1300" dirty="0"/>
          </a:p>
        </p:txBody>
      </p:sp>
      <p:sp>
        <p:nvSpPr>
          <p:cNvPr id="8" name="Text 6"/>
          <p:cNvSpPr/>
          <p:nvPr/>
        </p:nvSpPr>
        <p:spPr>
          <a:xfrm>
            <a:off x="550164" y="4603444"/>
            <a:ext cx="11091672" cy="1371600"/>
          </a:xfrm>
          <a:prstGeom prst="rect">
            <a:avLst/>
          </a:prstGeom>
          <a:noFill/>
          <a:ln/>
        </p:spPr>
        <p:txBody>
          <a:bodyPr wrap="square" rtlCol="0" anchor="t"/>
          <a:lstStyle/>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El workflow se activa en dos situaciones: push directo a main y apertura de una PR.</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runs-on: ubuntu-latest — Linux gratuito, arranca en segundos, parte de cero cada vez.</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9.3 — El workflow ci.yml: steps</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48640" y="868680"/>
            <a:ext cx="11091672" cy="502920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868680"/>
            <a:ext cx="73152" cy="502920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777240" y="960120"/>
            <a:ext cx="10680192" cy="4846320"/>
          </a:xfrm>
          <a:prstGeom prst="rect">
            <a:avLst/>
          </a:prstGeom>
          <a:noFill/>
          <a:ln/>
        </p:spPr>
        <p:txBody>
          <a:bodyPr wrap="square" rtlCol="0" anchor="t"/>
          <a:lstStyle/>
          <a:p>
            <a:pPr marL="0" indent="0">
              <a:buNone/>
            </a:pPr>
            <a:r>
              <a:rPr lang="en-US" sz="1200" dirty="0">
                <a:solidFill>
                  <a:srgbClr val="263238"/>
                </a:solidFill>
                <a:latin typeface="Courier New" pitchFamily="34" charset="0"/>
                <a:ea typeface="Courier New" pitchFamily="34" charset="-122"/>
                <a:cs typeface="Courier New" pitchFamily="34" charset="-120"/>
              </a:rPr>
              <a:t>    steps:</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name: Descargar el código fuente</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uses: actions/checkout@v7</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name: Instalar Java 21 (Temurin)</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uses: actions/setup-java@v6</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with:</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java-version: '21'</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distribution: 'temurin'</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cache: 'maven'</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name: Compilar el proyecto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run: mvn compile -B</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name: Ejecutar los tests</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run: mvn test -B</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name: Guardar el informe de tests</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if: always()</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uses: actions/upload-artifact@v7</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with:</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name: informe-tests</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path: target/surefire-reports/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9.4 — El proyecto Calculadora: Calculadora.java</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48640" y="1195252"/>
            <a:ext cx="11091672" cy="713232"/>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777240" y="1268404"/>
            <a:ext cx="10634472" cy="566928"/>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Clase con 4 operaciones. La división lanza una excepción si el divisor es cero, lo que permite testear también el comportamiento de error.</a:t>
            </a:r>
            <a:endParaRPr lang="en-US" sz="1500" dirty="0"/>
          </a:p>
        </p:txBody>
      </p:sp>
      <p:sp>
        <p:nvSpPr>
          <p:cNvPr id="7" name="Shape 5"/>
          <p:cNvSpPr/>
          <p:nvPr/>
        </p:nvSpPr>
        <p:spPr>
          <a:xfrm>
            <a:off x="548640" y="2091364"/>
            <a:ext cx="11091672" cy="3474720"/>
          </a:xfrm>
          <a:prstGeom prst="rect">
            <a:avLst/>
          </a:prstGeom>
          <a:solidFill>
            <a:srgbClr val="ECEFF1"/>
          </a:solidFill>
          <a:ln w="12700">
            <a:solidFill>
              <a:srgbClr val="EEEEEE"/>
            </a:solidFill>
            <a:prstDash val="solid"/>
          </a:ln>
        </p:spPr>
        <p:txBody>
          <a:bodyPr/>
          <a:lstStyle/>
          <a:p>
            <a:endParaRPr lang="es-ES"/>
          </a:p>
        </p:txBody>
      </p:sp>
      <p:sp>
        <p:nvSpPr>
          <p:cNvPr id="8" name="Shape 6"/>
          <p:cNvSpPr/>
          <p:nvPr/>
        </p:nvSpPr>
        <p:spPr>
          <a:xfrm>
            <a:off x="548640" y="2091364"/>
            <a:ext cx="73152" cy="3474720"/>
          </a:xfrm>
          <a:prstGeom prst="rect">
            <a:avLst/>
          </a:prstGeom>
          <a:solidFill>
            <a:srgbClr val="E64A19"/>
          </a:solidFill>
          <a:ln w="12700">
            <a:solidFill>
              <a:srgbClr val="E64A19"/>
            </a:solidFill>
            <a:prstDash val="solid"/>
          </a:ln>
        </p:spPr>
        <p:txBody>
          <a:bodyPr/>
          <a:lstStyle/>
          <a:p>
            <a:endParaRPr lang="es-ES"/>
          </a:p>
        </p:txBody>
      </p:sp>
      <p:sp>
        <p:nvSpPr>
          <p:cNvPr id="9" name="Text 7"/>
          <p:cNvSpPr/>
          <p:nvPr/>
        </p:nvSpPr>
        <p:spPr>
          <a:xfrm>
            <a:off x="777240" y="2182804"/>
            <a:ext cx="10680192" cy="3291840"/>
          </a:xfrm>
          <a:prstGeom prst="rect">
            <a:avLst/>
          </a:prstGeom>
          <a:noFill/>
          <a:ln/>
        </p:spPr>
        <p:txBody>
          <a:bodyPr wrap="square" rtlCol="0" anchor="t"/>
          <a:lstStyle/>
          <a:p>
            <a:pPr marL="0" indent="0">
              <a:buNone/>
            </a:pPr>
            <a:r>
              <a:rPr lang="en-US" sz="1400" dirty="0">
                <a:solidFill>
                  <a:srgbClr val="263238"/>
                </a:solidFill>
                <a:latin typeface="Courier New" pitchFamily="34" charset="0"/>
                <a:ea typeface="Courier New" pitchFamily="34" charset="-122"/>
                <a:cs typeface="Courier New" pitchFamily="34" charset="-120"/>
              </a:rPr>
              <a:t>package com.ejemplo;</a:t>
            </a:r>
            <a:endParaRPr lang="en-US" sz="1400" dirty="0"/>
          </a:p>
          <a:p>
            <a:pPr marL="0" indent="0">
              <a:buNone/>
            </a:pP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public class Calculadora {</a:t>
            </a:r>
            <a:endParaRPr lang="en-US" sz="1400" dirty="0"/>
          </a:p>
          <a:p>
            <a:pPr marL="0" indent="0">
              <a:buNone/>
            </a:pP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public int sumar(int a, int b) { return a + b;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public int restar(int a, int b) { return a - b;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public int multiplicar(int a, int b) { return a * b; }</a:t>
            </a:r>
            <a:endParaRPr lang="en-US" sz="1400" dirty="0"/>
          </a:p>
          <a:p>
            <a:pPr marL="0" indent="0">
              <a:buNone/>
            </a:pP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public double dividir(double a, double b)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if (b == 0)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throw new IllegalArgumentException("No se puede dividir por cero");</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return a / b;</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9.4 — El proyecto Calculadora: CalculadoraTest.java</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48640" y="868680"/>
            <a:ext cx="11091672" cy="68580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777240" y="941832"/>
            <a:ext cx="10634472" cy="53949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5 tests con JUnit 5. Cada método @Test comprueba una operación. Maven los ejecuta automáticamente con mvn test.</a:t>
            </a:r>
            <a:endParaRPr lang="en-US" sz="1500" dirty="0"/>
          </a:p>
        </p:txBody>
      </p:sp>
      <p:sp>
        <p:nvSpPr>
          <p:cNvPr id="7" name="Shape 5"/>
          <p:cNvSpPr/>
          <p:nvPr/>
        </p:nvSpPr>
        <p:spPr>
          <a:xfrm>
            <a:off x="548640" y="1737360"/>
            <a:ext cx="11091672" cy="4206240"/>
          </a:xfrm>
          <a:prstGeom prst="rect">
            <a:avLst/>
          </a:prstGeom>
          <a:solidFill>
            <a:srgbClr val="ECEFF1"/>
          </a:solidFill>
          <a:ln w="12700">
            <a:solidFill>
              <a:srgbClr val="EEEEEE"/>
            </a:solidFill>
            <a:prstDash val="solid"/>
          </a:ln>
        </p:spPr>
        <p:txBody>
          <a:bodyPr/>
          <a:lstStyle/>
          <a:p>
            <a:endParaRPr lang="es-ES"/>
          </a:p>
        </p:txBody>
      </p:sp>
      <p:sp>
        <p:nvSpPr>
          <p:cNvPr id="8" name="Shape 6"/>
          <p:cNvSpPr/>
          <p:nvPr/>
        </p:nvSpPr>
        <p:spPr>
          <a:xfrm>
            <a:off x="548640" y="1737360"/>
            <a:ext cx="73152" cy="4206240"/>
          </a:xfrm>
          <a:prstGeom prst="rect">
            <a:avLst/>
          </a:prstGeom>
          <a:solidFill>
            <a:srgbClr val="E64A19"/>
          </a:solidFill>
          <a:ln w="12700">
            <a:solidFill>
              <a:srgbClr val="E64A19"/>
            </a:solidFill>
            <a:prstDash val="solid"/>
          </a:ln>
        </p:spPr>
        <p:txBody>
          <a:bodyPr/>
          <a:lstStyle/>
          <a:p>
            <a:endParaRPr lang="es-ES"/>
          </a:p>
        </p:txBody>
      </p:sp>
      <p:sp>
        <p:nvSpPr>
          <p:cNvPr id="9" name="Text 7"/>
          <p:cNvSpPr/>
          <p:nvPr/>
        </p:nvSpPr>
        <p:spPr>
          <a:xfrm>
            <a:off x="777240" y="1828800"/>
            <a:ext cx="10680192" cy="4023360"/>
          </a:xfrm>
          <a:prstGeom prst="rect">
            <a:avLst/>
          </a:prstGeom>
          <a:noFill/>
          <a:ln/>
        </p:spPr>
        <p:txBody>
          <a:bodyPr wrap="square" rtlCol="0" anchor="t"/>
          <a:lstStyle/>
          <a:p>
            <a:pPr marL="0" indent="0">
              <a:buNone/>
            </a:pPr>
            <a:r>
              <a:rPr lang="en-US" sz="1300" dirty="0">
                <a:solidFill>
                  <a:srgbClr val="263238"/>
                </a:solidFill>
                <a:latin typeface="Courier New" pitchFamily="34" charset="0"/>
                <a:ea typeface="Courier New" pitchFamily="34" charset="-122"/>
                <a:cs typeface="Courier New" pitchFamily="34" charset="-120"/>
              </a:rPr>
              <a:t>class CalculadoraTest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private final Calculadora calc = new Calculadora();</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@Test void sumarDosPositivos()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assertEquals(5, calc.sumar(2, 3));</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@Test void restarResultadoNegativo()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assertEquals(-1, calc.restar(2, 3));</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@Test void multiplicarPorCero()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assertEquals(0, calc.multiplicar(7, 0));</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@Test void dividirNormal()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assertEquals(2.5, calc.dividir(5, 2));</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@Test void dividirPorCeroLanzaExcepcion()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assertThrows(IllegalArgumentException.class, () -&gt; calc.dividir(10, 0));</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9.4 — Qué hace cada step con la Calculadora</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Text 3"/>
          <p:cNvSpPr/>
          <p:nvPr/>
        </p:nvSpPr>
        <p:spPr>
          <a:xfrm>
            <a:off x="548640" y="1110996"/>
            <a:ext cx="11091672" cy="5029200"/>
          </a:xfrm>
          <a:prstGeom prst="rect">
            <a:avLst/>
          </a:prstGeom>
          <a:noFill/>
          <a:ln/>
        </p:spPr>
        <p:txBody>
          <a:bodyPr wrap="square" rtlCol="0" anchor="t"/>
          <a:lstStyle/>
          <a:p>
            <a:pPr marL="0" indent="0">
              <a:spcAft>
                <a:spcPts val="600"/>
              </a:spcAft>
              <a:buNone/>
            </a:pPr>
            <a:r>
              <a:rPr lang="en-US" sz="1500" b="1" dirty="0">
                <a:solidFill>
                  <a:srgbClr val="212121"/>
                </a:solidFill>
                <a:latin typeface="Arial" pitchFamily="34" charset="0"/>
                <a:ea typeface="Arial" pitchFamily="34" charset="-122"/>
                <a:cs typeface="Arial" pitchFamily="34" charset="-120"/>
              </a:rPr>
              <a:t>Step 1 — checkout@v7</a:t>
            </a:r>
            <a:endParaRPr lang="en-US" sz="1500" dirty="0"/>
          </a:p>
          <a:p>
            <a:pPr marL="762000" lvl="1" indent="-3810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El runner arranca vacío. Clona el repo: descarga Calculadora.java, los tests y el pom.xml.</a:t>
            </a:r>
            <a:endParaRPr lang="en-US" sz="1500" dirty="0"/>
          </a:p>
          <a:p>
            <a:pPr marL="0" indent="0">
              <a:spcAft>
                <a:spcPts val="600"/>
              </a:spcAft>
              <a:buNone/>
            </a:pPr>
            <a:r>
              <a:rPr lang="en-US" sz="1500" b="1" dirty="0">
                <a:solidFill>
                  <a:srgbClr val="212121"/>
                </a:solidFill>
                <a:latin typeface="Arial" pitchFamily="34" charset="0"/>
                <a:ea typeface="Arial" pitchFamily="34" charset="-122"/>
                <a:cs typeface="Arial" pitchFamily="34" charset="-120"/>
              </a:rPr>
              <a:t>Step 2 — setup-java@v6</a:t>
            </a:r>
            <a:endParaRPr lang="en-US" sz="1500" dirty="0"/>
          </a:p>
          <a:p>
            <a:pPr marL="762000" lvl="1" indent="-3810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Instala JDK 21 (Temurin). Cachéa ~/.m2 para no descargar JUnit en cada run.</a:t>
            </a:r>
            <a:endParaRPr lang="en-US" sz="1500" dirty="0"/>
          </a:p>
          <a:p>
            <a:pPr marL="0" indent="0">
              <a:spcAft>
                <a:spcPts val="600"/>
              </a:spcAft>
              <a:buNone/>
            </a:pPr>
            <a:r>
              <a:rPr lang="en-US" sz="1500" b="1" dirty="0">
                <a:solidFill>
                  <a:srgbClr val="212121"/>
                </a:solidFill>
                <a:latin typeface="Arial" pitchFamily="34" charset="0"/>
                <a:ea typeface="Arial" pitchFamily="34" charset="-122"/>
                <a:cs typeface="Arial" pitchFamily="34" charset="-120"/>
              </a:rPr>
              <a:t>Step 3 — mvn compile -B</a:t>
            </a:r>
            <a:endParaRPr lang="en-US" sz="1500" dirty="0"/>
          </a:p>
          <a:p>
            <a:pPr marL="762000" lvl="1" indent="-3810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Compila Calculadora.java y CalculadoraTest.java. Si hay error de sintaxis, el workflow para aquí.</a:t>
            </a:r>
            <a:endParaRPr lang="en-US" sz="1500" dirty="0"/>
          </a:p>
          <a:p>
            <a:pPr marL="0" indent="0">
              <a:spcAft>
                <a:spcPts val="600"/>
              </a:spcAft>
              <a:buNone/>
            </a:pPr>
            <a:r>
              <a:rPr lang="en-US" sz="1500" b="1" dirty="0">
                <a:solidFill>
                  <a:srgbClr val="212121"/>
                </a:solidFill>
                <a:latin typeface="Arial" pitchFamily="34" charset="0"/>
                <a:ea typeface="Arial" pitchFamily="34" charset="-122"/>
                <a:cs typeface="Arial" pitchFamily="34" charset="-120"/>
              </a:rPr>
              <a:t>Step 4 — mvn test -B</a:t>
            </a:r>
            <a:endParaRPr lang="en-US" sz="1500" dirty="0"/>
          </a:p>
          <a:p>
            <a:pPr marL="762000" lvl="1" indent="-3810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Lanza JUnit con los 5 @Test. Si sumar devuelve el valor equivocado, falla aquí.</a:t>
            </a:r>
            <a:endParaRPr lang="en-US" sz="1500" dirty="0"/>
          </a:p>
          <a:p>
            <a:pPr marL="0" indent="0">
              <a:spcAft>
                <a:spcPts val="600"/>
              </a:spcAft>
              <a:buNone/>
            </a:pPr>
            <a:r>
              <a:rPr lang="en-US" sz="1500" b="1" dirty="0">
                <a:solidFill>
                  <a:srgbClr val="212121"/>
                </a:solidFill>
                <a:latin typeface="Arial" pitchFamily="34" charset="0"/>
                <a:ea typeface="Arial" pitchFamily="34" charset="-122"/>
                <a:cs typeface="Arial" pitchFamily="34" charset="-120"/>
              </a:rPr>
              <a:t>Step 5 — upload-artifact  (if: always())</a:t>
            </a:r>
            <a:endParaRPr lang="en-US" sz="1500" dirty="0"/>
          </a:p>
          <a:p>
            <a:pPr marL="762000" lvl="1" indent="-3810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Guarda el informe de Surefire aunque los tests hayan fallado. Sin if:always() el informe se perdería justo cuando más lo necesitas.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9.4 — Primer run en GitHub Actions</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48640" y="868680"/>
            <a:ext cx="11091672" cy="658368"/>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777240" y="941832"/>
            <a:ext cx="10634472" cy="512064"/>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Tras el primer push a main, el workflow CI — Build y Tests aparece en la pestaña Actions en segundos.</a:t>
            </a:r>
            <a:endParaRPr lang="en-US" sz="1500" dirty="0"/>
          </a:p>
        </p:txBody>
      </p:sp>
      <p:pic>
        <p:nvPicPr>
          <p:cNvPr id="7" name="Image 0" descr="C:/Users/Aitor/Documents/apuntes-profe/acceso-a-datos/docs/tema0/img/actions/panel-actions-primer-run.png"/>
          <p:cNvPicPr>
            <a:picLocks noChangeAspect="1"/>
          </p:cNvPicPr>
          <p:nvPr/>
        </p:nvPicPr>
        <p:blipFill>
          <a:blip r:embed="rId3"/>
          <a:srcRect/>
          <a:stretch/>
        </p:blipFill>
        <p:spPr>
          <a:xfrm>
            <a:off x="1548882" y="1618488"/>
            <a:ext cx="8654516" cy="46908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9.5 — El panel Actions: vista general</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Text 3"/>
          <p:cNvSpPr/>
          <p:nvPr/>
        </p:nvSpPr>
        <p:spPr>
          <a:xfrm>
            <a:off x="788406" y="2514600"/>
            <a:ext cx="4704495" cy="914400"/>
          </a:xfrm>
          <a:prstGeom prst="rect">
            <a:avLst/>
          </a:prstGeom>
          <a:noFill/>
          <a:ln/>
        </p:spPr>
        <p:txBody>
          <a:bodyPr wrap="square" rtlCol="0" anchor="t"/>
          <a:lstStyle/>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  Naranja (girando) — el workflow está ejecutándose en ese momento</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  Verde — todos los steps han pasado correctamente</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  Rojo — algún step ha fallado (tests, compilación o YAML incorrecto)</a:t>
            </a:r>
            <a:endParaRPr lang="en-US" sz="1500" dirty="0"/>
          </a:p>
        </p:txBody>
      </p:sp>
      <p:pic>
        <p:nvPicPr>
          <p:cNvPr id="6" name="Image 0" descr="C:/Users/Aitor/Documents/apuntes-profe/acceso-a-datos/docs/tema0/img/actions/panel-actions-lista-runs.png"/>
          <p:cNvPicPr>
            <a:picLocks noChangeAspect="1"/>
          </p:cNvPicPr>
          <p:nvPr/>
        </p:nvPicPr>
        <p:blipFill>
          <a:blip r:embed="rId3"/>
          <a:srcRect/>
          <a:stretch/>
        </p:blipFill>
        <p:spPr>
          <a:xfrm>
            <a:off x="5492901" y="1267262"/>
            <a:ext cx="5713164" cy="47723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9.5 — Vista de un run: el job build</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48640" y="868680"/>
            <a:ext cx="11091672" cy="7772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777240" y="941832"/>
            <a:ext cx="10634472" cy="63093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Al hacer clic en un run concreto se ven todos los jobs. En el proyecto Calculadora hay un solo job llamado build con sus 5 steps y la duración de cada uno.</a:t>
            </a:r>
            <a:endParaRPr lang="en-US" sz="1500" dirty="0"/>
          </a:p>
        </p:txBody>
      </p:sp>
      <p:pic>
        <p:nvPicPr>
          <p:cNvPr id="7" name="Image 0" descr="C:/Users/Aitor/Documents/apuntes-profe/acceso-a-datos/docs/tema0/img/actions/panel-actions-run-detalle.png"/>
          <p:cNvPicPr>
            <a:picLocks noChangeAspect="1"/>
          </p:cNvPicPr>
          <p:nvPr/>
        </p:nvPicPr>
        <p:blipFill>
          <a:blip r:embed="rId3"/>
          <a:srcRect/>
          <a:stretch/>
        </p:blipFill>
        <p:spPr>
          <a:xfrm>
            <a:off x="3359020" y="1719072"/>
            <a:ext cx="5780688" cy="4572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9.5 — Vista de un step: log de Maven</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48640" y="868680"/>
            <a:ext cx="11091672" cy="7772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777240" y="941832"/>
            <a:ext cx="10634472" cy="63093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Al expandir el step "Ejecutar los tests" se ve la salida de Maven: Tests run: 5, Failures: 0. Los 5 tests de CalculadoraTest han pasado.</a:t>
            </a:r>
            <a:endParaRPr lang="en-US" sz="1500" dirty="0"/>
          </a:p>
        </p:txBody>
      </p:sp>
      <p:pic>
        <p:nvPicPr>
          <p:cNvPr id="7" name="Image 0" descr="C:/Users/Aitor/Documents/apuntes-profe/acceso-a-datos/docs/tema0/img/actions/panel-actions-step-log.png"/>
          <p:cNvPicPr>
            <a:picLocks noChangeAspect="1"/>
          </p:cNvPicPr>
          <p:nvPr/>
        </p:nvPicPr>
        <p:blipFill>
          <a:blip r:embed="rId3"/>
          <a:srcRect/>
          <a:stretch/>
        </p:blipFill>
        <p:spPr>
          <a:xfrm>
            <a:off x="3036181" y="1719072"/>
            <a:ext cx="6116590" cy="4572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9.6 — Cuando el workflow falla: error en el código</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48640" y="868680"/>
            <a:ext cx="11091672" cy="7772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777240" y="941832"/>
            <a:ext cx="10634472" cy="63093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Bug deliberado: cambiamos return a + b por return a - b en sumar(). El test sumarDosPositivos espera 5 pero obtiene -1. GitHub bloquea el merge.</a:t>
            </a:r>
            <a:endParaRPr lang="en-US" sz="1500" dirty="0"/>
          </a:p>
        </p:txBody>
      </p:sp>
      <p:pic>
        <p:nvPicPr>
          <p:cNvPr id="7" name="Image 0" descr="C:/Users/Aitor/Documents/apuntes-profe/acceso-a-datos/docs/tema0/img/actions/panel-actions-step-error.png"/>
          <p:cNvPicPr>
            <a:picLocks noChangeAspect="1"/>
          </p:cNvPicPr>
          <p:nvPr/>
        </p:nvPicPr>
        <p:blipFill>
          <a:blip r:embed="rId3"/>
          <a:srcRect/>
          <a:stretch/>
        </p:blipFill>
        <p:spPr>
          <a:xfrm>
            <a:off x="2855167" y="1737360"/>
            <a:ext cx="5967300" cy="4572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9.6 — Tres tipos de fallo en un workflow</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1671" cy="3840480"/>
        </p:xfrm>
        <a:graphic>
          <a:graphicData uri="http://schemas.openxmlformats.org/drawingml/2006/table">
            <a:tbl>
              <a:tblPr/>
              <a:tblGrid>
                <a:gridCol w="3105668">
                  <a:extLst>
                    <a:ext uri="{9D8B030D-6E8A-4147-A177-3AD203B41FA5}">
                      <a16:colId xmlns:a16="http://schemas.microsoft.com/office/drawing/2014/main" val="20000"/>
                    </a:ext>
                  </a:extLst>
                </a:gridCol>
                <a:gridCol w="4214835">
                  <a:extLst>
                    <a:ext uri="{9D8B030D-6E8A-4147-A177-3AD203B41FA5}">
                      <a16:colId xmlns:a16="http://schemas.microsoft.com/office/drawing/2014/main" val="20001"/>
                    </a:ext>
                  </a:extLst>
                </a:gridCol>
                <a:gridCol w="3771168">
                  <a:extLst>
                    <a:ext uri="{9D8B030D-6E8A-4147-A177-3AD203B41FA5}">
                      <a16:colId xmlns:a16="http://schemas.microsoft.com/office/drawing/2014/main" val="20002"/>
                    </a:ext>
                  </a:extLst>
                </a:gridCol>
              </a:tblGrid>
              <a:tr h="96012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Tipo de error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Ejemplo real</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Solución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960120">
                <a:tc>
                  <a:txBody>
                    <a:bodyPr/>
                    <a:lstStyle/>
                    <a:p>
                      <a:pPr marL="0" indent="0">
                        <a:buNone/>
                      </a:pPr>
                      <a:r>
                        <a:rPr lang="en-US" sz="1400" dirty="0">
                          <a:solidFill>
                            <a:srgbClr val="212121"/>
                          </a:solidFill>
                          <a:latin typeface="Arial" pitchFamily="34" charset="0"/>
                          <a:ea typeface="Arial" pitchFamily="34" charset="-122"/>
                          <a:cs typeface="Arial" pitchFamily="34" charset="-120"/>
                        </a:rPr>
                        <a:t>Error en el código</a:t>
                      </a:r>
                      <a:endParaRPr lang="en-US" sz="1400" dirty="0">
                        <a:latin typeface="Arial" charset="0"/>
                        <a:ea typeface="Arial" charset="0"/>
                        <a:cs typeface="Arial" charset="0"/>
                      </a:endParaRPr>
                    </a:p>
                    <a:p>
                      <a:pPr marL="0" indent="0">
                        <a:buNone/>
                      </a:pPr>
                      <a:r>
                        <a:rPr lang="en-US" sz="1400" dirty="0">
                          <a:solidFill>
                            <a:srgbClr val="212121"/>
                          </a:solidFill>
                          <a:latin typeface="Arial" pitchFamily="34" charset="0"/>
                          <a:ea typeface="Arial" pitchFamily="34" charset="-122"/>
                          <a:cs typeface="Arial" pitchFamily="34" charset="-120"/>
                        </a:rPr>
                        <a:t>(lo más frecuente)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expected: &lt;5&gt; but was: &lt;-1&gt;</a:t>
                      </a:r>
                      <a:endParaRPr lang="en-US" sz="1400" dirty="0">
                        <a:latin typeface="Arial" charset="0"/>
                        <a:ea typeface="Arial" charset="0"/>
                        <a:cs typeface="Arial" charset="0"/>
                      </a:endParaRPr>
                    </a:p>
                    <a:p>
                      <a:pPr marL="0" indent="0">
                        <a:buNone/>
                      </a:pPr>
                      <a:r>
                        <a:rPr lang="en-US" sz="1400" dirty="0">
                          <a:solidFill>
                            <a:srgbClr val="212121"/>
                          </a:solidFill>
                          <a:latin typeface="Arial" pitchFamily="34" charset="0"/>
                          <a:ea typeface="Arial" pitchFamily="34" charset="-122"/>
                          <a:cs typeface="Arial" pitchFamily="34" charset="-120"/>
                        </a:rPr>
                        <a:t>en sumarDosPositivos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Corrige el código, commit y push</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0120">
                <a:tc>
                  <a:txBody>
                    <a:bodyPr/>
                    <a:lstStyle/>
                    <a:p>
                      <a:pPr marL="0" indent="0">
                        <a:buNone/>
                      </a:pPr>
                      <a:r>
                        <a:rPr lang="en-US" sz="1400" dirty="0">
                          <a:solidFill>
                            <a:srgbClr val="212121"/>
                          </a:solidFill>
                          <a:latin typeface="Arial" pitchFamily="34" charset="0"/>
                          <a:ea typeface="Arial" pitchFamily="34" charset="-122"/>
                          <a:cs typeface="Arial" pitchFamily="34" charset="-120"/>
                        </a:rPr>
                        <a:t>Error en el workflow</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Unable to resolve action</a:t>
                      </a:r>
                      <a:endParaRPr lang="en-US" sz="1400" dirty="0">
                        <a:latin typeface="Arial" charset="0"/>
                        <a:ea typeface="Arial" charset="0"/>
                        <a:cs typeface="Arial" charset="0"/>
                      </a:endParaRPr>
                    </a:p>
                    <a:p>
                      <a:pPr marL="0" indent="0">
                        <a:buNone/>
                      </a:pPr>
                      <a:r>
                        <a:rPr lang="en-US" sz="1400" dirty="0">
                          <a:solidFill>
                            <a:srgbClr val="212121"/>
                          </a:solidFill>
                          <a:latin typeface="Arial" pitchFamily="34" charset="0"/>
                          <a:ea typeface="Arial" pitchFamily="34" charset="-122"/>
                          <a:cs typeface="Arial" pitchFamily="34" charset="-120"/>
                        </a:rPr>
                        <a:t>actions/setup-java@v99</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Corrige el fichero .yml y vuelve a hacer push</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960120">
                <a:tc>
                  <a:txBody>
                    <a:bodyPr/>
                    <a:lstStyle/>
                    <a:p>
                      <a:pPr marL="0" indent="0">
                        <a:buNone/>
                      </a:pPr>
                      <a:r>
                        <a:rPr lang="en-US" sz="1400" dirty="0">
                          <a:solidFill>
                            <a:srgbClr val="212121"/>
                          </a:solidFill>
                          <a:latin typeface="Arial" pitchFamily="34" charset="0"/>
                          <a:ea typeface="Arial" pitchFamily="34" charset="-122"/>
                          <a:cs typeface="Arial" pitchFamily="34" charset="-120"/>
                        </a:rPr>
                        <a:t>Error de entorno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JAVA_HOME is not set</a:t>
                      </a:r>
                      <a:endParaRPr lang="en-US" sz="1400" dirty="0">
                        <a:latin typeface="Arial" charset="0"/>
                        <a:ea typeface="Arial" charset="0"/>
                        <a:cs typeface="Arial" charset="0"/>
                      </a:endParaRPr>
                    </a:p>
                    <a:p>
                      <a:pPr marL="0" indent="0">
                        <a:buNone/>
                      </a:pPr>
                      <a:r>
                        <a:rPr lang="en-US" sz="1400" dirty="0">
                          <a:solidFill>
                            <a:srgbClr val="212121"/>
                          </a:solidFill>
                          <a:latin typeface="Arial" pitchFamily="34" charset="0"/>
                          <a:ea typeface="Arial" pitchFamily="34" charset="-122"/>
                          <a:cs typeface="Arial" pitchFamily="34" charset="-120"/>
                        </a:rPr>
                        <a:t>java not in PATH</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Añade el step setup-java@v4 antes del que falla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548640" y="4937760"/>
            <a:ext cx="11091672" cy="914400"/>
          </a:xfrm>
          <a:prstGeom prst="roundRect">
            <a:avLst/>
          </a:prstGeom>
          <a:solidFill>
            <a:srgbClr val="FFF8E1"/>
          </a:solidFill>
          <a:ln w="19050">
            <a:solidFill>
              <a:srgbClr val="F57F17"/>
            </a:solidFill>
            <a:prstDash val="solid"/>
          </a:ln>
        </p:spPr>
        <p:txBody>
          <a:bodyPr/>
          <a:lstStyle/>
          <a:p>
            <a:endParaRPr lang="es-ES"/>
          </a:p>
        </p:txBody>
      </p:sp>
      <p:sp>
        <p:nvSpPr>
          <p:cNvPr id="7" name="Text 4"/>
          <p:cNvSpPr/>
          <p:nvPr/>
        </p:nvSpPr>
        <p:spPr>
          <a:xfrm>
            <a:off x="777240" y="5010912"/>
            <a:ext cx="10634472" cy="76809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Si los tests pasan en tu máquina pero fallan en el runner: versión de Java distinta, dependencia que no se instala, o un fichero local que no está en el repositorio. El runner parte de cero cada vez.</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9.7 — El Marketplace de Actions</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48640" y="868680"/>
            <a:ext cx="11091672" cy="713232"/>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777240" y="941832"/>
            <a:ext cx="10634472" cy="566928"/>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Miles de Actions reutilizables publicadas por GitHub y la comunidad. En el proyecto Calculadora ya usamos tres de las más habituales.</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2316651001"/>
              </p:ext>
            </p:extLst>
          </p:nvPr>
        </p:nvGraphicFramePr>
        <p:xfrm>
          <a:off x="548640" y="1810512"/>
          <a:ext cx="11091672" cy="3456432"/>
        </p:xfrm>
        <a:graphic>
          <a:graphicData uri="http://schemas.openxmlformats.org/drawingml/2006/table">
            <a:tbl>
              <a:tblPr/>
              <a:tblGrid>
                <a:gridCol w="3327502">
                  <a:extLst>
                    <a:ext uri="{9D8B030D-6E8A-4147-A177-3AD203B41FA5}">
                      <a16:colId xmlns:a16="http://schemas.microsoft.com/office/drawing/2014/main" val="20000"/>
                    </a:ext>
                  </a:extLst>
                </a:gridCol>
                <a:gridCol w="7764170">
                  <a:extLst>
                    <a:ext uri="{9D8B030D-6E8A-4147-A177-3AD203B41FA5}">
                      <a16:colId xmlns:a16="http://schemas.microsoft.com/office/drawing/2014/main" val="20001"/>
                    </a:ext>
                  </a:extLst>
                </a:gridCol>
              </a:tblGrid>
              <a:tr h="576072">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Action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Para qué sirve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576072">
                <a:tc>
                  <a:txBody>
                    <a:bodyPr/>
                    <a:lstStyle/>
                    <a:p>
                      <a:pPr marL="0" indent="0">
                        <a:buNone/>
                      </a:pPr>
                      <a:r>
                        <a:rPr lang="en-US" sz="1400" b="1" dirty="0">
                          <a:solidFill>
                            <a:srgbClr val="212121"/>
                          </a:solidFill>
                          <a:latin typeface="Arial" pitchFamily="34" charset="0"/>
                          <a:ea typeface="Arial" pitchFamily="34" charset="-122"/>
                          <a:cs typeface="Arial" pitchFamily="34" charset="-120"/>
                        </a:rPr>
                        <a:t>actions/checkout@v7</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Clona el repositorio en el runner. Siempre el primer step.</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6072">
                <a:tc>
                  <a:txBody>
                    <a:bodyPr/>
                    <a:lstStyle/>
                    <a:p>
                      <a:pPr marL="0" indent="0">
                        <a:buNone/>
                      </a:pPr>
                      <a:r>
                        <a:rPr lang="en-US" sz="1400" b="1" dirty="0">
                          <a:solidFill>
                            <a:srgbClr val="212121"/>
                          </a:solidFill>
                          <a:latin typeface="Arial" pitchFamily="34" charset="0"/>
                          <a:ea typeface="Arial" pitchFamily="34" charset="-122"/>
                          <a:cs typeface="Arial" pitchFamily="34" charset="-120"/>
                        </a:rPr>
                        <a:t>actions/setup-java@v6</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Instala un JDK concreto (Temurin, Zulu, Corretto...).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76072">
                <a:tc>
                  <a:txBody>
                    <a:bodyPr/>
                    <a:lstStyle/>
                    <a:p>
                      <a:pPr marL="0" indent="0">
                        <a:buNone/>
                      </a:pPr>
                      <a:r>
                        <a:rPr lang="en-US" sz="1400" b="1" dirty="0">
                          <a:solidFill>
                            <a:srgbClr val="212121"/>
                          </a:solidFill>
                          <a:latin typeface="Arial" pitchFamily="34" charset="0"/>
                          <a:ea typeface="Arial" pitchFamily="34" charset="-122"/>
                          <a:cs typeface="Arial" pitchFamily="34" charset="-120"/>
                        </a:rPr>
                        <a:t>actions/setup-node@v7</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Instala Node.js y npm.</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6072">
                <a:tc>
                  <a:txBody>
                    <a:bodyPr/>
                    <a:lstStyle/>
                    <a:p>
                      <a:pPr marL="0" indent="0">
                        <a:buNone/>
                      </a:pPr>
                      <a:r>
                        <a:rPr lang="en-US" sz="1400" b="1" dirty="0">
                          <a:solidFill>
                            <a:srgbClr val="212121"/>
                          </a:solidFill>
                          <a:latin typeface="Arial" pitchFamily="34" charset="0"/>
                          <a:ea typeface="Arial" pitchFamily="34" charset="-122"/>
                          <a:cs typeface="Arial" pitchFamily="34" charset="-120"/>
                        </a:rPr>
                        <a:t>actions/cache@v6</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Guarda en caché dependencias (Maven, npm...) para acelerar los builds.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76072">
                <a:tc>
                  <a:txBody>
                    <a:bodyPr/>
                    <a:lstStyle/>
                    <a:p>
                      <a:pPr marL="0" indent="0">
                        <a:buNone/>
                      </a:pPr>
                      <a:r>
                        <a:rPr lang="en-US" sz="1400" b="1" dirty="0">
                          <a:solidFill>
                            <a:srgbClr val="212121"/>
                          </a:solidFill>
                          <a:latin typeface="Arial" pitchFamily="34" charset="0"/>
                          <a:ea typeface="Arial" pitchFamily="34" charset="-122"/>
                          <a:cs typeface="Arial" pitchFamily="34" charset="-120"/>
                        </a:rPr>
                        <a:t>actions/upload-artifact</a:t>
                      </a:r>
                      <a:r>
                        <a:rPr lang="en-US" sz="1400" b="1">
                          <a:solidFill>
                            <a:srgbClr val="212121"/>
                          </a:solidFill>
                          <a:latin typeface="Arial" pitchFamily="34" charset="0"/>
                          <a:ea typeface="Arial" pitchFamily="34" charset="-122"/>
                          <a:cs typeface="Arial" pitchFamily="34" charset="-120"/>
                        </a:rPr>
                        <a:t>@v7</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Guarda ficheros del runner (JARs, informes de tests) para descargar después.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5"/>
          <p:cNvSpPr/>
          <p:nvPr/>
        </p:nvSpPr>
        <p:spPr>
          <a:xfrm>
            <a:off x="548640" y="5495544"/>
            <a:ext cx="11091672" cy="804672"/>
          </a:xfrm>
          <a:prstGeom prst="roundRect">
            <a:avLst/>
          </a:prstGeom>
          <a:solidFill>
            <a:srgbClr val="FFF8E1"/>
          </a:solidFill>
          <a:ln w="19050">
            <a:solidFill>
              <a:srgbClr val="F57F17"/>
            </a:solidFill>
            <a:prstDash val="solid"/>
          </a:ln>
        </p:spPr>
        <p:txBody>
          <a:bodyPr/>
          <a:lstStyle/>
          <a:p>
            <a:endParaRPr lang="es-ES"/>
          </a:p>
        </p:txBody>
      </p:sp>
      <p:sp>
        <p:nvSpPr>
          <p:cNvPr id="9" name="Text 6"/>
          <p:cNvSpPr/>
          <p:nvPr/>
        </p:nvSpPr>
        <p:spPr>
          <a:xfrm>
            <a:off x="777240" y="5568696"/>
            <a:ext cx="10634472" cy="658368"/>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Las Actions oficiales (actions/...) son de confianza. Las de terceros ejecutan código en tu runner con acceso a tus secrets — revísalas antes de usarlas.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9.8 — Secrets: almacenar credenciales de forma segura</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Text 3"/>
          <p:cNvSpPr/>
          <p:nvPr/>
        </p:nvSpPr>
        <p:spPr>
          <a:xfrm>
            <a:off x="548640" y="868680"/>
            <a:ext cx="11091672" cy="1371600"/>
          </a:xfrm>
          <a:prstGeom prst="rect">
            <a:avLst/>
          </a:prstGeom>
          <a:noFill/>
          <a:ln/>
        </p:spPr>
        <p:txBody>
          <a:bodyPr wrap="square" rtlCol="0" anchor="t"/>
          <a:lstStyle/>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Nunca escribas contraseñas o tokens directamente en el YAML — el fichero es público.</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Settings → Secrets and variables → Actions → New repository secret</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Nombre en mayúsculas por convenio: DEPLOY_TOKEN, MAVEN_PASSWORD...</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GitHub cifra el valor — nadie puede leerlo, ni tú, una vez guardado.</a:t>
            </a:r>
            <a:endParaRPr lang="en-US" sz="1500" dirty="0"/>
          </a:p>
        </p:txBody>
      </p:sp>
      <p:pic>
        <p:nvPicPr>
          <p:cNvPr id="6" name="Image 0" descr="C:/Users/Aitor/Documents/apuntes-profe/acceso-a-datos/docs/tema0/img/actions/secrets-settings.png"/>
          <p:cNvPicPr>
            <a:picLocks noChangeAspect="1"/>
          </p:cNvPicPr>
          <p:nvPr/>
        </p:nvPicPr>
        <p:blipFill>
          <a:blip r:embed="rId3"/>
          <a:srcRect/>
          <a:stretch/>
        </p:blipFill>
        <p:spPr>
          <a:xfrm>
            <a:off x="548640" y="2377440"/>
            <a:ext cx="11091672" cy="39776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9.8 — Secrets: cómo usarlos en el workflow</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Shape 3"/>
          <p:cNvSpPr/>
          <p:nvPr/>
        </p:nvSpPr>
        <p:spPr>
          <a:xfrm>
            <a:off x="548640" y="1303020"/>
            <a:ext cx="11091672" cy="8229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777240" y="1376172"/>
            <a:ext cx="10634472" cy="67665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La sintaxis ${{ secrets.NOMBRE }} sustituye el valor en tiempo de ejecución. En los logs aparece como *** aunque alguien intente imprimirlo con echo.</a:t>
            </a:r>
            <a:endParaRPr lang="en-US" sz="1500" dirty="0"/>
          </a:p>
        </p:txBody>
      </p:sp>
      <p:sp>
        <p:nvSpPr>
          <p:cNvPr id="7" name="Shape 5"/>
          <p:cNvSpPr/>
          <p:nvPr/>
        </p:nvSpPr>
        <p:spPr>
          <a:xfrm>
            <a:off x="548640" y="2354580"/>
            <a:ext cx="11091672" cy="1645920"/>
          </a:xfrm>
          <a:prstGeom prst="rect">
            <a:avLst/>
          </a:prstGeom>
          <a:solidFill>
            <a:srgbClr val="ECEFF1"/>
          </a:solidFill>
          <a:ln w="12700">
            <a:solidFill>
              <a:srgbClr val="EEEEEE"/>
            </a:solidFill>
            <a:prstDash val="solid"/>
          </a:ln>
        </p:spPr>
        <p:txBody>
          <a:bodyPr/>
          <a:lstStyle/>
          <a:p>
            <a:endParaRPr lang="es-ES"/>
          </a:p>
        </p:txBody>
      </p:sp>
      <p:sp>
        <p:nvSpPr>
          <p:cNvPr id="8" name="Shape 6"/>
          <p:cNvSpPr/>
          <p:nvPr/>
        </p:nvSpPr>
        <p:spPr>
          <a:xfrm>
            <a:off x="548640" y="2354580"/>
            <a:ext cx="73152" cy="1645920"/>
          </a:xfrm>
          <a:prstGeom prst="rect">
            <a:avLst/>
          </a:prstGeom>
          <a:solidFill>
            <a:srgbClr val="E64A19"/>
          </a:solidFill>
          <a:ln w="12700">
            <a:solidFill>
              <a:srgbClr val="E64A19"/>
            </a:solidFill>
            <a:prstDash val="solid"/>
          </a:ln>
        </p:spPr>
        <p:txBody>
          <a:bodyPr/>
          <a:lstStyle/>
          <a:p>
            <a:endParaRPr lang="es-ES"/>
          </a:p>
        </p:txBody>
      </p:sp>
      <p:sp>
        <p:nvSpPr>
          <p:cNvPr id="9" name="Text 7"/>
          <p:cNvSpPr/>
          <p:nvPr/>
        </p:nvSpPr>
        <p:spPr>
          <a:xfrm>
            <a:off x="777240" y="2446020"/>
            <a:ext cx="10680192" cy="1463040"/>
          </a:xfrm>
          <a:prstGeom prst="rect">
            <a:avLst/>
          </a:prstGeom>
          <a:noFill/>
          <a:ln/>
        </p:spPr>
        <p:txBody>
          <a:bodyPr wrap="square" rtlCol="0" anchor="t"/>
          <a:lstStyle/>
          <a:p>
            <a:pPr marL="0" indent="0">
              <a:buNone/>
            </a:pPr>
            <a:r>
              <a:rPr lang="en-US" sz="1400" dirty="0">
                <a:solidFill>
                  <a:srgbClr val="263238"/>
                </a:solidFill>
                <a:latin typeface="Courier New" pitchFamily="34" charset="0"/>
                <a:ea typeface="Courier New" pitchFamily="34" charset="-122"/>
                <a:cs typeface="Courier New" pitchFamily="34" charset="-120"/>
              </a:rPr>
              <a:t>- name: Publicar en el registro</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run: mvn deploy</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env:</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MAVEN_USERNAME: ${{ secrets.MAVEN_USERNAME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MAVEN_PASSWORD: ${{ secrets.MAVEN_PASSWORD }}</a:t>
            </a:r>
            <a:endParaRPr lang="en-US" sz="1400" dirty="0"/>
          </a:p>
        </p:txBody>
      </p:sp>
      <p:sp>
        <p:nvSpPr>
          <p:cNvPr id="10" name="Shape 8"/>
          <p:cNvSpPr/>
          <p:nvPr/>
        </p:nvSpPr>
        <p:spPr>
          <a:xfrm>
            <a:off x="548640" y="4274820"/>
            <a:ext cx="11091672" cy="868680"/>
          </a:xfrm>
          <a:prstGeom prst="roundRect">
            <a:avLst/>
          </a:prstGeom>
          <a:solidFill>
            <a:srgbClr val="FFF8E1"/>
          </a:solidFill>
          <a:ln w="19050">
            <a:solidFill>
              <a:srgbClr val="F57F17"/>
            </a:solidFill>
            <a:prstDash val="solid"/>
          </a:ln>
        </p:spPr>
        <p:txBody>
          <a:bodyPr/>
          <a:lstStyle/>
          <a:p>
            <a:endParaRPr lang="es-ES"/>
          </a:p>
        </p:txBody>
      </p:sp>
      <p:sp>
        <p:nvSpPr>
          <p:cNvPr id="11" name="Text 9"/>
          <p:cNvSpPr/>
          <p:nvPr/>
        </p:nvSpPr>
        <p:spPr>
          <a:xfrm>
            <a:off x="777240" y="4347972"/>
            <a:ext cx="10634472" cy="72237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Los secrets NO están disponibles en PRs de forks externos. Esto evita que alguien cree un fork, añada echo ${{ secrets.TOKEN }} al workflow y extraiga tus credenciales.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 Ideas clave</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0 — Integración Continua con GitHub Actions</a:t>
            </a:r>
            <a:endParaRPr lang="en-US" sz="1100" dirty="0"/>
          </a:p>
        </p:txBody>
      </p:sp>
      <p:sp>
        <p:nvSpPr>
          <p:cNvPr id="5" name="Text 3"/>
          <p:cNvSpPr/>
          <p:nvPr/>
        </p:nvSpPr>
        <p:spPr>
          <a:xfrm>
            <a:off x="548640" y="1316549"/>
            <a:ext cx="11091672" cy="5029200"/>
          </a:xfrm>
          <a:prstGeom prst="rect">
            <a:avLst/>
          </a:prstGeom>
          <a:noFill/>
          <a:ln/>
        </p:spPr>
        <p:txBody>
          <a:bodyPr wrap="square" rtlCol="0" anchor="t"/>
          <a:lstStyle/>
          <a:p>
            <a:pPr marL="190500" indent="-1905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CI — ejecutar comprobaciones automáticas en cada cambio para detectar errores antes de que lleguen a main.</a:t>
            </a:r>
            <a:endParaRPr lang="en-US" sz="1500" dirty="0"/>
          </a:p>
          <a:p>
            <a:pPr marL="190500" indent="-1905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GitHub Actions — CI/CD integrado en GitHub. Se configura con ficheros YAML en .github/workflows/.</a:t>
            </a:r>
            <a:endParaRPr lang="en-US" sz="1500" dirty="0"/>
          </a:p>
          <a:p>
            <a:pPr marL="190500" indent="-1905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Event → Workflow → Job → Steps — cada push activa el workflow, que ejecuta jobs con steps en orden.</a:t>
            </a:r>
            <a:endParaRPr lang="en-US" sz="1500" dirty="0"/>
          </a:p>
          <a:p>
            <a:pPr marL="190500" indent="-1905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Si el workflow falla, el log indica exactamente qué test falló y con qué valores (expected: &lt;5&gt; but was: &lt;-1&gt;).</a:t>
            </a:r>
            <a:endParaRPr lang="en-US" sz="1500" dirty="0"/>
          </a:p>
          <a:p>
            <a:pPr marL="190500" indent="-1905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Secrets — almacenan credenciales cifradas. Nunca escribas contraseñas directamente en el YAML.</a:t>
            </a:r>
            <a:endParaRPr lang="en-US" sz="1500" dirty="0"/>
          </a:p>
          <a:p>
            <a:pPr marL="190500" indent="-1905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if: always() garantiza que un step se ejecute aunque los anteriores fallen — imprescindible para guardar informes de tests.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2454</Words>
  <Application>Microsoft Office PowerPoint</Application>
  <PresentationFormat>Panorámica</PresentationFormat>
  <Paragraphs>284</Paragraphs>
  <Slides>22</Slides>
  <Notes>22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22</vt:i4>
      </vt:variant>
    </vt:vector>
  </HeadingPairs>
  <TitlesOfParts>
    <vt:vector size="25"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Integración Continua con GitHub Actions</dc:title>
  <dc:subject>PptxGenJS Presentation</dc:subject>
  <dc:creator>Acceso a Datos</dc:creator>
  <cp:lastModifiedBy>ROIG AGUILAR, ALEJANDRO</cp:lastModifiedBy>
  <cp:revision>3</cp:revision>
  <dcterms:created xsi:type="dcterms:W3CDTF">2026-07-08T09:17:18Z</dcterms:created>
  <dcterms:modified xsi:type="dcterms:W3CDTF">2026-09-15T10:59:11Z</dcterms:modified>
</cp:coreProperties>
</file>