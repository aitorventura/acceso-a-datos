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2063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D7C2B-0FBD-60CF-408D-E99F924F2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B7DD3C-7031-7F02-B7A2-5A9E27CF4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FFB81-AA66-2778-90C5-3344B4DD6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86202-01F7-B33E-D696-5A2AE73CA2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155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 —  TEMA 0: GIT Y GITHUB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GitHub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repositorios remotos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Introducción a GitHub y Repositorios Remotos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 repositorio remoto?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9144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121615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copia de tu repositorio de Git alojada en un servidor de internet: réplica completa de commits, ramas y etiquetas. Usaremos GitHub como servidor principal del curso.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514344" cy="13716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3240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Colaboración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Varios desarrolladores trabajan sobre el mismo proyecto y comparten cambios.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37304" y="2240280"/>
            <a:ext cx="3514344" cy="137160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474464" y="2331720"/>
            <a:ext cx="3240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 de seguridad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0184" y="2834640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tu ordenador falla, el código sigue en la nube.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5968" y="2240280"/>
            <a:ext cx="3514344" cy="13716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263128" y="2331720"/>
            <a:ext cx="3240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08848" y="2834640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Portafolio, o conectarlo a servidores de despliegue.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Alternativas a GitHub: GitLab (open source, DevOps) y Bitbucket (Atlassian, Jira/Trello).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98EFE-6D98-30BE-C505-81EDE48F1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794C2D-BA8E-3A12-6A1C-AF51207FA49F}"/>
              </a:ext>
            </a:extLst>
          </p:cNvPr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D360901-219A-81A1-E78B-9BC7DE847354}"/>
              </a:ext>
            </a:extLst>
          </p:cNvPr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 repositorio remoto?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1508D40-F9BA-A82B-4445-886CDE1C5C0B}"/>
              </a:ext>
            </a:extLst>
          </p:cNvPr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GitHub y repositorios remotos</a:t>
            </a:r>
            <a:endParaRPr lang="en-US" sz="1100" dirty="0"/>
          </a:p>
        </p:txBody>
      </p:sp>
      <p:pic>
        <p:nvPicPr>
          <p:cNvPr id="18" name="Image 0" descr="C:/Users/Aitor/Documents/apuntes-profe/acceso-a-datos/docs/tema0/img/tema0_github_local_remoto.png">
            <a:extLst>
              <a:ext uri="{FF2B5EF4-FFF2-40B4-BE49-F238E27FC236}">
                <a16:creationId xmlns:a16="http://schemas.microsoft.com/office/drawing/2014/main" id="{AB0037E0-2928-8A73-9891-15950A799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27162"/>
            <a:ext cx="11245433" cy="508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557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en GitHub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GitHub y repositorios remotos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es gratuito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01468" cy="20116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23271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Sign up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22357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github.com, arriba a la derecha.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78708" y="1600200"/>
            <a:ext cx="2601468" cy="20116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515868" y="1691640"/>
            <a:ext cx="23271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1588" y="2423160"/>
            <a:ext cx="22357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contraseña y usuario.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08776" y="1600200"/>
            <a:ext cx="2601468" cy="20116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345936" y="1691640"/>
            <a:ext cx="23271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Verificación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91656" y="2423160"/>
            <a:ext cx="22357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Puzzle + código al correo.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38844" y="1600200"/>
            <a:ext cx="2601468" cy="201168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9176004" y="1691640"/>
            <a:ext cx="23271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Dashboard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221724" y="2423160"/>
            <a:ext cx="22357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puedes crear y explorar repositorios.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11091672" cy="8229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77240" y="4050792"/>
            <a:ext cx="10634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el dashboard verás el listado de repositorios (vacío al principio) y el botón verde «New» para crear uno.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y conexión en GitHub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8229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1216152"/>
            <a:ext cx="10634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Antiguamente se usaba la contraseña de la cuenta, pero ya no está permitido desde la terminal. Hoy hay tres formas de verificar tu identidad.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14344" cy="22860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3240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de acceso personal (PAT)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31485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«contraseña larga» para repositorios, revocable. El método más habitual al empezar.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37304" y="2148840"/>
            <a:ext cx="3514344" cy="228600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474464" y="2240280"/>
            <a:ext cx="3240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Claves SSH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20184" y="3063240"/>
            <a:ext cx="31485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de claves criptográficas en tu ordenador. Más profesional y cómodo a largo plazo.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25968" y="2148840"/>
            <a:ext cx="3514344" cy="22860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263128" y="2240280"/>
            <a:ext cx="3240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CLI (gh)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08848" y="3063240"/>
            <a:ext cx="31485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 oficial que autentica a través del navegador.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91672" cy="9601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777240" y="4736592"/>
            <a:ext cx="1063447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PAT es más rápido al principio; SSH es más seguro y no requiere pegar ningún token cada vez que haces push. En profesional, SSH es el estándar.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Generando un Token de Acceso Personal (PAT)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601468" cy="21031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85800" y="1280160"/>
            <a:ext cx="23271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Settings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22357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foto de perfil → Settings.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78708" y="1188720"/>
            <a:ext cx="2601468" cy="21031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515868" y="1280160"/>
            <a:ext cx="23271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Developer settings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61588" y="2011680"/>
            <a:ext cx="22357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Menú lateral, abajo del todo.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08776" y="1188720"/>
            <a:ext cx="2601468" cy="21031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345936" y="1280160"/>
            <a:ext cx="23271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Tokens (classic)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91656" y="2011680"/>
            <a:ext cx="22357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access tokens → Tokens (classic).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38844" y="1188720"/>
            <a:ext cx="2601468" cy="210312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9176004" y="1280160"/>
            <a:ext cx="23271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Generate new token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221724" y="2011680"/>
            <a:ext cx="22357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el permiso repo, y Generate token.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11091672" cy="1188720"/>
          </a:xfrm>
          <a:prstGeom prst="roundRect">
            <a:avLst/>
          </a:prstGeom>
          <a:solidFill>
            <a:srgbClr val="FBE9E7"/>
          </a:solidFill>
          <a:ln w="28575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822960" y="361188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Cópialo ahora: es la única vez que se muestra
</a:t>
            </a:r>
            <a:endParaRPr lang="en-US" sz="19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cierras la pestaña sin copiarlo, tendrás que generar uno nuevo. Empieza por ghp_... y se pega como contraseña al hacer git push.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Configurando la autenticación por SSH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GitHub y repositorios remotos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1-2. Generar la clave y copiar la pública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27048"/>
            <a:ext cx="6309360" cy="22860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48640" y="1527048"/>
            <a:ext cx="73152" cy="22860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1618488"/>
            <a:ext cx="5852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ssh-keygen</a:t>
            </a: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-t</a:t>
            </a: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ed25519</a:t>
            </a: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-C</a:t>
            </a: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"tu_correo@ejemplo.com"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 (Git Bash)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 &lt; ~/.ssh/id_ed25519.pub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pbcopy &lt; ~/.ssh/id_ed25519.pub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6309360" cy="18745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31520" y="4032504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archivos: privada y pública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535424"/>
            <a:ext cx="594360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privada nunca se comparte. La pública (empieza por ssh-ed25519) es la que le das a GitHub.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0" y="1143000"/>
            <a:ext cx="4507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Añadir la clave a GitHub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0" y="1527048"/>
            <a:ext cx="4507992" cy="10058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315200" y="1581912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→ SSH and GPG keys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0" y="2039112"/>
            <a:ext cx="4142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SSH key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32320" y="2651760"/>
            <a:ext cx="4507992" cy="10058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7315200" y="2706624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+ pegar la clave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0" y="3163824"/>
            <a:ext cx="4142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Ej. «Portátil clase»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132320" y="3776472"/>
            <a:ext cx="4507992" cy="118872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7315200" y="3831336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SSH key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0" y="4288536"/>
            <a:ext cx="41422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y pull sin pedir credenciales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32320" y="5120640"/>
            <a:ext cx="4507992" cy="7772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360920" y="5193792"/>
            <a:ext cx="405079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de ahora, clona con la URL SSH (git@github.com:...) en vez de HTTPS.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Subiendo tu proyecto: crear repo y enlazar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05156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119786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Creando el repositorio en GitHub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700784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Botón New, dale un nombre. Si ya tienes un repo local listo, no marques README ni .gitignore: necesitas un repositorio vacío.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Enlazando el local con el remoto: git remote add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1091672" cy="1920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73152" cy="19202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22960" y="2926080"/>
            <a:ext cx="106344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HTTPS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remote add origin https://github.com/tu-usuario/tu-repo.</a:t>
            </a: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SSH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remote add origin </a:t>
            </a: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@github.com:tu-usuario/tu-repo.</a:t>
            </a: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remote</a:t>
            </a: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-v</a:t>
            </a: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5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comprobar que se ha creado bien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11091672" cy="10515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77240" y="5010912"/>
            <a:ext cx="1063447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es un apodo para la URL del servidor remoto — por convención se llama siempre así, así no escribes la URL completa cada vez.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 push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GitHub y repositorios remotos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-u (--set-upstream) vincula tu rama local con la remota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1672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73152" cy="5943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106344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20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</a:t>
            </a:r>
            <a:r>
              <a:rPr lang="en-US" sz="20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-u</a:t>
            </a:r>
            <a:r>
              <a:rPr lang="en-US" sz="20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origin main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1091672" cy="10058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31520" y="243230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de ahí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935224"/>
            <a:ext cx="1072591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sabe adónde ir cuando ejecutas git push o git pull a secas, sin escribir origin main cada vez.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1672" cy="1554480"/>
          </a:xfrm>
          <a:prstGeom prst="roundRect">
            <a:avLst/>
          </a:prstGeom>
          <a:solidFill>
            <a:srgbClr val="FBE9E7"/>
          </a:solidFill>
          <a:ln w="28575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22960" y="374904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uses git push --force salvo que sepas lo que haces
</a:t>
            </a:r>
            <a:endParaRPr lang="en-US" sz="19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Sobreescribe el historial del servidor y puede borrar el trabajo de tus compañeros. Si hay conflicto, primero git pull para integrar, y luego push. --force solo es aceptable en una rama propia que nadie más usa.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5394960"/>
            <a:ext cx="11091672" cy="9144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77240" y="546811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pide usuario y contraseña, pega el Token PAT como contraseña. Si no pide nada, tienes SSH o el Credential Manager de Windows ya recordaba tu sesión.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Clonar un repositorio desde cero: git clone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GitHub y repositorios remotos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Llegas a un ordenador sin nada del proyecto: en vez de git init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1672" cy="11430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73152" cy="11430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106344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clone https://github.com/tu-usuario/tu-repo.</a:t>
            </a:r>
            <a:r>
              <a:rPr lang="en-US" sz="16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con SSH: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clone </a:t>
            </a:r>
            <a:r>
              <a:rPr lang="en-US" sz="16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@github.com:tu-usuario/tu-repo.</a:t>
            </a:r>
            <a:r>
              <a:rPr lang="en-US" sz="16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3514344" cy="14173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85800" y="315468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Crea la carpeta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703320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nombre del repositorio.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37304" y="3063240"/>
            <a:ext cx="3514344" cy="14173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474464" y="315468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Descarga todo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0184" y="3703320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Commits, ramas y archivos.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5968" y="3063240"/>
            <a:ext cx="3514344" cy="141732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263128" y="315468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Configura origin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08848" y="3703320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Apuntando al remoto, automáticamente.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11091672" cy="7772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77240" y="473659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URL de clonación se obtiene desde el botón verde «&lt;&gt; Code» del repositorio en GitHub.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Comprobar y descargar: fetch frente a pull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GitHub y repositorios remotos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408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fetch — comprobar sin descargar de verdad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408676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73152" cy="5943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1664208"/>
            <a:ext cx="495147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fetch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31636" y="1188720"/>
            <a:ext cx="5408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pull — fetch + merge automático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31636" y="1572768"/>
            <a:ext cx="5408676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6231636" y="1572768"/>
            <a:ext cx="73152" cy="5943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505956" y="1664208"/>
            <a:ext cx="495147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pull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1671" cy="2743200"/>
        </p:xfrm>
        <a:graphic>
          <a:graphicData uri="http://schemas.openxmlformats.org/drawingml/2006/table">
            <a:tbl>
              <a:tblPr/>
              <a:tblGrid>
                <a:gridCol w="3549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1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fetch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pull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Conecta al remoto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Descarga cambios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Modifica tus archivos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usarlo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Revisar antes de integrar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Actualizar directamente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5440680"/>
            <a:ext cx="11091672" cy="960120"/>
          </a:xfrm>
          <a:prstGeom prst="roundRect">
            <a:avLst/>
          </a:prstGeom>
          <a:solidFill>
            <a:srgbClr val="FBE9E7"/>
          </a:solidFill>
          <a:ln w="28575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822960" y="553212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si git pull genera un conflicto?
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tú y alguien más (o tú desde la web) habéis modificado el mismo archivo, git pull no puede fusionar solo. Se resuelve igual que en ramas: edita las marcas, git add, git commit.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ramas en el repositorio remoto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GitHub y repositorios remotos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una rama en GitHub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1672" cy="13716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73152" cy="13716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106344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</a:t>
            </a: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-c</a:t>
            </a: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nueva-funcionalidad   </a:t>
            </a:r>
            <a:r>
              <a:rPr lang="en-US" sz="15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 la rama y cambia a ella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trabajas, haces commits ...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</a:t>
            </a: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-u</a:t>
            </a: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origin nueva-funcionalidad   </a:t>
            </a:r>
            <a:r>
              <a:rPr lang="en-US" sz="15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 primera vez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                                 </a:t>
            </a:r>
            <a:r>
              <a:rPr lang="en-US" sz="15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las siguientes veces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1091672" cy="10058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31520" y="320954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existen en tu ordenador hasta que las subes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3712464"/>
            <a:ext cx="1072591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 aprendiste sobre ramas funciona igual en el remoto — el selector de ramas de GitHub las mostrará todas las subidas.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Borrar ramas en remoto (una vez fusionada y borrada en local)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11091672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73152" cy="5943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22960" y="4937760"/>
            <a:ext cx="106344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 origin</a:t>
            </a:r>
            <a:r>
              <a:rPr lang="en-US" sz="17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--delete</a:t>
            </a: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nueva-funcionalidad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También puedes hacerlo desde la web: Branches → icono de papelera.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Requests: proponer cambios para revisión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9601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1216152"/>
            <a:ext cx="1063447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PR es una petición en GitHub para que alguien revise tu rama antes de fusionarla en main. En lugar de fusionar directamente, propones los cambios y el equipo los discute y aprueba.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2361438" cy="12344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21792" y="2377440"/>
            <a:ext cx="221513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-u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mi-rama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64358" y="2331720"/>
            <a:ext cx="640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58718" y="2331720"/>
            <a:ext cx="2361438" cy="12344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531870" y="2377440"/>
            <a:ext cx="221513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&amp;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774436" y="2331720"/>
            <a:ext cx="640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368796" y="2331720"/>
            <a:ext cx="2361438" cy="12344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441948" y="2377440"/>
            <a:ext cx="221513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equipo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4514" y="2331720"/>
            <a:ext cx="640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aprobado  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278874" y="2331720"/>
            <a:ext cx="2361438" cy="12344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9352026" y="2377440"/>
            <a:ext cx="221513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5408676" cy="12801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85800" y="3931920"/>
            <a:ext cx="51343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changed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4434840"/>
            <a:ext cx="50429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Líneas añadidas en verde, borradas en rojo.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31636" y="3840480"/>
            <a:ext cx="5408676" cy="128016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368796" y="3931920"/>
            <a:ext cx="51343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solo para equipos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14516" y="4434840"/>
            <a:ext cx="50429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historial de decisiones también en proyectos propios.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5349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se aprueba, se piden cambios y se hace push de nuevo a la misma rama: la PR se actualiza sola.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trabajo habitual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889150" cy="12344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21792" y="1280160"/>
            <a:ext cx="174284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92070" y="1234440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49270" y="1234440"/>
            <a:ext cx="1889150" cy="12344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922422" y="1280160"/>
            <a:ext cx="174284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switch -c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mi-rama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92701" y="1234440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149901" y="1234440"/>
            <a:ext cx="1889150" cy="12344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223053" y="1280160"/>
            <a:ext cx="174284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Trabajar 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commitear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3331" y="1234440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450531" y="1234440"/>
            <a:ext cx="1889150" cy="12344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523683" y="1280160"/>
            <a:ext cx="174284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-u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mi-rama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293962" y="1234440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751162" y="1234440"/>
            <a:ext cx="1889150" cy="12344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9824314" y="1280160"/>
            <a:ext cx="174284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PR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revisión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2944368"/>
            <a:ext cx="457200" cy="45720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4864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28803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Actualizarte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12080" y="2880360"/>
            <a:ext cx="64282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602736"/>
            <a:ext cx="457200" cy="45720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48640" y="3602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353872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Crear una rama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12080" y="3538728"/>
            <a:ext cx="64282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mi-rama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261104"/>
            <a:ext cx="457200" cy="45720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48640" y="4261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43000" y="419709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Trabajar y commitear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12080" y="4197096"/>
            <a:ext cx="64282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/ git commit -m "..."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4919472"/>
            <a:ext cx="457200" cy="45720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548640" y="4919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43000" y="485546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Publicar la rama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12080" y="4855464"/>
            <a:ext cx="64282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mi-rama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5577840"/>
            <a:ext cx="457200" cy="45720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54864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43000" y="551383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Abrir una Pull Request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12080" y="5513832"/>
            <a:ext cx="64282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esperar revisión antes de fusionar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de Git y GitHub en IntelliJ IDEA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09728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124358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nativo para Git y GitHub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1746504"/>
            <a:ext cx="10725912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mayoría de operaciones se pueden hacer desde la interfaz, sin usar la terminal.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2601468" cy="18288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23271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22357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para marcar archivos al staging, mensaje y diff visual.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78708" y="2468880"/>
            <a:ext cx="2601468" cy="18288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515868" y="2560320"/>
            <a:ext cx="23271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(Ctrl+Shift+K)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61588" y="3200400"/>
            <a:ext cx="22357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los commits pendientes y hacia qué rama van.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08776" y="2468880"/>
            <a:ext cx="2601468" cy="18288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345936" y="2560320"/>
            <a:ext cx="23271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/ Fetch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91656" y="3200400"/>
            <a:ext cx="22357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e integra cambios del remoto.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38844" y="2468880"/>
            <a:ext cx="2601468" cy="18288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9176004" y="2560320"/>
            <a:ext cx="23271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221724" y="3200400"/>
            <a:ext cx="22357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Ramas locales y remotas, New Branch, cambiar con un clic.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11091672" cy="9144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77240" y="464515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terminal y el IDE son complementarios: la terminal da control total; el IDE acelera las operaciones del día a día.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18872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remote add origin &lt;url&gt; vincula el repositorio local con el remoto; origin es el alias de esa URL.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85916" y="118872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368796" y="141732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368796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46036" y="118872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-u origin &lt;rama&gt; sube la rama por primera vez y la vincula; después, git push a secas.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731520" y="269748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315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08760" y="246888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clone &lt;url&gt; descarga un repositorio completo en una carpeta nueva.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85916" y="246888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368796" y="269748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368796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46036" y="246888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fetch descarga sin tocar tus archivos; git pull descarga y fusiona.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731520" y="397764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3152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08760" y="374904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origin --delete &lt;rama&gt; borra una rama del remoto.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85916" y="374904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6368796" y="397764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368796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46036" y="374904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Pull Request es una propuesta de fusión que el equipo revisa antes de integrar en main.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731520" y="525780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731520" y="5257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508760" y="502920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 habitual: pull → nueva rama → trabajar y commitear → push → PR → revisión y merge.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6185916" y="502920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6368796" y="525780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6368796" y="5257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146036" y="502920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 y SSH son las dos formas principales de autenticarte; SSH es el estándar profesional.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1781</Words>
  <Application>Microsoft Office PowerPoint</Application>
  <PresentationFormat>Panorámica</PresentationFormat>
  <Paragraphs>235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GitHub y Repositorios Remotos</dc:title>
  <dc:subject>PptxGenJS Presentation</dc:subject>
  <dc:creator>Acceso a Datos</dc:creator>
  <cp:lastModifiedBy>VENTURA EDO, AITOR</cp:lastModifiedBy>
  <cp:revision>2</cp:revision>
  <dcterms:created xsi:type="dcterms:W3CDTF">2026-09-22T09:02:48Z</dcterms:created>
  <dcterms:modified xsi:type="dcterms:W3CDTF">2026-09-22T09:10:14Z</dcterms:modified>
</cp:coreProperties>
</file>