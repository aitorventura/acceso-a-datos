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694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0: INTRODUCCIÓN</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4400" b="1" dirty="0">
                <a:solidFill>
                  <a:srgbClr val="FFFFFF"/>
                </a:solidFill>
                <a:latin typeface="Arial" pitchFamily="34" charset="0"/>
                <a:ea typeface="Arial" pitchFamily="34" charset="-122"/>
                <a:cs typeface="Arial" pitchFamily="34" charset="-120"/>
              </a:rPr>
              <a:t>Introducción a Docker</a:t>
            </a:r>
            <a:endParaRPr lang="en-US" sz="44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Contenedores, imágenes, volúmenes y Docker Compose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Por qué Docker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444752"/>
            <a:ext cx="11091672" cy="2743200"/>
          </a:xfrm>
          <a:prstGeom prst="rect">
            <a:avLst/>
          </a:prstGeom>
          <a:noFill/>
          <a:ln/>
        </p:spPr>
        <p:txBody>
          <a:bodyPr wrap="square" rtlCol="0" anchor="t"/>
          <a:lstStyle/>
          <a:p>
            <a:pPr marL="0" indent="0">
              <a:buNone/>
            </a:pPr>
            <a:r>
              <a:rPr lang="en-US" sz="2400" dirty="0">
                <a:solidFill>
                  <a:srgbClr val="212121"/>
                </a:solidFill>
                <a:latin typeface="Arial" pitchFamily="34" charset="0"/>
                <a:ea typeface="Arial" pitchFamily="34" charset="-122"/>
                <a:cs typeface="Arial" pitchFamily="34" charset="-120"/>
              </a:rPr>
              <a:t>Durante el curso vas a trabajar con varios motores de bases de datos a la vez (relacional, documental, en memoria...) y con herramientas auxiliares que necesitan su propio servidor. Instalar todo eso directamente en tu ordenador —con las versiones correctas, sin que choquen entre sí, e igual en el instituto que en casa— es un dolor de cabeza.</a:t>
            </a:r>
            <a:endParaRPr lang="en-US" sz="2400" dirty="0"/>
          </a:p>
        </p:txBody>
      </p:sp>
      <p:sp>
        <p:nvSpPr>
          <p:cNvPr id="6" name="Shape 4"/>
          <p:cNvSpPr/>
          <p:nvPr/>
        </p:nvSpPr>
        <p:spPr>
          <a:xfrm>
            <a:off x="548640" y="434340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434840"/>
            <a:ext cx="10543032" cy="1280160"/>
          </a:xfrm>
          <a:prstGeom prst="rect">
            <a:avLst/>
          </a:prstGeom>
          <a:noFill/>
          <a:ln/>
        </p:spPr>
        <p:txBody>
          <a:bodyPr wrap="square" rtlCol="0" anchor="ctr"/>
          <a:lstStyle/>
          <a:p>
            <a:pPr marL="0" indent="0">
              <a:buNone/>
            </a:pPr>
            <a:r>
              <a:rPr lang="en-US" sz="2300" dirty="0">
                <a:solidFill>
                  <a:srgbClr val="212121"/>
                </a:solidFill>
                <a:latin typeface="Arial" pitchFamily="34" charset="0"/>
                <a:ea typeface="Arial" pitchFamily="34" charset="-122"/>
                <a:cs typeface="Arial" pitchFamily="34" charset="-120"/>
              </a:rPr>
              <a:t>Docker resuelve exactamente ese problema, y lo vamos a usar durante todo el módulo para levantar y gestionar el proyecto del curso.</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es Docker?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Shape 3"/>
          <p:cNvSpPr/>
          <p:nvPr/>
        </p:nvSpPr>
        <p:spPr>
          <a:xfrm>
            <a:off x="550164" y="1211580"/>
            <a:ext cx="11091672" cy="164592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4484" y="1303020"/>
            <a:ext cx="10543032" cy="146304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Docker es una herramienta que permite ejecutar aplicaciones dentro de contenedores: entornos aislados y ligeros que incluyen todo lo que la aplicación necesita para funcionar (código, dependencias, configuración) sin tocar el sistema operativo de tu máquina.</a:t>
            </a:r>
            <a:endParaRPr lang="en-US" sz="2200" dirty="0"/>
          </a:p>
        </p:txBody>
      </p:sp>
      <p:sp>
        <p:nvSpPr>
          <p:cNvPr id="7" name="Shape 5"/>
          <p:cNvSpPr/>
          <p:nvPr/>
        </p:nvSpPr>
        <p:spPr>
          <a:xfrm>
            <a:off x="550164" y="3314700"/>
            <a:ext cx="11091672" cy="502920"/>
          </a:xfrm>
          <a:prstGeom prst="rect">
            <a:avLst/>
          </a:prstGeom>
          <a:solidFill>
            <a:srgbClr val="C62828"/>
          </a:solidFill>
          <a:ln w="12700">
            <a:solidFill>
              <a:srgbClr val="C62828"/>
            </a:solidFill>
            <a:prstDash val="solid"/>
          </a:ln>
        </p:spPr>
        <p:txBody>
          <a:bodyPr/>
          <a:lstStyle/>
          <a:p>
            <a:endParaRPr lang="es-ES"/>
          </a:p>
        </p:txBody>
      </p:sp>
      <p:sp>
        <p:nvSpPr>
          <p:cNvPr id="8" name="Text 6"/>
          <p:cNvSpPr/>
          <p:nvPr/>
        </p:nvSpPr>
        <p:spPr>
          <a:xfrm>
            <a:off x="733044" y="331470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Metáfora: una caja estanca</a:t>
            </a:r>
            <a:endParaRPr lang="en-US" sz="1900" dirty="0"/>
          </a:p>
        </p:txBody>
      </p:sp>
      <p:sp>
        <p:nvSpPr>
          <p:cNvPr id="9" name="Text 7"/>
          <p:cNvSpPr/>
          <p:nvPr/>
        </p:nvSpPr>
        <p:spPr>
          <a:xfrm>
            <a:off x="550164" y="4137660"/>
            <a:ext cx="11091672" cy="237744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Piensa en un contenedor como una caja sellada que lleva dentro exactamente lo que necesita para funcionar. No importa si tu ordenador tiene Windows, macOS o Linux, ni qué versión de Python o de PostgreSQL tengas instalada: dentro de la caja siempre es el mismo entorno.</a:t>
            </a:r>
            <a:endParaRPr lang="en-US" sz="2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problema que resuelve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960120"/>
            <a:ext cx="11091672" cy="45720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Sin Docker, instalar el entorno de un proyecto suele terminar así:</a:t>
            </a:r>
            <a:endParaRPr lang="en-US" sz="2200" dirty="0"/>
          </a:p>
        </p:txBody>
      </p:sp>
      <p:sp>
        <p:nvSpPr>
          <p:cNvPr id="6" name="Text 4"/>
          <p:cNvSpPr/>
          <p:nvPr/>
        </p:nvSpPr>
        <p:spPr>
          <a:xfrm>
            <a:off x="548640" y="1645920"/>
            <a:ext cx="11091672" cy="2743200"/>
          </a:xfrm>
          <a:prstGeom prst="rect">
            <a:avLst/>
          </a:prstGeom>
          <a:noFill/>
          <a:ln/>
        </p:spPr>
        <p:txBody>
          <a:bodyPr wrap="square" rtlCol="0" anchor="t"/>
          <a:lstStyle/>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“En mi ordenador funciona, en el tuyo no”, porque tenéis versiones distintas de la base de datos.</a:t>
            </a:r>
            <a:endParaRPr lang="en-US" sz="2200" dirty="0"/>
          </a:p>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Necesitas PostgreSQL para un proyecto y MongoDB para otro, con versiones incompatibles entre sí.</a:t>
            </a:r>
            <a:endParaRPr lang="en-US" sz="2200" dirty="0"/>
          </a:p>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Desinstalar un servicio deja archivos de configuración y datos sueltos por todo el sistema.</a:t>
            </a:r>
            <a:endParaRPr lang="en-US" sz="2200" dirty="0"/>
          </a:p>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Configurar un ordenador nuevo (o el del instituto) desde cero lleva media mañana.</a:t>
            </a:r>
            <a:endParaRPr lang="en-US" sz="2200" dirty="0"/>
          </a:p>
        </p:txBody>
      </p:sp>
      <p:sp>
        <p:nvSpPr>
          <p:cNvPr id="7" name="Shape 5"/>
          <p:cNvSpPr/>
          <p:nvPr/>
        </p:nvSpPr>
        <p:spPr>
          <a:xfrm>
            <a:off x="548640" y="5167293"/>
            <a:ext cx="11091672" cy="109728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822960" y="5258733"/>
            <a:ext cx="10543032" cy="91440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Con Docker, cada servicio vive en su propio contenedor: se instala con un comando, se borra con otro, y no deja rastro en tu sistema si no quieres.</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Docker vs. máquina virtual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960120"/>
            <a:ext cx="11091672" cy="45720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Es habitual confundir contenedores con máquinas virtuales, pero no comparten recursos de la misma forma:</a:t>
            </a:r>
            <a:endParaRPr lang="en-US" sz="2200" dirty="0"/>
          </a:p>
        </p:txBody>
      </p:sp>
      <p:sp>
        <p:nvSpPr>
          <p:cNvPr id="6" name="Shape 4"/>
          <p:cNvSpPr/>
          <p:nvPr/>
        </p:nvSpPr>
        <p:spPr>
          <a:xfrm>
            <a:off x="548640" y="1911096"/>
            <a:ext cx="11091672" cy="502920"/>
          </a:xfrm>
          <a:prstGeom prst="rect">
            <a:avLst/>
          </a:prstGeom>
          <a:solidFill>
            <a:srgbClr val="C62828"/>
          </a:solidFill>
          <a:ln w="12700">
            <a:solidFill>
              <a:srgbClr val="C62828"/>
            </a:solidFill>
            <a:prstDash val="solid"/>
          </a:ln>
        </p:spPr>
        <p:txBody>
          <a:bodyPr/>
          <a:lstStyle/>
          <a:p>
            <a:endParaRPr lang="es-ES"/>
          </a:p>
        </p:txBody>
      </p:sp>
      <p:sp>
        <p:nvSpPr>
          <p:cNvPr id="7" name="Text 5"/>
          <p:cNvSpPr/>
          <p:nvPr/>
        </p:nvSpPr>
        <p:spPr>
          <a:xfrm>
            <a:off x="731520" y="1911096"/>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 Máquina virtual</a:t>
            </a:r>
            <a:endParaRPr lang="en-US" sz="1900" dirty="0"/>
          </a:p>
        </p:txBody>
      </p:sp>
      <p:sp>
        <p:nvSpPr>
          <p:cNvPr id="8" name="Shape 6"/>
          <p:cNvSpPr/>
          <p:nvPr/>
        </p:nvSpPr>
        <p:spPr>
          <a:xfrm>
            <a:off x="5964083" y="1911096"/>
            <a:ext cx="5676229" cy="502920"/>
          </a:xfrm>
          <a:prstGeom prst="roundRect">
            <a:avLst/>
          </a:prstGeom>
          <a:solidFill>
            <a:srgbClr val="C62828"/>
          </a:solidFill>
          <a:ln w="12700">
            <a:solidFill>
              <a:srgbClr val="C62828"/>
            </a:solidFill>
            <a:prstDash val="solid"/>
          </a:ln>
        </p:spPr>
        <p:txBody>
          <a:bodyPr/>
          <a:lstStyle/>
          <a:p>
            <a:endParaRPr lang="es-ES"/>
          </a:p>
        </p:txBody>
      </p:sp>
      <p:sp>
        <p:nvSpPr>
          <p:cNvPr id="9" name="Text 7"/>
          <p:cNvSpPr/>
          <p:nvPr/>
        </p:nvSpPr>
        <p:spPr>
          <a:xfrm>
            <a:off x="6146963" y="1911096"/>
            <a:ext cx="5310469"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 Docker</a:t>
            </a:r>
            <a:endParaRPr lang="en-US" sz="1900" dirty="0"/>
          </a:p>
        </p:txBody>
      </p:sp>
      <p:sp>
        <p:nvSpPr>
          <p:cNvPr id="10" name="Text 8"/>
          <p:cNvSpPr/>
          <p:nvPr/>
        </p:nvSpPr>
        <p:spPr>
          <a:xfrm>
            <a:off x="548640" y="2688336"/>
            <a:ext cx="5232563" cy="2103120"/>
          </a:xfrm>
          <a:prstGeom prst="rect">
            <a:avLst/>
          </a:prstGeom>
          <a:noFill/>
          <a:ln/>
        </p:spPr>
        <p:txBody>
          <a:bodyPr wrap="square" rtlCol="0" anchor="t"/>
          <a:lstStyle/>
          <a:p>
            <a:pPr marL="190500" indent="-1905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Hardware</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Hipervisor</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SO invitado 1, SO invitado 2</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Aplicación A, Aplicación B</a:t>
            </a:r>
            <a:endParaRPr lang="en-US" sz="1900" dirty="0"/>
          </a:p>
        </p:txBody>
      </p:sp>
      <p:sp>
        <p:nvSpPr>
          <p:cNvPr id="11" name="Text 9"/>
          <p:cNvSpPr/>
          <p:nvPr/>
        </p:nvSpPr>
        <p:spPr>
          <a:xfrm>
            <a:off x="5964083" y="2688336"/>
            <a:ext cx="5676229" cy="2103120"/>
          </a:xfrm>
          <a:prstGeom prst="rect">
            <a:avLst/>
          </a:prstGeom>
          <a:noFill/>
          <a:ln/>
        </p:spPr>
        <p:txBody>
          <a:bodyPr wrap="square" rtlCol="0" anchor="t"/>
          <a:lstStyle/>
          <a:p>
            <a:pPr marL="190500" indent="-1905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Hardware</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Sistema operativo del host</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Docker Engine</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Contenedor A, Contenedor B</a:t>
            </a:r>
            <a:endParaRPr lang="en-US" sz="1900" dirty="0"/>
          </a:p>
        </p:txBody>
      </p:sp>
      <p:sp>
        <p:nvSpPr>
          <p:cNvPr id="12" name="Shape 10"/>
          <p:cNvSpPr/>
          <p:nvPr/>
        </p:nvSpPr>
        <p:spPr>
          <a:xfrm>
            <a:off x="601127" y="5084064"/>
            <a:ext cx="11091672" cy="1097280"/>
          </a:xfrm>
          <a:prstGeom prst="roundRect">
            <a:avLst/>
          </a:prstGeom>
          <a:solidFill>
            <a:srgbClr val="FBE9E7"/>
          </a:solidFill>
          <a:ln w="19050">
            <a:solidFill>
              <a:srgbClr val="E64A19"/>
            </a:solidFill>
            <a:prstDash val="solid"/>
          </a:ln>
        </p:spPr>
        <p:txBody>
          <a:bodyPr/>
          <a:lstStyle/>
          <a:p>
            <a:endParaRPr lang="es-ES"/>
          </a:p>
        </p:txBody>
      </p:sp>
      <p:sp>
        <p:nvSpPr>
          <p:cNvPr id="13" name="Text 11"/>
          <p:cNvSpPr/>
          <p:nvPr/>
        </p:nvSpPr>
        <p:spPr>
          <a:xfrm>
            <a:off x="875447" y="5175504"/>
            <a:ext cx="10543032" cy="91440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Cada máquina virtual carga un sistema operativo completo propio: pesada y lenta de arrancar. Los contenedores comparten el kernel del host y solo empaquetan la app y sus dependencias: arrancan en segundos.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Una idea equivocada muy común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645920"/>
            <a:ext cx="11091672" cy="2377440"/>
          </a:xfrm>
          <a:prstGeom prst="rect">
            <a:avLst/>
          </a:prstGeom>
          <a:noFill/>
          <a:ln/>
        </p:spPr>
        <p:txBody>
          <a:bodyPr wrap="square" rtlCol="0" anchor="t"/>
          <a:lstStyle/>
          <a:p>
            <a:pPr marL="0" indent="0">
              <a:buNone/>
            </a:pPr>
            <a:r>
              <a:rPr lang="en-US" sz="2400" dirty="0">
                <a:solidFill>
                  <a:srgbClr val="212121"/>
                </a:solidFill>
                <a:latin typeface="Arial" pitchFamily="34" charset="0"/>
                <a:ea typeface="Arial" pitchFamily="34" charset="-122"/>
                <a:cs typeface="Arial" pitchFamily="34" charset="-120"/>
              </a:rPr>
              <a:t>Docker no sustituye a tu sistema operativo, ni monta una máquina virtual completa por debajo. Sigues teniendo un único Windows, macOS o Linux instalado; lo único que hace Docker es añadir una capa para ejecutar aplicaciones aisladas dentro de ese sistema.</a:t>
            </a:r>
            <a:endParaRPr lang="en-US" sz="2400" dirty="0"/>
          </a:p>
        </p:txBody>
      </p:sp>
      <p:sp>
        <p:nvSpPr>
          <p:cNvPr id="6" name="Shape 4"/>
          <p:cNvSpPr/>
          <p:nvPr/>
        </p:nvSpPr>
        <p:spPr>
          <a:xfrm>
            <a:off x="548640" y="4023360"/>
            <a:ext cx="11091672" cy="128016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114800"/>
            <a:ext cx="10543032" cy="1097280"/>
          </a:xfrm>
          <a:prstGeom prst="rect">
            <a:avLst/>
          </a:prstGeom>
          <a:noFill/>
          <a:ln/>
        </p:spPr>
        <p:txBody>
          <a:bodyPr wrap="square" rtlCol="0" anchor="ctr"/>
          <a:lstStyle/>
          <a:p>
            <a:pPr marL="0" indent="0">
              <a:buNone/>
            </a:pPr>
            <a:r>
              <a:rPr lang="en-US" sz="2300" dirty="0">
                <a:solidFill>
                  <a:srgbClr val="212121"/>
                </a:solidFill>
                <a:latin typeface="Arial" pitchFamily="34" charset="0"/>
                <a:ea typeface="Arial" pitchFamily="34" charset="-122"/>
                <a:cs typeface="Arial" pitchFamily="34" charset="-120"/>
              </a:rPr>
              <a:t>Lo que Docker sustituye, en realidad, es la costumbre de instalar el programa directamente en tu máquina.</a:t>
            </a:r>
            <a:endParaRPr lang="en-US" sz="2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Conceptos clave: Imagen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417320"/>
            <a:ext cx="11091672" cy="173736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Una imagen es un paquete de solo lectura con todo lo necesario para arrancar un programa: el sistema base, el software instalado y la configuración de fábrica.</a:t>
            </a:r>
            <a:endParaRPr lang="en-US" sz="2300" dirty="0"/>
          </a:p>
        </p:txBody>
      </p:sp>
      <p:sp>
        <p:nvSpPr>
          <p:cNvPr id="6" name="Shape 4"/>
          <p:cNvSpPr/>
          <p:nvPr/>
        </p:nvSpPr>
        <p:spPr>
          <a:xfrm>
            <a:off x="550164" y="2880360"/>
            <a:ext cx="11091672" cy="109728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4484" y="2971800"/>
            <a:ext cx="10543032" cy="91440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postgres:18-alpine es una imagen: PostgreSQL en su versión 18, construida sobre una base Linux minimalista (alpine).</a:t>
            </a:r>
            <a:endParaRPr lang="en-US" sz="2100" dirty="0"/>
          </a:p>
        </p:txBody>
      </p:sp>
      <p:sp>
        <p:nvSpPr>
          <p:cNvPr id="8" name="Text 6"/>
          <p:cNvSpPr/>
          <p:nvPr/>
        </p:nvSpPr>
        <p:spPr>
          <a:xfrm>
            <a:off x="548640" y="4754880"/>
            <a:ext cx="11091672" cy="128016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Una imagen no se modifica una vez creada: si necesitas cambiar algo, construyes una imagen nueva. Por eso se dice que es inmutable.</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Conceptos clave: Contenedor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242838"/>
            <a:ext cx="11091672" cy="173736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Un contenedor es lo que resulta de arrancar una imagen: un proceso en ejecución, aislado del resto de tu sistema, con su propio sistema de archivos y su propia red.</a:t>
            </a:r>
            <a:endParaRPr lang="en-US" sz="2300" dirty="0"/>
          </a:p>
        </p:txBody>
      </p:sp>
      <p:sp>
        <p:nvSpPr>
          <p:cNvPr id="6" name="Text 4"/>
          <p:cNvSpPr/>
          <p:nvPr/>
        </p:nvSpPr>
        <p:spPr>
          <a:xfrm>
            <a:off x="548640" y="2477278"/>
            <a:ext cx="11091672" cy="118872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Puedes arrancar varios contenedores a partir de la misma imagen y no se pisarán entre sí, porque cada uno vive en su burbuja.</a:t>
            </a:r>
            <a:endParaRPr lang="en-US" sz="2200" dirty="0"/>
          </a:p>
        </p:txBody>
      </p:sp>
      <p:sp>
        <p:nvSpPr>
          <p:cNvPr id="7" name="Shape 5"/>
          <p:cNvSpPr/>
          <p:nvPr/>
        </p:nvSpPr>
        <p:spPr>
          <a:xfrm>
            <a:off x="464664" y="4212772"/>
            <a:ext cx="11091672" cy="118872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738984" y="4304212"/>
            <a:ext cx="10543032" cy="100584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La imagen es como la receta de un pastel: un documento fijo que no cambia. El contenedor es el pastel que sale del horno al seguir esa receta.</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De la imagen al volumen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188720"/>
            <a:ext cx="11091672" cy="457200"/>
          </a:xfrm>
          <a:prstGeom prst="rect">
            <a:avLst/>
          </a:prstGeom>
          <a:noFill/>
          <a:ln/>
        </p:spPr>
        <p:txBody>
          <a:bodyPr wrap="square" rtlCol="0" anchor="t"/>
          <a:lstStyle/>
          <a:p>
            <a:pPr marL="0" indent="0" algn="ctr">
              <a:buNone/>
            </a:pPr>
            <a:r>
              <a:rPr lang="en-US" sz="2200" dirty="0">
                <a:solidFill>
                  <a:srgbClr val="212121"/>
                </a:solidFill>
                <a:latin typeface="Arial" pitchFamily="34" charset="0"/>
                <a:ea typeface="Arial" pitchFamily="34" charset="-122"/>
                <a:cs typeface="Arial" pitchFamily="34" charset="-120"/>
              </a:rPr>
              <a:t>El recorrido completo: de dónde sale una imagen, a dónde van a parar sus datos.</a:t>
            </a:r>
            <a:endParaRPr lang="en-US" sz="2200" dirty="0"/>
          </a:p>
        </p:txBody>
      </p:sp>
      <p:sp>
        <p:nvSpPr>
          <p:cNvPr id="6" name="Shape 4"/>
          <p:cNvSpPr/>
          <p:nvPr/>
        </p:nvSpPr>
        <p:spPr>
          <a:xfrm>
            <a:off x="548640" y="2286000"/>
            <a:ext cx="2532888" cy="1920240"/>
          </a:xfrm>
          <a:prstGeom prst="roundRect">
            <a:avLst/>
          </a:prstGeom>
          <a:solidFill>
            <a:srgbClr val="FBEAEA"/>
          </a:solidFill>
          <a:ln w="15875">
            <a:solidFill>
              <a:srgbClr val="C62828"/>
            </a:solidFill>
            <a:prstDash val="solid"/>
          </a:ln>
        </p:spPr>
        <p:txBody>
          <a:bodyPr/>
          <a:lstStyle/>
          <a:p>
            <a:endParaRPr lang="es-ES"/>
          </a:p>
        </p:txBody>
      </p:sp>
      <p:sp>
        <p:nvSpPr>
          <p:cNvPr id="7" name="Text 5"/>
          <p:cNvSpPr/>
          <p:nvPr/>
        </p:nvSpPr>
        <p:spPr>
          <a:xfrm>
            <a:off x="594360" y="2331720"/>
            <a:ext cx="2441448" cy="1828800"/>
          </a:xfrm>
          <a:prstGeom prst="rect">
            <a:avLst/>
          </a:prstGeom>
          <a:noFill/>
          <a:ln/>
        </p:spPr>
        <p:txBody>
          <a:bodyPr wrap="square" rtlCol="0" anchor="ctr"/>
          <a:lstStyle/>
          <a:p>
            <a:pPr marL="0" indent="0" algn="ctr">
              <a:buNone/>
            </a:pPr>
            <a:r>
              <a:rPr lang="en-US" sz="1900" dirty="0">
                <a:solidFill>
                  <a:srgbClr val="212121"/>
                </a:solidFill>
                <a:latin typeface="Arial" pitchFamily="34" charset="0"/>
                <a:ea typeface="Arial" pitchFamily="34" charset="-122"/>
                <a:cs typeface="Arial" pitchFamily="34" charset="-120"/>
              </a:rPr>
              <a:t>📦 Registry</a:t>
            </a:r>
            <a:endParaRPr lang="en-US" sz="1900" dirty="0"/>
          </a:p>
          <a:p>
            <a:pPr marL="0" indent="0" algn="ctr">
              <a:buNone/>
            </a:pPr>
            <a:r>
              <a:rPr lang="en-US" sz="1900" dirty="0">
                <a:solidFill>
                  <a:srgbClr val="212121"/>
                </a:solidFill>
                <a:latin typeface="Arial" pitchFamily="34" charset="0"/>
                <a:ea typeface="Arial" pitchFamily="34" charset="-122"/>
                <a:cs typeface="Arial" pitchFamily="34" charset="-120"/>
              </a:rPr>
              <a:t>(Docker Hub)</a:t>
            </a:r>
            <a:endParaRPr lang="en-US" sz="1900" dirty="0"/>
          </a:p>
        </p:txBody>
      </p:sp>
      <p:sp>
        <p:nvSpPr>
          <p:cNvPr id="8" name="Text 6"/>
          <p:cNvSpPr/>
          <p:nvPr/>
        </p:nvSpPr>
        <p:spPr>
          <a:xfrm>
            <a:off x="3063240" y="2286000"/>
            <a:ext cx="356616" cy="192024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9" name="Shape 7"/>
          <p:cNvSpPr/>
          <p:nvPr/>
        </p:nvSpPr>
        <p:spPr>
          <a:xfrm>
            <a:off x="3401568" y="2286000"/>
            <a:ext cx="2532888" cy="1920240"/>
          </a:xfrm>
          <a:prstGeom prst="roundRect">
            <a:avLst/>
          </a:prstGeom>
          <a:solidFill>
            <a:srgbClr val="FBEAEA"/>
          </a:solidFill>
          <a:ln w="15875">
            <a:solidFill>
              <a:srgbClr val="C62828"/>
            </a:solidFill>
            <a:prstDash val="solid"/>
          </a:ln>
        </p:spPr>
        <p:txBody>
          <a:bodyPr/>
          <a:lstStyle/>
          <a:p>
            <a:endParaRPr lang="es-ES"/>
          </a:p>
        </p:txBody>
      </p:sp>
      <p:sp>
        <p:nvSpPr>
          <p:cNvPr id="10" name="Text 8"/>
          <p:cNvSpPr/>
          <p:nvPr/>
        </p:nvSpPr>
        <p:spPr>
          <a:xfrm>
            <a:off x="3447288" y="2331720"/>
            <a:ext cx="2441448" cy="1828800"/>
          </a:xfrm>
          <a:prstGeom prst="rect">
            <a:avLst/>
          </a:prstGeom>
          <a:noFill/>
          <a:ln/>
        </p:spPr>
        <p:txBody>
          <a:bodyPr wrap="square" rtlCol="0" anchor="ctr"/>
          <a:lstStyle/>
          <a:p>
            <a:pPr marL="0" indent="0" algn="ctr">
              <a:buNone/>
            </a:pPr>
            <a:r>
              <a:rPr lang="en-US" sz="1900" dirty="0">
                <a:solidFill>
                  <a:srgbClr val="212121"/>
                </a:solidFill>
                <a:latin typeface="Arial" pitchFamily="34" charset="0"/>
                <a:ea typeface="Arial" pitchFamily="34" charset="-122"/>
                <a:cs typeface="Arial" pitchFamily="34" charset="-120"/>
              </a:rPr>
              <a:t>Imagen</a:t>
            </a:r>
            <a:endParaRPr lang="en-US" sz="1900" dirty="0"/>
          </a:p>
          <a:p>
            <a:pPr marL="0" indent="0" algn="ctr">
              <a:buNone/>
            </a:pPr>
            <a:r>
              <a:rPr lang="en-US" sz="1900" dirty="0">
                <a:solidFill>
                  <a:srgbClr val="212121"/>
                </a:solidFill>
                <a:latin typeface="Arial" pitchFamily="34" charset="0"/>
                <a:ea typeface="Arial" pitchFamily="34" charset="-122"/>
                <a:cs typeface="Arial" pitchFamily="34" charset="-120"/>
              </a:rPr>
              <a:t>postgres:18-alpine</a:t>
            </a:r>
            <a:endParaRPr lang="en-US" sz="1900" dirty="0"/>
          </a:p>
        </p:txBody>
      </p:sp>
      <p:sp>
        <p:nvSpPr>
          <p:cNvPr id="11" name="Text 9"/>
          <p:cNvSpPr/>
          <p:nvPr/>
        </p:nvSpPr>
        <p:spPr>
          <a:xfrm>
            <a:off x="5916168" y="2286000"/>
            <a:ext cx="356616" cy="192024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6254496" y="2286000"/>
            <a:ext cx="2532888" cy="1920240"/>
          </a:xfrm>
          <a:prstGeom prst="roundRect">
            <a:avLst/>
          </a:prstGeom>
          <a:solidFill>
            <a:srgbClr val="FBEAEA"/>
          </a:solidFill>
          <a:ln w="15875">
            <a:solidFill>
              <a:srgbClr val="C62828"/>
            </a:solidFill>
            <a:prstDash val="solid"/>
          </a:ln>
        </p:spPr>
        <p:txBody>
          <a:bodyPr/>
          <a:lstStyle/>
          <a:p>
            <a:endParaRPr lang="es-ES"/>
          </a:p>
        </p:txBody>
      </p:sp>
      <p:sp>
        <p:nvSpPr>
          <p:cNvPr id="13" name="Text 11"/>
          <p:cNvSpPr/>
          <p:nvPr/>
        </p:nvSpPr>
        <p:spPr>
          <a:xfrm>
            <a:off x="6300216" y="2331720"/>
            <a:ext cx="2441448" cy="1828800"/>
          </a:xfrm>
          <a:prstGeom prst="rect">
            <a:avLst/>
          </a:prstGeom>
          <a:noFill/>
          <a:ln/>
        </p:spPr>
        <p:txBody>
          <a:bodyPr wrap="square" rtlCol="0" anchor="ctr"/>
          <a:lstStyle/>
          <a:p>
            <a:pPr marL="0" indent="0" algn="ctr">
              <a:buNone/>
            </a:pPr>
            <a:r>
              <a:rPr lang="en-US" sz="1900" dirty="0">
                <a:solidFill>
                  <a:srgbClr val="212121"/>
                </a:solidFill>
                <a:latin typeface="Arial" pitchFamily="34" charset="0"/>
                <a:ea typeface="Arial" pitchFamily="34" charset="-122"/>
                <a:cs typeface="Arial" pitchFamily="34" charset="-120"/>
              </a:rPr>
              <a:t>Contenedor</a:t>
            </a:r>
            <a:endParaRPr lang="en-US" sz="1900" dirty="0"/>
          </a:p>
          <a:p>
            <a:pPr marL="0" indent="0" algn="ctr">
              <a:buNone/>
            </a:pPr>
            <a:r>
              <a:rPr lang="en-US" sz="1900" dirty="0">
                <a:solidFill>
                  <a:srgbClr val="212121"/>
                </a:solidFill>
                <a:latin typeface="Arial" pitchFamily="34" charset="0"/>
                <a:ea typeface="Arial" pitchFamily="34" charset="-122"/>
                <a:cs typeface="Arial" pitchFamily="34" charset="-120"/>
              </a:rPr>
              <a:t>en ejecución</a:t>
            </a:r>
            <a:endParaRPr lang="en-US" sz="1900" dirty="0"/>
          </a:p>
        </p:txBody>
      </p:sp>
      <p:sp>
        <p:nvSpPr>
          <p:cNvPr id="14" name="Text 12"/>
          <p:cNvSpPr/>
          <p:nvPr/>
        </p:nvSpPr>
        <p:spPr>
          <a:xfrm>
            <a:off x="8769096" y="2286000"/>
            <a:ext cx="356616" cy="192024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9107424" y="2286000"/>
            <a:ext cx="2532888" cy="1920240"/>
          </a:xfrm>
          <a:prstGeom prst="roundRect">
            <a:avLst/>
          </a:prstGeom>
          <a:solidFill>
            <a:srgbClr val="FBEAEA"/>
          </a:solidFill>
          <a:ln w="15875">
            <a:solidFill>
              <a:srgbClr val="C62828"/>
            </a:solidFill>
            <a:prstDash val="solid"/>
          </a:ln>
        </p:spPr>
        <p:txBody>
          <a:bodyPr/>
          <a:lstStyle/>
          <a:p>
            <a:endParaRPr lang="es-ES"/>
          </a:p>
        </p:txBody>
      </p:sp>
      <p:sp>
        <p:nvSpPr>
          <p:cNvPr id="16" name="Text 14"/>
          <p:cNvSpPr/>
          <p:nvPr/>
        </p:nvSpPr>
        <p:spPr>
          <a:xfrm>
            <a:off x="9153144" y="2331720"/>
            <a:ext cx="2441448" cy="1828800"/>
          </a:xfrm>
          <a:prstGeom prst="rect">
            <a:avLst/>
          </a:prstGeom>
          <a:noFill/>
          <a:ln/>
        </p:spPr>
        <p:txBody>
          <a:bodyPr wrap="square" rtlCol="0" anchor="ctr"/>
          <a:lstStyle/>
          <a:p>
            <a:pPr marL="0" indent="0" algn="ctr">
              <a:buNone/>
            </a:pPr>
            <a:r>
              <a:rPr lang="en-US" sz="1900" dirty="0">
                <a:solidFill>
                  <a:srgbClr val="212121"/>
                </a:solidFill>
                <a:latin typeface="Arial" pitchFamily="34" charset="0"/>
                <a:ea typeface="Arial" pitchFamily="34" charset="-122"/>
                <a:cs typeface="Arial" pitchFamily="34" charset="-120"/>
              </a:rPr>
              <a:t>Volumen</a:t>
            </a:r>
            <a:endParaRPr lang="en-US" sz="1900" dirty="0"/>
          </a:p>
          <a:p>
            <a:pPr marL="0" indent="0" algn="ctr">
              <a:buNone/>
            </a:pPr>
            <a:r>
              <a:rPr lang="en-US" sz="1900" dirty="0">
                <a:solidFill>
                  <a:srgbClr val="212121"/>
                </a:solidFill>
                <a:latin typeface="Arial" pitchFamily="34" charset="0"/>
                <a:ea typeface="Arial" pitchFamily="34" charset="-122"/>
                <a:cs typeface="Arial" pitchFamily="34" charset="-120"/>
              </a:rPr>
              <a:t>(datos persistentes)</a:t>
            </a:r>
            <a:endParaRPr lang="en-US" sz="1900" dirty="0"/>
          </a:p>
        </p:txBody>
      </p:sp>
      <p:sp>
        <p:nvSpPr>
          <p:cNvPr id="17" name="Text 15"/>
          <p:cNvSpPr/>
          <p:nvPr/>
        </p:nvSpPr>
        <p:spPr>
          <a:xfrm>
            <a:off x="548640" y="4846320"/>
            <a:ext cx="11091672" cy="1097280"/>
          </a:xfrm>
          <a:prstGeom prst="rect">
            <a:avLst/>
          </a:prstGeom>
          <a:noFill/>
          <a:ln/>
        </p:spPr>
        <p:txBody>
          <a:bodyPr wrap="square" rtlCol="0" anchor="t"/>
          <a:lstStyle/>
          <a:p>
            <a:pPr marL="0" indent="0" algn="ctr">
              <a:buNone/>
            </a:pPr>
            <a:r>
              <a:rPr lang="en-US" sz="2100" dirty="0">
                <a:solidFill>
                  <a:srgbClr val="212121"/>
                </a:solidFill>
                <a:latin typeface="Arial" pitchFamily="34" charset="0"/>
                <a:ea typeface="Arial" pitchFamily="34" charset="-122"/>
                <a:cs typeface="Arial" pitchFamily="34" charset="-120"/>
              </a:rPr>
              <a:t>docker pull descarga la imagen del registry; docker run crea el contenedor; los datos que deben sobrevivir se guardan en un volumen aparte.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Conceptos clave: Volumen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371600"/>
            <a:ext cx="11091672" cy="164592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Un contenedor está pensado para poder borrarse y recrearse sin drama: si una base de datos guarda sus ficheros solo dentro del contenedor, al eliminarlo pierdes todos los datos con él.</a:t>
            </a:r>
            <a:endParaRPr lang="en-US" sz="2300" dirty="0"/>
          </a:p>
        </p:txBody>
      </p:sp>
      <p:sp>
        <p:nvSpPr>
          <p:cNvPr id="6" name="Text 4"/>
          <p:cNvSpPr/>
          <p:nvPr/>
        </p:nvSpPr>
        <p:spPr>
          <a:xfrm>
            <a:off x="548640" y="3108960"/>
            <a:ext cx="11091672" cy="146304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Un volumen es justo lo contrario: un espacio de almacenamiento que Docker gestiona por fuera del contenedor, así que sobrevive aunque el contenedor se borre y se vuelva a crear.</a:t>
            </a:r>
            <a:endParaRPr lang="en-US" sz="2200" dirty="0"/>
          </a:p>
        </p:txBody>
      </p:sp>
      <p:sp>
        <p:nvSpPr>
          <p:cNvPr id="7" name="Shape 5"/>
          <p:cNvSpPr/>
          <p:nvPr/>
        </p:nvSpPr>
        <p:spPr>
          <a:xfrm>
            <a:off x="548640" y="4937760"/>
            <a:ext cx="11091672" cy="100584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822960" y="5029200"/>
            <a:ext cx="10543032" cy="82296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Es como guardar tus fotos en una nube en vez de en el propio ordenador: si el ordenador se estropea, las fotos siguen ahí.</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Registry y puerto mapeado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Shape 3"/>
          <p:cNvSpPr/>
          <p:nvPr/>
        </p:nvSpPr>
        <p:spPr>
          <a:xfrm>
            <a:off x="548640" y="1371600"/>
            <a:ext cx="11091672" cy="502920"/>
          </a:xfrm>
          <a:prstGeom prst="rect">
            <a:avLst/>
          </a:prstGeom>
          <a:solidFill>
            <a:srgbClr val="C62828"/>
          </a:solidFill>
          <a:ln w="12700">
            <a:solidFill>
              <a:srgbClr val="C62828"/>
            </a:solidFill>
            <a:prstDash val="solid"/>
          </a:ln>
        </p:spPr>
        <p:txBody>
          <a:bodyPr/>
          <a:lstStyle/>
          <a:p>
            <a:endParaRPr lang="es-ES"/>
          </a:p>
        </p:txBody>
      </p:sp>
      <p:sp>
        <p:nvSpPr>
          <p:cNvPr id="6" name="Text 4"/>
          <p:cNvSpPr/>
          <p:nvPr/>
        </p:nvSpPr>
        <p:spPr>
          <a:xfrm>
            <a:off x="731520" y="137160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Registry: de dónde salen las imágenes</a:t>
            </a:r>
            <a:endParaRPr lang="en-US" sz="1900" dirty="0"/>
          </a:p>
        </p:txBody>
      </p:sp>
      <p:sp>
        <p:nvSpPr>
          <p:cNvPr id="7" name="Text 5"/>
          <p:cNvSpPr/>
          <p:nvPr/>
        </p:nvSpPr>
        <p:spPr>
          <a:xfrm>
            <a:off x="548640" y="2148840"/>
            <a:ext cx="11091672" cy="146304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Un servidor donde se publican y descargan imágenes, parecido a una tienda de aplicaciones. Docker Hub es el registry público más usado (postgres, mongo, redis...).</a:t>
            </a:r>
            <a:endParaRPr lang="en-US" sz="2200" dirty="0"/>
          </a:p>
        </p:txBody>
      </p:sp>
      <p:sp>
        <p:nvSpPr>
          <p:cNvPr id="8" name="Shape 6"/>
          <p:cNvSpPr/>
          <p:nvPr/>
        </p:nvSpPr>
        <p:spPr>
          <a:xfrm>
            <a:off x="548640" y="3611880"/>
            <a:ext cx="11091672" cy="502920"/>
          </a:xfrm>
          <a:prstGeom prst="rect">
            <a:avLst/>
          </a:prstGeom>
          <a:solidFill>
            <a:srgbClr val="C62828"/>
          </a:solidFill>
          <a:ln w="12700">
            <a:solidFill>
              <a:srgbClr val="C62828"/>
            </a:solidFill>
            <a:prstDash val="solid"/>
          </a:ln>
        </p:spPr>
        <p:txBody>
          <a:bodyPr/>
          <a:lstStyle/>
          <a:p>
            <a:endParaRPr lang="es-ES"/>
          </a:p>
        </p:txBody>
      </p:sp>
      <p:sp>
        <p:nvSpPr>
          <p:cNvPr id="9" name="Text 7"/>
          <p:cNvSpPr/>
          <p:nvPr/>
        </p:nvSpPr>
        <p:spPr>
          <a:xfrm>
            <a:off x="731520" y="361188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Puerto mapeado: cómo entrar en algo aislado</a:t>
            </a:r>
            <a:endParaRPr lang="en-US" sz="1900" dirty="0"/>
          </a:p>
        </p:txBody>
      </p:sp>
      <p:sp>
        <p:nvSpPr>
          <p:cNvPr id="10" name="Text 8"/>
          <p:cNvSpPr/>
          <p:nvPr/>
        </p:nvSpPr>
        <p:spPr>
          <a:xfrm>
            <a:off x="548640" y="4389120"/>
            <a:ext cx="11091672" cy="146304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Por defecto, un contenedor está aislado de la red de tu ordenador. Un puerto mapeado asocia un puerto de tu máquina con el puerto donde escucha el servicio dentro del contenedor.</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Conceptos clave: resumen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914400"/>
          <a:ext cx="11091672" cy="5212080"/>
        </p:xfrm>
        <a:graphic>
          <a:graphicData uri="http://schemas.openxmlformats.org/drawingml/2006/table">
            <a:tbl>
              <a:tblPr/>
              <a:tblGrid>
                <a:gridCol w="3105668">
                  <a:extLst>
                    <a:ext uri="{9D8B030D-6E8A-4147-A177-3AD203B41FA5}">
                      <a16:colId xmlns:a16="http://schemas.microsoft.com/office/drawing/2014/main" val="20000"/>
                    </a:ext>
                  </a:extLst>
                </a:gridCol>
                <a:gridCol w="7986004">
                  <a:extLst>
                    <a:ext uri="{9D8B030D-6E8A-4147-A177-3AD203B41FA5}">
                      <a16:colId xmlns:a16="http://schemas.microsoft.com/office/drawing/2014/main" val="20001"/>
                    </a:ext>
                  </a:extLst>
                </a:gridCol>
              </a:tblGrid>
              <a:tr h="868680">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Concepto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En una frase</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Imagen</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Plantilla inmutable de la que se crean contenedores.</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Contenedor</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Una imagen puesta en marcha; puede haber varios a la vez.</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Registry</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Servidor donde se publican y descargan imágenes (Docker Hub).</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Volumen</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Almacenamiento fuera del contenedor que sobrevive a su borrado.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Puerto mapeado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Puerta entre un puerto de tu máquina y uno del contenedor.</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Comandos básicos de Docker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914400"/>
            <a:ext cx="11091672" cy="36576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No hace falta memorizarlos, pero conviene reconocerlos:</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4608576"/>
        </p:xfrm>
        <a:graphic>
          <a:graphicData uri="http://schemas.openxmlformats.org/drawingml/2006/table">
            <a:tbl>
              <a:tblPr/>
              <a:tblGrid>
                <a:gridCol w="3771168">
                  <a:extLst>
                    <a:ext uri="{9D8B030D-6E8A-4147-A177-3AD203B41FA5}">
                      <a16:colId xmlns:a16="http://schemas.microsoft.com/office/drawing/2014/main" val="20000"/>
                    </a:ext>
                  </a:extLst>
                </a:gridCol>
                <a:gridCol w="7320504">
                  <a:extLst>
                    <a:ext uri="{9D8B030D-6E8A-4147-A177-3AD203B41FA5}">
                      <a16:colId xmlns:a16="http://schemas.microsoft.com/office/drawing/2014/main" val="20001"/>
                    </a:ext>
                  </a:extLst>
                </a:gridCol>
              </a:tblGrid>
              <a:tr h="576072">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Comando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Qué hace</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pull &lt;imagen&gt;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Descarga una imagen desde un registry (Docker Hub por defecto).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images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Lista las imágenes descargadas en tu máquina.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run &lt;imagen&gt;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Crea y arranca un contenedor a partir de una imagen.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ps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Lista los contenedores en ejecución (-a incluye los detenidos).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stop &lt;contenedor&gt;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Detiene un contenedor en ejecución sin borrarlo.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rm &lt;contenedor&gt;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Elimina un contenedor detenido.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logs &lt;contenedor&gt;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Muestra la salida (logs) de un contenedor.</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Docker Compose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508760"/>
            <a:ext cx="11091672" cy="219456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Un proyecto real casi nunca necesita un único contenedor: necesita una base de datos relacional, quizás una documental, una caché en memoria, un gestor de colas... Arrancar cada uno a mano con docker run y recordar todas sus opciones no escala.</a:t>
            </a:r>
            <a:endParaRPr lang="en-US" sz="2300" dirty="0"/>
          </a:p>
        </p:txBody>
      </p:sp>
      <p:sp>
        <p:nvSpPr>
          <p:cNvPr id="6" name="Shape 4"/>
          <p:cNvSpPr/>
          <p:nvPr/>
        </p:nvSpPr>
        <p:spPr>
          <a:xfrm>
            <a:off x="548640" y="3794760"/>
            <a:ext cx="11091672" cy="164592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3886200"/>
            <a:ext cx="10543032" cy="146304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Docker Compose resuelve esto con un fichero docker-compose.yml: describe todos los servicios en un único fichero declarativo, y Docker se encarga de crearlos, conectarlos y arrancarlos juntos con un solo comando.</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 docker-compose.yml sencillo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005840"/>
            <a:ext cx="11091672" cy="45720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Para practicar no hace falta arrancar cinco servicios a la vez: el caso más simple posible tiene uno solo.</a:t>
            </a:r>
            <a:endParaRPr lang="en-US" sz="2100" dirty="0"/>
          </a:p>
        </p:txBody>
      </p:sp>
      <p:sp>
        <p:nvSpPr>
          <p:cNvPr id="6" name="Shape 4"/>
          <p:cNvSpPr/>
          <p:nvPr/>
        </p:nvSpPr>
        <p:spPr>
          <a:xfrm>
            <a:off x="548640" y="1737360"/>
            <a:ext cx="11091672" cy="44805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737360"/>
            <a:ext cx="73152" cy="44805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847088"/>
            <a:ext cx="10588752" cy="4261104"/>
          </a:xfrm>
          <a:prstGeom prst="rect">
            <a:avLst/>
          </a:prstGeom>
          <a:noFill/>
          <a:ln/>
        </p:spPr>
        <p:txBody>
          <a:bodyPr wrap="square" rtlCol="0" anchor="t"/>
          <a:lstStyle/>
          <a:p>
            <a:pPr marL="0" indent="0">
              <a:buNone/>
            </a:pPr>
            <a:r>
              <a:rPr lang="en-US" sz="1800" dirty="0">
                <a:solidFill>
                  <a:srgbClr val="263238"/>
                </a:solidFill>
                <a:latin typeface="Courier New" pitchFamily="34" charset="0"/>
                <a:ea typeface="Courier New" pitchFamily="34" charset="-122"/>
                <a:cs typeface="Courier New" pitchFamily="34" charset="-120"/>
              </a:rPr>
              <a:t>services: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db:</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image: postgres:18-alpine</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environment:</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POSTGRES_USER: alumno</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POSTGRES_PASSWORD: alumno123</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POSTGRES_DB: prueba</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ports: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 "5432:5432"</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volumes: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 db_data:/var/lib/postgresql/data</a:t>
            </a:r>
            <a:endParaRPr lang="en-US" sz="1800" dirty="0"/>
          </a:p>
          <a:p>
            <a:pPr marL="0" indent="0">
              <a:buNone/>
            </a:pP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volumes: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db_data:</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hace docker compose up -d</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143000"/>
            <a:ext cx="11091672" cy="3200400"/>
          </a:xfrm>
          <a:prstGeom prst="rect">
            <a:avLst/>
          </a:prstGeom>
          <a:noFill/>
          <a:ln/>
        </p:spPr>
        <p:txBody>
          <a:bodyPr wrap="square" rtlCol="0" anchor="t"/>
          <a:lstStyle/>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Descarga la imagen postgres:18-alpine si no la tienes ya.</a:t>
            </a:r>
            <a:endParaRPr lang="en-US" sz="2200" dirty="0"/>
          </a:p>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Crea el contenedor db.</a:t>
            </a:r>
            <a:endParaRPr lang="en-US" sz="2200" dirty="0"/>
          </a:p>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Le pasa usuario, contraseña y nombre de base de datos por environment.</a:t>
            </a:r>
            <a:endParaRPr lang="en-US" sz="2200" dirty="0"/>
          </a:p>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Abre el puerto 5432 de tu máquina hacia el 5432 del contenedor.</a:t>
            </a:r>
            <a:endParaRPr lang="en-US" sz="2200" dirty="0"/>
          </a:p>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Guarda los datos en el volumen db_data, que sobrevive aunque el contenedor se recree.</a:t>
            </a:r>
            <a:endParaRPr lang="en-US" sz="2200" dirty="0"/>
          </a:p>
        </p:txBody>
      </p:sp>
      <p:sp>
        <p:nvSpPr>
          <p:cNvPr id="6" name="Shape 4"/>
          <p:cNvSpPr/>
          <p:nvPr/>
        </p:nvSpPr>
        <p:spPr>
          <a:xfrm>
            <a:off x="548640" y="4617720"/>
            <a:ext cx="11091672" cy="118872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709160"/>
            <a:ext cx="10543032" cy="100584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Si ya tienes PostgreSQL instalado en tu máquina escuchando en el 5432, este contenedor chocará con él: cambia el primer número, por ejemplo a "5444:5432".</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De un servicio a varios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481701"/>
            <a:ext cx="11091672" cy="173736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Este ejemplo tiene un único servicio, así que no hace falta que hable con nadie más. En cuanto un proyecto necesita dos o más —por ejemplo, una aplicación web y su propia base de datos—, entran en juego dos cosas nuevas:</a:t>
            </a:r>
            <a:endParaRPr lang="en-US" sz="2200" dirty="0"/>
          </a:p>
        </p:txBody>
      </p:sp>
      <p:sp>
        <p:nvSpPr>
          <p:cNvPr id="6" name="Text 4"/>
          <p:cNvSpPr/>
          <p:nvPr/>
        </p:nvSpPr>
        <p:spPr>
          <a:xfrm>
            <a:off x="548640" y="3154680"/>
            <a:ext cx="11091672" cy="1371600"/>
          </a:xfrm>
          <a:prstGeom prst="rect">
            <a:avLst/>
          </a:prstGeom>
          <a:noFill/>
          <a:ln/>
        </p:spPr>
        <p:txBody>
          <a:bodyPr wrap="square" rtlCol="0" anchor="t"/>
          <a:lstStyle/>
          <a:p>
            <a:pPr marL="190500" indent="-190500">
              <a:spcAft>
                <a:spcPts val="1800"/>
              </a:spcAft>
              <a:buSzPct val="100000"/>
              <a:buChar char="•"/>
            </a:pPr>
            <a:r>
              <a:rPr lang="en-US" sz="2100" dirty="0">
                <a:solidFill>
                  <a:srgbClr val="212121"/>
                </a:solidFill>
                <a:latin typeface="Arial" pitchFamily="34" charset="0"/>
                <a:ea typeface="Arial" pitchFamily="34" charset="-122"/>
                <a:cs typeface="Arial" pitchFamily="34" charset="-120"/>
              </a:rPr>
              <a:t>Los contenedores se dirigen unos a otros por red usando el nombre del servicio como si fuera una dirección.</a:t>
            </a:r>
            <a:endParaRPr lang="en-US" sz="2100" dirty="0"/>
          </a:p>
          <a:p>
            <a:pPr marL="190500" indent="-190500">
              <a:spcAft>
                <a:spcPts val="1800"/>
              </a:spcAft>
              <a:buSzPct val="100000"/>
              <a:buChar char="•"/>
            </a:pPr>
            <a:r>
              <a:rPr lang="en-US" sz="2100" dirty="0">
                <a:solidFill>
                  <a:srgbClr val="212121"/>
                </a:solidFill>
                <a:latin typeface="Arial" pitchFamily="34" charset="0"/>
                <a:ea typeface="Arial" pitchFamily="34" charset="-122"/>
                <a:cs typeface="Arial" pitchFamily="34" charset="-120"/>
              </a:rPr>
              <a:t>depends_on decide en qué orden arrancan.</a:t>
            </a:r>
            <a:endParaRPr lang="en-US" sz="2100" dirty="0"/>
          </a:p>
        </p:txBody>
      </p:sp>
      <p:sp>
        <p:nvSpPr>
          <p:cNvPr id="7" name="Shape 5"/>
          <p:cNvSpPr/>
          <p:nvPr/>
        </p:nvSpPr>
        <p:spPr>
          <a:xfrm>
            <a:off x="548640" y="4892040"/>
            <a:ext cx="11091672" cy="100584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822960" y="4983480"/>
            <a:ext cx="10543032" cy="82296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Vas a practicar exactamente esto en la Actividad 0.6, montando un WordPress completo con su base de datos.</a:t>
            </a:r>
            <a:endParaRPr lang="en-US" sz="2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Comandos básicos de Docker Compose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91672" cy="4992624"/>
        </p:xfrm>
        <a:graphic>
          <a:graphicData uri="http://schemas.openxmlformats.org/drawingml/2006/table">
            <a:tbl>
              <a:tblPr/>
              <a:tblGrid>
                <a:gridCol w="4658502">
                  <a:extLst>
                    <a:ext uri="{9D8B030D-6E8A-4147-A177-3AD203B41FA5}">
                      <a16:colId xmlns:a16="http://schemas.microsoft.com/office/drawing/2014/main" val="20000"/>
                    </a:ext>
                  </a:extLst>
                </a:gridCol>
                <a:gridCol w="6433170">
                  <a:extLst>
                    <a:ext uri="{9D8B030D-6E8A-4147-A177-3AD203B41FA5}">
                      <a16:colId xmlns:a16="http://schemas.microsoft.com/office/drawing/2014/main" val="20001"/>
                    </a:ext>
                  </a:extLst>
                </a:gridCol>
              </a:tblGrid>
              <a:tr h="713232">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Comando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Qué hace</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up -d</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Crea y arranca todos los servicios definidos (-d en segundo plano).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ps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Lista los servicios del proyecto y su estado.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logs -f &lt;servicio&gt;</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Muestra los logs de un servicio en tiempo real.</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stop</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Detiene todos los servicios sin eliminarlos.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down</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Detiene y elimina contenedores y red. No borra volúmenes.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down -v</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Igual que down, pero además elimina los volúmenes.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down -v borra los datos de verdad</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Shape 3"/>
          <p:cNvSpPr/>
          <p:nvPr/>
        </p:nvSpPr>
        <p:spPr>
          <a:xfrm>
            <a:off x="548640" y="12801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1371600"/>
            <a:ext cx="10543032" cy="1280160"/>
          </a:xfrm>
          <a:prstGeom prst="rect">
            <a:avLst/>
          </a:prstGeom>
          <a:noFill/>
          <a:ln/>
        </p:spPr>
        <p:txBody>
          <a:bodyPr wrap="square" rtlCol="0" anchor="ctr"/>
          <a:lstStyle/>
          <a:p>
            <a:pPr marL="0" indent="0">
              <a:buNone/>
            </a:pPr>
            <a:r>
              <a:rPr lang="en-US" sz="2500" dirty="0">
                <a:solidFill>
                  <a:srgbClr val="212121"/>
                </a:solidFill>
                <a:latin typeface="Arial" pitchFamily="34" charset="0"/>
                <a:ea typeface="Arial" pitchFamily="34" charset="-122"/>
                <a:cs typeface="Arial" pitchFamily="34" charset="-120"/>
              </a:rPr>
              <a:t>docker compose down -v borra los datos de verdad, sin posibilidad de recuperarlos.</a:t>
            </a:r>
            <a:endParaRPr lang="en-US" sz="2500" dirty="0"/>
          </a:p>
        </p:txBody>
      </p:sp>
      <p:sp>
        <p:nvSpPr>
          <p:cNvPr id="7" name="Text 5"/>
          <p:cNvSpPr/>
          <p:nvPr/>
        </p:nvSpPr>
        <p:spPr>
          <a:xfrm>
            <a:off x="653142" y="3246120"/>
            <a:ext cx="10987169" cy="155448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Para un reinicio normal, usa down (sin -v) o stop: los volúmenes con nombre se conservan y los datos siguen ahí la próxima vez que levantes el proyecto.</a:t>
            </a:r>
            <a:endParaRPr lang="en-US" sz="2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266164"/>
            <a:ext cx="11091672" cy="5029200"/>
          </a:xfrm>
          <a:prstGeom prst="rect">
            <a:avLst/>
          </a:prstGeom>
          <a:noFill/>
          <a:ln/>
        </p:spPr>
        <p:txBody>
          <a:bodyPr wrap="square" rtlCol="0" anchor="t"/>
          <a:lstStyle/>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Docker ejecuta aplicaciones en contenedores: entornos aislados y ligeros que comparten el kernel del host.</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Una imagen es la plantilla inmutable; un contenedor es una instancia en ejecución de esa imagen.</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Un volumen guarda datos fuera del contenedor para que sobrevivan a su borrado.</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Docker Compose describe varios contenedores en un único docker-compose.yml y los levanta juntos.</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services, ports, volumes, environment y depends_on son las claves esenciales de un docker-compose.yml.</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down conserva los volúmenes; down -v también borra los datos.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1885</Words>
  <Application>Microsoft Office PowerPoint</Application>
  <PresentationFormat>Panorámica</PresentationFormat>
  <Paragraphs>190</Paragraphs>
  <Slides>20</Slides>
  <Notes>20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20</vt:i4>
      </vt:variant>
    </vt:vector>
  </HeadingPairs>
  <TitlesOfParts>
    <vt:vector size="23"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Introducción a Docker</dc:title>
  <dc:subject>PptxGenJS Presentation</dc:subject>
  <dc:creator>Acceso a Datos</dc:creator>
  <cp:lastModifiedBy>VENTURA EDO, AITOR</cp:lastModifiedBy>
  <cp:revision>2</cp:revision>
  <dcterms:created xsi:type="dcterms:W3CDTF">2026-07-08T18:01:47Z</dcterms:created>
  <dcterms:modified xsi:type="dcterms:W3CDTF">2026-07-08T18:06:18Z</dcterms:modified>
</cp:coreProperties>
</file>