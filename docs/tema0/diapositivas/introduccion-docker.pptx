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2490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0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 —  TEMA 0: INTRODUCCIÓN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109167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Docker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0" y="5120640"/>
            <a:ext cx="12188952" cy="91440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48640" y="51206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Contenedores, imágenes, volúmenes y Docker Compose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Docker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Introducción a Docker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9167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Durante el curso vas a usar varios motores de bases de datos y herramientas con su propio servidor. Instalarlo todo en tu ordenador, con las versiones correctas y sin que choquen, es un dolor de cabeza. Docker resuelve exactamente eso.</a:t>
            </a:r>
            <a:endParaRPr lang="en-US" sz="1900" dirty="0"/>
          </a:p>
        </p:txBody>
      </p:sp>
      <p:pic>
        <p:nvPicPr>
          <p:cNvPr id="6" name="Image 0" descr="C:/Users/Aitor/Documents/apuntes-profe/acceso-a-datos/docs/tema0/img/docker/docker_problema_entorn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8629" y="2057400"/>
            <a:ext cx="7631693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Docker?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Introducción a Docker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11091672" cy="137160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1097280"/>
            <a:ext cx="105430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ejecuta aplicaciones dentro de contenedores: entornos aislados y ligeros con todo lo que la aplicación necesita (código, dependencias, configuración), sin tocar el sistema operativo de tu máquina.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3544824" cy="1691640"/>
          </a:xfrm>
          <a:prstGeom prst="roundRect">
            <a:avLst/>
          </a:prstGeom>
          <a:solidFill>
            <a:srgbClr val="FBEAEA"/>
          </a:solidFill>
          <a:ln w="1905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777240" y="2779776"/>
            <a:ext cx="73152" cy="384048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960120" y="2743200"/>
            <a:ext cx="2950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Aislado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22960" y="3273552"/>
            <a:ext cx="299618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servicio vive en su propio contenedor y no se mezcla con los demás.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322064" y="2651760"/>
            <a:ext cx="3544824" cy="1691640"/>
          </a:xfrm>
          <a:prstGeom prst="roundRect">
            <a:avLst/>
          </a:prstGeom>
          <a:solidFill>
            <a:srgbClr val="FBEAEA"/>
          </a:solidFill>
          <a:ln w="1905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4550664" y="2779776"/>
            <a:ext cx="73152" cy="384048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4733544" y="2743200"/>
            <a:ext cx="2950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Ligero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4596384" y="3273552"/>
            <a:ext cx="299618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Comparte el kernel del sistema: arranca en segundos y pesa poco.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095488" y="2651760"/>
            <a:ext cx="3544824" cy="1691640"/>
          </a:xfrm>
          <a:prstGeom prst="roundRect">
            <a:avLst/>
          </a:prstGeom>
          <a:solidFill>
            <a:srgbClr val="FBEAEA"/>
          </a:solidFill>
          <a:ln w="1905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8324088" y="2779776"/>
            <a:ext cx="73152" cy="384048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8506968" y="2743200"/>
            <a:ext cx="2950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Igual en todas partes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8369808" y="3273552"/>
            <a:ext cx="299618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Windows, macOS o Linux: dentro del contenedor el entorno es el mismo.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48640" y="4572000"/>
            <a:ext cx="11091672" cy="5029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731520" y="457200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Metáfora: una caja estanca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548640" y="5166360"/>
            <a:ext cx="1109167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contenedor es una caja sellada que lleva dentro exactamente lo que necesita para funcionar. Da igual qué versión de Python o de PostgreSQL tengas instalada fuera.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vs. máquina virtual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Introducción a Docker</a:t>
            </a:r>
            <a:endParaRPr lang="en-US" sz="1100" dirty="0"/>
          </a:p>
        </p:txBody>
      </p:sp>
      <p:pic>
        <p:nvPicPr>
          <p:cNvPr id="5" name="Image 0" descr="C:/Users/Aitor/Documents/apuntes-profe/acceso-a-datos/docs/tema0/img/docker/docker_vm_vs_contened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8629" y="960120"/>
            <a:ext cx="7631693" cy="4297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394960"/>
            <a:ext cx="11091672" cy="96012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822960" y="5486400"/>
            <a:ext cx="105430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no sustituye a tu sistema operativo ni monta una máquina virtual por debajo: lo que sustituye es la costumbre de instalar el programa directamente en tu máquina.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Imagen y contenedor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Introducción a Docker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5408676" cy="1783080"/>
          </a:xfrm>
          <a:prstGeom prst="roundRect">
            <a:avLst/>
          </a:prstGeom>
          <a:solidFill>
            <a:srgbClr val="FBEAEA"/>
          </a:solidFill>
          <a:ln w="1905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777240" y="1088136"/>
            <a:ext cx="73152" cy="384048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960120" y="1051560"/>
            <a:ext cx="48143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1581912"/>
            <a:ext cx="486003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Paquete de solo lectura con todo lo necesario para arrancar un programa. Es inmutable. postgres:18-alpine = PostgreSQL 18 sobre Linux minimalista.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231636" y="960120"/>
            <a:ext cx="5408676" cy="1783080"/>
          </a:xfrm>
          <a:prstGeom prst="roundRect">
            <a:avLst/>
          </a:prstGeom>
          <a:solidFill>
            <a:srgbClr val="FBEAEA"/>
          </a:solidFill>
          <a:ln w="1905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6460236" y="1088136"/>
            <a:ext cx="73152" cy="384048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6643116" y="1051560"/>
            <a:ext cx="48143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Contenedor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505956" y="1581912"/>
            <a:ext cx="486003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imagen puesta en marcha: proceso aislado, con su propio sistema de archivos y su propia red. De una imagen puedes arrancar varios.</a:t>
            </a:r>
            <a:endParaRPr lang="en-US" sz="1700" dirty="0"/>
          </a:p>
        </p:txBody>
      </p:sp>
      <p:pic>
        <p:nvPicPr>
          <p:cNvPr id="13" name="Image 0" descr="C:/Users/Aitor/Documents/apuntes-profe/acceso-a-datos/docs/tema0/img/docker/docker_imagen_vs_contenedor.png"/>
          <p:cNvPicPr>
            <a:picLocks noChangeAspect="1"/>
          </p:cNvPicPr>
          <p:nvPr/>
        </p:nvPicPr>
        <p:blipFill>
          <a:blip r:embed="rId3"/>
          <a:srcRect t="9233" b="9853"/>
          <a:stretch>
            <a:fillRect/>
          </a:stretch>
        </p:blipFill>
        <p:spPr>
          <a:xfrm>
            <a:off x="2124584" y="2926080"/>
            <a:ext cx="7665464" cy="349279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cinco conceptos, de un vistazo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Introducción a Docker</a:t>
            </a:r>
            <a:endParaRPr lang="en-US" sz="1100" dirty="0"/>
          </a:p>
        </p:txBody>
      </p:sp>
      <p:pic>
        <p:nvPicPr>
          <p:cNvPr id="5" name="Image 0" descr="C:/Users/Aitor/Documents/apuntes-profe/acceso-a-datos/docs/tema0/img/docker/docker_cinco_conceptos.png"/>
          <p:cNvPicPr>
            <a:picLocks noChangeAspect="1"/>
          </p:cNvPicPr>
          <p:nvPr/>
        </p:nvPicPr>
        <p:blipFill>
          <a:blip r:embed="rId3"/>
          <a:srcRect t="3572" b="18667"/>
          <a:stretch>
            <a:fillRect/>
          </a:stretch>
        </p:blipFill>
        <p:spPr>
          <a:xfrm>
            <a:off x="709625" y="1240971"/>
            <a:ext cx="10781499" cy="47212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Conceptos clave: Volumen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Introducción a Docker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volumen es un espacio de almacenamiento que Docker gestiona por fuera del contenedor: sobrevive aunque el contenedor se borre y se vuelva a crear.</a:t>
            </a:r>
            <a:endParaRPr lang="en-US" sz="2000" dirty="0"/>
          </a:p>
        </p:txBody>
      </p:sp>
      <p:pic>
        <p:nvPicPr>
          <p:cNvPr id="6" name="Image 0" descr="C:/Users/Aitor/Documents/apuntes-profe/acceso-a-datos/docs/tema0/img/docker/docker_volumen_persistenc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1028" y="1688432"/>
            <a:ext cx="8286896" cy="46666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 y puerto mapeado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Introducción a Docker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11091672" cy="5029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Registry: de dónde salen las imágenes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servidor donde se publican y descargan imágenes, parecido a una tienda de aplicaciones. Docker Hub es el registry público más usado (postgres, mongo, redis...).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11091672" cy="5029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731520" y="274320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Puerto mapeado: cómo entrar en algo aislado</a:t>
            </a:r>
            <a:endParaRPr lang="en-US" sz="1900" dirty="0"/>
          </a:p>
        </p:txBody>
      </p:sp>
      <p:pic>
        <p:nvPicPr>
          <p:cNvPr id="10" name="Image 0" descr="C:/Users/Aitor/Documents/apuntes-profe/acceso-a-datos/docs/tema0/img/docker/docker_puerto_mapeado.png"/>
          <p:cNvPicPr>
            <a:picLocks noChangeAspect="1"/>
          </p:cNvPicPr>
          <p:nvPr/>
        </p:nvPicPr>
        <p:blipFill>
          <a:blip r:embed="rId3"/>
          <a:srcRect t="10339" b="10591"/>
          <a:stretch>
            <a:fillRect/>
          </a:stretch>
        </p:blipFill>
        <p:spPr>
          <a:xfrm>
            <a:off x="1203910" y="3362192"/>
            <a:ext cx="7645504" cy="340436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Conceptos clave: resumen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Introducción a Docker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91672" cy="5212080"/>
        </p:xfrm>
        <a:graphic>
          <a:graphicData uri="http://schemas.openxmlformats.org/drawingml/2006/table">
            <a:tbl>
              <a:tblPr/>
              <a:tblGrid>
                <a:gridCol w="31056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860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Concepto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 una frase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Imagen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Plantilla inmutable de la que se crean contenedores.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Contenedor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Una imagen puesta en marcha; puede haber varios a la vez.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Registry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Servidor donde se publican y descargan imágenes (Docker Hub).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Volumen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Almacenamiento fuera del contenedor que sobrevive a su borrado.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Puerto mapeado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Puerta entre un puerto de tu máquina y uno del contenedor.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Comandos básicos de Docker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Introducción a Docker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hace falta memorizarlos, pero conviene reconocerlos:</a:t>
            </a:r>
            <a:endParaRPr lang="en-US" sz="2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4608576"/>
        </p:xfrm>
        <a:graphic>
          <a:graphicData uri="http://schemas.openxmlformats.org/drawingml/2006/table">
            <a:tbl>
              <a:tblPr/>
              <a:tblGrid>
                <a:gridCol w="37711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20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60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Comando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hace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docker pull &lt;imagen&gt;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Descarga una imagen desde un registry (Docker Hub por defecto).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docker images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Lista las imágenes descargadas en tu máquina.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docker run &lt;imagen&gt;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 y arranca un contenedor a partir de una imagen.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docker ps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Lista los contenedores en ejecución (-a incluye los detenidos).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docker stop &lt;contenedor&gt;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Detiene un contenedor en ejecución sin borrarlo.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docker rm &lt;contenedor&gt;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Elimina un contenedor detenido.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docker logs &lt;contenedor&gt;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Muestra la salida (logs) de un contenedor.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Introducción a Docker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11091672" cy="128016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1097280"/>
            <a:ext cx="1054303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proyecto real casi nunca necesita un único contenedor. Docker Compose describe todos los servicios en un fichero docker-compose.yml y los crea, conecta y arranca juntos con un solo comando.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5408676" cy="1691640"/>
          </a:xfrm>
          <a:prstGeom prst="roundRect">
            <a:avLst/>
          </a:prstGeom>
          <a:solidFill>
            <a:srgbClr val="FBEAEA"/>
          </a:solidFill>
          <a:ln w="1905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777240" y="2642616"/>
            <a:ext cx="73152" cy="384048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960120" y="2606040"/>
            <a:ext cx="48143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Compose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22960" y="3136392"/>
            <a:ext cx="486003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docker run por servicio, recordando puertos, variables de entorno y volúmenes de cada uno. No escala.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31636" y="2514600"/>
            <a:ext cx="5408676" cy="1691640"/>
          </a:xfrm>
          <a:prstGeom prst="roundRect">
            <a:avLst/>
          </a:prstGeom>
          <a:solidFill>
            <a:srgbClr val="FBEAEA"/>
          </a:solidFill>
          <a:ln w="1905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6460236" y="2642616"/>
            <a:ext cx="73152" cy="384048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6643116" y="2606040"/>
            <a:ext cx="48143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Compose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505956" y="3136392"/>
            <a:ext cx="486003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único fichero declarativo y un solo comando: docker compose up -d.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48640" y="4434840"/>
            <a:ext cx="11091672" cy="5029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731520" y="44348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hay varios servicios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548640" y="5029200"/>
            <a:ext cx="1109167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dirigen unos a otros por red usando el nombre del servicio como si fuera una dirección.</a:t>
            </a:r>
            <a:endParaRPr lang="en-US" sz="18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depends_on decide en qué orden arrancan. Lo practicarás en la Actividad 0.6, con un WordPress completo.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docker-compose.yml sencillo: una sola base de datos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Introducción a Docker</a:t>
            </a:r>
            <a:endParaRPr lang="en-US" sz="1100" dirty="0"/>
          </a:p>
        </p:txBody>
      </p:sp>
      <p:pic>
        <p:nvPicPr>
          <p:cNvPr id="5" name="Image 0" descr="C:/Users/Aitor/Documents/apuntes-profe/acceso-a-datos/docs/tema0/img/docker/docker_compose_anatom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7441" y="960120"/>
            <a:ext cx="7794070" cy="4389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486400"/>
            <a:ext cx="11091672" cy="82296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822960" y="5577840"/>
            <a:ext cx="10543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ya tienes PostgreSQL instalado en tu máquina escuchando en el 5432, este contenedor chocará con él: cambia el primer número, por ejemplo a "5444:5432".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Comandos básicos de Docker Compose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Introducción a Docker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91672" cy="4992624"/>
        </p:xfrm>
        <a:graphic>
          <a:graphicData uri="http://schemas.openxmlformats.org/drawingml/2006/table">
            <a:tbl>
              <a:tblPr/>
              <a:tblGrid>
                <a:gridCol w="46585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33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32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Comando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hace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docker compose up -d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 y arranca todos los servicios definidos (-d en segundo plano).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docker compose ps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Lista los servicios del proyecto y su estado.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docker compose logs -f &lt;servicio&gt;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Muestra los logs de un servicio en tiempo real.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docker compose stop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Detiene todos los servicios sin eliminarlos.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docker compose down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Detiene y elimina contenedores y red. No borra volúmenes.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docker compose down -v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Igual que down, pero además elimina los volúmenes.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 de vida: cuidado con down -v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Introducción a Docker</a:t>
            </a:r>
            <a:endParaRPr lang="en-US" sz="1100" dirty="0"/>
          </a:p>
        </p:txBody>
      </p:sp>
      <p:pic>
        <p:nvPicPr>
          <p:cNvPr id="5" name="Image 0" descr="C:/Users/Aitor/Documents/apuntes-profe/acceso-a-datos/docs/tema0/img/docker/docker_compose_ciclo_comandos.png"/>
          <p:cNvPicPr>
            <a:picLocks noChangeAspect="1"/>
          </p:cNvPicPr>
          <p:nvPr/>
        </p:nvPicPr>
        <p:blipFill>
          <a:blip r:embed="rId3"/>
          <a:srcRect t="6739" b="4400"/>
          <a:stretch>
            <a:fillRect/>
          </a:stretch>
        </p:blipFill>
        <p:spPr>
          <a:xfrm>
            <a:off x="1543510" y="868680"/>
            <a:ext cx="9101931" cy="455465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486400"/>
            <a:ext cx="11091672" cy="82296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822960" y="5577840"/>
            <a:ext cx="10543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 down -v borra los datos de verdad. Para un reinicio normal usa down (sin -v) o stop.</a:t>
            </a:r>
            <a:endParaRPr lang="en-US" sz="1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 clave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Introducción a Docker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5431536" cy="160020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731520" y="1577340"/>
            <a:ext cx="548640" cy="548640"/>
          </a:xfrm>
          <a:prstGeom prst="ellipse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731520" y="15773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17320" y="1124712"/>
            <a:ext cx="4379976" cy="1453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ejecuta aplicaciones en contenedores: aislados, ligeros, con el kernel del host compartido.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208776" y="1051560"/>
            <a:ext cx="5431536" cy="160020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6391656" y="1577340"/>
            <a:ext cx="548640" cy="548640"/>
          </a:xfrm>
          <a:prstGeom prst="ellipse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6391656" y="15773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077456" y="1124712"/>
            <a:ext cx="4379976" cy="1453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imagen es la plantilla inmutable; un contenedor es una instancia en ejecución de esa imagen.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548640" y="2880360"/>
            <a:ext cx="5431536" cy="160020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731520" y="3406140"/>
            <a:ext cx="548640" cy="548640"/>
          </a:xfrm>
          <a:prstGeom prst="ellipse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731520" y="34061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17320" y="2953512"/>
            <a:ext cx="4379976" cy="1453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volumen guarda los datos fuera del contenedor para que sobrevivan a su borrado.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6208776" y="2880360"/>
            <a:ext cx="5431536" cy="160020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6391656" y="3406140"/>
            <a:ext cx="548640" cy="548640"/>
          </a:xfrm>
          <a:prstGeom prst="ellipse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6391656" y="34061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077456" y="2953512"/>
            <a:ext cx="4379976" cy="1453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 describe varios contenedores en un docker-compose.yml y los levanta juntos.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548640" y="4709160"/>
            <a:ext cx="5431536" cy="160020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731520" y="5234940"/>
            <a:ext cx="548640" cy="548640"/>
          </a:xfrm>
          <a:prstGeom prst="ellipse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731520" y="52349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417320" y="4782312"/>
            <a:ext cx="4379976" cy="1453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services, ports, volumes, environment y depends_on son las claves esenciales del fichero.</a:t>
            </a:r>
            <a:endParaRPr lang="en-US" sz="1900" dirty="0"/>
          </a:p>
        </p:txBody>
      </p:sp>
      <p:sp>
        <p:nvSpPr>
          <p:cNvPr id="25" name="Shape 23"/>
          <p:cNvSpPr/>
          <p:nvPr/>
        </p:nvSpPr>
        <p:spPr>
          <a:xfrm>
            <a:off x="6208776" y="4709160"/>
            <a:ext cx="5431536" cy="160020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6391656" y="5234940"/>
            <a:ext cx="548640" cy="548640"/>
          </a:xfrm>
          <a:prstGeom prst="ellipse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6391656" y="52349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077456" y="4782312"/>
            <a:ext cx="4379976" cy="1453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 conserva los volúmenes; down -v también borra los datos.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1056</Words>
  <Application>Microsoft Office PowerPoint</Application>
  <PresentationFormat>Panorámica</PresentationFormat>
  <Paragraphs>130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7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 Docker</dc:title>
  <dc:subject>PptxGenJS Presentation</dc:subject>
  <dc:creator>Acceso a Datos</dc:creator>
  <cp:lastModifiedBy>VENTURA EDO, AITOR</cp:lastModifiedBy>
  <cp:revision>2</cp:revision>
  <dcterms:created xsi:type="dcterms:W3CDTF">2026-09-21T14:59:41Z</dcterms:created>
  <dcterms:modified xsi:type="dcterms:W3CDTF">2026-09-21T15:08:36Z</dcterms:modified>
</cp:coreProperties>
</file>