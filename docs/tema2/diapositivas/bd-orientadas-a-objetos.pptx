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252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2: BD OBJETO-RELACIONALES</a:t>
            </a:r>
            <a:endParaRPr lang="en-US" sz="1400" dirty="0"/>
          </a:p>
        </p:txBody>
      </p:sp>
      <p:sp>
        <p:nvSpPr>
          <p:cNvPr id="3" name="Text 1"/>
          <p:cNvSpPr/>
          <p:nvPr/>
        </p:nvSpPr>
        <p:spPr>
          <a:xfrm>
            <a:off x="548640" y="1417320"/>
            <a:ext cx="11091672" cy="2651760"/>
          </a:xfrm>
          <a:prstGeom prst="rect">
            <a:avLst/>
          </a:prstGeom>
          <a:noFill/>
          <a:ln/>
        </p:spPr>
        <p:txBody>
          <a:bodyPr wrap="square" rtlCol="0" anchor="ctr"/>
          <a:lstStyle/>
          <a:p>
            <a:pPr marL="0" indent="0" algn="l">
              <a:buNone/>
            </a:pPr>
            <a:r>
              <a:rPr lang="en-US" sz="3400" b="1" dirty="0">
                <a:solidFill>
                  <a:srgbClr val="FFFFFF"/>
                </a:solidFill>
                <a:latin typeface="Arial" pitchFamily="34" charset="0"/>
                <a:ea typeface="Arial" pitchFamily="34" charset="-122"/>
                <a:cs typeface="Arial" pitchFamily="34" charset="-120"/>
              </a:rPr>
              <a:t>Bases de datos orientadas</a:t>
            </a:r>
            <a:endParaRPr lang="en-US" sz="3400" dirty="0"/>
          </a:p>
          <a:p>
            <a:pPr marL="0" indent="0" algn="l">
              <a:buNone/>
            </a:pPr>
            <a:r>
              <a:rPr lang="en-US" sz="3400" b="1" dirty="0">
                <a:solidFill>
                  <a:srgbClr val="FFFFFF"/>
                </a:solidFill>
                <a:latin typeface="Arial" pitchFamily="34" charset="0"/>
                <a:ea typeface="Arial" pitchFamily="34" charset="-122"/>
                <a:cs typeface="Arial" pitchFamily="34" charset="-120"/>
              </a:rPr>
              <a:t>a objetos, pruebas y</a:t>
            </a:r>
            <a:endParaRPr lang="en-US" sz="3400" dirty="0"/>
          </a:p>
          <a:p>
            <a:pPr marL="0" indent="0" algn="l">
              <a:buNone/>
            </a:pPr>
            <a:r>
              <a:rPr lang="en-US" sz="3400" b="1" dirty="0">
                <a:solidFill>
                  <a:srgbClr val="FFFFFF"/>
                </a:solidFill>
                <a:latin typeface="Arial" pitchFamily="34" charset="0"/>
                <a:ea typeface="Arial" pitchFamily="34" charset="-122"/>
                <a:cs typeface="Arial" pitchFamily="34" charset="-120"/>
              </a:rPr>
              <a:t>documentación</a:t>
            </a:r>
            <a:endParaRPr lang="en-US" sz="34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1800" i="1" dirty="0">
                <a:solidFill>
                  <a:srgbClr val="FFFFFF"/>
                </a:solidFill>
                <a:latin typeface="Arial" pitchFamily="34" charset="0"/>
                <a:ea typeface="Arial" pitchFamily="34" charset="-122"/>
                <a:cs typeface="Arial" pitchFamily="34" charset="-120"/>
              </a:rPr>
              <a:t>3. BD orientadas a objetos, pruebas y documentación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BD orientadas a objetos, pruebas y documentación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2560320"/>
            <a:ext cx="11091672" cy="22860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651760"/>
            <a:ext cx="10543032" cy="2103120"/>
          </a:xfrm>
          <a:prstGeom prst="rect">
            <a:avLst/>
          </a:prstGeom>
          <a:noFill/>
          <a:ln/>
        </p:spPr>
        <p:txBody>
          <a:bodyPr wrap="square" rtlCol="0" anchor="ctr"/>
          <a:lstStyle/>
          <a:p>
            <a:pPr marL="0" indent="0">
              <a:buNone/>
            </a:pPr>
            <a:r>
              <a:rPr lang="en-US" sz="2300" dirty="0">
                <a:solidFill>
                  <a:srgbClr val="212121"/>
                </a:solidFill>
                <a:latin typeface="Arial" pitchFamily="34" charset="0"/>
                <a:ea typeface="Arial" pitchFamily="34" charset="-122"/>
                <a:cs typeface="Arial" pitchFamily="34" charset="-120"/>
              </a:rPr>
              <a:t>Este apartado tiene dos partes bien diferenciadas: primero un bloque teórico sobre una categoría de bases de datos que no vas a usar en las prácticas —lo ves de forma conceptual, sin instalar ni configurar nada—, y después las pruebas que dan por buenas todas las piezas construidas hasta ahora.</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Bases de datos orientadas a objetos puras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2221992"/>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313432"/>
            <a:ext cx="10543032" cy="12801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Una base de datos orientada a objetos almacena directamente el estado de los objetos, su identidad y las relaciones que mantienen entre ellos, sin descomponerlos previamente en el modelo relacional de filas, columnas y claves foráneas.</a:t>
            </a:r>
            <a:endParaRPr lang="en-US" sz="2000" dirty="0"/>
          </a:p>
        </p:txBody>
      </p:sp>
      <p:sp>
        <p:nvSpPr>
          <p:cNvPr id="7" name="Text 5"/>
          <p:cNvSpPr/>
          <p:nvPr/>
        </p:nvSpPr>
        <p:spPr>
          <a:xfrm>
            <a:off x="548640" y="4005072"/>
            <a:ext cx="11091672" cy="128016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Esto no significa que copie literalmente un objeto Java tal como existe en la memoria del programa. El gestor utiliza su propia representación interna, pero su modelo lógico se basa en objetos y referencias, no en tablas relacionales.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Los tres modelos, uno junto a otro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4480560"/>
        </p:xfrm>
        <a:graphic>
          <a:graphicData uri="http://schemas.openxmlformats.org/drawingml/2006/table">
            <a:tbl>
              <a:tblPr/>
              <a:tblGrid>
                <a:gridCol w="1774668">
                  <a:extLst>
                    <a:ext uri="{9D8B030D-6E8A-4147-A177-3AD203B41FA5}">
                      <a16:colId xmlns:a16="http://schemas.microsoft.com/office/drawing/2014/main" val="20000"/>
                    </a:ext>
                  </a:extLst>
                </a:gridCol>
                <a:gridCol w="2994751">
                  <a:extLst>
                    <a:ext uri="{9D8B030D-6E8A-4147-A177-3AD203B41FA5}">
                      <a16:colId xmlns:a16="http://schemas.microsoft.com/office/drawing/2014/main" val="20001"/>
                    </a:ext>
                  </a:extLst>
                </a:gridCol>
                <a:gridCol w="3327502">
                  <a:extLst>
                    <a:ext uri="{9D8B030D-6E8A-4147-A177-3AD203B41FA5}">
                      <a16:colId xmlns:a16="http://schemas.microsoft.com/office/drawing/2014/main" val="20002"/>
                    </a:ext>
                  </a:extLst>
                </a:gridCol>
                <a:gridCol w="2994751">
                  <a:extLst>
                    <a:ext uri="{9D8B030D-6E8A-4147-A177-3AD203B41FA5}">
                      <a16:colId xmlns:a16="http://schemas.microsoft.com/office/drawing/2014/main" val="20003"/>
                    </a:ext>
                  </a:extLst>
                </a:gridCol>
              </a:tblGrid>
              <a:tr h="896112">
                <a:tc>
                  <a:txBody>
                    <a:bodyPr/>
                    <a:lstStyle/>
                    <a:p>
                      <a:pPr marL="0" indent="0" algn="ctr">
                        <a:buNone/>
                      </a:pP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350" b="1" dirty="0">
                          <a:solidFill>
                            <a:srgbClr val="FFFFFF"/>
                          </a:solidFill>
                          <a:latin typeface="Arial" pitchFamily="34" charset="0"/>
                          <a:ea typeface="Arial" pitchFamily="34" charset="-122"/>
                          <a:cs typeface="Arial" pitchFamily="34" charset="-120"/>
                        </a:rPr>
                        <a:t>Relacional (Tema 1)</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350" b="1" dirty="0">
                          <a:solidFill>
                            <a:srgbClr val="FFFFFF"/>
                          </a:solidFill>
                          <a:latin typeface="Arial" pitchFamily="34" charset="0"/>
                          <a:ea typeface="Arial" pitchFamily="34" charset="-122"/>
                          <a:cs typeface="Arial" pitchFamily="34" charset="-120"/>
                        </a:rPr>
                        <a:t>Objeto-relacional JSONB (este tema)</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350" b="1" dirty="0">
                          <a:solidFill>
                            <a:srgbClr val="FFFFFF"/>
                          </a:solidFill>
                          <a:latin typeface="Arial" pitchFamily="34" charset="0"/>
                          <a:ea typeface="Arial" pitchFamily="34" charset="-122"/>
                          <a:cs typeface="Arial" pitchFamily="34" charset="-120"/>
                        </a:rPr>
                        <a:t>Orientada a objetos</a:t>
                      </a:r>
                      <a:endParaRPr lang="en-US" sz="135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896112">
                <a:tc>
                  <a:txBody>
                    <a:bodyPr/>
                    <a:lstStyle/>
                    <a:p>
                      <a:pPr marL="0" indent="0">
                        <a:buNone/>
                      </a:pPr>
                      <a:r>
                        <a:rPr lang="en-US" sz="1200" b="1" dirty="0">
                          <a:solidFill>
                            <a:srgbClr val="212121"/>
                          </a:solidFill>
                          <a:latin typeface="Arial" pitchFamily="34" charset="0"/>
                          <a:ea typeface="Arial" pitchFamily="34" charset="-122"/>
                          <a:cs typeface="Arial" pitchFamily="34" charset="-120"/>
                        </a:rPr>
                        <a:t>Modelo de almacenamiento</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Tablas, filas, columnas y relaciones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Modelo relacional, con tipos avanzados como jsonb</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Objetos, identidades y referencias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96112">
                <a:tc>
                  <a:txBody>
                    <a:bodyPr/>
                    <a:lstStyle/>
                    <a:p>
                      <a:pPr marL="0" indent="0">
                        <a:buNone/>
                      </a:pPr>
                      <a:r>
                        <a:rPr lang="en-US" sz="1200" b="1" dirty="0">
                          <a:solidFill>
                            <a:srgbClr val="212121"/>
                          </a:solidFill>
                          <a:latin typeface="Arial" pitchFamily="34" charset="0"/>
                          <a:ea typeface="Arial" pitchFamily="34" charset="-122"/>
                          <a:cs typeface="Arial" pitchFamily="34" charset="-120"/>
                        </a:rPr>
                        <a:t>Acceso desde Java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JDBC directamente o mediante un ORM como Hibernate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SQL/JDBC o, como aquí, Hibernate</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API específica del gestor o estándares orientados a objetos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896112">
                <a:tc>
                  <a:txBody>
                    <a:bodyPr/>
                    <a:lstStyle/>
                    <a:p>
                      <a:pPr marL="0" indent="0">
                        <a:buNone/>
                      </a:pPr>
                      <a:r>
                        <a:rPr lang="en-US" sz="1200" b="1" dirty="0">
                          <a:solidFill>
                            <a:srgbClr val="212121"/>
                          </a:solidFill>
                          <a:latin typeface="Arial" pitchFamily="34" charset="0"/>
                          <a:ea typeface="Arial" pitchFamily="34" charset="-122"/>
                          <a:cs typeface="Arial" pitchFamily="34" charset="-120"/>
                        </a:rPr>
                        <a:t>Lenguaje de consulta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SQL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SQL y operadores/funciones JSONB</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Depende del gestor: OQL, JPQL, JDOQL o APIs propias</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6112">
                <a:tc>
                  <a:txBody>
                    <a:bodyPr/>
                    <a:lstStyle/>
                    <a:p>
                      <a:pPr marL="0" indent="0">
                        <a:buNone/>
                      </a:pPr>
                      <a:r>
                        <a:rPr lang="en-US" sz="1200" b="1" dirty="0">
                          <a:solidFill>
                            <a:srgbClr val="212121"/>
                          </a:solidFill>
                          <a:latin typeface="Arial" pitchFamily="34" charset="0"/>
                          <a:ea typeface="Arial" pitchFamily="34" charset="-122"/>
                          <a:cs typeface="Arial" pitchFamily="34" charset="-120"/>
                        </a:rPr>
                        <a:t>Adopción</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Muy extendida</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Muy extendida en gestores como PostgreSQL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200" dirty="0">
                          <a:solidFill>
                            <a:srgbClr val="212121"/>
                          </a:solidFill>
                          <a:latin typeface="Arial" pitchFamily="34" charset="0"/>
                          <a:ea typeface="Arial" pitchFamily="34" charset="-122"/>
                          <a:cs typeface="Arial" pitchFamily="34" charset="-120"/>
                        </a:rPr>
                        <a:t>Mucho menos habitual</a:t>
                      </a:r>
                      <a:endParaRPr lang="en-US" sz="12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La desventaja real de este modelo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2148840"/>
            <a:ext cx="11091672" cy="14630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La última fila resume la desventaja real de este modelo: menos documentación, menos gente con experiencia a la que preguntar, y el riesgo de quedarte atado a un gestor que puede dejar de mantenerse — por eso casi nadie elige hoy una BD orientada a objetos pura para un proyecto nuevo.</a:t>
            </a:r>
            <a:endParaRPr lang="en-US" sz="1900" dirty="0"/>
          </a:p>
        </p:txBody>
      </p:sp>
      <p:sp>
        <p:nvSpPr>
          <p:cNvPr id="6" name="Text 4"/>
          <p:cNvSpPr/>
          <p:nvPr/>
        </p:nvSpPr>
        <p:spPr>
          <a:xfrm>
            <a:off x="548640" y="3977640"/>
            <a:ext cx="11091672" cy="137160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Al no existir la separación entre objetos y tablas relacionales, no hace falta un ORM objeto-relacional como Hibernate. Sigue siendo necesaria una API o un controlador que permita al programa comunicarse con el gestor, pero ya no tiene que traducir entidades a filas y claves foráneas.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OQL y gestores de referencia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554480"/>
            <a:ext cx="11091672" cy="155448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OQL (Object Query Language) es uno de los lenguajes asociados históricamente a este modelo, pero no es una opción universal. Cada gestor puede ofrecer lenguajes y APIs diferentes. Algunos utilizan OQL; otros, como ObjectDB, permiten consultar directamente mediante JPQL o JDOQL sin traducir después la consulta a SQL.</a:t>
            </a:r>
            <a:endParaRPr lang="en-US" sz="1900" dirty="0"/>
          </a:p>
        </p:txBody>
      </p:sp>
      <p:sp>
        <p:nvSpPr>
          <p:cNvPr id="6" name="Shape 4"/>
          <p:cNvSpPr/>
          <p:nvPr/>
        </p:nvSpPr>
        <p:spPr>
          <a:xfrm>
            <a:off x="548640" y="3474720"/>
            <a:ext cx="11091672" cy="141732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3566160"/>
            <a:ext cx="10543032" cy="1234440"/>
          </a:xfrm>
          <a:prstGeom prst="rect">
            <a:avLst/>
          </a:prstGeom>
          <a:noFill/>
          <a:ln/>
        </p:spPr>
        <p:txBody>
          <a:bodyPr wrap="square" rtlCol="0" anchor="ctr"/>
          <a:lstStyle/>
          <a:p>
            <a:pPr marL="0" indent="0">
              <a:buNone/>
            </a:pPr>
            <a:r>
              <a:rPr lang="en-US" sz="1750" dirty="0">
                <a:solidFill>
                  <a:srgbClr val="212121"/>
                </a:solidFill>
                <a:latin typeface="Arial" pitchFamily="34" charset="0"/>
                <a:ea typeface="Arial" pitchFamily="34" charset="-122"/>
                <a:cs typeface="Arial" pitchFamily="34" charset="-120"/>
              </a:rPr>
              <a:t>db4o, ObjectDB y Versant son ejemplos representativos —algunos principalmente históricos— de este tipo de bases de datos. No todos utilizan el mismo lenguaje de consulta ni ofrecen las mismas APIs. No vas a instalar ninguno: este bloque es puramente conceptual.</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Pruebas y documentación: test de capa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2404872"/>
            <a:ext cx="11091672" cy="50292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De vuelta al código: cómo se prueba y documenta lo construido en este tema.</a:t>
            </a:r>
            <a:endParaRPr lang="en-US" sz="1800" dirty="0"/>
          </a:p>
        </p:txBody>
      </p:sp>
      <p:sp>
        <p:nvSpPr>
          <p:cNvPr id="6" name="Shape 4"/>
          <p:cNvSpPr/>
          <p:nvPr/>
        </p:nvSpPr>
        <p:spPr>
          <a:xfrm>
            <a:off x="548640" y="3182112"/>
            <a:ext cx="11091672" cy="192024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3273552"/>
            <a:ext cx="10543032" cy="17373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Ya conoces el test de controller (PSP, Tema 1): con MockMvc, mockeando el service, prueba solo la capa HTTP — y aplica igual cuando la entidad lleva una columna JSONB. Existe también el test de service, que aísla la lógica de negocio mockeando el repositorio — pero ese se construye más adelante, en la Actividad 4.1; no hace falta todavía.</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Test de integración real (con Testcontainers)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417320"/>
            <a:ext cx="11091672" cy="7315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Los dos tests anteriores tienen algo en común: ninguno toca una base de datos de verdad, todo lo que hay debajo está mockeado.</a:t>
            </a:r>
            <a:endParaRPr lang="en-US" sz="1900" dirty="0"/>
          </a:p>
        </p:txBody>
      </p:sp>
      <p:sp>
        <p:nvSpPr>
          <p:cNvPr id="6" name="Shape 4"/>
          <p:cNvSpPr/>
          <p:nvPr/>
        </p:nvSpPr>
        <p:spPr>
          <a:xfrm>
            <a:off x="548640" y="2423160"/>
            <a:ext cx="11091672" cy="201168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2514600"/>
            <a:ext cx="10543032" cy="1828800"/>
          </a:xfrm>
          <a:prstGeom prst="rect">
            <a:avLst/>
          </a:prstGeom>
          <a:noFill/>
          <a:ln/>
        </p:spPr>
        <p:txBody>
          <a:bodyPr wrap="square" rtlCol="0" anchor="ctr"/>
          <a:lstStyle/>
          <a:p>
            <a:pPr marL="0" indent="0">
              <a:buNone/>
            </a:pPr>
            <a:r>
              <a:rPr lang="en-US" sz="1850" dirty="0">
                <a:solidFill>
                  <a:srgbClr val="212121"/>
                </a:solidFill>
                <a:latin typeface="Arial" pitchFamily="34" charset="0"/>
                <a:ea typeface="Arial" pitchFamily="34" charset="-122"/>
                <a:cs typeface="Arial" pitchFamily="34" charset="-120"/>
              </a:rPr>
              <a:t>Testcontainers es la librería que resuelve ese hueco — levanta contenedores Docker reales (una base de datos, una cola de mensajes, lo que haga falta) solo para la duración del test, y los destruye al terminar, sin dejar nada instalado en la máquina ni depender de ningún servicio externo compartido. No viene incluida en ningún starter usado hasta ahora — es la primera vez que aparece en el curso.</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Por qué se fija Testcontainers 1.20.4</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2377440"/>
            <a:ext cx="11091672" cy="11887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spring-boot-starter-parent gestiona también versiones de numerosas dependencias externas, entre ellas Testcontainers. Sin embargo, en este curso se fija expresamente Testcontainers 1.20.4, porque los módulos y los imports utilizados en las actividades corresponden a la línea 1.x.</a:t>
            </a:r>
            <a:endParaRPr lang="en-US" sz="1900" dirty="0"/>
          </a:p>
        </p:txBody>
      </p:sp>
      <p:sp>
        <p:nvSpPr>
          <p:cNvPr id="6" name="Text 4"/>
          <p:cNvSpPr/>
          <p:nvPr/>
        </p:nvSpPr>
        <p:spPr>
          <a:xfrm>
            <a:off x="548640" y="3886200"/>
            <a:ext cx="11091672" cy="1234440"/>
          </a:xfrm>
          <a:prstGeom prst="rect">
            <a:avLst/>
          </a:prstGeom>
          <a:noFill/>
          <a:ln/>
        </p:spPr>
        <p:txBody>
          <a:bodyPr wrap="square" rtlCol="0" anchor="t"/>
          <a:lstStyle/>
          <a:p>
            <a:pPr marL="0" indent="0">
              <a:buNone/>
            </a:pPr>
            <a:r>
              <a:rPr lang="en-US" sz="1750" dirty="0">
                <a:solidFill>
                  <a:srgbClr val="757575"/>
                </a:solidFill>
                <a:latin typeface="Arial" pitchFamily="34" charset="0"/>
                <a:ea typeface="Arial" pitchFamily="34" charset="-122"/>
                <a:cs typeface="Arial" pitchFamily="34" charset="-120"/>
              </a:rPr>
              <a:t>Testcontainers 2 cambió los nombres de sus módulos y trasladó varias clases a paquetes nuevos. Utilizar directamente la versión gestionada por Spring Boot no sería un cambio transparente: habría que adaptar también las coordenadas Maven y algunos imports.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Idea clave: qué es un BOM</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2240280"/>
            <a:ext cx="11091672" cy="137160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331720"/>
            <a:ext cx="10543032" cy="1188720"/>
          </a:xfrm>
          <a:prstGeom prst="rect">
            <a:avLst/>
          </a:prstGeom>
          <a:noFill/>
          <a:ln/>
        </p:spPr>
        <p:txBody>
          <a:bodyPr wrap="square" rtlCol="0" anchor="ctr"/>
          <a:lstStyle/>
          <a:p>
            <a:pPr marL="0" indent="0">
              <a:buNone/>
            </a:pPr>
            <a:r>
              <a:rPr lang="en-US" sz="2050" dirty="0">
                <a:solidFill>
                  <a:srgbClr val="212121"/>
                </a:solidFill>
                <a:latin typeface="Arial" pitchFamily="34" charset="0"/>
                <a:ea typeface="Arial" pitchFamily="34" charset="-122"/>
                <a:cs typeface="Arial" pitchFamily="34" charset="-120"/>
              </a:rPr>
              <a:t>Un BOM (Bill of Materials, "lista de materiales") es un POM especial que coordina las versiones de un conjunto de artefactos compatibles, pero no añade por sí mismo esas librerías al proyecto.</a:t>
            </a:r>
            <a:endParaRPr lang="en-US" sz="2050" dirty="0"/>
          </a:p>
        </p:txBody>
      </p:sp>
      <p:sp>
        <p:nvSpPr>
          <p:cNvPr id="7" name="Text 5"/>
          <p:cNvSpPr/>
          <p:nvPr/>
        </p:nvSpPr>
        <p:spPr>
          <a:xfrm>
            <a:off x="548640" y="3977640"/>
            <a:ext cx="11091672" cy="1280160"/>
          </a:xfrm>
          <a:prstGeom prst="rect">
            <a:avLst/>
          </a:prstGeom>
          <a:noFill/>
          <a:ln/>
        </p:spPr>
        <p:txBody>
          <a:bodyPr wrap="square" rtlCol="0" anchor="t"/>
          <a:lstStyle/>
          <a:p>
            <a:pPr marL="0" indent="0">
              <a:buNone/>
            </a:pPr>
            <a:r>
              <a:rPr lang="en-US" sz="1800" dirty="0">
                <a:solidFill>
                  <a:srgbClr val="757575"/>
                </a:solidFill>
                <a:latin typeface="Arial" pitchFamily="34" charset="0"/>
                <a:ea typeface="Arial" pitchFamily="34" charset="-122"/>
                <a:cs typeface="Arial" pitchFamily="34" charset="-120"/>
              </a:rPr>
              <a:t>spring-boot-starter-parent ya incorpora su propia gestión de dependencias. Al importar el BOM de Testcontainers 1.20.4, este proyecto fija explícitamente la versión de todos sus módulos y permite mantener las coordenadas e imports utilizados en las actividades.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BOM va junto al &lt;parent&gt;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371600"/>
            <a:ext cx="11091672" cy="37490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371600"/>
            <a:ext cx="73152" cy="37490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481328"/>
            <a:ext cx="10588752" cy="352958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&lt;properties&gt;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&lt;testcontainers.version&gt;1.20.4&lt;/testcontainers.version&gt;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&lt;/properties&gt;</a:t>
            </a:r>
            <a:endParaRPr lang="en-US" sz="1450" dirty="0"/>
          </a:p>
          <a:p>
            <a:pPr marL="0" indent="0">
              <a:buNone/>
            </a:pP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&lt;dependencyManagement&gt;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&lt;dependencies&gt;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&lt;dependency&gt;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&lt;groupId&gt;org.testcontainers&lt;/groupId&gt;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&lt;artifactId&gt;testcontainers-bom&lt;/artifactId&gt;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&lt;version&gt;${testcontainers.version}&lt;/version&gt;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&lt;type&gt;pom&lt;/type&gt;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&lt;scope&gt;import&lt;/scope&gt;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&lt;/dependency&gt;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&lt;/dependencies&gt;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&lt;/dependencyManagement&gt;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Con el BOM importado, sin &lt;version&gt; individual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188720"/>
            <a:ext cx="11091672" cy="34290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188720"/>
            <a:ext cx="73152" cy="342900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298448"/>
            <a:ext cx="10588752" cy="3209544"/>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&lt;groupId&gt;org.springframework.boot&lt;/groupId&gt;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&lt;artifactId&gt;spring-boot-testcontainers&lt;/artifactId&gt;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&lt;scope&gt;test&lt;/scope&gt;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&lt;groupId&gt;org.testcontainers&lt;/groupId&gt;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&lt;artifactId&gt;junit-jupiter&lt;/artifactId&gt;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&lt;scope&gt;test&lt;/scope&gt;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&lt;groupId&gt;org.testcontainers&lt;/groupId&gt;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&lt;artifactId&gt;postgresql&lt;/artifactId&gt;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&lt;scope&gt;test&lt;/scope&gt;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&lt;/dependency&gt;</a:t>
            </a:r>
            <a:endParaRPr lang="en-US" sz="1400" dirty="0"/>
          </a:p>
        </p:txBody>
      </p:sp>
      <p:sp>
        <p:nvSpPr>
          <p:cNvPr id="8" name="Text 6"/>
          <p:cNvSpPr/>
          <p:nvPr/>
        </p:nvSpPr>
        <p:spPr>
          <a:xfrm>
            <a:off x="548640" y="4892040"/>
            <a:ext cx="11091672" cy="777240"/>
          </a:xfrm>
          <a:prstGeom prst="rect">
            <a:avLst/>
          </a:prstGeom>
          <a:noFill/>
          <a:ln/>
        </p:spPr>
        <p:txBody>
          <a:bodyPr wrap="square" rtlCol="0" anchor="t"/>
          <a:lstStyle/>
          <a:p>
            <a:pPr marL="0" indent="0">
              <a:buNone/>
            </a:pPr>
            <a:r>
              <a:rPr lang="en-US" sz="1450" dirty="0">
                <a:solidFill>
                  <a:srgbClr val="757575"/>
                </a:solidFill>
                <a:latin typeface="Arial" pitchFamily="34" charset="0"/>
                <a:ea typeface="Arial" pitchFamily="34" charset="-122"/>
                <a:cs typeface="Arial" pitchFamily="34" charset="-120"/>
              </a:rPr>
              <a:t>Esto deja el terreno preparado para el resto del curso: cuando más adelante se añadan otros contenedores (MongoDB, RabbitMQ...), ninguno necesitará tampoco su propia &lt;version&gt; — todos quedan cubiertos por este mismo BOM.</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Por qué esto funciona dentro del Dev Container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54480"/>
            <a:ext cx="11091672" cy="19202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1645920"/>
            <a:ext cx="10543032" cy="1737360"/>
          </a:xfrm>
          <a:prstGeom prst="rect">
            <a:avLst/>
          </a:prstGeom>
          <a:noFill/>
          <a:ln/>
        </p:spPr>
        <p:txBody>
          <a:bodyPr wrap="square" rtlCol="0" anchor="ctr"/>
          <a:lstStyle/>
          <a:p>
            <a:pPr marL="0" indent="0">
              <a:buNone/>
            </a:pPr>
            <a:r>
              <a:rPr lang="en-US" sz="1850" dirty="0">
                <a:solidFill>
                  <a:srgbClr val="212121"/>
                </a:solidFill>
                <a:latin typeface="Arial" pitchFamily="34" charset="0"/>
                <a:ea typeface="Arial" pitchFamily="34" charset="-122"/>
                <a:cs typeface="Arial" pitchFamily="34" charset="-120"/>
              </a:rPr>
              <a:t>Testcontainers necesita arrancar contenedores de verdad — y el proyecto entero corre dentro de un contenedor (app) desde la Actividad 1.1. Funciona porque, ya desde entonces, se ha montado el socket de Docker del host dentro de app y se ha añadido la feature docker-outside-of-docker: el contenedor puede pedirle contenedores nuevos al mismo Docker que usa el sistema operativo, sin necesitar un Docker propio dentro del Docker.</a:t>
            </a:r>
            <a:endParaRPr lang="en-US" sz="1850" dirty="0"/>
          </a:p>
        </p:txBody>
      </p:sp>
      <p:sp>
        <p:nvSpPr>
          <p:cNvPr id="7" name="Text 5"/>
          <p:cNvSpPr/>
          <p:nvPr/>
        </p:nvSpPr>
        <p:spPr>
          <a:xfrm>
            <a:off x="548640" y="3840480"/>
            <a:ext cx="11091672" cy="777240"/>
          </a:xfrm>
          <a:prstGeom prst="rect">
            <a:avLst/>
          </a:prstGeom>
          <a:noFill/>
          <a:ln/>
        </p:spPr>
        <p:txBody>
          <a:bodyPr wrap="square" rtlCol="0" anchor="t"/>
          <a:lstStyle/>
          <a:p>
            <a:pPr marL="0" indent="0">
              <a:buNone/>
            </a:pPr>
            <a:r>
              <a:rPr lang="en-US" sz="1650" dirty="0">
                <a:solidFill>
                  <a:srgbClr val="757575"/>
                </a:solidFill>
                <a:latin typeface="Arial" pitchFamily="34" charset="0"/>
                <a:ea typeface="Arial" pitchFamily="34" charset="-122"/>
                <a:cs typeface="Arial" pitchFamily="34" charset="-120"/>
              </a:rPr>
              <a:t>Esa misma idea —la JVM, dentro de app, pidiéndole contenedores al Docker del host— es justo lo que puede fallar de dos maneras distintas, cada una en un momento distinto del proceso.</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Primer fallo: Permission denied en el socket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234440"/>
            <a:ext cx="11091672" cy="155448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1325880"/>
            <a:ext cx="10543032" cy="1371600"/>
          </a:xfrm>
          <a:prstGeom prst="rect">
            <a:avLst/>
          </a:prstGeom>
          <a:noFill/>
          <a:ln/>
        </p:spPr>
        <p:txBody>
          <a:bodyPr wrap="square" rtlCol="0" anchor="ctr"/>
          <a:lstStyle/>
          <a:p>
            <a:pPr marL="0" indent="0">
              <a:buNone/>
            </a:pPr>
            <a:r>
              <a:rPr lang="en-US" sz="1750" dirty="0">
                <a:solidFill>
                  <a:srgbClr val="212121"/>
                </a:solidFill>
                <a:latin typeface="Arial" pitchFamily="34" charset="0"/>
                <a:ea typeface="Arial" pitchFamily="34" charset="-122"/>
                <a:cs typeface="Arial" pitchFamily="34" charset="-120"/>
              </a:rPr>
              <a:t>Un java.io.IOException / Permission denied sobre /var/run/docker.sock, antes de crear ningún contenedor. En Docker Desktop ese socket pertenece al grupo root, y docker-outside-of-docker no puede añadir al usuario del contenedor a root por seguridad — se queda sin permiso para usarlo.</a:t>
            </a:r>
            <a:endParaRPr lang="en-US" sz="1750" dirty="0"/>
          </a:p>
        </p:txBody>
      </p:sp>
      <p:sp>
        <p:nvSpPr>
          <p:cNvPr id="7" name="Text 5"/>
          <p:cNvSpPr/>
          <p:nvPr/>
        </p:nvSpPr>
        <p:spPr>
          <a:xfrm>
            <a:off x="548640" y="3017520"/>
            <a:ext cx="11091672" cy="457200"/>
          </a:xfrm>
          <a:prstGeom prst="rect">
            <a:avLst/>
          </a:prstGeom>
          <a:noFill/>
          <a:ln/>
        </p:spPr>
        <p:txBody>
          <a:bodyPr wrap="square" rtlCol="0" anchor="t"/>
          <a:lstStyle/>
          <a:p>
            <a:pPr marL="0" indent="0">
              <a:buNone/>
            </a:pPr>
            <a:r>
              <a:rPr lang="en-US" sz="1550" dirty="0">
                <a:solidFill>
                  <a:srgbClr val="212121"/>
                </a:solidFill>
                <a:latin typeface="Arial" pitchFamily="34" charset="0"/>
                <a:ea typeface="Arial" pitchFamily="34" charset="-122"/>
                <a:cs typeface="Arial" pitchFamily="34" charset="-120"/>
              </a:rPr>
              <a:t>Solución: forzar los permisos del socket en cada arranque. Añadir a devcontainer.json (no a docker-compose.yml):</a:t>
            </a:r>
            <a:endParaRPr lang="en-US" sz="1550" dirty="0"/>
          </a:p>
        </p:txBody>
      </p:sp>
      <p:sp>
        <p:nvSpPr>
          <p:cNvPr id="8" name="Shape 6"/>
          <p:cNvSpPr/>
          <p:nvPr/>
        </p:nvSpPr>
        <p:spPr>
          <a:xfrm>
            <a:off x="548640" y="3611880"/>
            <a:ext cx="11091672" cy="594360"/>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3611880"/>
            <a:ext cx="73152" cy="594360"/>
          </a:xfrm>
          <a:prstGeom prst="rect">
            <a:avLst/>
          </a:prstGeom>
          <a:solidFill>
            <a:srgbClr val="E64A19"/>
          </a:solidFill>
          <a:ln w="12700">
            <a:solidFill>
              <a:srgbClr val="E64A19"/>
            </a:solidFill>
            <a:prstDash val="solid"/>
          </a:ln>
        </p:spPr>
        <p:txBody>
          <a:bodyPr/>
          <a:lstStyle/>
          <a:p>
            <a:endParaRPr lang="es-ES"/>
          </a:p>
        </p:txBody>
      </p:sp>
      <p:sp>
        <p:nvSpPr>
          <p:cNvPr id="10" name="Text 8"/>
          <p:cNvSpPr/>
          <p:nvPr/>
        </p:nvSpPr>
        <p:spPr>
          <a:xfrm>
            <a:off x="822960" y="3721608"/>
            <a:ext cx="10588752" cy="374904"/>
          </a:xfrm>
          <a:prstGeom prst="rect">
            <a:avLst/>
          </a:prstGeom>
          <a:noFill/>
          <a:ln/>
        </p:spPr>
        <p:txBody>
          <a:bodyPr wrap="square" rtlCol="0" anchor="t"/>
          <a:lstStyle/>
          <a:p>
            <a:pPr marL="0" indent="0">
              <a:buNone/>
            </a:pPr>
            <a:r>
              <a:rPr lang="en-US" sz="1350" dirty="0">
                <a:solidFill>
                  <a:srgbClr val="263238"/>
                </a:solidFill>
                <a:latin typeface="Courier New" pitchFamily="34" charset="0"/>
                <a:ea typeface="Courier New" pitchFamily="34" charset="-122"/>
                <a:cs typeface="Courier New" pitchFamily="34" charset="-120"/>
              </a:rPr>
              <a:t>"postStartCommand": "sudo chmod 666 /var/run/docker.sock || true"</a:t>
            </a:r>
            <a:endParaRPr lang="en-US" sz="1350" dirty="0"/>
          </a:p>
        </p:txBody>
      </p:sp>
      <p:sp>
        <p:nvSpPr>
          <p:cNvPr id="11" name="Text 9"/>
          <p:cNvSpPr/>
          <p:nvPr/>
        </p:nvSpPr>
        <p:spPr>
          <a:xfrm>
            <a:off x="548640" y="4389120"/>
            <a:ext cx="11091672" cy="457200"/>
          </a:xfrm>
          <a:prstGeom prst="rect">
            <a:avLst/>
          </a:prstGeom>
          <a:noFill/>
          <a:ln/>
        </p:spPr>
        <p:txBody>
          <a:bodyPr wrap="square" rtlCol="0" anchor="t"/>
          <a:lstStyle/>
          <a:p>
            <a:pPr marL="0" indent="0">
              <a:buNone/>
            </a:pPr>
            <a:r>
              <a:rPr lang="en-US" sz="1400" dirty="0">
                <a:solidFill>
                  <a:srgbClr val="757575"/>
                </a:solidFill>
                <a:latin typeface="Arial" pitchFamily="34" charset="0"/>
                <a:ea typeface="Arial" pitchFamily="34" charset="-122"/>
                <a:cs typeface="Arial" pitchFamily="34" charset="-120"/>
              </a:rPr>
              <a:t>El || true evita que el arranque falle si el comando no puede ejecutarse. Tras añadirlo, reconstruir el contenedor.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Segundo fallo: Connection refused con Ryuk</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18872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1280160"/>
            <a:ext cx="10543032" cy="1280160"/>
          </a:xfrm>
          <a:prstGeom prst="rect">
            <a:avLst/>
          </a:prstGeom>
          <a:noFill/>
          <a:ln/>
        </p:spPr>
        <p:txBody>
          <a:bodyPr wrap="square" rtlCol="0" anchor="ctr"/>
          <a:lstStyle/>
          <a:p>
            <a:pPr marL="0" indent="0">
              <a:buNone/>
            </a:pPr>
            <a:r>
              <a:rPr lang="en-US" sz="1650" dirty="0">
                <a:solidFill>
                  <a:srgbClr val="212121"/>
                </a:solidFill>
                <a:latin typeface="Arial" pitchFamily="34" charset="0"/>
                <a:ea typeface="Arial" pitchFamily="34" charset="-122"/>
                <a:cs typeface="Arial" pitchFamily="34" charset="-120"/>
              </a:rPr>
              <a:t>Testcontainers levanta, además del PostgreSQL de test, un contenedor auxiliar llamado Ryuk que limpia los contenedores al terminar — y ambos arrancan como contenedores hermanos en la red del host, no en la de app. El síntoma es Connection refused hacia una IP tipo 172.17.0.1.</a:t>
            </a:r>
            <a:endParaRPr lang="en-US" sz="1650" dirty="0"/>
          </a:p>
        </p:txBody>
      </p:sp>
      <p:sp>
        <p:nvSpPr>
          <p:cNvPr id="7" name="Text 5"/>
          <p:cNvSpPr/>
          <p:nvPr/>
        </p:nvSpPr>
        <p:spPr>
          <a:xfrm>
            <a:off x="548640" y="2834640"/>
            <a:ext cx="11091672" cy="457200"/>
          </a:xfrm>
          <a:prstGeom prst="rect">
            <a:avLst/>
          </a:prstGeom>
          <a:noFill/>
          <a:ln/>
        </p:spPr>
        <p:txBody>
          <a:bodyPr wrap="square" rtlCol="0" anchor="t"/>
          <a:lstStyle/>
          <a:p>
            <a:pPr marL="0" indent="0">
              <a:buNone/>
            </a:pPr>
            <a:r>
              <a:rPr lang="en-US" sz="1500" dirty="0">
                <a:solidFill>
                  <a:srgbClr val="212121"/>
                </a:solidFill>
                <a:latin typeface="Arial" pitchFamily="34" charset="0"/>
                <a:ea typeface="Arial" pitchFamily="34" charset="-122"/>
                <a:cs typeface="Arial" pitchFamily="34" charset="-120"/>
              </a:rPr>
              <a:t>Solución: indicar a Testcontainers una dirección que app sí pueda alcanzar. Añadir a .devcontainer/docker-compose.yml, en el servicio app:</a:t>
            </a:r>
            <a:endParaRPr lang="en-US" sz="1500" dirty="0"/>
          </a:p>
        </p:txBody>
      </p:sp>
      <p:sp>
        <p:nvSpPr>
          <p:cNvPr id="8" name="Shape 6"/>
          <p:cNvSpPr/>
          <p:nvPr/>
        </p:nvSpPr>
        <p:spPr>
          <a:xfrm>
            <a:off x="548640" y="3429000"/>
            <a:ext cx="11091672" cy="777240"/>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3429000"/>
            <a:ext cx="73152" cy="777240"/>
          </a:xfrm>
          <a:prstGeom prst="rect">
            <a:avLst/>
          </a:prstGeom>
          <a:solidFill>
            <a:srgbClr val="E64A19"/>
          </a:solidFill>
          <a:ln w="12700">
            <a:solidFill>
              <a:srgbClr val="E64A19"/>
            </a:solidFill>
            <a:prstDash val="solid"/>
          </a:ln>
        </p:spPr>
        <p:txBody>
          <a:bodyPr/>
          <a:lstStyle/>
          <a:p>
            <a:endParaRPr lang="es-ES"/>
          </a:p>
        </p:txBody>
      </p:sp>
      <p:sp>
        <p:nvSpPr>
          <p:cNvPr id="10" name="Text 8"/>
          <p:cNvSpPr/>
          <p:nvPr/>
        </p:nvSpPr>
        <p:spPr>
          <a:xfrm>
            <a:off x="822960" y="3538728"/>
            <a:ext cx="10588752" cy="557784"/>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environment:</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 TESTCONTAINERS_HOST_OVERRIDE=host.docker.internal</a:t>
            </a:r>
            <a:endParaRPr lang="en-US" sz="1400" dirty="0"/>
          </a:p>
        </p:txBody>
      </p:sp>
      <p:sp>
        <p:nvSpPr>
          <p:cNvPr id="11" name="Text 9"/>
          <p:cNvSpPr/>
          <p:nvPr/>
        </p:nvSpPr>
        <p:spPr>
          <a:xfrm>
            <a:off x="548640" y="4389120"/>
            <a:ext cx="11091672" cy="502920"/>
          </a:xfrm>
          <a:prstGeom prst="rect">
            <a:avLst/>
          </a:prstGeom>
          <a:noFill/>
          <a:ln/>
        </p:spPr>
        <p:txBody>
          <a:bodyPr wrap="square" rtlCol="0" anchor="t"/>
          <a:lstStyle/>
          <a:p>
            <a:pPr marL="0" indent="0">
              <a:buNone/>
            </a:pPr>
            <a:r>
              <a:rPr lang="en-US" sz="1350" dirty="0">
                <a:solidFill>
                  <a:srgbClr val="757575"/>
                </a:solidFill>
                <a:latin typeface="Arial" pitchFamily="34" charset="0"/>
                <a:ea typeface="Arial" pitchFamily="34" charset="-122"/>
                <a:cs typeface="Arial" pitchFamily="34" charset="-120"/>
              </a:rPr>
              <a:t>Y reconstruir el contenedor. host.docker.internal es el nombre que Docker Desktop resuelve correctamente desde cualquier contenedor hacia los puertos publicados.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Con las dependencias resueltas: la clase de test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280160"/>
            <a:ext cx="11091672" cy="393192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280160"/>
            <a:ext cx="73152" cy="393192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389888"/>
            <a:ext cx="10588752" cy="371246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@SpringBootTest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@AutoConfigureMockMvc</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@ActiveProfiles("test")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@Testcontainers</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class LibreriaApiTest {</a:t>
            </a:r>
            <a:endParaRPr lang="en-US" sz="1450" dirty="0"/>
          </a:p>
          <a:p>
            <a:pPr marL="0" indent="0">
              <a:buNone/>
            </a:pP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@Container</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@ServiceConnection</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static PostgreSQLContainer&lt;?&gt; postgres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new PostgreSQLContainer&lt;&gt;("postgres:16-alpine");</a:t>
            </a:r>
            <a:endParaRPr lang="en-US" sz="1450" dirty="0"/>
          </a:p>
          <a:p>
            <a:pPr marL="0" indent="0">
              <a:buNone/>
            </a:pP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@Autowired</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private MockMvc mockMvc;</a:t>
            </a:r>
            <a:endParaRPr lang="en-US" sz="1450" dirty="0"/>
          </a:p>
          <a:p>
            <a:pPr marL="0" indent="0">
              <a:buNone/>
            </a:pP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Qué hace cada anotación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2130552"/>
            <a:ext cx="11091672" cy="118872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221992"/>
            <a:ext cx="10543032" cy="100584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@Testcontainers + @Container levantan un PostgreSQL real dentro de un contenedor Docker, solo para la duración del test — no una base de datos en memoria, no un mock.</a:t>
            </a:r>
            <a:endParaRPr lang="en-US" sz="1900" dirty="0"/>
          </a:p>
        </p:txBody>
      </p:sp>
      <p:sp>
        <p:nvSpPr>
          <p:cNvPr id="7" name="Text 5"/>
          <p:cNvSpPr/>
          <p:nvPr/>
        </p:nvSpPr>
        <p:spPr>
          <a:xfrm>
            <a:off x="548640" y="3593592"/>
            <a:ext cx="11091672" cy="640080"/>
          </a:xfrm>
          <a:prstGeom prst="rect">
            <a:avLst/>
          </a:prstGeom>
          <a:noFill/>
          <a:ln/>
        </p:spPr>
        <p:txBody>
          <a:bodyPr wrap="square" rtlCol="0" anchor="t"/>
          <a:lstStyle/>
          <a:p>
            <a:pPr marL="0" indent="0">
              <a:buNone/>
            </a:pPr>
            <a:r>
              <a:rPr lang="en-US" sz="1750" dirty="0">
                <a:solidFill>
                  <a:srgbClr val="212121"/>
                </a:solidFill>
                <a:latin typeface="Arial" pitchFamily="34" charset="0"/>
                <a:ea typeface="Arial" pitchFamily="34" charset="-122"/>
                <a:cs typeface="Arial" pitchFamily="34" charset="-120"/>
              </a:rPr>
              <a:t>@ServiceConnection conecta automáticamente ese contenedor a la aplicación de test, sin configurar manualmente la URL de conexión.</a:t>
            </a:r>
            <a:endParaRPr lang="en-US" sz="1750" dirty="0"/>
          </a:p>
        </p:txBody>
      </p:sp>
      <p:sp>
        <p:nvSpPr>
          <p:cNvPr id="8" name="Text 6"/>
          <p:cNvSpPr/>
          <p:nvPr/>
        </p:nvSpPr>
        <p:spPr>
          <a:xfrm>
            <a:off x="548640" y="4462272"/>
            <a:ext cx="11091672" cy="914400"/>
          </a:xfrm>
          <a:prstGeom prst="rect">
            <a:avLst/>
          </a:prstGeom>
          <a:noFill/>
          <a:ln/>
        </p:spPr>
        <p:txBody>
          <a:bodyPr wrap="square" rtlCol="0" anchor="t"/>
          <a:lstStyle/>
          <a:p>
            <a:pPr marL="0" indent="0">
              <a:buNone/>
            </a:pPr>
            <a:r>
              <a:rPr lang="en-US" sz="1650" dirty="0">
                <a:solidFill>
                  <a:srgbClr val="757575"/>
                </a:solidFill>
                <a:latin typeface="Arial" pitchFamily="34" charset="0"/>
                <a:ea typeface="Arial" pitchFamily="34" charset="-122"/>
                <a:cs typeface="Arial" pitchFamily="34" charset="-120"/>
              </a:rPr>
              <a:t>@ActiveProfiles("test") activa un perfil propio, distinto del dev de siempre — así se puede usar ddl-auto: create-drop (cada ejecución parte de una base de datos limpia) sin tocar la configuración diaria.</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La anotación sola no basta: el perfil test debe existir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143000"/>
            <a:ext cx="11091672" cy="1371600"/>
          </a:xfrm>
          <a:prstGeom prst="rect">
            <a:avLst/>
          </a:prstGeom>
          <a:noFill/>
          <a:ln/>
        </p:spPr>
        <p:txBody>
          <a:bodyPr wrap="square" rtlCol="0" anchor="t"/>
          <a:lstStyle/>
          <a:p>
            <a:pPr marL="0" indent="0">
              <a:buNone/>
            </a:pPr>
            <a:r>
              <a:rPr lang="en-US" sz="1450" dirty="0">
                <a:solidFill>
                  <a:srgbClr val="212121"/>
                </a:solidFill>
                <a:latin typeface="Arial" pitchFamily="34" charset="0"/>
                <a:ea typeface="Arial" pitchFamily="34" charset="-122"/>
                <a:cs typeface="Arial" pitchFamily="34" charset="-120"/>
              </a:rPr>
              <a:t>@ActiveProfiles("test") le dice a Spring qué perfil activar, pero no crea nada por sí sola. Tres propiedades sin valor impiden arrancar del todo: la contraseña del admin, el secreto JWT y la expiración del token — ninguna lleva valor por defecto. spring.datasource no hace falta escribirlo: eso ya lo resuelve @ServiceConnection. Crear src/test/resources/application-test.yml:</a:t>
            </a:r>
            <a:endParaRPr lang="en-US" sz="1450" dirty="0"/>
          </a:p>
        </p:txBody>
      </p:sp>
      <p:sp>
        <p:nvSpPr>
          <p:cNvPr id="6" name="Shape 4"/>
          <p:cNvSpPr/>
          <p:nvPr/>
        </p:nvSpPr>
        <p:spPr>
          <a:xfrm>
            <a:off x="548640" y="2216300"/>
            <a:ext cx="11091672" cy="3399422"/>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208276"/>
            <a:ext cx="73152" cy="3399422"/>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435756"/>
            <a:ext cx="10588752" cy="2615184"/>
          </a:xfrm>
          <a:prstGeom prst="rect">
            <a:avLst/>
          </a:prstGeom>
          <a:noFill/>
          <a:ln/>
        </p:spPr>
        <p:txBody>
          <a:bodyPr wrap="square" rtlCol="0" anchor="t"/>
          <a:lstStyle/>
          <a:p>
            <a:pPr marL="0" indent="0">
              <a:buNone/>
            </a:pPr>
            <a:r>
              <a:rPr lang="en-US" sz="1250" dirty="0">
                <a:solidFill>
                  <a:srgbClr val="263238"/>
                </a:solidFill>
                <a:latin typeface="Courier New" pitchFamily="34" charset="0"/>
                <a:ea typeface="Courier New" pitchFamily="34" charset="-122"/>
                <a:cs typeface="Courier New" pitchFamily="34" charset="-120"/>
              </a:rPr>
              <a:t>spring:</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config:</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activate:</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on-profile: test</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jpa:</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hibernate:</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ddl-auto: create-drop</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show-sql: true</a:t>
            </a:r>
            <a:endParaRPr lang="en-US" sz="1250" dirty="0"/>
          </a:p>
          <a:p>
            <a:pPr marL="0" indent="0">
              <a:buNone/>
            </a:pP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gamevault:</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admin:</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password: admintest123</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jwt:</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secret: un-secreto-de-test-de-al-menos-32-caracteres</a:t>
            </a:r>
            <a:endParaRPr lang="en-US" sz="1250" dirty="0"/>
          </a:p>
          <a:p>
            <a:pPr marL="0" indent="0">
              <a:buNone/>
            </a:pPr>
            <a:r>
              <a:rPr lang="en-US" sz="1250" dirty="0">
                <a:solidFill>
                  <a:srgbClr val="263238"/>
                </a:solidFill>
                <a:latin typeface="Courier New" pitchFamily="34" charset="0"/>
                <a:ea typeface="Courier New" pitchFamily="34" charset="-122"/>
                <a:cs typeface="Courier New" pitchFamily="34" charset="-120"/>
              </a:rPr>
              <a:t>    expiration-minutes: 60</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Por qué esto da más confianza que mockear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92024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011680"/>
            <a:ext cx="10543032" cy="128016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Prueba el mapeo JSONB real contra un PostgreSQL real — una base de datos en memoria genérica (como H2) podría no soportar jsonb_exists exactamente igual, o ni siquiera soportar el tipo jsonb de PostgreSQL.</a:t>
            </a:r>
            <a:endParaRPr lang="en-US" sz="2000" dirty="0"/>
          </a:p>
        </p:txBody>
      </p:sp>
      <p:sp>
        <p:nvSpPr>
          <p:cNvPr id="7" name="Text 5"/>
          <p:cNvSpPr/>
          <p:nvPr/>
        </p:nvSpPr>
        <p:spPr>
          <a:xfrm>
            <a:off x="548640" y="3749040"/>
            <a:ext cx="11091672" cy="777240"/>
          </a:xfrm>
          <a:prstGeom prst="rect">
            <a:avLst/>
          </a:prstGeom>
          <a:noFill/>
          <a:ln/>
        </p:spPr>
        <p:txBody>
          <a:bodyPr wrap="square" rtlCol="0" anchor="t"/>
          <a:lstStyle/>
          <a:p>
            <a:pPr marL="0" indent="0">
              <a:buNone/>
            </a:pPr>
            <a:r>
              <a:rPr lang="en-US" sz="1750" dirty="0">
                <a:solidFill>
                  <a:srgbClr val="757575"/>
                </a:solidFill>
                <a:latin typeface="Arial" pitchFamily="34" charset="0"/>
                <a:ea typeface="Arial" pitchFamily="34" charset="-122"/>
                <a:cs typeface="Arial" pitchFamily="34" charset="-120"/>
              </a:rPr>
              <a:t>Un test con Testcontainers detectaría un error de mapeo que un test con mocks jamás vería, porque el mock nunca ejecuta SQL de verdad contra ningún motor.</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Peticiones autenticadas dentro del test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783080"/>
            <a:ext cx="11091672" cy="1051560"/>
          </a:xfrm>
          <a:prstGeom prst="rect">
            <a:avLst/>
          </a:prstGeom>
          <a:noFill/>
          <a:ln/>
        </p:spPr>
        <p:txBody>
          <a:bodyPr wrap="square" rtlCol="0" anchor="t"/>
          <a:lstStyle/>
          <a:p>
            <a:pPr marL="0" indent="0">
              <a:buNone/>
            </a:pPr>
            <a:r>
              <a:rPr lang="en-US" sz="1950" dirty="0">
                <a:solidFill>
                  <a:srgbClr val="212121"/>
                </a:solidFill>
                <a:latin typeface="Arial" pitchFamily="34" charset="0"/>
                <a:ea typeface="Arial" pitchFamily="34" charset="-122"/>
                <a:cs typeface="Arial" pitchFamily="34" charset="-120"/>
              </a:rPr>
              <a:t>Si la API tiene rutas protegidas —y a estas alturas del curso ya las tiene, con roles y todo—, el test debe recorrer el mismo flujo de autenticación y autorización de la aplicación: no hay ningún atajo que salte la seguridad "porque es un test".</a:t>
            </a:r>
            <a:endParaRPr lang="en-US" sz="1950" dirty="0"/>
          </a:p>
        </p:txBody>
      </p:sp>
      <p:sp>
        <p:nvSpPr>
          <p:cNvPr id="6" name="Shape 4"/>
          <p:cNvSpPr/>
          <p:nvPr/>
        </p:nvSpPr>
        <p:spPr>
          <a:xfrm>
            <a:off x="548640" y="3200400"/>
            <a:ext cx="11091672" cy="155448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3291840"/>
            <a:ext cx="10543032" cy="1371600"/>
          </a:xfrm>
          <a:prstGeom prst="rect">
            <a:avLst/>
          </a:prstGeom>
          <a:noFill/>
          <a:ln/>
        </p:spPr>
        <p:txBody>
          <a:bodyPr wrap="square" rtlCol="0" anchor="ctr"/>
          <a:lstStyle/>
          <a:p>
            <a:pPr marL="0" indent="0">
              <a:buNone/>
            </a:pPr>
            <a:r>
              <a:rPr lang="en-US" sz="1750" dirty="0">
                <a:solidFill>
                  <a:srgbClr val="212121"/>
                </a:solidFill>
                <a:latin typeface="Arial" pitchFamily="34" charset="0"/>
                <a:ea typeface="Arial" pitchFamily="34" charset="-122"/>
                <a:cs typeface="Arial" pitchFamily="34" charset="-120"/>
              </a:rPr>
              <a:t>MockMvc no abre una conexión HTTP real ni arranca un servidor. Construye peticiones y respuestas simuladas, pero las hace pasar por el DispatcherServlet, la cadena de filtros de seguridad, los controllers y el resto del contexto real de Spring. Por eso se puede hacer login, extraer el token y utilizarlo después en otra petición.</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Login, token y petición autenticada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pic>
        <p:nvPicPr>
          <p:cNvPr id="5" name="Image 0" descr="C:/Users/Aitor/docxgen/img/test_login_flujo.png"/>
          <p:cNvPicPr>
            <a:picLocks noChangeAspect="1"/>
          </p:cNvPicPr>
          <p:nvPr/>
        </p:nvPicPr>
        <p:blipFill>
          <a:blip r:embed="rId3"/>
          <a:stretch>
            <a:fillRect/>
          </a:stretch>
        </p:blipFill>
        <p:spPr>
          <a:xfrm>
            <a:off x="2282140" y="843262"/>
            <a:ext cx="6423322" cy="4894598"/>
          </a:xfrm>
          <a:prstGeom prst="rect">
            <a:avLst/>
          </a:prstGeom>
        </p:spPr>
      </p:pic>
      <p:sp>
        <p:nvSpPr>
          <p:cNvPr id="6" name="Text 3"/>
          <p:cNvSpPr/>
          <p:nvPr/>
        </p:nvSpPr>
        <p:spPr>
          <a:xfrm>
            <a:off x="548640" y="5737860"/>
            <a:ext cx="11091672" cy="502920"/>
          </a:xfrm>
          <a:prstGeom prst="rect">
            <a:avLst/>
          </a:prstGeom>
          <a:noFill/>
          <a:ln/>
        </p:spPr>
        <p:txBody>
          <a:bodyPr wrap="square" rtlCol="0" anchor="t"/>
          <a:lstStyle/>
          <a:p>
            <a:pPr marL="0" indent="0" algn="ctr">
              <a:buNone/>
            </a:pPr>
            <a:r>
              <a:rPr lang="en-US" sz="1350" dirty="0">
                <a:solidFill>
                  <a:srgbClr val="757575"/>
                </a:solidFill>
                <a:latin typeface="Arial" pitchFamily="34" charset="0"/>
                <a:ea typeface="Arial" pitchFamily="34" charset="-122"/>
                <a:cs typeface="Arial" pitchFamily="34" charset="-120"/>
              </a:rPr>
              <a:t>MockMvc hace pasar la petición por el contexto real de Spring — login, extracción del token con JsonPath, y una segunda petición autenticada con ese token.</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ayudante que hace login y devuelve el token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54480"/>
            <a:ext cx="11091672" cy="27432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554480"/>
            <a:ext cx="73152" cy="274320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664208"/>
            <a:ext cx="10588752" cy="252374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private String loginComoAdmin() throws Exception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String respuesta = mockMvc.perform(post("/api/v1/auth/login")</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.contentType(MediaType.APPLICATION_JSON)</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.content("""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{"username":"admin","password":"admintest123"}</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.andExpect(status().isOk())</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.andReturn().getResponse().getContentAsString();</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return JsonPath.read(respuesta, "$.accessToken");</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8" name="Text 6"/>
          <p:cNvSpPr/>
          <p:nvPr/>
        </p:nvSpPr>
        <p:spPr>
          <a:xfrm>
            <a:off x="548640" y="4572000"/>
            <a:ext cx="11091672" cy="777240"/>
          </a:xfrm>
          <a:prstGeom prst="rect">
            <a:avLst/>
          </a:prstGeom>
          <a:noFill/>
          <a:ln/>
        </p:spPr>
        <p:txBody>
          <a:bodyPr wrap="square" rtlCol="0" anchor="t"/>
          <a:lstStyle/>
          <a:p>
            <a:pPr marL="0" indent="0">
              <a:buNone/>
            </a:pPr>
            <a:r>
              <a:rPr lang="en-US" sz="1500" dirty="0">
                <a:solidFill>
                  <a:srgbClr val="757575"/>
                </a:solidFill>
                <a:latin typeface="Arial" pitchFamily="34" charset="0"/>
                <a:ea typeface="Arial" pitchFamily="34" charset="-122"/>
                <a:cs typeface="Arial" pitchFamily="34" charset="-120"/>
              </a:rPr>
              <a:t>loginComoAdmin() no lleva @Test: es un método ayudante que cualquier otro test de la clase puede utilizar. Requiere import com.jayway.jsonpath.JsonPath, ya incluido en spring-boot-starter-test.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test que usa el token: crearLibro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08760"/>
            <a:ext cx="11091672" cy="32918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508760"/>
            <a:ext cx="73152" cy="32918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618488"/>
            <a:ext cx="10588752" cy="307238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@Test</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void crearLibro_DebeGuardarDetallesEdicion_CuandoEsValido() throws Exception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String adminToken = loginComoAdmin();</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mockMvc.perform(post("/api/v1/libros")</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.header("Authorization", "Bearer " + adminToken)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.contentType(MediaType.APPLICATION_JSON)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.content("""</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{"titulo":"Rayuela","detallesEdicion":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{"editorial":"Sudamericana","paginas":634}}</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.andExpect(status().isCreated())</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.andExpect(jsonPath("$.titulo").value("Rayuela"))</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.andExpect(jsonPath("$.detallesEdicion.editorial").value("Sudamericana"));</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548640" y="5074920"/>
            <a:ext cx="11091672" cy="640080"/>
          </a:xfrm>
          <a:prstGeom prst="rect">
            <a:avLst/>
          </a:prstGeom>
          <a:noFill/>
          <a:ln/>
        </p:spPr>
        <p:txBody>
          <a:bodyPr wrap="square" rtlCol="0" anchor="t"/>
          <a:lstStyle/>
          <a:p>
            <a:pPr marL="0" indent="0">
              <a:buNone/>
            </a:pPr>
            <a:r>
              <a:rPr lang="en-US" sz="1350" dirty="0">
                <a:solidFill>
                  <a:srgbClr val="757575"/>
                </a:solidFill>
                <a:latin typeface="Arial" pitchFamily="34" charset="0"/>
                <a:ea typeface="Arial" pitchFamily="34" charset="-122"/>
                <a:cs typeface="Arial" pitchFamily="34" charset="-120"/>
              </a:rPr>
              <a:t>El test ejecuta el flujo completo de creación contra un PostgreSQL real y comprueba tanto el código de estado como el cuerpo, incluida la propiedad anidada detallesEdicion.editorial.</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Comprobar también los casos de error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001840"/>
            <a:ext cx="11091672" cy="777240"/>
          </a:xfrm>
          <a:prstGeom prst="rect">
            <a:avLst/>
          </a:prstGeom>
          <a:noFill/>
          <a:ln/>
        </p:spPr>
        <p:txBody>
          <a:bodyPr wrap="square" rtlCol="0" anchor="t"/>
          <a:lstStyle/>
          <a:p>
            <a:pPr marL="0" indent="0">
              <a:buNone/>
            </a:pPr>
            <a:r>
              <a:rPr lang="en-US" sz="1650" dirty="0">
                <a:solidFill>
                  <a:srgbClr val="212121"/>
                </a:solidFill>
                <a:latin typeface="Arial" pitchFamily="34" charset="0"/>
                <a:ea typeface="Arial" pitchFamily="34" charset="-122"/>
                <a:cs typeface="Arial" pitchFamily="34" charset="-120"/>
              </a:rPr>
              <a:t>Un test de integración que solo prueba el camino feliz deja fuera la mitad del comportamiento real: qué pasa cuando la petición no debería tener éxito. Aquí la petición está autenticada —el token de user es válido—, pero no autorizada, así que ni siquiera llega al controller:</a:t>
            </a:r>
            <a:endParaRPr lang="en-US" sz="1650" dirty="0"/>
          </a:p>
        </p:txBody>
      </p:sp>
      <p:pic>
        <p:nvPicPr>
          <p:cNvPr id="6" name="Image 0" descr="C:/Users/Aitor/docxgen/img/test_403_flujo.png"/>
          <p:cNvPicPr>
            <a:picLocks noChangeAspect="1"/>
          </p:cNvPicPr>
          <p:nvPr/>
        </p:nvPicPr>
        <p:blipFill>
          <a:blip r:embed="rId3"/>
          <a:stretch>
            <a:fillRect/>
          </a:stretch>
        </p:blipFill>
        <p:spPr>
          <a:xfrm>
            <a:off x="1343519" y="1889448"/>
            <a:ext cx="9181412" cy="446004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El test que reproduce el flujo 403</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Shape 3"/>
          <p:cNvSpPr/>
          <p:nvPr/>
        </p:nvSpPr>
        <p:spPr>
          <a:xfrm>
            <a:off x="548640" y="1508760"/>
            <a:ext cx="11091672" cy="32918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508760"/>
            <a:ext cx="73152" cy="32918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618488"/>
            <a:ext cx="10588752" cy="3072384"/>
          </a:xfrm>
          <a:prstGeom prst="rect">
            <a:avLst/>
          </a:prstGeom>
          <a:noFill/>
          <a:ln/>
        </p:spPr>
        <p:txBody>
          <a:bodyPr wrap="square" rtlCol="0" anchor="t"/>
          <a:lstStyle/>
          <a:p>
            <a:pPr marL="0" indent="0">
              <a:buNone/>
            </a:pPr>
            <a:r>
              <a:rPr lang="en-US" sz="1300" dirty="0">
                <a:solidFill>
                  <a:srgbClr val="263238"/>
                </a:solidFill>
                <a:latin typeface="Courier New" pitchFamily="34" charset="0"/>
                <a:ea typeface="Courier New" pitchFamily="34" charset="-122"/>
                <a:cs typeface="Courier New" pitchFamily="34" charset="-120"/>
              </a:rPr>
              <a:t>@Test</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void crearLibro_DebeDevolver403_CuandoElUsuarioNoEsAdmin() throws Exception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String userToken = loginComoUsuario(); // igual que loginComoAdmin(), sin rol ADMIN</a:t>
            </a:r>
            <a:endParaRPr lang="en-US" sz="1300" dirty="0"/>
          </a:p>
          <a:p>
            <a:pPr marL="0" indent="0">
              <a:buNone/>
            </a:pP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mockMvc.perform(post("/api/v1/libros")</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.header("Authorization", "Bearer " + userToken)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.contentType(MediaType.APPLICATION_JSON)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.content("""</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{"titulo":"Rayuela","detallesEdicion":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{"editorial":"Sudamericana","paginas":634}}</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.andExpect(status().isForbidden())</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.andExpect(jsonPath("$.status").value(403))</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        .andExpect(jsonPath("$.error").value("No autorizado"));</a:t>
            </a:r>
            <a:endParaRPr lang="en-US" sz="1300" dirty="0"/>
          </a:p>
          <a:p>
            <a:pPr marL="0" indent="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
        <p:nvSpPr>
          <p:cNvPr id="8" name="Text 6"/>
          <p:cNvSpPr/>
          <p:nvPr/>
        </p:nvSpPr>
        <p:spPr>
          <a:xfrm>
            <a:off x="548640" y="5074920"/>
            <a:ext cx="11091672" cy="548640"/>
          </a:xfrm>
          <a:prstGeom prst="rect">
            <a:avLst/>
          </a:prstGeom>
          <a:noFill/>
          <a:ln/>
        </p:spPr>
        <p:txBody>
          <a:bodyPr wrap="square" rtlCol="0" anchor="t"/>
          <a:lstStyle/>
          <a:p>
            <a:pPr marL="0" indent="0">
              <a:buNone/>
            </a:pPr>
            <a:r>
              <a:rPr lang="en-US" sz="1350" dirty="0">
                <a:solidFill>
                  <a:srgbClr val="757575"/>
                </a:solidFill>
                <a:latin typeface="Arial" pitchFamily="34" charset="0"/>
                <a:ea typeface="Arial" pitchFamily="34" charset="-122"/>
                <a:cs typeface="Arial" pitchFamily="34" charset="-120"/>
              </a:rPr>
              <a:t>No es casualidad que este test compruebe el cuerpo del error, no solo el código 403: dos errores distintos pueden compartir el mismo código de estado.</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Por qué el cuerpo del error, no solo el status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234440"/>
            <a:ext cx="11091672" cy="1371600"/>
          </a:xfrm>
          <a:prstGeom prst="rect">
            <a:avLst/>
          </a:prstGeom>
          <a:noFill/>
          <a:ln/>
        </p:spPr>
        <p:txBody>
          <a:bodyPr wrap="square" rtlCol="0" anchor="t"/>
          <a:lstStyle/>
          <a:p>
            <a:pPr marL="0" indent="0">
              <a:buNone/>
            </a:pPr>
            <a:r>
              <a:rPr lang="en-US" sz="1750" dirty="0">
                <a:solidFill>
                  <a:srgbClr val="212121"/>
                </a:solidFill>
                <a:latin typeface="Arial" pitchFamily="34" charset="0"/>
                <a:ea typeface="Arial" pitchFamily="34" charset="-122"/>
                <a:cs typeface="Arial" pitchFamily="34" charset="-120"/>
              </a:rPr>
              <a:t>Solo el cuerpo —con el ErrorResponse propio, no el genérico de Spring— dice cuál de los dos errores ha ocurrido de verdad. Quedarse solo con status().isForbidden() dejaría pasar una regresión real: por ejemplo, que el 403 siga llegando pero con el formato por defecto de Spring Security, porque alguien ha desconectado sin querer el AccessDeniedHandler.</a:t>
            </a:r>
            <a:endParaRPr lang="en-US" sz="1750" dirty="0"/>
          </a:p>
        </p:txBody>
      </p:sp>
      <p:sp>
        <p:nvSpPr>
          <p:cNvPr id="6" name="Shape 4"/>
          <p:cNvSpPr/>
          <p:nvPr/>
        </p:nvSpPr>
        <p:spPr>
          <a:xfrm>
            <a:off x="548640" y="2880360"/>
            <a:ext cx="11091672" cy="169164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2971800"/>
            <a:ext cx="10543032" cy="150876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Qué comprobar en un test de integración, casi siempre: el código de estado, la forma del cuerpo cuando lo hay (jsonPath sobre los campos que de verdad importan), y —cuando la petición debía cambiar algo— que ese cambio ha persistido de verdad, con una segunda petición que lo confirme.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371600"/>
            <a:ext cx="11091672" cy="4572000"/>
          </a:xfrm>
          <a:prstGeom prst="rect">
            <a:avLst/>
          </a:prstGeom>
          <a:noFill/>
          <a:ln/>
        </p:spPr>
        <p:txBody>
          <a:bodyPr wrap="square" rtlCol="0" anchor="t"/>
          <a:lstStyle/>
          <a:p>
            <a:pPr marL="190500" indent="-190500">
              <a:spcAft>
                <a:spcPts val="2800"/>
              </a:spcAft>
              <a:buSzPct val="100000"/>
              <a:buChar char="•"/>
            </a:pPr>
            <a:r>
              <a:rPr lang="en-US" sz="1700" dirty="0">
                <a:solidFill>
                  <a:srgbClr val="212121"/>
                </a:solidFill>
                <a:latin typeface="Arial" pitchFamily="34" charset="0"/>
                <a:ea typeface="Arial" pitchFamily="34" charset="-122"/>
                <a:cs typeface="Arial" pitchFamily="34" charset="-120"/>
              </a:rPr>
              <a:t>Una BD orientada a objetos almacena estado, identidad y referencias sin descomponer en tablas relacionales; por eso no necesita un ORM objeto-relacional, aunque sí una API para comunicarse con el gestor.</a:t>
            </a:r>
            <a:endParaRPr lang="en-US" sz="1700" dirty="0"/>
          </a:p>
          <a:p>
            <a:pPr marL="190500" indent="-190500">
              <a:spcAft>
                <a:spcPts val="2800"/>
              </a:spcAft>
              <a:buSzPct val="100000"/>
              <a:buChar char="•"/>
            </a:pPr>
            <a:r>
              <a:rPr lang="en-US" sz="1700" dirty="0">
                <a:solidFill>
                  <a:srgbClr val="212121"/>
                </a:solidFill>
                <a:latin typeface="Arial" pitchFamily="34" charset="0"/>
                <a:ea typeface="Arial" pitchFamily="34" charset="-122"/>
                <a:cs typeface="Arial" pitchFamily="34" charset="-120"/>
              </a:rPr>
              <a:t>OQL es uno de los lenguajes asociados históricamente a este modelo, pero no es universal: cada gestor puede usar OQL, JPQL, JDOQL o APIs propias.</a:t>
            </a:r>
            <a:endParaRPr lang="en-US" sz="1700" dirty="0"/>
          </a:p>
          <a:p>
            <a:pPr marL="190500" indent="-190500">
              <a:spcAft>
                <a:spcPts val="2800"/>
              </a:spcAft>
              <a:buSzPct val="100000"/>
              <a:buChar char="•"/>
            </a:pPr>
            <a:r>
              <a:rPr lang="en-US" sz="1700" dirty="0">
                <a:solidFill>
                  <a:srgbClr val="212121"/>
                </a:solidFill>
                <a:latin typeface="Arial" pitchFamily="34" charset="0"/>
                <a:ea typeface="Arial" pitchFamily="34" charset="-122"/>
                <a:cs typeface="Arial" pitchFamily="34" charset="-120"/>
              </a:rPr>
              <a:t>Comparado con relacional puro y objeto-relacional (JSONB), lo orientado a objetos puro tiene poquísima adopción real — por eso este bloque es conceptual, no práctico.</a:t>
            </a:r>
            <a:endParaRPr lang="en-US" sz="1700" dirty="0"/>
          </a:p>
          <a:p>
            <a:pPr marL="190500" indent="-190500">
              <a:buSzPct val="100000"/>
              <a:buChar char="•"/>
            </a:pPr>
            <a:r>
              <a:rPr lang="en-US" sz="1700" dirty="0">
                <a:solidFill>
                  <a:srgbClr val="212121"/>
                </a:solidFill>
                <a:latin typeface="Arial" pitchFamily="34" charset="0"/>
                <a:ea typeface="Arial" pitchFamily="34" charset="-122"/>
                <a:cs typeface="Arial" pitchFamily="34" charset="-120"/>
              </a:rPr>
              <a:t>Un test de controller (PSP Tema 1) prueba la capa HTTP mockeando el service; un test de service mockea el repositorio (Actividad 4.1); un test de integración con Testcontainers levanta un motor real en Docker.</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Ideas clave (cont.)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2: BD orientadas a objetos, pruebas y documentación</a:t>
            </a:r>
            <a:endParaRPr lang="en-US" sz="1100" dirty="0"/>
          </a:p>
        </p:txBody>
      </p:sp>
      <p:sp>
        <p:nvSpPr>
          <p:cNvPr id="5" name="Text 3"/>
          <p:cNvSpPr/>
          <p:nvPr/>
        </p:nvSpPr>
        <p:spPr>
          <a:xfrm>
            <a:off x="548640" y="1371600"/>
            <a:ext cx="11091672" cy="4572000"/>
          </a:xfrm>
          <a:prstGeom prst="rect">
            <a:avLst/>
          </a:prstGeom>
          <a:noFill/>
          <a:ln/>
        </p:spPr>
        <p:txBody>
          <a:bodyPr wrap="square" rtlCol="0" anchor="t"/>
          <a:lstStyle/>
          <a:p>
            <a:pPr marL="190500" indent="-190500">
              <a:spcAft>
                <a:spcPts val="2800"/>
              </a:spcAft>
              <a:buSzPct val="100000"/>
              <a:buChar char="•"/>
            </a:pPr>
            <a:r>
              <a:rPr lang="en-US" sz="1700" dirty="0">
                <a:solidFill>
                  <a:srgbClr val="212121"/>
                </a:solidFill>
                <a:latin typeface="Arial" pitchFamily="34" charset="0"/>
                <a:ea typeface="Arial" pitchFamily="34" charset="-122"/>
                <a:cs typeface="Arial" pitchFamily="34" charset="-120"/>
              </a:rPr>
              <a:t>Testcontainers detecta errores de mapeo real (como con jsonb) que un mock nunca podría detectar.</a:t>
            </a:r>
            <a:endParaRPr lang="en-US" sz="1700" dirty="0"/>
          </a:p>
          <a:p>
            <a:pPr marL="190500" indent="-190500">
              <a:spcAft>
                <a:spcPts val="2800"/>
              </a:spcAft>
              <a:buSzPct val="100000"/>
              <a:buChar char="•"/>
            </a:pPr>
            <a:r>
              <a:rPr lang="en-US" sz="1700" dirty="0">
                <a:solidFill>
                  <a:srgbClr val="212121"/>
                </a:solidFill>
                <a:latin typeface="Arial" pitchFamily="34" charset="0"/>
                <a:ea typeface="Arial" pitchFamily="34" charset="-122"/>
                <a:cs typeface="Arial" pitchFamily="34" charset="-120"/>
              </a:rPr>
              <a:t>Contra rutas protegidas, MockMvc reproduce el flujo real de login, filtros y autorización y extrae el token con JsonPath, aunque utiliza peticiones simuladas y no un servidor HTTP real.</a:t>
            </a:r>
            <a:endParaRPr lang="en-US" sz="1700" dirty="0"/>
          </a:p>
          <a:p>
            <a:pPr marL="190500" indent="-190500">
              <a:spcAft>
                <a:spcPts val="2800"/>
              </a:spcAft>
              <a:buSzPct val="100000"/>
              <a:buChar char="•"/>
            </a:pPr>
            <a:r>
              <a:rPr lang="en-US" sz="1700" dirty="0">
                <a:solidFill>
                  <a:srgbClr val="212121"/>
                </a:solidFill>
                <a:latin typeface="Arial" pitchFamily="34" charset="0"/>
                <a:ea typeface="Arial" pitchFamily="34" charset="-122"/>
                <a:cs typeface="Arial" pitchFamily="34" charset="-120"/>
              </a:rPr>
              <a:t>Los casos de error también se comprueban con jsonPath, campo a campo del ErrorResponse — no basta con el código de estado, porque dos errores distintos pueden compartirlo.</a:t>
            </a:r>
            <a:endParaRPr lang="en-US" sz="1700" dirty="0"/>
          </a:p>
          <a:p>
            <a:pPr marL="190500" indent="-190500">
              <a:buSzPct val="100000"/>
              <a:buChar char="•"/>
            </a:pPr>
            <a:r>
              <a:rPr lang="en-US" sz="1700" dirty="0">
                <a:solidFill>
                  <a:srgbClr val="212121"/>
                </a:solidFill>
                <a:latin typeface="Arial" pitchFamily="34" charset="0"/>
                <a:ea typeface="Arial" pitchFamily="34" charset="-122"/>
                <a:cs typeface="Arial" pitchFamily="34" charset="-120"/>
              </a:rPr>
              <a:t>Un test bien nombrado actúa como documentación ejecutable: si cambia el comportamiento que comprueba, el test falla. No sustituye toda la documentación escrita y solo documenta los casos que realmente cubre.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3331</Words>
  <Application>Microsoft Office PowerPoint</Application>
  <PresentationFormat>Panorámica</PresentationFormat>
  <Paragraphs>258</Paragraphs>
  <Slides>28</Slides>
  <Notes>28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28</vt:i4>
      </vt:variant>
    </vt:vector>
  </HeadingPairs>
  <TitlesOfParts>
    <vt:vector size="31"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 orientadas a objetos, pruebas y documentación</dc:title>
  <dc:subject>PptxGenJS Presentation</dc:subject>
  <dc:creator>Acceso a Datos</dc:creator>
  <cp:lastModifiedBy>VENTURA EDO, AITOR</cp:lastModifiedBy>
  <cp:revision>2</cp:revision>
  <dcterms:created xsi:type="dcterms:W3CDTF">2026-08-07T17:26:15Z</dcterms:created>
  <dcterms:modified xsi:type="dcterms:W3CDTF">2026-08-07T19:09:44Z</dcterms:modified>
</cp:coreProperties>
</file>