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9226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0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 —  TEMA 3: BASES DE DATOS DOCUMENTALES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Conexión a MongoDB</a:t>
            </a:r>
            <a:endParaRPr lang="en-US" sz="3800" dirty="0"/>
          </a:p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consultas sobre notas de lectura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Conexión a MongoDB y consultas sobre notas de lectura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Conexión a MongoDB y consultas sobre notas de lectura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11091672" cy="21945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54303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ahora, todo lo que has persistido ha vivido dentro de PostgreSQL — incluso el JSONB del Tema 2 seguía siendo una columna de una tabla relacional. Este tema da un salto real: una base de datos completamente distinta, sin tablas de ningún tipo.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NoSQL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NoSQL agrupa distintas familias de bases de datos que no siguen como modelo principal el relacional tradicional de tablas relacionadas mediante claves y JOIN. No es un único tipo de motor, sino varias categorías, pensada cada una para problemas distintos: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345457" y="3108960"/>
            <a:ext cx="3498037" cy="1005840"/>
          </a:xfrm>
          <a:prstGeom prst="roundRect">
            <a:avLst/>
          </a:prstGeom>
          <a:solidFill>
            <a:srgbClr val="FBEAEA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4345457" y="3108960"/>
            <a:ext cx="3498037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NoSQL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094476" y="4114800"/>
            <a:ext cx="914" cy="182880"/>
          </a:xfrm>
          <a:prstGeom prst="line">
            <a:avLst/>
          </a:prstGeom>
          <a:noFill/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548640" y="4480560"/>
            <a:ext cx="2498598" cy="128016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594360" y="4480560"/>
            <a:ext cx="240715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Documentales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(MongoDB)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797939" y="4297680"/>
            <a:ext cx="914" cy="182880"/>
          </a:xfrm>
          <a:prstGeom prst="line">
            <a:avLst/>
          </a:prstGeom>
          <a:noFill/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3412998" y="4480560"/>
            <a:ext cx="2498598" cy="128016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3458718" y="4480560"/>
            <a:ext cx="240715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🔑 Clave-valor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(Redis)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662297" y="4297680"/>
            <a:ext cx="914" cy="182880"/>
          </a:xfrm>
          <a:prstGeom prst="line">
            <a:avLst/>
          </a:prstGeom>
          <a:noFill/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6277356" y="4480560"/>
            <a:ext cx="2498598" cy="128016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323076" y="4480560"/>
            <a:ext cx="240715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Columnares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(Cassandra)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526655" y="4297680"/>
            <a:ext cx="914" cy="182880"/>
          </a:xfrm>
          <a:prstGeom prst="line">
            <a:avLst/>
          </a:prstGeom>
          <a:noFill/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9141714" y="4480560"/>
            <a:ext cx="2498598" cy="128016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9187434" y="4480560"/>
            <a:ext cx="240715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🕸️ De grafos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(Neo4j)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391013" y="4297680"/>
            <a:ext cx="914" cy="182880"/>
          </a:xfrm>
          <a:prstGeom prst="line">
            <a:avLst/>
          </a:prstGeom>
          <a:noFill/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1797939" y="4297680"/>
            <a:ext cx="8593074" cy="914"/>
          </a:xfrm>
          <a:prstGeom prst="line">
            <a:avLst/>
          </a:prstGeom>
          <a:noFill/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cuatro familias NoSQL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2" cy="4800600"/>
        </p:xfrm>
        <a:graphic>
          <a:graphicData uri="http://schemas.openxmlformats.org/drawingml/2006/table">
            <a:tbl>
              <a:tblPr/>
              <a:tblGrid>
                <a:gridCol w="19965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585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36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601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Familia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guarda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habitual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Documentales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Documentos autocontenidos, tipo JSON (este tema)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Catálogos de producto, perfiles, contenido con estructura variable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Clave-valor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Pares simples clave → valor (p. ej. Redis)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Cachés, sesiones, contadores — lecturas/escrituras muy rápidas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Columnares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Tablas distribuidas por particiones, según las consultas previstas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Grandes volúmenes distribuidos, alta disponibilidad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 grafos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Nodos y aristas — relaciones muy conectadas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 sociales, sistemas de recomendación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Documento y colección: las dos piezas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las cuatro familias, este tema se centra en la documental — con MongoDB como motor concreto. Antes de verla en código, dos piezas la definen, y ninguna es una tabla: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109167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2600"/>
              </a:spcAft>
              <a:buSzPct val="100000"/>
              <a:buChar char="•"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Documento: un objeto completo, tipo JSON, autocontenido — con su propia estructura, que puede variar de un documento a otro dentro de la misma colección.</a:t>
            </a:r>
            <a:endParaRPr lang="en-US" sz="2100" dirty="0"/>
          </a:p>
          <a:p>
            <a:pPr marL="190500" indent="-190500">
              <a:buSzPct val="100000"/>
              <a:buChar char="•"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Colección: un grupo de documentos. Por defecto admite un esquema flexible, aunque MongoDB permite añadir reglas de validación si necesitas imponer una estructura determinada.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documentos, la misma colección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documentos reales dentro de la colección nota_lectura, con estructura distinta entre sí — el segundo tiene un campo (comentario) que el primero ni siquiera necesita: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091672" cy="21031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3383280"/>
            <a:ext cx="73152" cy="21031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3493008"/>
            <a:ext cx="10588752" cy="1883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Colección "nota_lectura"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"_id": ObjectId("..."), "libroId": 1, "autor": "ana", "puntuacion": 8 }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"_id": ObjectId("..."), "libroId": 1, "autor": "javi", "puntuacion": 9,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"comentario": "Me ha encantado el ritmo" }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Relacional, JSONB y documental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3" cy="3977640"/>
        </p:xfrm>
        <a:graphic>
          <a:graphicData uri="http://schemas.openxmlformats.org/drawingml/2006/table">
            <a:tbl>
              <a:tblPr/>
              <a:tblGrid>
                <a:gridCol w="24401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01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38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275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955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Aspecto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Relacional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JSONB (Tema 2)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Documental (este tema)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55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Estructura de fondo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Tablas y filas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Tabla, columna en JSON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Ninguna tabla — todo es documento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55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Estructura fija por defecto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Sí, salvo el JSONB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— aunque puede añadirse validación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55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Claves foráneas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(relación lógica, a mano)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55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como en SQL; existe $lookup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44068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diferencia clave con el JSONB del Tema 2: allí, el JSON era una columna dentro de una tabla relacional normal — aquí, todo es documento, no hay ninguna tabla por debajo.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MongoDB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109167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Podríamos necesitar una base de datos documental para las notas de lectura de nuestra librería — cada nota es un documento independiente, sin relaciones fuertes entre ellas, con una forma que podría cambiar con el tiempo. El motor documental que vas a usar para eso es MongoDB.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429000"/>
            <a:ext cx="11091672" cy="1828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352044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MongoDB almacena sus documentos en BSON (una representación binaria de JSON). Todo documento tiene un campo _id único y, si no proporcionas uno, MongoDB genera normalmente un ObjectId. En Spring Data puedes representarlo con un String, en vez del Long autoincremental de PostgreSQL.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Servidor, base de datos, colección, documento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77107" y="2286000"/>
            <a:ext cx="4834738" cy="1188720"/>
          </a:xfrm>
          <a:prstGeom prst="roundRect">
            <a:avLst/>
          </a:prstGeom>
          <a:solidFill>
            <a:srgbClr val="FBEAEA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3677107" y="2286000"/>
            <a:ext cx="483473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 Servidor MongoDB → 🗄️ Base de datos (libreria_db) → 📁 Colección nota_lectura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094476" y="3474720"/>
            <a:ext cx="914" cy="182880"/>
          </a:xfrm>
          <a:prstGeom prst="line">
            <a:avLst/>
          </a:prstGeom>
          <a:noFill/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548640" y="3840480"/>
            <a:ext cx="3453384" cy="118872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94360" y="3840480"/>
            <a:ext cx="336194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Documento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275332" y="3657600"/>
            <a:ext cx="914" cy="182880"/>
          </a:xfrm>
          <a:prstGeom prst="line">
            <a:avLst/>
          </a:prstGeom>
          <a:noFill/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4367784" y="3840480"/>
            <a:ext cx="3453384" cy="118872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4413504" y="3840480"/>
            <a:ext cx="336194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Documento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094476" y="3657600"/>
            <a:ext cx="914" cy="182880"/>
          </a:xfrm>
          <a:prstGeom prst="line">
            <a:avLst/>
          </a:prstGeom>
          <a:noFill/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8186928" y="3840480"/>
            <a:ext cx="3453384" cy="118872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8232648" y="3840480"/>
            <a:ext cx="336194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Documento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913620" y="3657600"/>
            <a:ext cx="914" cy="182880"/>
          </a:xfrm>
          <a:prstGeom prst="line">
            <a:avLst/>
          </a:prstGeom>
          <a:noFill/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2275332" y="3657600"/>
            <a:ext cx="7638288" cy="914"/>
          </a:xfrm>
          <a:prstGeom prst="line">
            <a:avLst/>
          </a:prstGeom>
          <a:noFill/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documento y su consulta equivalente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1672" cy="22860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73152" cy="22860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2212848"/>
            <a:ext cx="10588752" cy="2066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Un documento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"_id": ObjectId("..."), "libroId": 1, "autor": "ana", "puntuacion": 8 }</a:t>
            </a:r>
            <a:endParaRPr lang="en-US" sz="1900" dirty="0"/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El equivalente a un SELECT sencillo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db.nota_lectura.find({ "libroId": 1 })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475488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 la pena verlo en esta forma cruda antes de que Spring lo esconda tras un repositorio — mongosh es la consola de MongoDB, análoga a psql.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Cuándo encaja lo documental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109167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5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los datos son autocontenidos y su estructura puede evolucionar con flexibilidad, el modelo documental encaja bien. Cuando el dominio tiene muchas relaciones entre entidades que deben mantenerse consistentes —una venta con clientes, productos y facturas—, el modelo relacional suele resultar más natural.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11091672" cy="1828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384048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Esto no significa que MongoDB carezca de transacciones: las operaciones sobre un único documento son atómicas, y también admite transacciones sobre varios documentos. La diferencia está sobre todo en cómo modelas los datos y sus relaciones, no en que un motor tenga transacciones y el otro no.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dos bases de datos distintas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109167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catálogo (Libro/Editorial) vive en PostgreSQL — relaciones claras, transacciones fuertes. Pero los lectores pueden escribir notas de lectura: documentos independientes entre sí, sin relaciones que mantener, con forma que podría evolucionar. Eso encaja mejor en MongoDB.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 dos motores a la vez es una decisión de arquitectura habitual, no una moda — cada uno se usa donde encaja mejor: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misma aplicación, dos motores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991356" y="1554480"/>
            <a:ext cx="4206240" cy="868680"/>
          </a:xfrm>
          <a:prstGeom prst="roundRect">
            <a:avLst/>
          </a:prstGeom>
          <a:solidFill>
            <a:srgbClr val="FBEAEA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3991356" y="155448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 Tu aplicación Spring Boot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2884932"/>
            <a:ext cx="52715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Data JPA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368796" y="2874948"/>
            <a:ext cx="52715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Data MongoDB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429000"/>
            <a:ext cx="5271516" cy="114300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548640" y="3429000"/>
            <a:ext cx="5271516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🐘 PostgreSQL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Libro, Editorial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368796" y="3429000"/>
            <a:ext cx="5271516" cy="114300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6368796" y="3429000"/>
            <a:ext cx="5271516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🍃 MongoDB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NotaLectura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48640" y="4937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motor a través de su propio Spring Data — no hay ningún puente automático entre ellos, y esa ausencia de puente es lo que resuelves tú mismo en el resto de este apartado.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Establecer la conexión: la dependencia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escribir ninguna entidad ni repositorio, tu aplicación necesita saber cómo llegar a MongoDB — igual que necesitó saber cómo llegar a PostgreSQL antes de poder usar @Entity. Una dependencia nueva en el pom.xml: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091672" cy="18288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3383280"/>
            <a:ext cx="73152" cy="18288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3493008"/>
            <a:ext cx="10588752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&lt;dependency&gt;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&lt;groupId&gt;org.springframework.boot&lt;/groupId&gt;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&lt;artifactId&gt;spring-boot-starter-data-mongodb&lt;/artifactId&gt;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&lt;/dependency&gt;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propiedad de conexión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application-dev.yml, en paralelo al datasource de PostgreSQL que ya conoces del Tema 1: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11091672" cy="13716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73152" cy="13716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2350008"/>
            <a:ext cx="1058875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spring: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mongodb: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uri: mongodb://localhost:27017/libreria_db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11091672" cy="1828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propiedad real es spring.mongodb.uri, no spring.data.mongodb.uri. Es fácil confundirse con tutoriales antiguos: en la versión de Spring Boot de este curso, mongodb cuelga directamente de spring, no de spring.data. Comprueba siempre tu application-dev.yml antes de dar por buena una propiedad.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entidad NotaLectura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91672" cy="31089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73152" cy="31089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527048"/>
            <a:ext cx="10588752" cy="2889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@Document(collection = "nota_lectura")</a:t>
            </a:r>
            <a:endParaRPr lang="en-US" sz="1650" dirty="0"/>
          </a:p>
          <a:p>
            <a:pPr marL="0" indent="0">
              <a:buNone/>
            </a:pPr>
            <a:r>
              <a:rPr lang="en-US" sz="16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NotaLectura {</a:t>
            </a:r>
            <a:endParaRPr lang="en-US" sz="1650" dirty="0"/>
          </a:p>
          <a:p>
            <a:pPr marL="0" indent="0">
              <a:buNone/>
            </a:pPr>
            <a:endParaRPr lang="en-US" sz="1650" dirty="0"/>
          </a:p>
          <a:p>
            <a:pPr marL="0" indent="0">
              <a:buNone/>
            </a:pPr>
            <a:r>
              <a:rPr lang="en-US" sz="16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@Id</a:t>
            </a:r>
            <a:endParaRPr lang="en-US" sz="1650" dirty="0"/>
          </a:p>
          <a:p>
            <a:pPr marL="0" indent="0">
              <a:buNone/>
            </a:pPr>
            <a:r>
              <a:rPr lang="en-US" sz="16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String id; // Spring Data mapea aquí el ObjectId de MongoDB</a:t>
            </a:r>
            <a:endParaRPr lang="en-US" sz="1650" dirty="0"/>
          </a:p>
          <a:p>
            <a:pPr marL="0" indent="0">
              <a:buNone/>
            </a:pPr>
            <a:endParaRPr lang="en-US" sz="1650" dirty="0"/>
          </a:p>
          <a:p>
            <a:pPr marL="0" indent="0">
              <a:buNone/>
            </a:pPr>
            <a:r>
              <a:rPr lang="en-US" sz="16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Long libroId; // relación "lógica" con el catálogo en PostgreSQL</a:t>
            </a:r>
            <a:endParaRPr lang="en-US" sz="1650" dirty="0"/>
          </a:p>
          <a:p>
            <a:pPr marL="0" indent="0">
              <a:buNone/>
            </a:pPr>
            <a:r>
              <a:rPr lang="en-US" sz="16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String autor;</a:t>
            </a:r>
            <a:endParaRPr lang="en-US" sz="1650" dirty="0"/>
          </a:p>
          <a:p>
            <a:pPr marL="0" indent="0">
              <a:buNone/>
            </a:pPr>
            <a:r>
              <a:rPr lang="en-US" sz="16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Integer puntuacion;</a:t>
            </a:r>
            <a:endParaRPr lang="en-US" sz="1650" dirty="0"/>
          </a:p>
          <a:p>
            <a:pPr marL="0" indent="0">
              <a:buNone/>
            </a:pPr>
            <a:r>
              <a:rPr lang="en-US" sz="16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String comentario;</a:t>
            </a:r>
            <a:endParaRPr lang="en-US" sz="1650" dirty="0"/>
          </a:p>
          <a:p>
            <a:pPr marL="0" indent="0">
              <a:buNone/>
            </a:pPr>
            <a:r>
              <a:rPr lang="en-US" sz="16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548640" y="484632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5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@Document(collection = "nota_lectura") es el equivalente Mongo de @Entity/@Table. El @Id se declara String porque Spring Data puede mapear a él el ObjectId que MongoDB genera cuando no proporcionas un _id.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libroId no es una clave foránea real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11091672" cy="21945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1054303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Aunque el campo se llame libroId y apunte conceptualmente a un Libro de PostgreSQL, no hay ninguna integridad referencial automática entre dos motores de base de datos distintos. MongoDB no sabe nada de PostgreSQL, ni al revés — es responsabilidad de tu código mantener esa relación con sentido.</a:t>
            </a:r>
            <a:endParaRPr lang="en-US" sz="2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repositorio, con naming de método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91672" cy="18288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73152" cy="18288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10588752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interface NotaLecturaRepository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extends MongoRepository&lt;NotaLectura, String&gt; {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List&lt;NotaLectura&gt; findByLibroId(Long libroId);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434340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Data también genera consultas automáticas por el nombre del método en MongoDB, exactamente igual que hacía JpaRepository en el Tema 1 — sin que escribas una sola query explícita.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Integridad referencial manual: el código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91672" cy="292608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73152" cy="292608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664208"/>
            <a:ext cx="10588752" cy="2706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List&lt;NotaLecturaResponseDTO&gt; findByLibroId(Long libroId) 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1. Verificamos que el libro exista en PostgreSQL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(!libroRepository.existsById(libroId)) 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new ResponseStatusException(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HttpStatus.NOT_FOUND, "Libro no encontrado");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2. Buscamos en MongoDB y mapeamos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notaLecturaRepository.findByLibroId(libroId).stream()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.map(this::mapToDTO).toList();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80060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5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Mongo no puede validar una clave foránea hacia una tabla de PostgreSQL, el propio código de la aplicación tiene que hacerlo — comprobando primero contra PostgreSQL antes de tocar Mongo.</a:t>
            </a:r>
            <a:endParaRPr lang="en-US" sz="16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flujo completo, con los dos motores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pic>
        <p:nvPicPr>
          <p:cNvPr id="5" name="Image 0" descr="C:/Users/Aitor/docxgen/img/findByLibro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0908" y="1122530"/>
            <a:ext cx="7672283" cy="521301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2616" y="3340675"/>
            <a:ext cx="3696789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PostgreSQL, y solo si responde que sí, se llega a tocar Mongo — al revés estarías haciendo una consulta de más cuando el libro no existe.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una nota de lectura, con el autor protegido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11091672" cy="21945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1054303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campo autor no puede venir del cliente en el cuerpo de la petición — si lo dejaras, cualquiera podría escribir el nombre de otra persona y hacerse pasar por ella. Por eso el DTO que valida lo que manda el cliente y el objeto que de verdad se usa para crear el documento no son el mismo.</a:t>
            </a:r>
            <a:endParaRPr lang="en-US" sz="2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DTOs: lo que llega y lo que se crea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91672" cy="26517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73152" cy="26517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572768"/>
            <a:ext cx="10588752" cy="2432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record NotaLecturaRequestDTO(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@NotNull @Min(1) @Max(10) Integer puntuacion,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@NotBlank String comentario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{}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record NotaLecturaCreateDTO(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Long libroId, String autor, Integer puntuacion, String comentario) {}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4434840"/>
            <a:ext cx="11091672" cy="14630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822960" y="452628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MongoDB flexible no significa API sin reglas: MongoDB admite por defecto que dos documentos tengan campos distintos, pero eso no impide que tu aplicación imponga reglas más estrictas — son dos capas diferentes: lo que admite el motor y lo que permite tu API.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Juntando los dos DTOs, en el controller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91672" cy="32004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73152" cy="32004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435608"/>
            <a:ext cx="10588752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@PostMapping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ResponseEntity&lt;NotaLecturaResponseDTO&gt; create(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@PathVariable Long libroId,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@Valid @RequestBody NotaLecturaRequestDTO dto,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Principal principal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NotaLecturaCreateDTO createDTO = new NotaLecturaCreateDTO(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libroId, principal.getName(), dto.puntuacion(), dto.comentario());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ResponseEntity.status(HttpStatus.CREATED)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.body(notaLecturaService.create(createDTO));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4846320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5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es una interfaz estándar de Java — Spring te la entrega ya rellena como parámetro del controller, sin que tengas que pedirla ni construirla tú mismo.</a:t>
            </a:r>
            <a:endParaRPr lang="en-US" sz="16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dónde sale la identidad: Principal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pic>
        <p:nvPicPr>
          <p:cNvPr id="5" name="Image 0" descr="C:/Users/Aitor/docxgen/img/principalJw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1910" y="960120"/>
            <a:ext cx="7730511" cy="44714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614416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debajo es el mismo Authentication que el filtro JWT que ya construiste en PSP (Actividad 2.4) guarda al validar el token — Principal es, simplemente, esa misma identidad. principal.getName() da directamente el username, el mismo que ya usas en tu /me de PSP.</a:t>
            </a:r>
            <a:endParaRPr lang="en-US" sz="14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agregación sencilla, en memoria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1672" cy="26517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73152" cy="26517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892808"/>
            <a:ext cx="10588752" cy="2432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NotaLecturaResumenDTO getResumenByLibroId(Long libroId) {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List&lt;NotaLectura&gt; notasLectura =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notaLecturaRepository.findByLibroId(libroId);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long totalNotas = notasLectura.size();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double puntuacionMedia = notasLectura.stream()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.mapToInt(NotaLectura::getPuntuacion).average().orElse(0.0);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new NotaLecturaResumenDTO(libroId, totalNotas, puntuacionMedia);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475488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 el total y la media en memoria, con streams de Java, tras traer todos los documentos de Mongo — no usa el framework de agregación nativo de Mongo ($group, $avg). Es una simplificación deliberada.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memoria o agregación nativa de Mongo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3429000"/>
        </p:xfrm>
        <a:graphic>
          <a:graphicData uri="http://schemas.openxmlformats.org/drawingml/2006/table">
            <a:tbl>
              <a:tblPr/>
              <a:tblGrid>
                <a:gridCol w="2883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6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11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Enfoque</a:t>
                      </a:r>
                      <a:endParaRPr lang="en-US" sz="1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Cómo funciona</a:t>
                      </a:r>
                      <a:endParaRPr lang="en-US" sz="1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 conviene</a:t>
                      </a:r>
                      <a:endParaRPr lang="en-US" sz="1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memoria (streams de Java)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Trae todos los documentos a la aplicación y calcula con .stream()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Pocos documentos por libro — simple de escribir y entender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Agregación de Mongo ($group, $avg)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cálculo lo hace el propio motor, sin traer todos los documentos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Muchos documentos — más eficiente, consulta más compleja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07492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este curso, con pocas notas de lectura por libro, la primera opción es más que suficiente.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1091672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34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NoSQL agrupa distintos modelos no relacionales; las documentales (MongoDB) son una de varias familias, junto a clave-valor, columnares y de grafos.</a:t>
            </a:r>
            <a:endParaRPr lang="en-US" sz="2200" dirty="0"/>
          </a:p>
          <a:p>
            <a:pPr marL="190500" indent="-190500">
              <a:spcAft>
                <a:spcPts val="34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documento es un objeto autocontenido; una colección los agrupa con esquema flexible por defecto. Sin JOIN SQL, aunque existe $lookup.</a:t>
            </a:r>
            <a:endParaRPr lang="en-US" sz="2200" dirty="0"/>
          </a:p>
          <a:p>
            <a:pPr marL="190500" indent="-190500"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MongoDB almacena en BSON; todo documento tiene un _id, normalmente un ObjectId que Spring Data puede mapear a String.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 (cont.)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3: Bases de datos documentales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1091672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34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libroId en NotaLectura es una relación lógica, no una clave foránea real — no hay integridad referencial automática entre dos motores distintos.</a:t>
            </a:r>
            <a:endParaRPr lang="en-US" sz="2200" dirty="0"/>
          </a:p>
          <a:p>
            <a:pPr marL="190500" indent="-190500">
              <a:spcAft>
                <a:spcPts val="34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patrón de integridad referencial manual: el código comprueba en PostgreSQL antes de tocar Mongo, porque el motor no puede hacerlo por sí solo.</a:t>
            </a:r>
            <a:endParaRPr lang="en-US" sz="2200" dirty="0"/>
          </a:p>
          <a:p>
            <a:pPr marL="190500" indent="-190500"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propiedad real de conexión es spring.mongodb.uri (no spring.data.mongodb.uri).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2612</Words>
  <Application>Microsoft Office PowerPoint</Application>
  <PresentationFormat>Panorámica</PresentationFormat>
  <Paragraphs>252</Paragraphs>
  <Slides>28</Slides>
  <Notes>28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28</vt:i4>
      </vt:variant>
    </vt:vector>
  </HeadingPairs>
  <TitlesOfParts>
    <vt:vector size="31" baseType="lpstr">
      <vt:lpstr>Arial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Conexión a MongoDB y consultas sobre notas de lectura</dc:title>
  <dc:subject>PptxGenJS Presentation</dc:subject>
  <dc:creator>Acceso a Datos</dc:creator>
  <cp:lastModifiedBy>VENTURA EDO, AITOR</cp:lastModifiedBy>
  <cp:revision>2</cp:revision>
  <dcterms:created xsi:type="dcterms:W3CDTF">2026-08-10T17:04:04Z</dcterms:created>
  <dcterms:modified xsi:type="dcterms:W3CDTF">2026-08-10T19:21:15Z</dcterms:modified>
</cp:coreProperties>
</file>