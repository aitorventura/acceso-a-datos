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F0000"/>
        </a:solidFill>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indent="0" marL="0">
              <a:buNone/>
            </a:pPr>
            <a:r>
              <a:rPr lang="en-US" sz="1400" dirty="0">
                <a:solidFill>
                  <a:srgbClr val="E0A8A8"/>
                </a:solidFill>
                <a:latin typeface="Arial" pitchFamily="34" charset="0"/>
                <a:ea typeface="Arial" pitchFamily="34" charset="-122"/>
                <a:cs typeface="Arial" pitchFamily="34" charset="-120"/>
              </a:rPr>
              <a:t>ACCESO A DATOS  —  TEMA 2: BD OBJETO-RELACIONALES</a:t>
            </a:r>
            <a:endParaRPr lang="en-US" sz="1400" dirty="0"/>
          </a:p>
        </p:txBody>
      </p:sp>
      <p:sp>
        <p:nvSpPr>
          <p:cNvPr id="3" name="Text 1"/>
          <p:cNvSpPr/>
          <p:nvPr/>
        </p:nvSpPr>
        <p:spPr>
          <a:xfrm>
            <a:off x="548640" y="1554480"/>
            <a:ext cx="11091672" cy="2377440"/>
          </a:xfrm>
          <a:prstGeom prst="rect">
            <a:avLst/>
          </a:prstGeom>
          <a:noFill/>
          <a:ln/>
        </p:spPr>
        <p:txBody>
          <a:bodyPr wrap="square" rtlCol="0" anchor="ctr"/>
          <a:lstStyle/>
          <a:p>
            <a:pPr algn="l" indent="0" marL="0">
              <a:buNone/>
            </a:pPr>
            <a:r>
              <a:rPr lang="en-US" sz="3800" b="1" dirty="0">
                <a:solidFill>
                  <a:srgbClr val="FFFFFF"/>
                </a:solidFill>
                <a:latin typeface="Arial" pitchFamily="34" charset="0"/>
                <a:ea typeface="Arial" pitchFamily="34" charset="-122"/>
                <a:cs typeface="Arial" pitchFamily="34" charset="-120"/>
              </a:rPr>
              <a:t>Consultas sobre</a:t>
            </a:r>
            <a:endParaRPr lang="en-US" sz="3800" dirty="0"/>
          </a:p>
          <a:p>
            <a:pPr algn="l" indent="0" marL="0">
              <a:buNone/>
            </a:pPr>
            <a:r>
              <a:rPr lang="en-US" sz="3800" b="1" dirty="0">
                <a:solidFill>
                  <a:srgbClr val="FFFFFF"/>
                </a:solidFill>
                <a:latin typeface="Arial" pitchFamily="34" charset="0"/>
                <a:ea typeface="Arial" pitchFamily="34" charset="-122"/>
                <a:cs typeface="Arial" pitchFamily="34" charset="-120"/>
              </a:rPr>
              <a:t>columnas JSONB</a:t>
            </a:r>
            <a:endParaRPr lang="en-US" sz="3800" dirty="0"/>
          </a:p>
        </p:txBody>
      </p:sp>
      <p:sp>
        <p:nvSpPr>
          <p:cNvPr id="4" name="Shape 2"/>
          <p:cNvSpPr/>
          <p:nvPr/>
        </p:nvSpPr>
        <p:spPr>
          <a:xfrm>
            <a:off x="0" y="5120640"/>
            <a:ext cx="12188952" cy="914400"/>
          </a:xfrm>
          <a:prstGeom prst="rect">
            <a:avLst/>
          </a:prstGeom>
          <a:solidFill>
            <a:srgbClr val="E64A19"/>
          </a:solidFill>
          <a:ln w="12700">
            <a:solidFill>
              <a:srgbClr val="E64A19"/>
            </a:solidFill>
            <a:prstDash val="solid"/>
          </a:ln>
        </p:spPr>
      </p:sp>
      <p:sp>
        <p:nvSpPr>
          <p:cNvPr id="5" name="Text 3"/>
          <p:cNvSpPr/>
          <p:nvPr/>
        </p:nvSpPr>
        <p:spPr>
          <a:xfrm>
            <a:off x="548640" y="5120640"/>
            <a:ext cx="11091672" cy="914400"/>
          </a:xfrm>
          <a:prstGeom prst="rect">
            <a:avLst/>
          </a:prstGeom>
          <a:noFill/>
          <a:ln/>
        </p:spPr>
        <p:txBody>
          <a:bodyPr wrap="square" rtlCol="0" anchor="ctr"/>
          <a:lstStyle/>
          <a:p>
            <a:pPr indent="0" marL="0">
              <a:buNone/>
            </a:pPr>
            <a:r>
              <a:rPr lang="en-US" sz="1900" i="1" dirty="0">
                <a:solidFill>
                  <a:srgbClr val="FFFFFF"/>
                </a:solidFill>
                <a:latin typeface="Arial" pitchFamily="34" charset="0"/>
                <a:ea typeface="Arial" pitchFamily="34" charset="-122"/>
                <a:cs typeface="Arial" pitchFamily="34" charset="-120"/>
              </a:rPr>
              <a:t>2. Consultas sobre columnas JSONB</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Consultas sobre columnas JSONB</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2: Consultas sobre columnas JSONB</a:t>
            </a:r>
            <a:endParaRPr lang="en-US" sz="1100" dirty="0"/>
          </a:p>
        </p:txBody>
      </p:sp>
      <p:sp>
        <p:nvSpPr>
          <p:cNvPr id="5" name="Shape 3"/>
          <p:cNvSpPr/>
          <p:nvPr/>
        </p:nvSpPr>
        <p:spPr>
          <a:xfrm>
            <a:off x="548640" y="2651760"/>
            <a:ext cx="11091672" cy="2194560"/>
          </a:xfrm>
          <a:prstGeom prst="roundRect">
            <a:avLst/>
          </a:prstGeom>
          <a:solidFill>
            <a:srgbClr val="FBE9E7"/>
          </a:solidFill>
          <a:ln w="19050">
            <a:solidFill>
              <a:srgbClr val="E64A19"/>
            </a:solidFill>
            <a:prstDash val="solid"/>
          </a:ln>
        </p:spPr>
      </p:sp>
      <p:sp>
        <p:nvSpPr>
          <p:cNvPr id="6" name="Text 4"/>
          <p:cNvSpPr/>
          <p:nvPr/>
        </p:nvSpPr>
        <p:spPr>
          <a:xfrm>
            <a:off x="822960" y="2743200"/>
            <a:ext cx="10543032" cy="2011680"/>
          </a:xfrm>
          <a:prstGeom prst="rect">
            <a:avLst/>
          </a:prstGeom>
          <a:noFill/>
          <a:ln/>
        </p:spPr>
        <p:txBody>
          <a:bodyPr wrap="square" rtlCol="0" anchor="ctr"/>
          <a:lstStyle/>
          <a:p>
            <a:pPr indent="0" marL="0">
              <a:buNone/>
            </a:pPr>
            <a:r>
              <a:rPr lang="en-US" sz="2400" dirty="0">
                <a:solidFill>
                  <a:srgbClr val="212121"/>
                </a:solidFill>
                <a:latin typeface="Arial" pitchFamily="34" charset="0"/>
                <a:ea typeface="Arial" pitchFamily="34" charset="-122"/>
                <a:cs typeface="Arial" pitchFamily="34" charset="-120"/>
              </a:rPr>
              <a:t>Ya sabes guardar datos estructurados en una columna JSONB. El siguiente paso es filtrar por su contenido. Para ello no bastan los comparadores habituales sobre valores escalares: necesitas operadores y funciones de PostgreSQL capaces de acceder a las claves y valores almacenados dentro del JSON.</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El problema: consultar dentro de un JSON</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2: Consultas sobre columnas JSONB</a:t>
            </a:r>
            <a:endParaRPr lang="en-US" sz="1100" dirty="0"/>
          </a:p>
        </p:txBody>
      </p:sp>
      <p:sp>
        <p:nvSpPr>
          <p:cNvPr id="5" name="Text 3"/>
          <p:cNvSpPr/>
          <p:nvPr/>
        </p:nvSpPr>
        <p:spPr>
          <a:xfrm>
            <a:off x="548640" y="2103120"/>
            <a:ext cx="11091672" cy="777240"/>
          </a:xfrm>
          <a:prstGeom prst="rect">
            <a:avLst/>
          </a:prstGeom>
          <a:noFill/>
          <a:ln/>
        </p:spPr>
        <p:txBody>
          <a:bodyPr wrap="square" rtlCol="0" anchor="t"/>
          <a:lstStyle/>
          <a:p>
            <a:pPr indent="0" marL="0">
              <a:buNone/>
            </a:pPr>
            <a:r>
              <a:rPr lang="en-US" sz="1800" dirty="0">
                <a:solidFill>
                  <a:srgbClr val="212121"/>
                </a:solidFill>
                <a:latin typeface="Arial" pitchFamily="34" charset="0"/>
                <a:ea typeface="Arial" pitchFamily="34" charset="-122"/>
                <a:cs typeface="Arial" pitchFamily="34" charset="-120"/>
              </a:rPr>
              <a:t>Con una columna normal, un WHERE compara el valor completo de esa columna. Con JSONB, lo que quieres comprobar no es la columna entera, sino si existe (o qué vale) una clave concreta dentro del objeto:</a:t>
            </a:r>
            <a:endParaRPr lang="en-US" sz="1800" dirty="0"/>
          </a:p>
        </p:txBody>
      </p:sp>
      <p:sp>
        <p:nvSpPr>
          <p:cNvPr id="6" name="Shape 4"/>
          <p:cNvSpPr/>
          <p:nvPr/>
        </p:nvSpPr>
        <p:spPr>
          <a:xfrm>
            <a:off x="548640" y="3108960"/>
            <a:ext cx="11091672" cy="2286000"/>
          </a:xfrm>
          <a:prstGeom prst="rect">
            <a:avLst/>
          </a:prstGeom>
          <a:solidFill>
            <a:srgbClr val="ECEFF1"/>
          </a:solidFill>
          <a:ln w="12700">
            <a:solidFill>
              <a:srgbClr val="EEEEEE"/>
            </a:solidFill>
            <a:prstDash val="solid"/>
          </a:ln>
        </p:spPr>
      </p:sp>
      <p:sp>
        <p:nvSpPr>
          <p:cNvPr id="7" name="Shape 5"/>
          <p:cNvSpPr/>
          <p:nvPr/>
        </p:nvSpPr>
        <p:spPr>
          <a:xfrm>
            <a:off x="548640" y="3108960"/>
            <a:ext cx="73152" cy="2286000"/>
          </a:xfrm>
          <a:prstGeom prst="rect">
            <a:avLst/>
          </a:prstGeom>
          <a:solidFill>
            <a:srgbClr val="E64A19"/>
          </a:solidFill>
          <a:ln w="12700">
            <a:solidFill>
              <a:srgbClr val="E64A19"/>
            </a:solidFill>
            <a:prstDash val="solid"/>
          </a:ln>
        </p:spPr>
      </p:sp>
      <p:sp>
        <p:nvSpPr>
          <p:cNvPr id="8" name="Text 6"/>
          <p:cNvSpPr/>
          <p:nvPr/>
        </p:nvSpPr>
        <p:spPr>
          <a:xfrm>
            <a:off x="822960" y="3218688"/>
            <a:ext cx="10588752" cy="2066544"/>
          </a:xfrm>
          <a:prstGeom prst="rect">
            <a:avLst/>
          </a:prstGeom>
          <a:noFill/>
          <a:ln/>
        </p:spPr>
        <p:txBody>
          <a:bodyPr wrap="square" rtlCol="0" anchor="t"/>
          <a:lstStyle/>
          <a:p>
            <a:pPr indent="0" marL="0">
              <a:buNone/>
            </a:pPr>
            <a:r>
              <a:rPr lang="en-US" sz="1450" dirty="0">
                <a:solidFill>
                  <a:srgbClr val="263238"/>
                </a:solidFill>
                <a:latin typeface="Courier New" pitchFamily="34" charset="0"/>
                <a:ea typeface="Courier New" pitchFamily="34" charset="-122"/>
                <a:cs typeface="Courier New" pitchFamily="34" charset="-120"/>
              </a:rPr>
              <a:t>-- ¿Existe la clave "ebook" de primer nivel en el JSON?</a:t>
            </a:r>
            <a:endParaRPr lang="en-US" sz="1450" dirty="0"/>
          </a:p>
          <a:p>
            <a:pPr indent="0" marL="0">
              <a:buNone/>
            </a:pPr>
            <a:r>
              <a:rPr lang="en-US" sz="1450" dirty="0">
                <a:solidFill>
                  <a:srgbClr val="263238"/>
                </a:solidFill>
                <a:latin typeface="Courier New" pitchFamily="34" charset="0"/>
                <a:ea typeface="Courier New" pitchFamily="34" charset="-122"/>
                <a:cs typeface="Courier New" pitchFamily="34" charset="-120"/>
              </a:rPr>
              <a:t>SELECT * FROM libro WHERE jsonb_exists(detalles_edicion, 'ebook');</a:t>
            </a:r>
            <a:endParaRPr lang="en-US" sz="1450" dirty="0"/>
          </a:p>
          <a:p>
            <a:pPr indent="0" marL="0">
              <a:buNone/>
            </a:pPr>
            <a:r>
              <a:rPr lang="en-US" sz="1450" dirty="0">
                <a:solidFill>
                  <a:srgbClr val="263238"/>
                </a:solidFill>
                <a:latin typeface="Courier New" pitchFamily="34" charset="0"/>
                <a:ea typeface="Courier New" pitchFamily="34" charset="-122"/>
                <a:cs typeface="Courier New" pitchFamily="34" charset="-120"/>
              </a:rPr>
              <a:t>-- equivalente con el operador ?</a:t>
            </a:r>
            <a:endParaRPr lang="en-US" sz="1450" dirty="0"/>
          </a:p>
          <a:p>
            <a:pPr indent="0" marL="0">
              <a:buNone/>
            </a:pPr>
            <a:r>
              <a:rPr lang="en-US" sz="1450" dirty="0">
                <a:solidFill>
                  <a:srgbClr val="263238"/>
                </a:solidFill>
                <a:latin typeface="Courier New" pitchFamily="34" charset="0"/>
                <a:ea typeface="Courier New" pitchFamily="34" charset="-122"/>
                <a:cs typeface="Courier New" pitchFamily="34" charset="-120"/>
              </a:rPr>
              <a:t>SELECT * FROM libro WHERE detalles_edicion ? 'ebook';</a:t>
            </a:r>
            <a:endParaRPr lang="en-US" sz="1450" dirty="0"/>
          </a:p>
          <a:p>
            <a:pPr indent="0" marL="0">
              <a:buNone/>
            </a:pPr>
            <a:endParaRPr lang="en-US" sz="1450" dirty="0"/>
          </a:p>
          <a:p>
            <a:pPr indent="0" marL="0">
              <a:buNone/>
            </a:pPr>
            <a:r>
              <a:rPr lang="en-US" sz="1450" dirty="0">
                <a:solidFill>
                  <a:srgbClr val="263238"/>
                </a:solidFill>
                <a:latin typeface="Courier New" pitchFamily="34" charset="0"/>
                <a:ea typeface="Courier New" pitchFamily="34" charset="-122"/>
                <a:cs typeface="Courier New" pitchFamily="34" charset="-120"/>
              </a:rPr>
              <a:t>-- Extraer el valor de una clave</a:t>
            </a:r>
            <a:endParaRPr lang="en-US" sz="1450" dirty="0"/>
          </a:p>
          <a:p>
            <a:pPr indent="0" marL="0">
              <a:buNone/>
            </a:pPr>
            <a:r>
              <a:rPr lang="en-US" sz="1450" dirty="0">
                <a:solidFill>
                  <a:srgbClr val="263238"/>
                </a:solidFill>
                <a:latin typeface="Courier New" pitchFamily="34" charset="0"/>
                <a:ea typeface="Courier New" pitchFamily="34" charset="-122"/>
                <a:cs typeface="Courier New" pitchFamily="34" charset="-120"/>
              </a:rPr>
              <a:t>SELECT detalles_edicion -&gt; 'ebook' FROM libro;    -- como JSON</a:t>
            </a:r>
            <a:endParaRPr lang="en-US" sz="1450" dirty="0"/>
          </a:p>
          <a:p>
            <a:pPr indent="0" marL="0">
              <a:buNone/>
            </a:pPr>
            <a:r>
              <a:rPr lang="en-US" sz="1450" dirty="0">
                <a:solidFill>
                  <a:srgbClr val="263238"/>
                </a:solidFill>
                <a:latin typeface="Courier New" pitchFamily="34" charset="0"/>
                <a:ea typeface="Courier New" pitchFamily="34" charset="-122"/>
                <a:cs typeface="Courier New" pitchFamily="34" charset="-120"/>
              </a:rPr>
              <a:t>SELECT detalles_edicion -&gt;&gt; 'ebook' FROM libro;   -- como texto</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Operadores y funciones JSONB</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2: Consultas sobre columnas JSONB</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3105668"/>
                <a:gridCol w="5545836"/>
                <a:gridCol w="2440168"/>
              </a:tblGrid>
              <a:tr h="960120">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Operador / función</a:t>
                      </a:r>
                      <a:endParaRPr lang="en-US" sz="17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Qué hace</a:t>
                      </a:r>
                      <a:endParaRPr lang="en-US" sz="17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Devuelve</a:t>
                      </a:r>
                      <a:endParaRPr lang="en-US" sz="17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r>
              <a:tr h="960120">
                <a:tc>
                  <a:txBody>
                    <a:bodyPr/>
                    <a:lstStyle/>
                    <a:p>
                      <a:pPr indent="0" marL="0">
                        <a:buNone/>
                      </a:pPr>
                      <a:r>
                        <a:rPr lang="en-US" sz="1500" b="1" dirty="0">
                          <a:solidFill>
                            <a:srgbClr val="212121"/>
                          </a:solidFill>
                          <a:latin typeface="Arial" pitchFamily="34" charset="0"/>
                          <a:ea typeface="Arial" pitchFamily="34" charset="-122"/>
                          <a:cs typeface="Arial" pitchFamily="34" charset="-120"/>
                        </a:rPr>
                        <a:t>jsonb_exists(col, clave)</a:t>
                      </a:r>
                      <a:endParaRPr lang="en-US" sz="1500" dirty="0">
                        <a:latin typeface="Arial" charset="0"/>
                        <a:ea typeface="Arial" charset="0"/>
                        <a:cs typeface="Arial" charset="0"/>
                      </a:endParaRPr>
                    </a:p>
                    <a:p>
                      <a:pPr indent="0" marL="0">
                        <a:buNone/>
                      </a:pPr>
                      <a:r>
                        <a:rPr lang="en-US" sz="1500" b="1" dirty="0">
                          <a:solidFill>
                            <a:srgbClr val="212121"/>
                          </a:solidFill>
                          <a:latin typeface="Arial" pitchFamily="34" charset="0"/>
                          <a:ea typeface="Arial" pitchFamily="34" charset="-122"/>
                          <a:cs typeface="Arial" pitchFamily="34" charset="-120"/>
                        </a:rPr>
                        <a:t>/ col ? 'clave'</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Comprueba si existe una clave de primer nivel — sin importar su valor</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boolean</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960120">
                <a:tc>
                  <a:txBody>
                    <a:bodyPr/>
                    <a:lstStyle/>
                    <a:p>
                      <a:pPr indent="0" marL="0">
                        <a:buNone/>
                      </a:pPr>
                      <a:r>
                        <a:rPr lang="en-US" sz="1500" b="1" dirty="0">
                          <a:solidFill>
                            <a:srgbClr val="212121"/>
                          </a:solidFill>
                          <a:latin typeface="Arial" pitchFamily="34" charset="0"/>
                          <a:ea typeface="Arial" pitchFamily="34" charset="-122"/>
                          <a:cs typeface="Arial" pitchFamily="34" charset="-120"/>
                        </a:rPr>
                        <a:t>col -&gt; 'clave'</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Extrae el valor de una clave, manteniéndolo como JSON (útil para seguir navegando)</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jsonb</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960120">
                <a:tc>
                  <a:txBody>
                    <a:bodyPr/>
                    <a:lstStyle/>
                    <a:p>
                      <a:pPr indent="0" marL="0">
                        <a:buNone/>
                      </a:pPr>
                      <a:r>
                        <a:rPr lang="en-US" sz="1500" b="1" dirty="0">
                          <a:solidFill>
                            <a:srgbClr val="212121"/>
                          </a:solidFill>
                          <a:latin typeface="Arial" pitchFamily="34" charset="0"/>
                          <a:ea typeface="Arial" pitchFamily="34" charset="-122"/>
                          <a:cs typeface="Arial" pitchFamily="34" charset="-120"/>
                        </a:rPr>
                        <a:t>col -&gt;&gt; 'clave'</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Extrae el valor de una clave como texto plano</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text</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5532120"/>
            <a:ext cx="11091672" cy="548640"/>
          </a:xfrm>
          <a:prstGeom prst="rect">
            <a:avLst/>
          </a:prstGeom>
          <a:noFill/>
          <a:ln/>
        </p:spPr>
        <p:txBody>
          <a:bodyPr wrap="square" rtlCol="0" anchor="t"/>
          <a:lstStyle/>
          <a:p>
            <a:pPr indent="0" marL="0">
              <a:buNone/>
            </a:pPr>
            <a:r>
              <a:rPr lang="en-US" sz="1600" dirty="0">
                <a:solidFill>
                  <a:srgbClr val="757575"/>
                </a:solidFill>
                <a:latin typeface="Arial" pitchFamily="34" charset="0"/>
                <a:ea typeface="Arial" pitchFamily="34" charset="-122"/>
                <a:cs typeface="Arial" pitchFamily="34" charset="-120"/>
              </a:rPr>
              <a:t>Esto es SQL puro, directamente contra PostgreSQL — antes de verlo envuelto en Java, conviene tenerlo claro a este nivel.</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El índice GIN y el operador ?</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2: Consultas sobre columnas JSONB</a:t>
            </a:r>
            <a:endParaRPr lang="en-US" sz="1100" dirty="0"/>
          </a:p>
        </p:txBody>
      </p:sp>
      <p:sp>
        <p:nvSpPr>
          <p:cNvPr id="5" name="Shape 3"/>
          <p:cNvSpPr/>
          <p:nvPr/>
        </p:nvSpPr>
        <p:spPr>
          <a:xfrm>
            <a:off x="548640" y="1993392"/>
            <a:ext cx="11091672" cy="1463040"/>
          </a:xfrm>
          <a:prstGeom prst="roundRect">
            <a:avLst/>
          </a:prstGeom>
          <a:solidFill>
            <a:srgbClr val="FBE9E7"/>
          </a:solidFill>
          <a:ln w="19050">
            <a:solidFill>
              <a:srgbClr val="E64A19"/>
            </a:solidFill>
            <a:prstDash val="solid"/>
          </a:ln>
        </p:spPr>
      </p:sp>
      <p:sp>
        <p:nvSpPr>
          <p:cNvPr id="6" name="Text 4"/>
          <p:cNvSpPr/>
          <p:nvPr/>
        </p:nvSpPr>
        <p:spPr>
          <a:xfrm>
            <a:off x="822960" y="2084832"/>
            <a:ext cx="10543032" cy="1280160"/>
          </a:xfrm>
          <a:prstGeom prst="rect">
            <a:avLst/>
          </a:prstGeom>
          <a:noFill/>
          <a:ln/>
        </p:spPr>
        <p:txBody>
          <a:bodyPr wrap="square" rtlCol="0" anchor="ctr"/>
          <a:lstStyle/>
          <a:p>
            <a:pPr indent="0" marL="0">
              <a:buNone/>
            </a:pPr>
            <a:r>
              <a:rPr lang="en-US" sz="1900" dirty="0">
                <a:solidFill>
                  <a:srgbClr val="212121"/>
                </a:solidFill>
                <a:latin typeface="Arial" pitchFamily="34" charset="0"/>
                <a:ea typeface="Arial" pitchFamily="34" charset="-122"/>
                <a:cs typeface="Arial" pitchFamily="34" charset="-120"/>
              </a:rPr>
              <a:t>El índice GIN creado sobre detalles_edicion puede acelerar operadores como ?, que comprueba si existe una clave. Por ejemplo, WHERE detalles_edicion ? 'ebook' puede aprovechar el índice cuando el planificador estima que resulta más eficiente que recorrer toda la tabla.</a:t>
            </a:r>
            <a:endParaRPr lang="en-US" sz="1900" dirty="0"/>
          </a:p>
        </p:txBody>
      </p:sp>
      <p:sp>
        <p:nvSpPr>
          <p:cNvPr id="7" name="Text 5"/>
          <p:cNvSpPr/>
          <p:nvPr/>
        </p:nvSpPr>
        <p:spPr>
          <a:xfrm>
            <a:off x="548640" y="3730752"/>
            <a:ext cx="11091672" cy="1280160"/>
          </a:xfrm>
          <a:prstGeom prst="rect">
            <a:avLst/>
          </a:prstGeom>
          <a:noFill/>
          <a:ln/>
        </p:spPr>
        <p:txBody>
          <a:bodyPr wrap="square" rtlCol="0" anchor="t"/>
          <a:lstStyle/>
          <a:p>
            <a:pPr indent="0" marL="0">
              <a:buNone/>
            </a:pPr>
            <a:r>
              <a:rPr lang="en-US" sz="1750" dirty="0">
                <a:solidFill>
                  <a:srgbClr val="212121"/>
                </a:solidFill>
                <a:latin typeface="Arial" pitchFamily="34" charset="0"/>
                <a:ea typeface="Arial" pitchFamily="34" charset="-122"/>
                <a:cs typeface="Arial" pitchFamily="34" charset="-120"/>
              </a:rPr>
              <a:t>jsonb_exists(detalles_edicion, 'ebook') produce el mismo resultado lógico, pero PostgreSQL documenta el operador ? —no la llamada directa a la función— entre los operadores compatibles con el índice GIN. Por eso no debes dar por hecho que ambas formas utilizarán el índice del mismo modo.</a:t>
            </a:r>
            <a:endParaRPr lang="en-US" sz="1750" dirty="0"/>
          </a:p>
        </p:txBody>
      </p:sp>
      <p:sp>
        <p:nvSpPr>
          <p:cNvPr id="8" name="Text 6"/>
          <p:cNvSpPr/>
          <p:nvPr/>
        </p:nvSpPr>
        <p:spPr>
          <a:xfrm>
            <a:off x="548640" y="5193792"/>
            <a:ext cx="11091672" cy="685800"/>
          </a:xfrm>
          <a:prstGeom prst="rect">
            <a:avLst/>
          </a:prstGeom>
          <a:noFill/>
          <a:ln/>
        </p:spPr>
        <p:txBody>
          <a:bodyPr wrap="square" rtlCol="0" anchor="t"/>
          <a:lstStyle/>
          <a:p>
            <a:pPr indent="0" marL="0">
              <a:buNone/>
            </a:pPr>
            <a:r>
              <a:rPr lang="en-US" sz="1600" dirty="0">
                <a:solidFill>
                  <a:srgbClr val="757575"/>
                </a:solidFill>
                <a:latin typeface="Arial" pitchFamily="34" charset="0"/>
                <a:ea typeface="Arial" pitchFamily="34" charset="-122"/>
                <a:cs typeface="Arial" pitchFamily="34" charset="-120"/>
              </a:rPr>
              <a:t>En la actividad de rendimiento se utiliza el operador ?; en la Specification se utilizará jsonb_exists(...) porque Criteria API permite invocar funciones SQL por su nombre.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Un ejemplo completo: disponibleEnFormato</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2: Consultas sobre columnas JSONB</a:t>
            </a:r>
            <a:endParaRPr lang="en-US" sz="1100" dirty="0"/>
          </a:p>
        </p:txBody>
      </p:sp>
      <p:sp>
        <p:nvSpPr>
          <p:cNvPr id="5" name="Text 3"/>
          <p:cNvSpPr/>
          <p:nvPr/>
        </p:nvSpPr>
        <p:spPr>
          <a:xfrm>
            <a:off x="548640" y="1143000"/>
            <a:ext cx="11091672" cy="685800"/>
          </a:xfrm>
          <a:prstGeom prst="rect">
            <a:avLst/>
          </a:prstGeom>
          <a:noFill/>
          <a:ln/>
        </p:spPr>
        <p:txBody>
          <a:bodyPr wrap="square" rtlCol="0" anchor="t"/>
          <a:lstStyle/>
          <a:p>
            <a:pPr indent="0" marL="0">
              <a:buNone/>
            </a:pPr>
            <a:r>
              <a:rPr lang="en-US" sz="1700" dirty="0">
                <a:solidFill>
                  <a:srgbClr val="212121"/>
                </a:solidFill>
                <a:latin typeface="Arial" pitchFamily="34" charset="0"/>
                <a:ea typeface="Arial" pitchFamily="34" charset="-122"/>
                <a:cs typeface="Arial" pitchFamily="34" charset="-120"/>
              </a:rPr>
              <a:t>Un filtro más en el buscador — "solo libros disponibles en ebook". El dato vive dentro de la columna JSONB detallesEdicion, no en una columna con su propio tipo simple:</a:t>
            </a:r>
            <a:endParaRPr lang="en-US" sz="17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1672" cy="914400"/>
        </p:xfrm>
        <a:graphic>
          <a:graphicData uri="http://schemas.openxmlformats.org/drawingml/2006/table">
            <a:tbl>
              <a:tblPr/>
              <a:tblGrid>
                <a:gridCol w="887334"/>
                <a:gridCol w="2994751"/>
                <a:gridCol w="7209587"/>
              </a:tblGrid>
              <a:tr h="566928">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id</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titulo</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detalles_edicion</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r>
              <a:tr h="566928">
                <a:tc>
                  <a:txBody>
                    <a:bodyPr/>
                    <a:lstStyle/>
                    <a:p>
                      <a:pPr indent="0" marL="0">
                        <a:buNone/>
                      </a:pPr>
                      <a:r>
                        <a:rPr lang="en-US" sz="1350" b="1" dirty="0">
                          <a:solidFill>
                            <a:srgbClr val="212121"/>
                          </a:solidFill>
                          <a:latin typeface="Arial" pitchFamily="34" charset="0"/>
                          <a:ea typeface="Arial" pitchFamily="34" charset="-122"/>
                          <a:cs typeface="Arial" pitchFamily="34" charset="-120"/>
                        </a:rPr>
                        <a:t>1</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50" dirty="0">
                          <a:solidFill>
                            <a:srgbClr val="212121"/>
                          </a:solidFill>
                          <a:latin typeface="Arial" pitchFamily="34" charset="0"/>
                          <a:ea typeface="Arial" pitchFamily="34" charset="-122"/>
                          <a:cs typeface="Arial" pitchFamily="34" charset="-120"/>
                        </a:rPr>
                        <a:t>Cien años de soledad</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50" dirty="0">
                          <a:solidFill>
                            <a:srgbClr val="212121"/>
                          </a:solidFill>
                          <a:latin typeface="Arial" pitchFamily="34" charset="0"/>
                          <a:ea typeface="Arial" pitchFamily="34" charset="-122"/>
                          <a:cs typeface="Arial" pitchFamily="34" charset="-120"/>
                        </a:rPr>
                        <a:t>{"tapaDura":{...}, "ebook":{"formato":"epub"}}</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566928">
                <a:tc>
                  <a:txBody>
                    <a:bodyPr/>
                    <a:lstStyle/>
                    <a:p>
                      <a:pPr indent="0" marL="0">
                        <a:buNone/>
                      </a:pPr>
                      <a:r>
                        <a:rPr lang="en-US" sz="1350" b="1" dirty="0">
                          <a:solidFill>
                            <a:srgbClr val="212121"/>
                          </a:solidFill>
                          <a:latin typeface="Arial" pitchFamily="34" charset="0"/>
                          <a:ea typeface="Arial" pitchFamily="34" charset="-122"/>
                          <a:cs typeface="Arial" pitchFamily="34" charset="-120"/>
                        </a:rPr>
                        <a:t>2</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50" dirty="0">
                          <a:solidFill>
                            <a:srgbClr val="212121"/>
                          </a:solidFill>
                          <a:latin typeface="Arial" pitchFamily="34" charset="0"/>
                          <a:ea typeface="Arial" pitchFamily="34" charset="-122"/>
                          <a:cs typeface="Arial" pitchFamily="34" charset="-120"/>
                        </a:rPr>
                        <a:t>El nombre del viento</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50" dirty="0">
                          <a:solidFill>
                            <a:srgbClr val="212121"/>
                          </a:solidFill>
                          <a:latin typeface="Arial" pitchFamily="34" charset="0"/>
                          <a:ea typeface="Arial" pitchFamily="34" charset="-122"/>
                          <a:cs typeface="Arial" pitchFamily="34" charset="-120"/>
                        </a:rPr>
                        <a:t>{"bolsillo":{...}}</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566928">
                <a:tc>
                  <a:txBody>
                    <a:bodyPr/>
                    <a:lstStyle/>
                    <a:p>
                      <a:pPr indent="0" marL="0">
                        <a:buNone/>
                      </a:pPr>
                      <a:r>
                        <a:rPr lang="en-US" sz="1350" b="1" dirty="0">
                          <a:solidFill>
                            <a:srgbClr val="212121"/>
                          </a:solidFill>
                          <a:latin typeface="Arial" pitchFamily="34" charset="0"/>
                          <a:ea typeface="Arial" pitchFamily="34" charset="-122"/>
                          <a:cs typeface="Arial" pitchFamily="34" charset="-120"/>
                        </a:rPr>
                        <a:t>3</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50" dirty="0">
                          <a:solidFill>
                            <a:srgbClr val="212121"/>
                          </a:solidFill>
                          <a:latin typeface="Arial" pitchFamily="34" charset="0"/>
                          <a:ea typeface="Arial" pitchFamily="34" charset="-122"/>
                          <a:cs typeface="Arial" pitchFamily="34" charset="-120"/>
                        </a:rPr>
                        <a:t>Rayuela</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50" dirty="0">
                          <a:solidFill>
                            <a:srgbClr val="212121"/>
                          </a:solidFill>
                          <a:latin typeface="Arial" pitchFamily="34" charset="0"/>
                          <a:ea typeface="Arial" pitchFamily="34" charset="-122"/>
                          <a:cs typeface="Arial" pitchFamily="34" charset="-120"/>
                        </a:rPr>
                        <a:t>{"tapaDura":{...}}</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566928">
                <a:tc>
                  <a:txBody>
                    <a:bodyPr/>
                    <a:lstStyle/>
                    <a:p>
                      <a:pPr indent="0" marL="0">
                        <a:buNone/>
                      </a:pPr>
                      <a:r>
                        <a:rPr lang="en-US" sz="1350" b="1" dirty="0">
                          <a:solidFill>
                            <a:srgbClr val="212121"/>
                          </a:solidFill>
                          <a:latin typeface="Arial" pitchFamily="34" charset="0"/>
                          <a:ea typeface="Arial" pitchFamily="34" charset="-122"/>
                          <a:cs typeface="Arial" pitchFamily="34" charset="-120"/>
                        </a:rPr>
                        <a:t>4</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50" dirty="0">
                          <a:solidFill>
                            <a:srgbClr val="212121"/>
                          </a:solidFill>
                          <a:latin typeface="Arial" pitchFamily="34" charset="0"/>
                          <a:ea typeface="Arial" pitchFamily="34" charset="-122"/>
                          <a:cs typeface="Arial" pitchFamily="34" charset="-120"/>
                        </a:rPr>
                        <a:t>1984</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50" dirty="0">
                          <a:solidFill>
                            <a:srgbClr val="212121"/>
                          </a:solidFill>
                          <a:latin typeface="Arial" pitchFamily="34" charset="0"/>
                          <a:ea typeface="Arial" pitchFamily="34" charset="-122"/>
                          <a:cs typeface="Arial" pitchFamily="34" charset="-120"/>
                        </a:rPr>
                        <a:t>{"ebook":{"formato":"mobi"}, "bolsillo":{...}}</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bl>
          </a:graphicData>
        </a:graphic>
      </p:graphicFrame>
      <p:sp>
        <p:nvSpPr>
          <p:cNvPr id="7" name="Text 4"/>
          <p:cNvSpPr/>
          <p:nvPr/>
        </p:nvSpPr>
        <p:spPr>
          <a:xfrm>
            <a:off x="548640" y="5120640"/>
            <a:ext cx="11091672" cy="640080"/>
          </a:xfrm>
          <a:prstGeom prst="rect">
            <a:avLst/>
          </a:prstGeom>
          <a:noFill/>
          <a:ln/>
        </p:spPr>
        <p:txBody>
          <a:bodyPr wrap="square" rtlCol="0" anchor="t"/>
          <a:lstStyle/>
          <a:p>
            <a:pPr indent="0" marL="0">
              <a:buNone/>
            </a:pPr>
            <a:r>
              <a:rPr lang="en-US" sz="1550" dirty="0">
                <a:solidFill>
                  <a:srgbClr val="757575"/>
                </a:solidFill>
                <a:latin typeface="Arial" pitchFamily="34" charset="0"/>
                <a:ea typeface="Arial" pitchFamily="34" charset="-122"/>
                <a:cs typeface="Arial" pitchFamily="34" charset="-120"/>
              </a:rPr>
              <a:t>"Solo los disponibles en ebook" debe devolver Cien años de soledad y 1984 —los únicos con la clave "ebook" presente—, y descartar los otros dos.</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La consulta y su resultado</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2: Consultas sobre columnas JSONB</a:t>
            </a:r>
            <a:endParaRPr lang="en-US" sz="1100" dirty="0"/>
          </a:p>
        </p:txBody>
      </p:sp>
      <p:sp>
        <p:nvSpPr>
          <p:cNvPr id="5" name="Shape 3"/>
          <p:cNvSpPr/>
          <p:nvPr/>
        </p:nvSpPr>
        <p:spPr>
          <a:xfrm>
            <a:off x="548640" y="1920240"/>
            <a:ext cx="11091672" cy="777240"/>
          </a:xfrm>
          <a:prstGeom prst="rect">
            <a:avLst/>
          </a:prstGeom>
          <a:solidFill>
            <a:srgbClr val="ECEFF1"/>
          </a:solidFill>
          <a:ln w="12700">
            <a:solidFill>
              <a:srgbClr val="EEEEEE"/>
            </a:solidFill>
            <a:prstDash val="solid"/>
          </a:ln>
        </p:spPr>
      </p:sp>
      <p:sp>
        <p:nvSpPr>
          <p:cNvPr id="6" name="Shape 4"/>
          <p:cNvSpPr/>
          <p:nvPr/>
        </p:nvSpPr>
        <p:spPr>
          <a:xfrm>
            <a:off x="548640" y="1920240"/>
            <a:ext cx="73152" cy="777240"/>
          </a:xfrm>
          <a:prstGeom prst="rect">
            <a:avLst/>
          </a:prstGeom>
          <a:solidFill>
            <a:srgbClr val="E64A19"/>
          </a:solidFill>
          <a:ln w="12700">
            <a:solidFill>
              <a:srgbClr val="E64A19"/>
            </a:solidFill>
            <a:prstDash val="solid"/>
          </a:ln>
        </p:spPr>
      </p:sp>
      <p:sp>
        <p:nvSpPr>
          <p:cNvPr id="7" name="Text 5"/>
          <p:cNvSpPr/>
          <p:nvPr/>
        </p:nvSpPr>
        <p:spPr>
          <a:xfrm>
            <a:off x="822960" y="2029968"/>
            <a:ext cx="10588752" cy="557784"/>
          </a:xfrm>
          <a:prstGeom prst="rect">
            <a:avLst/>
          </a:prstGeom>
          <a:noFill/>
          <a:ln/>
        </p:spPr>
        <p:txBody>
          <a:bodyPr wrap="square" rtlCol="0" anchor="t"/>
          <a:lstStyle/>
          <a:p>
            <a:pPr indent="0" marL="0">
              <a:buNone/>
            </a:pPr>
            <a:r>
              <a:rPr lang="en-US" sz="1700" dirty="0">
                <a:solidFill>
                  <a:srgbClr val="263238"/>
                </a:solidFill>
                <a:latin typeface="Courier New" pitchFamily="34" charset="0"/>
                <a:ea typeface="Courier New" pitchFamily="34" charset="-122"/>
                <a:cs typeface="Courier New" pitchFamily="34" charset="-120"/>
              </a:rPr>
              <a:t>SELECT titulo FROM libro WHERE detalles_edicion ? 'ebook';</a:t>
            </a:r>
            <a:endParaRPr lang="en-US" sz="1700" dirty="0"/>
          </a:p>
        </p:txBody>
      </p:sp>
      <p:sp>
        <p:nvSpPr>
          <p:cNvPr id="8" name="Shape 6"/>
          <p:cNvSpPr/>
          <p:nvPr/>
        </p:nvSpPr>
        <p:spPr>
          <a:xfrm>
            <a:off x="548640" y="3017520"/>
            <a:ext cx="11091672" cy="1417320"/>
          </a:xfrm>
          <a:prstGeom prst="rect">
            <a:avLst/>
          </a:prstGeom>
          <a:solidFill>
            <a:srgbClr val="ECEFF1"/>
          </a:solidFill>
          <a:ln w="12700">
            <a:solidFill>
              <a:srgbClr val="EEEEEE"/>
            </a:solidFill>
            <a:prstDash val="solid"/>
          </a:ln>
        </p:spPr>
      </p:sp>
      <p:sp>
        <p:nvSpPr>
          <p:cNvPr id="9" name="Shape 7"/>
          <p:cNvSpPr/>
          <p:nvPr/>
        </p:nvSpPr>
        <p:spPr>
          <a:xfrm>
            <a:off x="548640" y="3017520"/>
            <a:ext cx="73152" cy="1417320"/>
          </a:xfrm>
          <a:prstGeom prst="rect">
            <a:avLst/>
          </a:prstGeom>
          <a:solidFill>
            <a:srgbClr val="E64A19"/>
          </a:solidFill>
          <a:ln w="12700">
            <a:solidFill>
              <a:srgbClr val="E64A19"/>
            </a:solidFill>
            <a:prstDash val="solid"/>
          </a:ln>
        </p:spPr>
      </p:sp>
      <p:sp>
        <p:nvSpPr>
          <p:cNvPr id="10" name="Text 8"/>
          <p:cNvSpPr/>
          <p:nvPr/>
        </p:nvSpPr>
        <p:spPr>
          <a:xfrm>
            <a:off x="822960" y="3127248"/>
            <a:ext cx="10588752" cy="1197864"/>
          </a:xfrm>
          <a:prstGeom prst="rect">
            <a:avLst/>
          </a:prstGeom>
          <a:noFill/>
          <a:ln/>
        </p:spPr>
        <p:txBody>
          <a:bodyPr wrap="square" rtlCol="0" anchor="t"/>
          <a:lstStyle/>
          <a:p>
            <a:pPr indent="0" marL="0">
              <a:buNone/>
            </a:pPr>
            <a:r>
              <a:rPr lang="en-US" sz="1600" dirty="0">
                <a:solidFill>
                  <a:srgbClr val="263238"/>
                </a:solidFill>
                <a:latin typeface="Courier New" pitchFamily="34" charset="0"/>
                <a:ea typeface="Courier New" pitchFamily="34" charset="-122"/>
                <a:cs typeface="Courier New" pitchFamily="34" charset="-120"/>
              </a:rPr>
              <a:t>titulo</a:t>
            </a:r>
            <a:endParaRPr lang="en-US" sz="1600" dirty="0"/>
          </a:p>
          <a:p>
            <a:pPr indent="0" marL="0">
              <a:buNone/>
            </a:pPr>
            <a:r>
              <a:rPr lang="en-US" sz="1600" dirty="0">
                <a:solidFill>
                  <a:srgbClr val="263238"/>
                </a:solidFill>
                <a:latin typeface="Courier New" pitchFamily="34" charset="0"/>
                <a:ea typeface="Courier New" pitchFamily="34" charset="-122"/>
                <a:cs typeface="Courier New" pitchFamily="34" charset="-120"/>
              </a:rPr>
              <a:t>------------------------</a:t>
            </a:r>
            <a:endParaRPr lang="en-US" sz="1600" dirty="0"/>
          </a:p>
          <a:p>
            <a:pPr indent="0" marL="0">
              <a:buNone/>
            </a:pPr>
            <a:r>
              <a:rPr lang="en-US" sz="1600" dirty="0">
                <a:solidFill>
                  <a:srgbClr val="263238"/>
                </a:solidFill>
                <a:latin typeface="Courier New" pitchFamily="34" charset="0"/>
                <a:ea typeface="Courier New" pitchFamily="34" charset="-122"/>
                <a:cs typeface="Courier New" pitchFamily="34" charset="-120"/>
              </a:rPr>
              <a:t>Cien años de soledad</a:t>
            </a:r>
            <a:endParaRPr lang="en-US" sz="1600" dirty="0"/>
          </a:p>
          <a:p>
            <a:pPr indent="0" marL="0">
              <a:buNone/>
            </a:pPr>
            <a:r>
              <a:rPr lang="en-US" sz="1600" dirty="0">
                <a:solidFill>
                  <a:srgbClr val="263238"/>
                </a:solidFill>
                <a:latin typeface="Courier New" pitchFamily="34" charset="0"/>
                <a:ea typeface="Courier New" pitchFamily="34" charset="-122"/>
                <a:cs typeface="Courier New" pitchFamily="34" charset="-120"/>
              </a:rPr>
              <a:t>1984</a:t>
            </a:r>
            <a:endParaRPr lang="en-US" sz="1600" dirty="0"/>
          </a:p>
        </p:txBody>
      </p:sp>
      <p:sp>
        <p:nvSpPr>
          <p:cNvPr id="11" name="Text 9"/>
          <p:cNvSpPr/>
          <p:nvPr/>
        </p:nvSpPr>
        <p:spPr>
          <a:xfrm>
            <a:off x="548640" y="4754880"/>
            <a:ext cx="11091672" cy="822960"/>
          </a:xfrm>
          <a:prstGeom prst="rect">
            <a:avLst/>
          </a:prstGeom>
          <a:noFill/>
          <a:ln/>
        </p:spPr>
        <p:txBody>
          <a:bodyPr wrap="square" rtlCol="0" anchor="t"/>
          <a:lstStyle/>
          <a:p>
            <a:pPr indent="0" marL="0">
              <a:buNone/>
            </a:pPr>
            <a:r>
              <a:rPr lang="en-US" sz="1550" dirty="0">
                <a:solidFill>
                  <a:srgbClr val="757575"/>
                </a:solidFill>
                <a:latin typeface="Arial" pitchFamily="34" charset="0"/>
                <a:ea typeface="Arial" pitchFamily="34" charset="-122"/>
                <a:cs typeface="Arial" pitchFamily="34" charset="-120"/>
              </a:rPr>
              <a:t>Esa es la respuesta que tiene que dar la API cuando alguien busque ?formato=ebook — pero nadie escribe SQL a mano contra el endpoint: el cliente manda un parámetro, y el código lo traduce a la misma condición WHERE.</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De la petición HTTP a las dos filas</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2: Consultas sobre columnas JSONB</a:t>
            </a:r>
            <a:endParaRPr lang="en-US" sz="1100" dirty="0"/>
          </a:p>
        </p:txBody>
      </p:sp>
      <p:pic>
        <p:nvPicPr>
          <p:cNvPr id="5" name="Image 0" descr="C:/Users/Aitor/docxgen/img/consultas_flujo.png">    </p:cNvPr>
          <p:cNvPicPr>
            <a:picLocks noChangeAspect="1"/>
          </p:cNvPicPr>
          <p:nvPr/>
        </p:nvPicPr>
        <p:blipFill>
          <a:blip r:embed="rId1"/>
          <a:stretch>
            <a:fillRect/>
          </a:stretch>
        </p:blipFill>
        <p:spPr>
          <a:xfrm>
            <a:off x="836676" y="1417320"/>
            <a:ext cx="10515600" cy="4206240"/>
          </a:xfrm>
          <a:prstGeom prst="rect">
            <a:avLst/>
          </a:prstGeom>
        </p:spPr>
      </p:pic>
      <p:sp>
        <p:nvSpPr>
          <p:cNvPr id="6" name="Text 3"/>
          <p:cNvSpPr/>
          <p:nvPr/>
        </p:nvSpPr>
        <p:spPr>
          <a:xfrm>
            <a:off x="548640" y="5806440"/>
            <a:ext cx="11091672" cy="548640"/>
          </a:xfrm>
          <a:prstGeom prst="rect">
            <a:avLst/>
          </a:prstGeom>
          <a:noFill/>
          <a:ln/>
        </p:spPr>
        <p:txBody>
          <a:bodyPr wrap="square" rtlCol="0" anchor="t"/>
          <a:lstStyle/>
          <a:p>
            <a:pPr algn="ctr" indent="0" marL="0">
              <a:buNone/>
            </a:pPr>
            <a:r>
              <a:rPr lang="en-US" sz="1400" dirty="0">
                <a:solidFill>
                  <a:srgbClr val="757575"/>
                </a:solidFill>
                <a:latin typeface="Arial" pitchFamily="34" charset="0"/>
                <a:ea typeface="Arial" pitchFamily="34" charset="-122"/>
                <a:cs typeface="Arial" pitchFamily="34" charset="-120"/>
              </a:rPr>
              <a:t>El parámetro de consulta, el DTO, la Specification, .and(...) ya son conocidos — la novedad es el tramo Hibernate→PostgreSQL: cómo jsonb_exists(...) llega a formar parte de la consulta generada.</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La Specification, con jsonb_exists</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2: Consultas sobre columnas JSONB</a:t>
            </a:r>
            <a:endParaRPr lang="en-US" sz="1100" dirty="0"/>
          </a:p>
        </p:txBody>
      </p:sp>
      <p:sp>
        <p:nvSpPr>
          <p:cNvPr id="5" name="Shape 3"/>
          <p:cNvSpPr/>
          <p:nvPr/>
        </p:nvSpPr>
        <p:spPr>
          <a:xfrm>
            <a:off x="548640" y="1783080"/>
            <a:ext cx="11091672" cy="3931920"/>
          </a:xfrm>
          <a:prstGeom prst="rect">
            <a:avLst/>
          </a:prstGeom>
          <a:solidFill>
            <a:srgbClr val="ECEFF1"/>
          </a:solidFill>
          <a:ln w="12700">
            <a:solidFill>
              <a:srgbClr val="EEEEEE"/>
            </a:solidFill>
            <a:prstDash val="solid"/>
          </a:ln>
        </p:spPr>
      </p:sp>
      <p:sp>
        <p:nvSpPr>
          <p:cNvPr id="6" name="Shape 4"/>
          <p:cNvSpPr/>
          <p:nvPr/>
        </p:nvSpPr>
        <p:spPr>
          <a:xfrm>
            <a:off x="548640" y="1783080"/>
            <a:ext cx="73152" cy="3931920"/>
          </a:xfrm>
          <a:prstGeom prst="rect">
            <a:avLst/>
          </a:prstGeom>
          <a:solidFill>
            <a:srgbClr val="E64A19"/>
          </a:solidFill>
          <a:ln w="12700">
            <a:solidFill>
              <a:srgbClr val="E64A19"/>
            </a:solidFill>
            <a:prstDash val="solid"/>
          </a:ln>
        </p:spPr>
      </p:sp>
      <p:sp>
        <p:nvSpPr>
          <p:cNvPr id="7" name="Text 5"/>
          <p:cNvSpPr/>
          <p:nvPr/>
        </p:nvSpPr>
        <p:spPr>
          <a:xfrm>
            <a:off x="822960" y="1892808"/>
            <a:ext cx="10588752" cy="3712464"/>
          </a:xfrm>
          <a:prstGeom prst="rect">
            <a:avLst/>
          </a:prstGeom>
          <a:noFill/>
          <a:ln/>
        </p:spPr>
        <p:txBody>
          <a:bodyPr wrap="square" rtlCol="0" anchor="t"/>
          <a:lstStyle/>
          <a:p>
            <a:pPr indent="0" marL="0">
              <a:buNone/>
            </a:pPr>
            <a:r>
              <a:rPr lang="en-US" sz="1350" dirty="0">
                <a:solidFill>
                  <a:srgbClr val="263238"/>
                </a:solidFill>
                <a:latin typeface="Courier New" pitchFamily="34" charset="0"/>
                <a:ea typeface="Courier New" pitchFamily="34" charset="-122"/>
                <a:cs typeface="Courier New" pitchFamily="34" charset="-120"/>
              </a:rPr>
              <a:t>public static Specification&lt;Libro&gt; disponibleEnFormato(String formato) {</a:t>
            </a:r>
            <a:endParaRPr lang="en-US" sz="1350" dirty="0"/>
          </a:p>
          <a:p>
            <a:pPr indent="0" marL="0">
              <a:buNone/>
            </a:pPr>
            <a:r>
              <a:rPr lang="en-US" sz="1350" dirty="0">
                <a:solidFill>
                  <a:srgbClr val="263238"/>
                </a:solidFill>
                <a:latin typeface="Courier New" pitchFamily="34" charset="0"/>
                <a:ea typeface="Courier New" pitchFamily="34" charset="-122"/>
                <a:cs typeface="Courier New" pitchFamily="34" charset="-120"/>
              </a:rPr>
              <a:t>    if (formato == null || formato.isBlank()) {</a:t>
            </a:r>
            <a:endParaRPr lang="en-US" sz="1350" dirty="0"/>
          </a:p>
          <a:p>
            <a:pPr indent="0" marL="0">
              <a:buNone/>
            </a:pPr>
            <a:r>
              <a:rPr lang="en-US" sz="1350" dirty="0">
                <a:solidFill>
                  <a:srgbClr val="263238"/>
                </a:solidFill>
                <a:latin typeface="Courier New" pitchFamily="34" charset="0"/>
                <a:ea typeface="Courier New" pitchFamily="34" charset="-122"/>
                <a:cs typeface="Courier New" pitchFamily="34" charset="-120"/>
              </a:rPr>
              <a:t>        return Specification.unrestricted();</a:t>
            </a:r>
            <a:endParaRPr lang="en-US" sz="1350" dirty="0"/>
          </a:p>
          <a:p>
            <a:pPr indent="0" marL="0">
              <a:buNone/>
            </a:pPr>
            <a:r>
              <a:rPr lang="en-US" sz="1350" dirty="0">
                <a:solidFill>
                  <a:srgbClr val="263238"/>
                </a:solidFill>
                <a:latin typeface="Courier New" pitchFamily="34" charset="0"/>
                <a:ea typeface="Courier New" pitchFamily="34" charset="-122"/>
                <a:cs typeface="Courier New" pitchFamily="34" charset="-120"/>
              </a:rPr>
              <a:t>    }</a:t>
            </a:r>
            <a:endParaRPr lang="en-US" sz="1350" dirty="0"/>
          </a:p>
          <a:p>
            <a:pPr indent="0" marL="0">
              <a:buNone/>
            </a:pPr>
            <a:endParaRPr lang="en-US" sz="1350" dirty="0"/>
          </a:p>
          <a:p>
            <a:pPr indent="0" marL="0">
              <a:buNone/>
            </a:pPr>
            <a:r>
              <a:rPr lang="en-US" sz="1350" dirty="0">
                <a:solidFill>
                  <a:srgbClr val="263238"/>
                </a:solidFill>
                <a:latin typeface="Courier New" pitchFamily="34" charset="0"/>
                <a:ea typeface="Courier New" pitchFamily="34" charset="-122"/>
                <a:cs typeface="Courier New" pitchFamily="34" charset="-120"/>
              </a:rPr>
              <a:t>    return (root, query, criteriaBuilder) -&gt;</a:t>
            </a:r>
            <a:endParaRPr lang="en-US" sz="1350" dirty="0"/>
          </a:p>
          <a:p>
            <a:pPr indent="0" marL="0">
              <a:buNone/>
            </a:pPr>
            <a:r>
              <a:rPr lang="en-US" sz="1350" dirty="0">
                <a:solidFill>
                  <a:srgbClr val="263238"/>
                </a:solidFill>
                <a:latin typeface="Courier New" pitchFamily="34" charset="0"/>
                <a:ea typeface="Courier New" pitchFamily="34" charset="-122"/>
                <a:cs typeface="Courier New" pitchFamily="34" charset="-120"/>
              </a:rPr>
              <a:t>            criteriaBuilder.isTrue(</a:t>
            </a:r>
            <a:endParaRPr lang="en-US" sz="1350" dirty="0"/>
          </a:p>
          <a:p>
            <a:pPr indent="0" marL="0">
              <a:buNone/>
            </a:pPr>
            <a:r>
              <a:rPr lang="en-US" sz="1350" dirty="0">
                <a:solidFill>
                  <a:srgbClr val="263238"/>
                </a:solidFill>
                <a:latin typeface="Courier New" pitchFamily="34" charset="0"/>
                <a:ea typeface="Courier New" pitchFamily="34" charset="-122"/>
                <a:cs typeface="Courier New" pitchFamily="34" charset="-120"/>
              </a:rPr>
              <a:t>                    criteriaBuilder.function(</a:t>
            </a:r>
            <a:endParaRPr lang="en-US" sz="1350" dirty="0"/>
          </a:p>
          <a:p>
            <a:pPr indent="0" marL="0">
              <a:buNone/>
            </a:pPr>
            <a:r>
              <a:rPr lang="en-US" sz="1350" dirty="0">
                <a:solidFill>
                  <a:srgbClr val="263238"/>
                </a:solidFill>
                <a:latin typeface="Courier New" pitchFamily="34" charset="0"/>
                <a:ea typeface="Courier New" pitchFamily="34" charset="-122"/>
                <a:cs typeface="Courier New" pitchFamily="34" charset="-120"/>
              </a:rPr>
              <a:t>                            "jsonb_exists",</a:t>
            </a:r>
            <a:endParaRPr lang="en-US" sz="1350" dirty="0"/>
          </a:p>
          <a:p>
            <a:pPr indent="0" marL="0">
              <a:buNone/>
            </a:pPr>
            <a:r>
              <a:rPr lang="en-US" sz="1350" dirty="0">
                <a:solidFill>
                  <a:srgbClr val="263238"/>
                </a:solidFill>
                <a:latin typeface="Courier New" pitchFamily="34" charset="0"/>
                <a:ea typeface="Courier New" pitchFamily="34" charset="-122"/>
                <a:cs typeface="Courier New" pitchFamily="34" charset="-120"/>
              </a:rPr>
              <a:t>                            Boolean.class,</a:t>
            </a:r>
            <a:endParaRPr lang="en-US" sz="1350" dirty="0"/>
          </a:p>
          <a:p>
            <a:pPr indent="0" marL="0">
              <a:buNone/>
            </a:pPr>
            <a:r>
              <a:rPr lang="en-US" sz="1350" dirty="0">
                <a:solidFill>
                  <a:srgbClr val="263238"/>
                </a:solidFill>
                <a:latin typeface="Courier New" pitchFamily="34" charset="0"/>
                <a:ea typeface="Courier New" pitchFamily="34" charset="-122"/>
                <a:cs typeface="Courier New" pitchFamily="34" charset="-120"/>
              </a:rPr>
              <a:t>                            root.get("detallesEdicion"),</a:t>
            </a:r>
            <a:endParaRPr lang="en-US" sz="1350" dirty="0"/>
          </a:p>
          <a:p>
            <a:pPr indent="0" marL="0">
              <a:buNone/>
            </a:pPr>
            <a:r>
              <a:rPr lang="en-US" sz="1350" dirty="0">
                <a:solidFill>
                  <a:srgbClr val="263238"/>
                </a:solidFill>
                <a:latin typeface="Courier New" pitchFamily="34" charset="0"/>
                <a:ea typeface="Courier New" pitchFamily="34" charset="-122"/>
                <a:cs typeface="Courier New" pitchFamily="34" charset="-120"/>
              </a:rPr>
              <a:t>                            criteriaBuilder.literal(formato)</a:t>
            </a:r>
            <a:endParaRPr lang="en-US" sz="1350" dirty="0"/>
          </a:p>
          <a:p>
            <a:pPr indent="0" marL="0">
              <a:buNone/>
            </a:pPr>
            <a:r>
              <a:rPr lang="en-US" sz="1350" dirty="0">
                <a:solidFill>
                  <a:srgbClr val="263238"/>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263238"/>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263238"/>
                </a:solidFill>
                <a:latin typeface="Courier New" pitchFamily="34" charset="0"/>
                <a:ea typeface="Courier New" pitchFamily="34" charset="-122"/>
                <a:cs typeface="Courier New" pitchFamily="34" charset="-120"/>
              </a:rPr>
              <a:t>}</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Por qué criteriaBuilder.function(...)</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2: Consultas sobre columnas JSONB</a:t>
            </a:r>
            <a:endParaRPr lang="en-US" sz="1100" dirty="0"/>
          </a:p>
        </p:txBody>
      </p:sp>
      <p:sp>
        <p:nvSpPr>
          <p:cNvPr id="5" name="Text 3"/>
          <p:cNvSpPr/>
          <p:nvPr/>
        </p:nvSpPr>
        <p:spPr>
          <a:xfrm>
            <a:off x="548640" y="2148840"/>
            <a:ext cx="11091672" cy="1005840"/>
          </a:xfrm>
          <a:prstGeom prst="rect">
            <a:avLst/>
          </a:prstGeom>
          <a:noFill/>
          <a:ln/>
        </p:spPr>
        <p:txBody>
          <a:bodyPr wrap="square" rtlCol="0" anchor="t"/>
          <a:lstStyle/>
          <a:p>
            <a:pPr indent="0" marL="0">
              <a:buNone/>
            </a:pPr>
            <a:r>
              <a:rPr lang="en-US" sz="1900" dirty="0">
                <a:solidFill>
                  <a:srgbClr val="212121"/>
                </a:solidFill>
                <a:latin typeface="Arial" pitchFamily="34" charset="0"/>
                <a:ea typeface="Arial" pitchFamily="34" charset="-122"/>
                <a:cs typeface="Arial" pitchFamily="34" charset="-120"/>
              </a:rPr>
              <a:t>Compárala con las Specifications "normales" del Tema 1 (tituloContiene, precioMayorOIgualA), que usan métodos directos de criteriaBuilder como like o greaterThanOrEqualTo — funcionan porque operan sobre una columna con tipo simple propio.</a:t>
            </a:r>
            <a:endParaRPr lang="en-US" sz="1900" dirty="0"/>
          </a:p>
        </p:txBody>
      </p:sp>
      <p:sp>
        <p:nvSpPr>
          <p:cNvPr id="6" name="Shape 4"/>
          <p:cNvSpPr/>
          <p:nvPr/>
        </p:nvSpPr>
        <p:spPr>
          <a:xfrm>
            <a:off x="548640" y="3474720"/>
            <a:ext cx="11091672" cy="1920240"/>
          </a:xfrm>
          <a:prstGeom prst="roundRect">
            <a:avLst/>
          </a:prstGeom>
          <a:solidFill>
            <a:srgbClr val="FBE9E7"/>
          </a:solidFill>
          <a:ln w="19050">
            <a:solidFill>
              <a:srgbClr val="E64A19"/>
            </a:solidFill>
            <a:prstDash val="solid"/>
          </a:ln>
        </p:spPr>
      </p:sp>
      <p:sp>
        <p:nvSpPr>
          <p:cNvPr id="7" name="Text 5"/>
          <p:cNvSpPr/>
          <p:nvPr/>
        </p:nvSpPr>
        <p:spPr>
          <a:xfrm>
            <a:off x="822960" y="3566160"/>
            <a:ext cx="10543032" cy="1737360"/>
          </a:xfrm>
          <a:prstGeom prst="rect">
            <a:avLst/>
          </a:prstGeom>
          <a:noFill/>
          <a:ln/>
        </p:spPr>
        <p:txBody>
          <a:bodyPr wrap="square" rtlCol="0" anchor="ctr"/>
          <a:lstStyle/>
          <a:p>
            <a:pPr indent="0" marL="0">
              <a:buNone/>
            </a:pPr>
            <a:r>
              <a:rPr lang="en-US" sz="1800" dirty="0">
                <a:solidFill>
                  <a:srgbClr val="212121"/>
                </a:solidFill>
                <a:latin typeface="Arial" pitchFamily="34" charset="0"/>
                <a:ea typeface="Arial" pitchFamily="34" charset="-122"/>
                <a:cs typeface="Arial" pitchFamily="34" charset="-120"/>
              </a:rPr>
              <a:t>Criteria API es la API de JPA para construir consultas con objetos Java (CriteriaBuilder, Root, Predicate...). Pero no existe un método directo para "existe esta clave en este JSON", porque es una función específica del motor (PostgreSQL), no parte del estándar JPA — por eso hace falta criteriaBuilder.function(...): nombre de la función, tipo de retorno esperado, y sus argumentos.</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Combinada con el resto, de forma transparente</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2: Consultas sobre columnas JSONB</a:t>
            </a:r>
            <a:endParaRPr lang="en-US" sz="1100" dirty="0"/>
          </a:p>
        </p:txBody>
      </p:sp>
      <p:sp>
        <p:nvSpPr>
          <p:cNvPr id="5" name="Shape 3"/>
          <p:cNvSpPr/>
          <p:nvPr/>
        </p:nvSpPr>
        <p:spPr>
          <a:xfrm>
            <a:off x="548640" y="2221992"/>
            <a:ext cx="11091672" cy="1691640"/>
          </a:xfrm>
          <a:prstGeom prst="rect">
            <a:avLst/>
          </a:prstGeom>
          <a:solidFill>
            <a:srgbClr val="ECEFF1"/>
          </a:solidFill>
          <a:ln w="12700">
            <a:solidFill>
              <a:srgbClr val="EEEEEE"/>
            </a:solidFill>
            <a:prstDash val="solid"/>
          </a:ln>
        </p:spPr>
      </p:sp>
      <p:sp>
        <p:nvSpPr>
          <p:cNvPr id="6" name="Shape 4"/>
          <p:cNvSpPr/>
          <p:nvPr/>
        </p:nvSpPr>
        <p:spPr>
          <a:xfrm>
            <a:off x="548640" y="2221992"/>
            <a:ext cx="73152" cy="1691640"/>
          </a:xfrm>
          <a:prstGeom prst="rect">
            <a:avLst/>
          </a:prstGeom>
          <a:solidFill>
            <a:srgbClr val="E64A19"/>
          </a:solidFill>
          <a:ln w="12700">
            <a:solidFill>
              <a:srgbClr val="E64A19"/>
            </a:solidFill>
            <a:prstDash val="solid"/>
          </a:ln>
        </p:spPr>
      </p:sp>
      <p:sp>
        <p:nvSpPr>
          <p:cNvPr id="7" name="Text 5"/>
          <p:cNvSpPr/>
          <p:nvPr/>
        </p:nvSpPr>
        <p:spPr>
          <a:xfrm>
            <a:off x="822960" y="2331720"/>
            <a:ext cx="10588752" cy="1472184"/>
          </a:xfrm>
          <a:prstGeom prst="rect">
            <a:avLst/>
          </a:prstGeom>
          <a:noFill/>
          <a:ln/>
        </p:spPr>
        <p:txBody>
          <a:bodyPr wrap="square" rtlCol="0" anchor="t"/>
          <a:lstStyle/>
          <a:p>
            <a:pPr indent="0" marL="0">
              <a:buNone/>
            </a:pPr>
            <a:r>
              <a:rPr lang="en-US" sz="1550" dirty="0">
                <a:solidFill>
                  <a:srgbClr val="263238"/>
                </a:solidFill>
                <a:latin typeface="Courier New" pitchFamily="34" charset="0"/>
                <a:ea typeface="Courier New" pitchFamily="34" charset="-122"/>
                <a:cs typeface="Courier New" pitchFamily="34" charset="-120"/>
              </a:rPr>
              <a:t>Specification&lt;Libro&gt; spec = Specification</a:t>
            </a:r>
            <a:endParaRPr lang="en-US" sz="1550" dirty="0"/>
          </a:p>
          <a:p>
            <a:pPr indent="0" marL="0">
              <a:buNone/>
            </a:pPr>
            <a:r>
              <a:rPr lang="en-US" sz="1550" dirty="0">
                <a:solidFill>
                  <a:srgbClr val="263238"/>
                </a:solidFill>
                <a:latin typeface="Courier New" pitchFamily="34" charset="0"/>
                <a:ea typeface="Courier New" pitchFamily="34" charset="-122"/>
                <a:cs typeface="Courier New" pitchFamily="34" charset="-120"/>
              </a:rPr>
              <a:t>        .where(LibroSpecifications.tituloContiene(filtro.titulo()))</a:t>
            </a:r>
            <a:endParaRPr lang="en-US" sz="1550" dirty="0"/>
          </a:p>
          <a:p>
            <a:pPr indent="0" marL="0">
              <a:buNone/>
            </a:pPr>
            <a:r>
              <a:rPr lang="en-US" sz="1550" dirty="0">
                <a:solidFill>
                  <a:srgbClr val="263238"/>
                </a:solidFill>
                <a:latin typeface="Courier New" pitchFamily="34" charset="0"/>
                <a:ea typeface="Courier New" pitchFamily="34" charset="-122"/>
                <a:cs typeface="Courier New" pitchFamily="34" charset="-120"/>
              </a:rPr>
              <a:t>        .and(LibroSpecifications.precioMayorOIgualA(filtro.precioMin()))</a:t>
            </a:r>
            <a:endParaRPr lang="en-US" sz="1550" dirty="0"/>
          </a:p>
          <a:p>
            <a:pPr indent="0" marL="0">
              <a:buNone/>
            </a:pPr>
            <a:r>
              <a:rPr lang="en-US" sz="1550" dirty="0">
                <a:solidFill>
                  <a:srgbClr val="263238"/>
                </a:solidFill>
                <a:latin typeface="Courier New" pitchFamily="34" charset="0"/>
                <a:ea typeface="Courier New" pitchFamily="34" charset="-122"/>
                <a:cs typeface="Courier New" pitchFamily="34" charset="-120"/>
              </a:rPr>
              <a:t>        .and(LibroSpecifications.disponibleEnFormato(filtro.formato()));</a:t>
            </a:r>
            <a:endParaRPr lang="en-US" sz="1550" dirty="0"/>
          </a:p>
        </p:txBody>
      </p:sp>
      <p:sp>
        <p:nvSpPr>
          <p:cNvPr id="8" name="Text 6"/>
          <p:cNvSpPr/>
          <p:nvPr/>
        </p:nvSpPr>
        <p:spPr>
          <a:xfrm>
            <a:off x="548640" y="4279392"/>
            <a:ext cx="11091672" cy="1005840"/>
          </a:xfrm>
          <a:prstGeom prst="rect">
            <a:avLst/>
          </a:prstGeom>
          <a:noFill/>
          <a:ln/>
        </p:spPr>
        <p:txBody>
          <a:bodyPr wrap="square" rtlCol="0" anchor="t"/>
          <a:lstStyle/>
          <a:p>
            <a:pPr indent="0" marL="0">
              <a:buNone/>
            </a:pPr>
            <a:r>
              <a:rPr lang="en-US" sz="1750" dirty="0">
                <a:solidFill>
                  <a:srgbClr val="757575"/>
                </a:solidFill>
                <a:latin typeface="Arial" pitchFamily="34" charset="0"/>
                <a:ea typeface="Arial" pitchFamily="34" charset="-122"/>
                <a:cs typeface="Arial" pitchFamily="34" charset="-120"/>
              </a:rPr>
              <a:t>Filtrar por JSONB o por una columna relacional corriente es exactamente lo mismo desde fuera — una Specification más, encadenada con .and(...). Toda la complejidad queda encapsulada dentro de disponibleEnFormato.</a:t>
            </a: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Y si la clave está más adentro</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2: Consultas sobre columnas JSONB</a:t>
            </a:r>
            <a:endParaRPr lang="en-US" sz="1100" dirty="0"/>
          </a:p>
        </p:txBody>
      </p:sp>
      <p:sp>
        <p:nvSpPr>
          <p:cNvPr id="5" name="Text 3"/>
          <p:cNvSpPr/>
          <p:nvPr/>
        </p:nvSpPr>
        <p:spPr>
          <a:xfrm>
            <a:off x="548640" y="1764792"/>
            <a:ext cx="11091672" cy="777240"/>
          </a:xfrm>
          <a:prstGeom prst="rect">
            <a:avLst/>
          </a:prstGeom>
          <a:noFill/>
          <a:ln/>
        </p:spPr>
        <p:txBody>
          <a:bodyPr wrap="square" rtlCol="0" anchor="t"/>
          <a:lstStyle/>
          <a:p>
            <a:pPr indent="0" marL="0">
              <a:buNone/>
            </a:pPr>
            <a:r>
              <a:rPr lang="en-US" sz="1650" dirty="0">
                <a:solidFill>
                  <a:srgbClr val="212121"/>
                </a:solidFill>
                <a:latin typeface="Arial" pitchFamily="34" charset="0"/>
                <a:ea typeface="Arial" pitchFamily="34" charset="-122"/>
                <a:cs typeface="Arial" pitchFamily="34" charset="-120"/>
              </a:rPr>
              <a:t>jsonb_exists/? solo comprueban si una clave de primer nivel existe. "¿Tiene ebook?" no es lo mismo que "¿el ebook está en formato mobi?": para esa pregunta más concreta hace falta bajar un nivel:</a:t>
            </a:r>
            <a:endParaRPr lang="en-US" sz="1650" dirty="0"/>
          </a:p>
        </p:txBody>
      </p:sp>
      <p:sp>
        <p:nvSpPr>
          <p:cNvPr id="6" name="Shape 4"/>
          <p:cNvSpPr/>
          <p:nvPr/>
        </p:nvSpPr>
        <p:spPr>
          <a:xfrm>
            <a:off x="548640" y="2724912"/>
            <a:ext cx="11091672" cy="2194560"/>
          </a:xfrm>
          <a:prstGeom prst="rect">
            <a:avLst/>
          </a:prstGeom>
          <a:solidFill>
            <a:srgbClr val="ECEFF1"/>
          </a:solidFill>
          <a:ln w="12700">
            <a:solidFill>
              <a:srgbClr val="EEEEEE"/>
            </a:solidFill>
            <a:prstDash val="solid"/>
          </a:ln>
        </p:spPr>
      </p:sp>
      <p:sp>
        <p:nvSpPr>
          <p:cNvPr id="7" name="Shape 5"/>
          <p:cNvSpPr/>
          <p:nvPr/>
        </p:nvSpPr>
        <p:spPr>
          <a:xfrm>
            <a:off x="548640" y="2724912"/>
            <a:ext cx="73152" cy="2194560"/>
          </a:xfrm>
          <a:prstGeom prst="rect">
            <a:avLst/>
          </a:prstGeom>
          <a:solidFill>
            <a:srgbClr val="E64A19"/>
          </a:solidFill>
          <a:ln w="12700">
            <a:solidFill>
              <a:srgbClr val="E64A19"/>
            </a:solidFill>
            <a:prstDash val="solid"/>
          </a:ln>
        </p:spPr>
      </p:sp>
      <p:sp>
        <p:nvSpPr>
          <p:cNvPr id="8" name="Text 6"/>
          <p:cNvSpPr/>
          <p:nvPr/>
        </p:nvSpPr>
        <p:spPr>
          <a:xfrm>
            <a:off x="822960" y="2834640"/>
            <a:ext cx="10588752" cy="1975104"/>
          </a:xfrm>
          <a:prstGeom prst="rect">
            <a:avLst/>
          </a:prstGeom>
          <a:noFill/>
          <a:ln/>
        </p:spPr>
        <p:txBody>
          <a:bodyPr wrap="square" rtlCol="0" anchor="t"/>
          <a:lstStyle/>
          <a:p>
            <a:pPr indent="0" marL="0">
              <a:buNone/>
            </a:pPr>
            <a:r>
              <a:rPr lang="en-US" sz="1400" dirty="0">
                <a:solidFill>
                  <a:srgbClr val="263238"/>
                </a:solidFill>
                <a:latin typeface="Courier New" pitchFamily="34" charset="0"/>
                <a:ea typeface="Courier New" pitchFamily="34" charset="-122"/>
                <a:cs typeface="Courier New" pitchFamily="34" charset="-120"/>
              </a:rPr>
              <a:t>-- Encadenando -&gt; hasta el último nivel, y -&gt;&gt; para el valor final</a:t>
            </a: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SELECT titulo FROM libro</a:t>
            </a: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WHERE detalles_edicion -&gt; 'ebook' -&gt;&gt; 'formato' = 'mobi';</a:t>
            </a:r>
            <a:endParaRPr lang="en-US" sz="1400" dirty="0"/>
          </a:p>
          <a:p>
            <a:pPr indent="0" marL="0">
              <a:buNone/>
            </a:pP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 Equivalente con el operador de ruta #&gt;&gt;</a:t>
            </a: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SELECT titulo FROM libro</a:t>
            </a: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WHERE detalles_edicion #&gt;&gt; '{ebook,formato}' = 'mobi';</a:t>
            </a:r>
            <a:endParaRPr lang="en-US" sz="1400" dirty="0"/>
          </a:p>
        </p:txBody>
      </p:sp>
      <p:sp>
        <p:nvSpPr>
          <p:cNvPr id="9" name="Text 7"/>
          <p:cNvSpPr/>
          <p:nvPr/>
        </p:nvSpPr>
        <p:spPr>
          <a:xfrm>
            <a:off x="548640" y="5148072"/>
            <a:ext cx="11091672" cy="594360"/>
          </a:xfrm>
          <a:prstGeom prst="rect">
            <a:avLst/>
          </a:prstGeom>
          <a:noFill/>
          <a:ln/>
        </p:spPr>
        <p:txBody>
          <a:bodyPr wrap="square" rtlCol="0" anchor="t"/>
          <a:lstStyle/>
          <a:p>
            <a:pPr indent="0" marL="0">
              <a:buNone/>
            </a:pPr>
            <a:r>
              <a:rPr lang="en-US" sz="1450" dirty="0">
                <a:solidFill>
                  <a:srgbClr val="757575"/>
                </a:solidFill>
                <a:latin typeface="Arial" pitchFamily="34" charset="0"/>
                <a:ea typeface="Arial" pitchFamily="34" charset="-122"/>
                <a:cs typeface="Arial" pitchFamily="34" charset="-120"/>
              </a:rPr>
              <a:t>El resultado ahora es solo 1984 — jsonb_exists(..., 'ebook') no distinguiría entre los dos libros, porque nunca mira el valor de la clave, solo si está presente.</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Desde Criteria API: jsonb_extract_path_text</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2: Consultas sobre columnas JSONB</a:t>
            </a:r>
            <a:endParaRPr lang="en-US" sz="1100" dirty="0"/>
          </a:p>
        </p:txBody>
      </p:sp>
      <p:sp>
        <p:nvSpPr>
          <p:cNvPr id="5" name="Shape 3"/>
          <p:cNvSpPr/>
          <p:nvPr/>
        </p:nvSpPr>
        <p:spPr>
          <a:xfrm>
            <a:off x="548640" y="1856232"/>
            <a:ext cx="11091672" cy="2834640"/>
          </a:xfrm>
          <a:prstGeom prst="rect">
            <a:avLst/>
          </a:prstGeom>
          <a:solidFill>
            <a:srgbClr val="ECEFF1"/>
          </a:solidFill>
          <a:ln w="12700">
            <a:solidFill>
              <a:srgbClr val="EEEEEE"/>
            </a:solidFill>
            <a:prstDash val="solid"/>
          </a:ln>
        </p:spPr>
      </p:sp>
      <p:sp>
        <p:nvSpPr>
          <p:cNvPr id="6" name="Shape 4"/>
          <p:cNvSpPr/>
          <p:nvPr/>
        </p:nvSpPr>
        <p:spPr>
          <a:xfrm>
            <a:off x="548640" y="1856232"/>
            <a:ext cx="73152" cy="2834640"/>
          </a:xfrm>
          <a:prstGeom prst="rect">
            <a:avLst/>
          </a:prstGeom>
          <a:solidFill>
            <a:srgbClr val="E64A19"/>
          </a:solidFill>
          <a:ln w="12700">
            <a:solidFill>
              <a:srgbClr val="E64A19"/>
            </a:solidFill>
            <a:prstDash val="solid"/>
          </a:ln>
        </p:spPr>
      </p:sp>
      <p:sp>
        <p:nvSpPr>
          <p:cNvPr id="7" name="Text 5"/>
          <p:cNvSpPr/>
          <p:nvPr/>
        </p:nvSpPr>
        <p:spPr>
          <a:xfrm>
            <a:off x="822960" y="1965960"/>
            <a:ext cx="10588752" cy="2615184"/>
          </a:xfrm>
          <a:prstGeom prst="rect">
            <a:avLst/>
          </a:prstGeom>
          <a:noFill/>
          <a:ln/>
        </p:spPr>
        <p:txBody>
          <a:bodyPr wrap="square" rtlCol="0" anchor="t"/>
          <a:lstStyle/>
          <a:p>
            <a:pPr indent="0" marL="0">
              <a:buNone/>
            </a:pPr>
            <a:r>
              <a:rPr lang="en-US" sz="1500" dirty="0">
                <a:solidFill>
                  <a:srgbClr val="263238"/>
                </a:solidFill>
                <a:latin typeface="Courier New" pitchFamily="34" charset="0"/>
                <a:ea typeface="Courier New" pitchFamily="34" charset="-122"/>
                <a:cs typeface="Courier New" pitchFamily="34" charset="-120"/>
              </a:rPr>
              <a:t>criteriaBuilder.equal(</a:t>
            </a:r>
            <a:endParaRPr lang="en-US" sz="1500" dirty="0"/>
          </a:p>
          <a:p>
            <a:pPr indent="0" marL="0">
              <a:buNone/>
            </a:pPr>
            <a:r>
              <a:rPr lang="en-US" sz="1500" dirty="0">
                <a:solidFill>
                  <a:srgbClr val="263238"/>
                </a:solidFill>
                <a:latin typeface="Courier New" pitchFamily="34" charset="0"/>
                <a:ea typeface="Courier New" pitchFamily="34" charset="-122"/>
                <a:cs typeface="Courier New" pitchFamily="34" charset="-120"/>
              </a:rPr>
              <a:t>        criteriaBuilder.function(</a:t>
            </a:r>
            <a:endParaRPr lang="en-US" sz="1500" dirty="0"/>
          </a:p>
          <a:p>
            <a:pPr indent="0" marL="0">
              <a:buNone/>
            </a:pPr>
            <a:r>
              <a:rPr lang="en-US" sz="1500" dirty="0">
                <a:solidFill>
                  <a:srgbClr val="263238"/>
                </a:solidFill>
                <a:latin typeface="Courier New" pitchFamily="34" charset="0"/>
                <a:ea typeface="Courier New" pitchFamily="34" charset="-122"/>
                <a:cs typeface="Courier New" pitchFamily="34" charset="-120"/>
              </a:rPr>
              <a:t>                "jsonb_extract_path_text",</a:t>
            </a:r>
            <a:endParaRPr lang="en-US" sz="1500" dirty="0"/>
          </a:p>
          <a:p>
            <a:pPr indent="0" marL="0">
              <a:buNone/>
            </a:pPr>
            <a:r>
              <a:rPr lang="en-US" sz="1500" dirty="0">
                <a:solidFill>
                  <a:srgbClr val="263238"/>
                </a:solidFill>
                <a:latin typeface="Courier New" pitchFamily="34" charset="0"/>
                <a:ea typeface="Courier New" pitchFamily="34" charset="-122"/>
                <a:cs typeface="Courier New" pitchFamily="34" charset="-120"/>
              </a:rPr>
              <a:t>                String.class,</a:t>
            </a:r>
            <a:endParaRPr lang="en-US" sz="1500" dirty="0"/>
          </a:p>
          <a:p>
            <a:pPr indent="0" marL="0">
              <a:buNone/>
            </a:pPr>
            <a:r>
              <a:rPr lang="en-US" sz="1500" dirty="0">
                <a:solidFill>
                  <a:srgbClr val="263238"/>
                </a:solidFill>
                <a:latin typeface="Courier New" pitchFamily="34" charset="0"/>
                <a:ea typeface="Courier New" pitchFamily="34" charset="-122"/>
                <a:cs typeface="Courier New" pitchFamily="34" charset="-120"/>
              </a:rPr>
              <a:t>                root.get("detallesEdicion"),</a:t>
            </a:r>
            <a:endParaRPr lang="en-US" sz="1500" dirty="0"/>
          </a:p>
          <a:p>
            <a:pPr indent="0" marL="0">
              <a:buNone/>
            </a:pPr>
            <a:r>
              <a:rPr lang="en-US" sz="1500" dirty="0">
                <a:solidFill>
                  <a:srgbClr val="263238"/>
                </a:solidFill>
                <a:latin typeface="Courier New" pitchFamily="34" charset="0"/>
                <a:ea typeface="Courier New" pitchFamily="34" charset="-122"/>
                <a:cs typeface="Courier New" pitchFamily="34" charset="-120"/>
              </a:rPr>
              <a:t>                criteriaBuilder.literal("ebook"),</a:t>
            </a:r>
            <a:endParaRPr lang="en-US" sz="1500" dirty="0"/>
          </a:p>
          <a:p>
            <a:pPr indent="0" marL="0">
              <a:buNone/>
            </a:pPr>
            <a:r>
              <a:rPr lang="en-US" sz="1500" dirty="0">
                <a:solidFill>
                  <a:srgbClr val="263238"/>
                </a:solidFill>
                <a:latin typeface="Courier New" pitchFamily="34" charset="0"/>
                <a:ea typeface="Courier New" pitchFamily="34" charset="-122"/>
                <a:cs typeface="Courier New" pitchFamily="34" charset="-120"/>
              </a:rPr>
              <a:t>                criteriaBuilder.literal("formato")</a:t>
            </a:r>
            <a:endParaRPr lang="en-US" sz="1500" dirty="0"/>
          </a:p>
          <a:p>
            <a:pPr indent="0" marL="0">
              <a:buNone/>
            </a:pPr>
            <a:r>
              <a:rPr lang="en-US" sz="1500" dirty="0">
                <a:solidFill>
                  <a:srgbClr val="263238"/>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263238"/>
                </a:solidFill>
                <a:latin typeface="Courier New" pitchFamily="34" charset="0"/>
                <a:ea typeface="Courier New" pitchFamily="34" charset="-122"/>
                <a:cs typeface="Courier New" pitchFamily="34" charset="-120"/>
              </a:rPr>
              <a:t>        "mobi"</a:t>
            </a:r>
            <a:endParaRPr lang="en-US" sz="1500" dirty="0"/>
          </a:p>
          <a:p>
            <a:pPr indent="0" marL="0">
              <a:buNone/>
            </a:pPr>
            <a:r>
              <a:rPr lang="en-US" sz="1500" dirty="0">
                <a:solidFill>
                  <a:srgbClr val="263238"/>
                </a:solidFill>
                <a:latin typeface="Courier New" pitchFamily="34" charset="0"/>
                <a:ea typeface="Courier New" pitchFamily="34" charset="-122"/>
                <a:cs typeface="Courier New" pitchFamily="34" charset="-120"/>
              </a:rPr>
              <a:t>);</a:t>
            </a:r>
            <a:endParaRPr lang="en-US" sz="1500" dirty="0"/>
          </a:p>
        </p:txBody>
      </p:sp>
      <p:sp>
        <p:nvSpPr>
          <p:cNvPr id="8" name="Text 6"/>
          <p:cNvSpPr/>
          <p:nvPr/>
        </p:nvSpPr>
        <p:spPr>
          <a:xfrm>
            <a:off x="548640" y="4965192"/>
            <a:ext cx="11091672" cy="685800"/>
          </a:xfrm>
          <a:prstGeom prst="rect">
            <a:avLst/>
          </a:prstGeom>
          <a:noFill/>
          <a:ln/>
        </p:spPr>
        <p:txBody>
          <a:bodyPr wrap="square" rtlCol="0" anchor="t"/>
          <a:lstStyle/>
          <a:p>
            <a:pPr indent="0" marL="0">
              <a:buNone/>
            </a:pPr>
            <a:r>
              <a:rPr lang="en-US" sz="1550" dirty="0">
                <a:solidFill>
                  <a:srgbClr val="757575"/>
                </a:solidFill>
                <a:latin typeface="Arial" pitchFamily="34" charset="0"/>
                <a:ea typeface="Arial" pitchFamily="34" charset="-122"/>
                <a:cs typeface="Arial" pitchFamily="34" charset="-120"/>
              </a:rPr>
              <a:t>La técnica es idéntica a la de disponibleEnFormato: nombre de la función nativa, tipo de retorno, argumentos — solo cambia la función y qué se hace con el resultado.</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El índice GIN no acelera esta comparación</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2: Consultas sobre columnas JSONB</a:t>
            </a:r>
            <a:endParaRPr lang="en-US" sz="1100" dirty="0"/>
          </a:p>
        </p:txBody>
      </p:sp>
      <p:sp>
        <p:nvSpPr>
          <p:cNvPr id="5" name="Shape 3"/>
          <p:cNvSpPr/>
          <p:nvPr/>
        </p:nvSpPr>
        <p:spPr>
          <a:xfrm>
            <a:off x="548640" y="2267712"/>
            <a:ext cx="11091672" cy="1554480"/>
          </a:xfrm>
          <a:prstGeom prst="roundRect">
            <a:avLst/>
          </a:prstGeom>
          <a:solidFill>
            <a:srgbClr val="FBE9E7"/>
          </a:solidFill>
          <a:ln w="19050">
            <a:solidFill>
              <a:srgbClr val="E64A19"/>
            </a:solidFill>
            <a:prstDash val="solid"/>
          </a:ln>
        </p:spPr>
      </p:sp>
      <p:sp>
        <p:nvSpPr>
          <p:cNvPr id="6" name="Text 4"/>
          <p:cNvSpPr/>
          <p:nvPr/>
        </p:nvSpPr>
        <p:spPr>
          <a:xfrm>
            <a:off x="822960" y="2359152"/>
            <a:ext cx="10543032" cy="1371600"/>
          </a:xfrm>
          <a:prstGeom prst="rect">
            <a:avLst/>
          </a:prstGeom>
          <a:noFill/>
          <a:ln/>
        </p:spPr>
        <p:txBody>
          <a:bodyPr wrap="square" rtlCol="0" anchor="ctr"/>
          <a:lstStyle/>
          <a:p>
            <a:pPr indent="0" marL="0">
              <a:buNone/>
            </a:pPr>
            <a:r>
              <a:rPr lang="en-US" sz="2000" dirty="0">
                <a:solidFill>
                  <a:srgbClr val="212121"/>
                </a:solidFill>
                <a:latin typeface="Arial" pitchFamily="34" charset="0"/>
                <a:ea typeface="Arial" pitchFamily="34" charset="-122"/>
                <a:cs typeface="Arial" pitchFamily="34" charset="-120"/>
              </a:rPr>
              <a:t>El índice GIN sobre la columna completa está pensado para operadores como ? o @&gt;. Una comparación basada en extraer un valor como texto mediante -&gt;&gt; o #&gt;&gt; no aprovecha automáticamente ese mismo índice.</a:t>
            </a:r>
            <a:endParaRPr lang="en-US" sz="2000" dirty="0"/>
          </a:p>
        </p:txBody>
      </p:sp>
      <p:sp>
        <p:nvSpPr>
          <p:cNvPr id="7" name="Text 5"/>
          <p:cNvSpPr/>
          <p:nvPr/>
        </p:nvSpPr>
        <p:spPr>
          <a:xfrm>
            <a:off x="548640" y="4142232"/>
            <a:ext cx="11091672" cy="1097280"/>
          </a:xfrm>
          <a:prstGeom prst="rect">
            <a:avLst/>
          </a:prstGeom>
          <a:noFill/>
          <a:ln/>
        </p:spPr>
        <p:txBody>
          <a:bodyPr wrap="square" rtlCol="0" anchor="t"/>
          <a:lstStyle/>
          <a:p>
            <a:pPr indent="0" marL="0">
              <a:buNone/>
            </a:pPr>
            <a:r>
              <a:rPr lang="en-US" sz="1700" dirty="0">
                <a:solidFill>
                  <a:srgbClr val="757575"/>
                </a:solidFill>
                <a:latin typeface="Arial" pitchFamily="34" charset="0"/>
                <a:ea typeface="Arial" pitchFamily="34" charset="-122"/>
                <a:cs typeface="Arial" pitchFamily="34" charset="-120"/>
              </a:rPr>
              <a:t>Si una consulta sobre ebook.formato se utilizara con mucha frecuencia en una tabla grande, podría crearse un índice de expresión sobre (detalles_edicion -&gt; 'ebook' -&gt;&gt; 'formato'). No debe darse por hecho que cualquier consulta sobre JSONB será rápida por tener un índice GIN.</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La alternativa: @Query con SQL nativo</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2: Consultas sobre columnas JSONB</a:t>
            </a:r>
            <a:endParaRPr lang="en-US" sz="1100" dirty="0"/>
          </a:p>
        </p:txBody>
      </p:sp>
      <p:sp>
        <p:nvSpPr>
          <p:cNvPr id="5" name="Text 3"/>
          <p:cNvSpPr/>
          <p:nvPr/>
        </p:nvSpPr>
        <p:spPr>
          <a:xfrm>
            <a:off x="548640" y="1947672"/>
            <a:ext cx="11091672" cy="868680"/>
          </a:xfrm>
          <a:prstGeom prst="rect">
            <a:avLst/>
          </a:prstGeom>
          <a:noFill/>
          <a:ln/>
        </p:spPr>
        <p:txBody>
          <a:bodyPr wrap="square" rtlCol="0" anchor="t"/>
          <a:lstStyle/>
          <a:p>
            <a:pPr indent="0" marL="0">
              <a:buNone/>
            </a:pPr>
            <a:r>
              <a:rPr lang="en-US" sz="1650" dirty="0">
                <a:solidFill>
                  <a:srgbClr val="212121"/>
                </a:solidFill>
                <a:latin typeface="Arial" pitchFamily="34" charset="0"/>
                <a:ea typeface="Arial" pitchFamily="34" charset="-122"/>
                <a:cs typeface="Arial" pitchFamily="34" charset="-120"/>
              </a:rPr>
              <a:t>Retoma el Tema 1: cuando JPQL no llegaba a algo, la solución era @Query(nativeQuery = true). jsonb_exists y ? son ese mismo caso: no existen en JPQL, porque JPQL solo conoce el vocabulario común de JPA.</a:t>
            </a:r>
            <a:endParaRPr lang="en-US" sz="1650" dirty="0"/>
          </a:p>
        </p:txBody>
      </p:sp>
      <p:sp>
        <p:nvSpPr>
          <p:cNvPr id="6" name="Shape 4"/>
          <p:cNvSpPr/>
          <p:nvPr/>
        </p:nvSpPr>
        <p:spPr>
          <a:xfrm>
            <a:off x="548640" y="2999232"/>
            <a:ext cx="11091672" cy="1691640"/>
          </a:xfrm>
          <a:prstGeom prst="rect">
            <a:avLst/>
          </a:prstGeom>
          <a:solidFill>
            <a:srgbClr val="ECEFF1"/>
          </a:solidFill>
          <a:ln w="12700">
            <a:solidFill>
              <a:srgbClr val="EEEEEE"/>
            </a:solidFill>
            <a:prstDash val="solid"/>
          </a:ln>
        </p:spPr>
      </p:sp>
      <p:sp>
        <p:nvSpPr>
          <p:cNvPr id="7" name="Shape 5"/>
          <p:cNvSpPr/>
          <p:nvPr/>
        </p:nvSpPr>
        <p:spPr>
          <a:xfrm>
            <a:off x="548640" y="2999232"/>
            <a:ext cx="73152" cy="1691640"/>
          </a:xfrm>
          <a:prstGeom prst="rect">
            <a:avLst/>
          </a:prstGeom>
          <a:solidFill>
            <a:srgbClr val="E64A19"/>
          </a:solidFill>
          <a:ln w="12700">
            <a:solidFill>
              <a:srgbClr val="E64A19"/>
            </a:solidFill>
            <a:prstDash val="solid"/>
          </a:ln>
        </p:spPr>
      </p:sp>
      <p:sp>
        <p:nvSpPr>
          <p:cNvPr id="8" name="Text 6"/>
          <p:cNvSpPr/>
          <p:nvPr/>
        </p:nvSpPr>
        <p:spPr>
          <a:xfrm>
            <a:off x="822960" y="3108960"/>
            <a:ext cx="10588752" cy="1472184"/>
          </a:xfrm>
          <a:prstGeom prst="rect">
            <a:avLst/>
          </a:prstGeom>
          <a:noFill/>
          <a:ln/>
        </p:spPr>
        <p:txBody>
          <a:bodyPr wrap="square" rtlCol="0" anchor="t"/>
          <a:lstStyle/>
          <a:p>
            <a:pPr indent="0" marL="0">
              <a:buNone/>
            </a:pPr>
            <a:r>
              <a:rPr lang="en-US" sz="1350" dirty="0">
                <a:solidFill>
                  <a:srgbClr val="263238"/>
                </a:solidFill>
                <a:latin typeface="Courier New" pitchFamily="34" charset="0"/>
                <a:ea typeface="Courier New" pitchFamily="34" charset="-122"/>
                <a:cs typeface="Courier New" pitchFamily="34" charset="-120"/>
              </a:rPr>
              <a:t>public interface LibroRepository extends JpaRepository&lt;Libro, Long&gt; {</a:t>
            </a:r>
            <a:endParaRPr lang="en-US" sz="1350" dirty="0"/>
          </a:p>
          <a:p>
            <a:pPr indent="0" marL="0">
              <a:buNone/>
            </a:pPr>
            <a:endParaRPr lang="en-US" sz="1350" dirty="0"/>
          </a:p>
          <a:p>
            <a:pPr indent="0" marL="0">
              <a:buNone/>
            </a:pPr>
            <a:r>
              <a:rPr lang="en-US" sz="1350" dirty="0">
                <a:solidFill>
                  <a:srgbClr val="263238"/>
                </a:solidFill>
                <a:latin typeface="Courier New" pitchFamily="34" charset="0"/>
                <a:ea typeface="Courier New" pitchFamily="34" charset="-122"/>
                <a:cs typeface="Courier New" pitchFamily="34" charset="-120"/>
              </a:rPr>
              <a:t>    @Query(value = "SELECT * FROM libro WHERE jsonb_exists(detalles_edicion, :formato)",</a:t>
            </a:r>
            <a:endParaRPr lang="en-US" sz="1350" dirty="0"/>
          </a:p>
          <a:p>
            <a:pPr indent="0" marL="0">
              <a:buNone/>
            </a:pPr>
            <a:r>
              <a:rPr lang="en-US" sz="1350" dirty="0">
                <a:solidFill>
                  <a:srgbClr val="263238"/>
                </a:solidFill>
                <a:latin typeface="Courier New" pitchFamily="34" charset="0"/>
                <a:ea typeface="Courier New" pitchFamily="34" charset="-122"/>
                <a:cs typeface="Courier New" pitchFamily="34" charset="-120"/>
              </a:rPr>
              <a:t>           nativeQuery = true)</a:t>
            </a:r>
            <a:endParaRPr lang="en-US" sz="1350" dirty="0"/>
          </a:p>
          <a:p>
            <a:pPr indent="0" marL="0">
              <a:buNone/>
            </a:pPr>
            <a:r>
              <a:rPr lang="en-US" sz="1350" dirty="0">
                <a:solidFill>
                  <a:srgbClr val="263238"/>
                </a:solidFill>
                <a:latin typeface="Courier New" pitchFamily="34" charset="0"/>
                <a:ea typeface="Courier New" pitchFamily="34" charset="-122"/>
                <a:cs typeface="Courier New" pitchFamily="34" charset="-120"/>
              </a:rPr>
              <a:t>    List&lt;Libro&gt; buscarPorFormato(@Param("formato") String formato);</a:t>
            </a:r>
            <a:endParaRPr lang="en-US" sz="1350" dirty="0"/>
          </a:p>
          <a:p>
            <a:pPr indent="0" marL="0">
              <a:buNone/>
            </a:pPr>
            <a:r>
              <a:rPr lang="en-US" sz="1350" dirty="0">
                <a:solidFill>
                  <a:srgbClr val="263238"/>
                </a:solidFill>
                <a:latin typeface="Courier New" pitchFamily="34" charset="0"/>
                <a:ea typeface="Courier New" pitchFamily="34" charset="-122"/>
                <a:cs typeface="Courier New" pitchFamily="34" charset="-120"/>
              </a:rPr>
              <a:t>}</a:t>
            </a:r>
            <a:endParaRPr lang="en-US" sz="1350" dirty="0"/>
          </a:p>
        </p:txBody>
      </p:sp>
      <p:sp>
        <p:nvSpPr>
          <p:cNvPr id="9" name="Text 7"/>
          <p:cNvSpPr/>
          <p:nvPr/>
        </p:nvSpPr>
        <p:spPr>
          <a:xfrm>
            <a:off x="548640" y="4919472"/>
            <a:ext cx="11091672" cy="640080"/>
          </a:xfrm>
          <a:prstGeom prst="rect">
            <a:avLst/>
          </a:prstGeom>
          <a:noFill/>
          <a:ln/>
        </p:spPr>
        <p:txBody>
          <a:bodyPr wrap="square" rtlCol="0" anchor="t"/>
          <a:lstStyle/>
          <a:p>
            <a:pPr indent="0" marL="0">
              <a:buNone/>
            </a:pPr>
            <a:r>
              <a:rPr lang="en-US" sz="1400" dirty="0">
                <a:solidFill>
                  <a:srgbClr val="757575"/>
                </a:solidFill>
                <a:latin typeface="Arial" pitchFamily="34" charset="0"/>
                <a:ea typeface="Arial" pitchFamily="34" charset="-122"/>
                <a:cs typeface="Arial" pitchFamily="34" charset="-120"/>
              </a:rPr>
              <a:t>A diferencia del ranking con ROW_NUMBER() del Tema 1 (necesitaba List&lt;Object[]&gt;), aquí SELECT * selecciona exactamente las columnas de Libro — Spring Data mapea el resultado a List&lt;Libro&gt; sin problema.</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Por qué jsonb_exists y no ? en esta @Query</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2: Consultas sobre columnas JSONB</a:t>
            </a:r>
            <a:endParaRPr lang="en-US" sz="1100" dirty="0"/>
          </a:p>
        </p:txBody>
      </p:sp>
      <p:sp>
        <p:nvSpPr>
          <p:cNvPr id="5" name="Shape 3"/>
          <p:cNvSpPr/>
          <p:nvPr/>
        </p:nvSpPr>
        <p:spPr>
          <a:xfrm>
            <a:off x="548640" y="2286000"/>
            <a:ext cx="11091672" cy="1554480"/>
          </a:xfrm>
          <a:prstGeom prst="roundRect">
            <a:avLst/>
          </a:prstGeom>
          <a:solidFill>
            <a:srgbClr val="FBE9E7"/>
          </a:solidFill>
          <a:ln w="19050">
            <a:solidFill>
              <a:srgbClr val="E64A19"/>
            </a:solidFill>
            <a:prstDash val="solid"/>
          </a:ln>
        </p:spPr>
      </p:sp>
      <p:sp>
        <p:nvSpPr>
          <p:cNvPr id="6" name="Text 4"/>
          <p:cNvSpPr/>
          <p:nvPr/>
        </p:nvSpPr>
        <p:spPr>
          <a:xfrm>
            <a:off x="822960" y="2377440"/>
            <a:ext cx="10543032" cy="1371600"/>
          </a:xfrm>
          <a:prstGeom prst="rect">
            <a:avLst/>
          </a:prstGeom>
          <a:noFill/>
          <a:ln/>
        </p:spPr>
        <p:txBody>
          <a:bodyPr wrap="square" rtlCol="0" anchor="ctr"/>
          <a:lstStyle/>
          <a:p>
            <a:pPr indent="0" marL="0">
              <a:buNone/>
            </a:pPr>
            <a:r>
              <a:rPr lang="en-US" sz="2100" dirty="0">
                <a:solidFill>
                  <a:srgbClr val="212121"/>
                </a:solidFill>
                <a:latin typeface="Arial" pitchFamily="34" charset="0"/>
                <a:ea typeface="Arial" pitchFamily="34" charset="-122"/>
                <a:cs typeface="Arial" pitchFamily="34" charset="-120"/>
              </a:rPr>
              <a:t>JDBC y JPA utilizan el carácter ? para representar parámetros posicionales. Dependiendo de la versión y de cómo se procese la consulta nativa, el operador JSONB ? puede confundirse con uno de esos marcadores.</a:t>
            </a:r>
            <a:endParaRPr lang="en-US" sz="2100" dirty="0"/>
          </a:p>
        </p:txBody>
      </p:sp>
      <p:sp>
        <p:nvSpPr>
          <p:cNvPr id="7" name="Text 5"/>
          <p:cNvSpPr/>
          <p:nvPr/>
        </p:nvSpPr>
        <p:spPr>
          <a:xfrm>
            <a:off x="548640" y="4206240"/>
            <a:ext cx="11091672" cy="914400"/>
          </a:xfrm>
          <a:prstGeom prst="rect">
            <a:avLst/>
          </a:prstGeom>
          <a:noFill/>
          <a:ln/>
        </p:spPr>
        <p:txBody>
          <a:bodyPr wrap="square" rtlCol="0" anchor="t"/>
          <a:lstStyle/>
          <a:p>
            <a:pPr indent="0" marL="0">
              <a:buNone/>
            </a:pPr>
            <a:r>
              <a:rPr lang="en-US" sz="1850" dirty="0">
                <a:solidFill>
                  <a:srgbClr val="757575"/>
                </a:solidFill>
                <a:latin typeface="Arial" pitchFamily="34" charset="0"/>
                <a:ea typeface="Arial" pitchFamily="34" charset="-122"/>
                <a:cs typeface="Arial" pitchFamily="34" charset="-120"/>
              </a:rPr>
              <a:t>Para evitar esa ambigüedad, en estos apuntes se utiliza jsonb_exists(columna, clave), que expresa la misma comprobación de existencia sin emplear el carácter ?.</a:t>
            </a:r>
            <a:endParaRPr lang="en-US" sz="1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La misma alternativa para la ruta anidada</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2: Consultas sobre columnas JSONB</a:t>
            </a:r>
            <a:endParaRPr lang="en-US" sz="1100" dirty="0"/>
          </a:p>
        </p:txBody>
      </p:sp>
      <p:sp>
        <p:nvSpPr>
          <p:cNvPr id="5" name="Shape 3"/>
          <p:cNvSpPr/>
          <p:nvPr/>
        </p:nvSpPr>
        <p:spPr>
          <a:xfrm>
            <a:off x="548640" y="1207008"/>
            <a:ext cx="11091672" cy="1234440"/>
          </a:xfrm>
          <a:prstGeom prst="rect">
            <a:avLst/>
          </a:prstGeom>
          <a:solidFill>
            <a:srgbClr val="ECEFF1"/>
          </a:solidFill>
          <a:ln w="12700">
            <a:solidFill>
              <a:srgbClr val="EEEEEE"/>
            </a:solidFill>
            <a:prstDash val="solid"/>
          </a:ln>
        </p:spPr>
      </p:sp>
      <p:sp>
        <p:nvSpPr>
          <p:cNvPr id="6" name="Shape 4"/>
          <p:cNvSpPr/>
          <p:nvPr/>
        </p:nvSpPr>
        <p:spPr>
          <a:xfrm>
            <a:off x="548640" y="1207008"/>
            <a:ext cx="73152" cy="1234440"/>
          </a:xfrm>
          <a:prstGeom prst="rect">
            <a:avLst/>
          </a:prstGeom>
          <a:solidFill>
            <a:srgbClr val="E64A19"/>
          </a:solidFill>
          <a:ln w="12700">
            <a:solidFill>
              <a:srgbClr val="E64A19"/>
            </a:solidFill>
            <a:prstDash val="solid"/>
          </a:ln>
        </p:spPr>
      </p:sp>
      <p:sp>
        <p:nvSpPr>
          <p:cNvPr id="7" name="Text 5"/>
          <p:cNvSpPr/>
          <p:nvPr/>
        </p:nvSpPr>
        <p:spPr>
          <a:xfrm>
            <a:off x="822960" y="1316736"/>
            <a:ext cx="10588752" cy="1014984"/>
          </a:xfrm>
          <a:prstGeom prst="rect">
            <a:avLst/>
          </a:prstGeom>
          <a:noFill/>
          <a:ln/>
        </p:spPr>
        <p:txBody>
          <a:bodyPr wrap="square" rtlCol="0" anchor="t"/>
          <a:lstStyle/>
          <a:p>
            <a:pPr indent="0" marL="0">
              <a:buNone/>
            </a:pPr>
            <a:r>
              <a:rPr lang="en-US" sz="1300" dirty="0">
                <a:solidFill>
                  <a:srgbClr val="263238"/>
                </a:solidFill>
                <a:latin typeface="Courier New" pitchFamily="34" charset="0"/>
                <a:ea typeface="Courier New" pitchFamily="34" charset="-122"/>
                <a:cs typeface="Courier New" pitchFamily="34" charset="-120"/>
              </a:rPr>
              <a:t>@Query(value = "SELECT * FROM libro WHERE detalles_edicion -&gt; 'ebook' -&gt;&gt; 'formato' = :formato",</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nativeQuery = true)</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List&lt;Libro&gt; buscarPorFormatoEbook(@Param("formato") String formato);</a:t>
            </a:r>
            <a:endParaRPr lang="en-US" sz="1300" dirty="0"/>
          </a:p>
        </p:txBody>
      </p:sp>
      <p:sp>
        <p:nvSpPr>
          <p:cNvPr id="8" name="Text 6"/>
          <p:cNvSpPr/>
          <p:nvPr/>
        </p:nvSpPr>
        <p:spPr>
          <a:xfrm>
            <a:off x="548640" y="2551176"/>
            <a:ext cx="11091672" cy="685800"/>
          </a:xfrm>
          <a:prstGeom prst="rect">
            <a:avLst/>
          </a:prstGeom>
          <a:noFill/>
          <a:ln/>
        </p:spPr>
        <p:txBody>
          <a:bodyPr wrap="square" rtlCol="0" anchor="t"/>
          <a:lstStyle/>
          <a:p>
            <a:pPr indent="0" marL="0">
              <a:buNone/>
            </a:pPr>
            <a:r>
              <a:rPr lang="en-US" sz="1450" dirty="0">
                <a:solidFill>
                  <a:srgbClr val="212121"/>
                </a:solidFill>
                <a:latin typeface="Arial" pitchFamily="34" charset="0"/>
                <a:ea typeface="Arial" pitchFamily="34" charset="-122"/>
                <a:cs typeface="Arial" pitchFamily="34" charset="-120"/>
              </a:rPr>
              <a:t>buscarPorFormatoEbook("mobi") devuelve solo 1984 — como aquí no interviene el operador ?, no hay conflicto con el marcador de parámetro de JDBC. ¿Y entonces, criteriaBuilder.function(...) o @Query(nativeQuery = true)? La misma pregunta del Tema 1 entre Specifications y @Query con JPQL, con la misma respuesta:</a:t>
            </a:r>
            <a:endParaRPr lang="en-US" sz="14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3374136"/>
          <a:ext cx="11091672" cy="914400"/>
        </p:xfrm>
        <a:graphic>
          <a:graphicData uri="http://schemas.openxmlformats.org/drawingml/2006/table">
            <a:tbl>
              <a:tblPr/>
              <a:tblGrid>
                <a:gridCol w="1996501"/>
                <a:gridCol w="4547586"/>
                <a:gridCol w="4547586"/>
              </a:tblGrid>
              <a:tr h="731520">
                <a:tc>
                  <a:txBody>
                    <a:bodyPr/>
                    <a:lstStyle/>
                    <a:p>
                      <a:pPr algn="ctr" indent="0" marL="0">
                        <a:buNone/>
                      </a:pP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Specification + criteriaBuilder.function</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@Query(nativeQuery = true)</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r>
              <a:tr h="731520">
                <a:tc>
                  <a:txBody>
                    <a:bodyPr/>
                    <a:lstStyle/>
                    <a:p>
                      <a:pPr indent="0" marL="0">
                        <a:buNone/>
                      </a:pPr>
                      <a:r>
                        <a:rPr lang="en-US" sz="1250" b="1" dirty="0">
                          <a:solidFill>
                            <a:srgbClr val="212121"/>
                          </a:solidFill>
                          <a:latin typeface="Arial" pitchFamily="34" charset="0"/>
                          <a:ea typeface="Arial" pitchFamily="34" charset="-122"/>
                          <a:cs typeface="Arial" pitchFamily="34" charset="-120"/>
                        </a:rPr>
                        <a:t>Se combina con .and(...)</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Sí, de forma natural</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No — consulta fija, con sus propios parámetros</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731520">
                <a:tc>
                  <a:txBody>
                    <a:bodyPr/>
                    <a:lstStyle/>
                    <a:p>
                      <a:pPr indent="0" marL="0">
                        <a:buNone/>
                      </a:pPr>
                      <a:r>
                        <a:rPr lang="en-US" sz="1250" b="1" dirty="0">
                          <a:solidFill>
                            <a:srgbClr val="212121"/>
                          </a:solidFill>
                          <a:latin typeface="Arial" pitchFamily="34" charset="0"/>
                          <a:ea typeface="Arial" pitchFamily="34" charset="-122"/>
                          <a:cs typeface="Arial" pitchFamily="34" charset="-120"/>
                        </a:rPr>
                        <a:t>Sintaxis</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Más verbosa (función, tipo, argumentos)</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SQL directo, más legible</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731520">
                <a:tc>
                  <a:txBody>
                    <a:bodyPr/>
                    <a:lstStyle/>
                    <a:p>
                      <a:pPr indent="0" marL="0">
                        <a:buNone/>
                      </a:pPr>
                      <a:r>
                        <a:rPr lang="en-US" sz="1250" b="1" dirty="0">
                          <a:solidFill>
                            <a:srgbClr val="212121"/>
                          </a:solidFill>
                          <a:latin typeface="Arial" pitchFamily="34" charset="0"/>
                          <a:ea typeface="Arial" pitchFamily="34" charset="-122"/>
                          <a:cs typeface="Arial" pitchFamily="34" charset="-120"/>
                        </a:rPr>
                        <a:t>Cuándo usarla</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Un filtro más en un buscador con varias condiciones opcionales</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Una consulta propia y fija, pensada solo para esto</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Modificar JSONB: reemplazo, no merge</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2: Consultas sobre columnas JSONB</a:t>
            </a:r>
            <a:endParaRPr lang="en-US" sz="1100" dirty="0"/>
          </a:p>
        </p:txBody>
      </p:sp>
      <p:sp>
        <p:nvSpPr>
          <p:cNvPr id="5" name="Text 3"/>
          <p:cNvSpPr/>
          <p:nvPr/>
        </p:nvSpPr>
        <p:spPr>
          <a:xfrm>
            <a:off x="548640" y="1947672"/>
            <a:ext cx="11091672" cy="502920"/>
          </a:xfrm>
          <a:prstGeom prst="rect">
            <a:avLst/>
          </a:prstGeom>
          <a:noFill/>
          <a:ln/>
        </p:spPr>
        <p:txBody>
          <a:bodyPr wrap="square" rtlCol="0" anchor="t"/>
          <a:lstStyle/>
          <a:p>
            <a:pPr indent="0" marL="0">
              <a:buNone/>
            </a:pPr>
            <a:r>
              <a:rPr lang="en-US" sz="1650" dirty="0">
                <a:solidFill>
                  <a:srgbClr val="212121"/>
                </a:solidFill>
                <a:latin typeface="Arial" pitchFamily="34" charset="0"/>
                <a:ea typeface="Arial" pitchFamily="34" charset="-122"/>
                <a:cs typeface="Arial" pitchFamily="34" charset="-120"/>
              </a:rPr>
              <a:t>Un update() que recibe un Map nuevo reemplaza el contenido completo de detallesEdicion, no lo combina con el anterior:</a:t>
            </a:r>
            <a:endParaRPr lang="en-US" sz="16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2633472"/>
          <a:ext cx="11091672" cy="914400"/>
        </p:xfrm>
        <a:graphic>
          <a:graphicData uri="http://schemas.openxmlformats.org/drawingml/2006/table">
            <a:tbl>
              <a:tblPr/>
              <a:tblGrid>
                <a:gridCol w="3549335"/>
                <a:gridCol w="2551085"/>
                <a:gridCol w="1996501"/>
                <a:gridCol w="2994751"/>
              </a:tblGrid>
              <a:tr h="685800">
                <a:tc>
                  <a:txBody>
                    <a:bodyPr/>
                    <a:lstStyle/>
                    <a:p>
                      <a:pPr algn="ctr" indent="0" marL="0">
                        <a:buNone/>
                      </a:pP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algn="ctr" indent="0" marL="0">
                        <a:buNone/>
                      </a:pPr>
                      <a:r>
                        <a:rPr lang="en-US" sz="1350" b="1" dirty="0">
                          <a:solidFill>
                            <a:srgbClr val="FFFFFF"/>
                          </a:solidFill>
                          <a:latin typeface="Arial" pitchFamily="34" charset="0"/>
                          <a:ea typeface="Arial" pitchFamily="34" charset="-122"/>
                          <a:cs typeface="Arial" pitchFamily="34" charset="-120"/>
                        </a:rPr>
                        <a:t>Valor guardado antes</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algn="ctr" indent="0" marL="0">
                        <a:buNone/>
                      </a:pPr>
                      <a:r>
                        <a:rPr lang="en-US" sz="1350" b="1" dirty="0">
                          <a:solidFill>
                            <a:srgbClr val="FFFFFF"/>
                          </a:solidFill>
                          <a:latin typeface="Arial" pitchFamily="34" charset="0"/>
                          <a:ea typeface="Arial" pitchFamily="34" charset="-122"/>
                          <a:cs typeface="Arial" pitchFamily="34" charset="-120"/>
                        </a:rPr>
                        <a:t>PUT manda</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algn="ctr" indent="0" marL="0">
                        <a:buNone/>
                      </a:pPr>
                      <a:r>
                        <a:rPr lang="en-US" sz="1350" b="1" dirty="0">
                          <a:solidFill>
                            <a:srgbClr val="FFFFFF"/>
                          </a:solidFill>
                          <a:latin typeface="Arial" pitchFamily="34" charset="0"/>
                          <a:ea typeface="Arial" pitchFamily="34" charset="-122"/>
                          <a:cs typeface="Arial" pitchFamily="34" charset="-120"/>
                        </a:rPr>
                        <a:t>Valor final</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r>
              <a:tr h="685800">
                <a:tc>
                  <a:txBody>
                    <a:bodyPr/>
                    <a:lstStyle/>
                    <a:p>
                      <a:pPr indent="0" marL="0">
                        <a:buNone/>
                      </a:pPr>
                      <a:r>
                        <a:rPr lang="en-US" sz="1200" b="1" dirty="0">
                          <a:solidFill>
                            <a:srgbClr val="212121"/>
                          </a:solidFill>
                          <a:latin typeface="Arial" pitchFamily="34" charset="0"/>
                          <a:ea typeface="Arial" pitchFamily="34" charset="-122"/>
                          <a:cs typeface="Arial" pitchFamily="34" charset="-120"/>
                        </a:rPr>
                        <a:t>Lo que ocurre (reemplazo)</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{tapaDura, ebook}</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{ebook}</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{ebook} — tapaDura desaparece</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685800">
                <a:tc>
                  <a:txBody>
                    <a:bodyPr/>
                    <a:lstStyle/>
                    <a:p>
                      <a:pPr indent="0" marL="0">
                        <a:buNone/>
                      </a:pPr>
                      <a:r>
                        <a:rPr lang="en-US" sz="1200" b="1" dirty="0">
                          <a:solidFill>
                            <a:srgbClr val="212121"/>
                          </a:solidFill>
                          <a:latin typeface="Arial" pitchFamily="34" charset="0"/>
                          <a:ea typeface="Arial" pitchFamily="34" charset="-122"/>
                          <a:cs typeface="Arial" pitchFamily="34" charset="-120"/>
                        </a:rPr>
                        <a:t>Lo que se podría esperar (merge, no ocurre)</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{tapaDura, ebook}</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{ebook}</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{tapaDura, ebook} combinados</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bl>
          </a:graphicData>
        </a:graphic>
      </p:graphicFrame>
      <p:sp>
        <p:nvSpPr>
          <p:cNvPr id="7" name="Shape 4"/>
          <p:cNvSpPr/>
          <p:nvPr/>
        </p:nvSpPr>
        <p:spPr>
          <a:xfrm>
            <a:off x="548640" y="4919472"/>
            <a:ext cx="11091672" cy="640080"/>
          </a:xfrm>
          <a:prstGeom prst="rect">
            <a:avLst/>
          </a:prstGeom>
          <a:solidFill>
            <a:srgbClr val="ECEFF1"/>
          </a:solidFill>
          <a:ln w="12700">
            <a:solidFill>
              <a:srgbClr val="EEEEEE"/>
            </a:solidFill>
            <a:prstDash val="solid"/>
          </a:ln>
        </p:spPr>
      </p:sp>
      <p:sp>
        <p:nvSpPr>
          <p:cNvPr id="8" name="Shape 5"/>
          <p:cNvSpPr/>
          <p:nvPr/>
        </p:nvSpPr>
        <p:spPr>
          <a:xfrm>
            <a:off x="548640" y="4919472"/>
            <a:ext cx="73152" cy="640080"/>
          </a:xfrm>
          <a:prstGeom prst="rect">
            <a:avLst/>
          </a:prstGeom>
          <a:solidFill>
            <a:srgbClr val="E64A19"/>
          </a:solidFill>
          <a:ln w="12700">
            <a:solidFill>
              <a:srgbClr val="E64A19"/>
            </a:solidFill>
            <a:prstDash val="solid"/>
          </a:ln>
        </p:spPr>
      </p:sp>
      <p:sp>
        <p:nvSpPr>
          <p:cNvPr id="9" name="Text 6"/>
          <p:cNvSpPr/>
          <p:nvPr/>
        </p:nvSpPr>
        <p:spPr>
          <a:xfrm>
            <a:off x="822960" y="5029200"/>
            <a:ext cx="10588752" cy="420624"/>
          </a:xfrm>
          <a:prstGeom prst="rect">
            <a:avLst/>
          </a:prstGeom>
          <a:noFill/>
          <a:ln/>
        </p:spPr>
        <p:txBody>
          <a:bodyPr wrap="square" rtlCol="0" anchor="t"/>
          <a:lstStyle/>
          <a:p>
            <a:pPr indent="0" marL="0">
              <a:buNone/>
            </a:pPr>
            <a:r>
              <a:rPr lang="en-US" sz="1400" dirty="0">
                <a:solidFill>
                  <a:srgbClr val="263238"/>
                </a:solidFill>
                <a:latin typeface="Courier New" pitchFamily="34" charset="0"/>
                <a:ea typeface="Courier New" pitchFamily="34" charset="-122"/>
                <a:cs typeface="Courier New" pitchFamily="34" charset="-120"/>
              </a:rPr>
              <a:t>libro.setDetallesEdicion(dto.detallesEdicion()); // sustituye el Map entero</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Por qué no hay merge parcial en JPA estándar</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2: Consultas sobre columnas JSONB</a:t>
            </a:r>
            <a:endParaRPr lang="en-US" sz="1100" dirty="0"/>
          </a:p>
        </p:txBody>
      </p:sp>
      <p:sp>
        <p:nvSpPr>
          <p:cNvPr id="5" name="Shape 3"/>
          <p:cNvSpPr/>
          <p:nvPr/>
        </p:nvSpPr>
        <p:spPr>
          <a:xfrm>
            <a:off x="548640" y="2286000"/>
            <a:ext cx="11091672" cy="1463040"/>
          </a:xfrm>
          <a:prstGeom prst="roundRect">
            <a:avLst/>
          </a:prstGeom>
          <a:solidFill>
            <a:srgbClr val="FBE9E7"/>
          </a:solidFill>
          <a:ln w="19050">
            <a:solidFill>
              <a:srgbClr val="E64A19"/>
            </a:solidFill>
            <a:prstDash val="solid"/>
          </a:ln>
        </p:spPr>
      </p:sp>
      <p:sp>
        <p:nvSpPr>
          <p:cNvPr id="6" name="Text 4"/>
          <p:cNvSpPr/>
          <p:nvPr/>
        </p:nvSpPr>
        <p:spPr>
          <a:xfrm>
            <a:off x="822960" y="2377440"/>
            <a:ext cx="10543032" cy="1280160"/>
          </a:xfrm>
          <a:prstGeom prst="rect">
            <a:avLst/>
          </a:prstGeom>
          <a:noFill/>
          <a:ln/>
        </p:spPr>
        <p:txBody>
          <a:bodyPr wrap="square" rtlCol="0" anchor="ctr"/>
          <a:lstStyle/>
          <a:p>
            <a:pPr indent="0" marL="0">
              <a:buNone/>
            </a:pPr>
            <a:r>
              <a:rPr lang="en-US" sz="2000" dirty="0">
                <a:solidFill>
                  <a:srgbClr val="212121"/>
                </a:solidFill>
                <a:latin typeface="Arial" pitchFamily="34" charset="0"/>
                <a:ea typeface="Arial" pitchFamily="34" charset="-122"/>
                <a:cs typeface="Arial" pitchFamily="34" charset="-120"/>
              </a:rPr>
              <a:t>Para Hibernate, detallesEdicion es un único valor de columna — igual que titulo o precio. JPA no sabe "mirar dentro" de ese valor: trata el Map completo como una unidad atómica que se sustituye entera.</a:t>
            </a:r>
            <a:endParaRPr lang="en-US" sz="2000" dirty="0"/>
          </a:p>
        </p:txBody>
      </p:sp>
      <p:sp>
        <p:nvSpPr>
          <p:cNvPr id="7" name="Text 5"/>
          <p:cNvSpPr/>
          <p:nvPr/>
        </p:nvSpPr>
        <p:spPr>
          <a:xfrm>
            <a:off x="548640" y="4069080"/>
            <a:ext cx="11091672" cy="1143000"/>
          </a:xfrm>
          <a:prstGeom prst="rect">
            <a:avLst/>
          </a:prstGeom>
          <a:noFill/>
          <a:ln/>
        </p:spPr>
        <p:txBody>
          <a:bodyPr wrap="square" rtlCol="0" anchor="t"/>
          <a:lstStyle/>
          <a:p>
            <a:pPr indent="0" marL="0">
              <a:buNone/>
            </a:pPr>
            <a:r>
              <a:rPr lang="en-US" sz="1700" dirty="0">
                <a:solidFill>
                  <a:srgbClr val="757575"/>
                </a:solidFill>
                <a:latin typeface="Arial" pitchFamily="34" charset="0"/>
                <a:ea typeface="Arial" pitchFamily="34" charset="-122"/>
                <a:cs typeface="Arial" pitchFamily="34" charset="-120"/>
              </a:rPr>
              <a:t>Un merge parcial de verdad exige cargar el objeto, modificar el Map en memoria en Java (añadiendo o quitando claves) y guardar el resultado completo — la combinación ocurre en el código, no en el ORM. @Transactional se comporta exactamente igual que sobre cualquier otra entidad.</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Ideas clave</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2: Consultas sobre columnas JSONB</a:t>
            </a:r>
            <a:endParaRPr lang="en-US" sz="1100" dirty="0"/>
          </a:p>
        </p:txBody>
      </p:sp>
      <p:sp>
        <p:nvSpPr>
          <p:cNvPr id="5" name="Text 3"/>
          <p:cNvSpPr/>
          <p:nvPr/>
        </p:nvSpPr>
        <p:spPr>
          <a:xfrm>
            <a:off x="548640" y="1554480"/>
            <a:ext cx="11091672" cy="4572000"/>
          </a:xfrm>
          <a:prstGeom prst="rect">
            <a:avLst/>
          </a:prstGeom>
          <a:noFill/>
          <a:ln/>
        </p:spPr>
        <p:txBody>
          <a:bodyPr wrap="square" rtlCol="0" anchor="t"/>
          <a:lstStyle/>
          <a:p>
            <a:pPr marL="190500" indent="-190500">
              <a:spcAft>
                <a:spcPts val="5200"/>
              </a:spcAft>
              <a:buSzPct val="100000"/>
              <a:buChar char="•"/>
            </a:pPr>
            <a:r>
              <a:rPr lang="en-US" sz="2100" dirty="0">
                <a:solidFill>
                  <a:srgbClr val="212121"/>
                </a:solidFill>
                <a:latin typeface="Arial" pitchFamily="34" charset="0"/>
                <a:ea typeface="Arial" pitchFamily="34" charset="-122"/>
                <a:cs typeface="Arial" pitchFamily="34" charset="-120"/>
              </a:rPr>
              <a:t>jsonb_exists(columna, clave) (o el operador ?) comprueba si una clave existe; -&gt;/-&gt;&gt; extraen valores (como JSON o como texto).</a:t>
            </a:r>
            <a:endParaRPr lang="en-US" sz="2100" dirty="0"/>
          </a:p>
          <a:p>
            <a:pPr marL="190500" indent="-190500">
              <a:spcAft>
                <a:spcPts val="5200"/>
              </a:spcAft>
              <a:buSzPct val="100000"/>
              <a:buChar char="•"/>
            </a:pPr>
            <a:r>
              <a:rPr lang="en-US" sz="2100" dirty="0">
                <a:solidFill>
                  <a:srgbClr val="212121"/>
                </a:solidFill>
                <a:latin typeface="Arial" pitchFamily="34" charset="0"/>
                <a:ea typeface="Arial" pitchFamily="34" charset="-122"/>
                <a:cs typeface="Arial" pitchFamily="34" charset="-120"/>
              </a:rPr>
              <a:t>El índice GIN puede acelerar operadores como ?. jsonb_exists(...) hace la misma comprobación lógica, pero no debe darse por hecho que use el índice igual.</a:t>
            </a:r>
            <a:endParaRPr lang="en-US" sz="2100" dirty="0"/>
          </a:p>
          <a:p>
            <a:pPr marL="190500" indent="-190500">
              <a:spcAft>
                <a:spcPts val="5200"/>
              </a:spcAft>
              <a:buSzPct val="100000"/>
              <a:buChar char="•"/>
            </a:pPr>
            <a:r>
              <a:rPr lang="en-US" sz="2100" dirty="0">
                <a:solidFill>
                  <a:srgbClr val="212121"/>
                </a:solidFill>
                <a:latin typeface="Arial" pitchFamily="34" charset="0"/>
                <a:ea typeface="Arial" pitchFamily="34" charset="-122"/>
                <a:cs typeface="Arial" pitchFamily="34" charset="-120"/>
              </a:rPr>
              <a:t>Para comparar un valor anidado se encadena -&gt;/-&gt;&gt; o se usa el operador de ruta #&gt;&gt; — ahí el índice GIN de ? ya no ayuda igual.</a:t>
            </a:r>
            <a:endParaRPr lang="en-US" sz="2100" dirty="0"/>
          </a:p>
          <a:p>
            <a:pPr marL="190500" indent="-190500">
              <a:buSzPct val="100000"/>
              <a:buChar char="•"/>
            </a:pPr>
            <a:r>
              <a:rPr lang="en-US" sz="2100" dirty="0">
                <a:solidFill>
                  <a:srgbClr val="212121"/>
                </a:solidFill>
                <a:latin typeface="Arial" pitchFamily="34" charset="0"/>
                <a:ea typeface="Arial" pitchFamily="34" charset="-122"/>
                <a:cs typeface="Arial" pitchFamily="34" charset="-120"/>
              </a:rPr>
              <a:t>Consultar JSONB desde Criteria API requiere criteriaBuilder.function(...), porque son funciones específicas del motor, no del estándar JPA.</a:t>
            </a:r>
            <a:endParaRPr lang="en-US" sz="2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Ideas clave (cont.)</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2: Consultas sobre columnas JSONB</a:t>
            </a:r>
            <a:endParaRPr lang="en-US" sz="1100" dirty="0"/>
          </a:p>
        </p:txBody>
      </p:sp>
      <p:sp>
        <p:nvSpPr>
          <p:cNvPr id="5" name="Text 3"/>
          <p:cNvSpPr/>
          <p:nvPr/>
        </p:nvSpPr>
        <p:spPr>
          <a:xfrm>
            <a:off x="548640" y="1554480"/>
            <a:ext cx="11091672" cy="4572000"/>
          </a:xfrm>
          <a:prstGeom prst="rect">
            <a:avLst/>
          </a:prstGeom>
          <a:noFill/>
          <a:ln/>
        </p:spPr>
        <p:txBody>
          <a:bodyPr wrap="square" rtlCol="0" anchor="t"/>
          <a:lstStyle/>
          <a:p>
            <a:pPr marL="190500" indent="-190500">
              <a:spcAft>
                <a:spcPts val="5200"/>
              </a:spcAft>
              <a:buSzPct val="100000"/>
              <a:buChar char="•"/>
            </a:pPr>
            <a:r>
              <a:rPr lang="en-US" sz="2000" dirty="0">
                <a:solidFill>
                  <a:srgbClr val="212121"/>
                </a:solidFill>
                <a:latin typeface="Arial" pitchFamily="34" charset="0"/>
                <a:ea typeface="Arial" pitchFamily="34" charset="-122"/>
                <a:cs typeface="Arial" pitchFamily="34" charset="-120"/>
              </a:rPr>
              <a:t>@Query(nativeQuery = true) es una alternativa más directa cuando la consulta JSONB es fija. Se usa jsonb_exists(...) para evitar la ambigüedad entre ? y los parámetros posicionales de JDBC/JPA.</a:t>
            </a:r>
            <a:endParaRPr lang="en-US" sz="2000" dirty="0"/>
          </a:p>
          <a:p>
            <a:pPr marL="190500" indent="-190500">
              <a:spcAft>
                <a:spcPts val="5200"/>
              </a:spcAft>
              <a:buSzPct val="100000"/>
              <a:buChar char="•"/>
            </a:pPr>
            <a:r>
              <a:rPr lang="en-US" sz="2000" dirty="0">
                <a:solidFill>
                  <a:srgbClr val="212121"/>
                </a:solidFill>
                <a:latin typeface="Arial" pitchFamily="34" charset="0"/>
                <a:ea typeface="Arial" pitchFamily="34" charset="-122"/>
                <a:cs typeface="Arial" pitchFamily="34" charset="-120"/>
              </a:rPr>
              <a:t>Combinada con .and(...), una Specification sobre JSONB se usa exactamente igual que una sobre una columna normal — transparente para quien consume el repositorio.</a:t>
            </a:r>
            <a:endParaRPr lang="en-US" sz="2000" dirty="0"/>
          </a:p>
          <a:p>
            <a:pPr marL="190500" indent="-190500">
              <a:spcAft>
                <a:spcPts val="5200"/>
              </a:spcAft>
              <a:buSzPct val="100000"/>
              <a:buChar char="•"/>
            </a:pPr>
            <a:r>
              <a:rPr lang="en-US" sz="2000" dirty="0">
                <a:solidFill>
                  <a:srgbClr val="212121"/>
                </a:solidFill>
                <a:latin typeface="Arial" pitchFamily="34" charset="0"/>
                <a:ea typeface="Arial" pitchFamily="34" charset="-122"/>
                <a:cs typeface="Arial" pitchFamily="34" charset="-120"/>
              </a:rPr>
              <a:t>Actualizar un campo JSONB reemplaza el objeto completo — JPA no sabe hacer merge parcial de un valor de columna; si hace falta, se hace en memoria antes de guardar.</a:t>
            </a:r>
            <a:endParaRPr lang="en-US" sz="2000" dirty="0"/>
          </a:p>
          <a:p>
            <a:pPr marL="190500" indent="-190500">
              <a:buSzPct val="100000"/>
              <a:buChar char="•"/>
            </a:pPr>
            <a:r>
              <a:rPr lang="en-US" sz="2000" dirty="0">
                <a:solidFill>
                  <a:srgbClr val="212121"/>
                </a:solidFill>
                <a:latin typeface="Arial" pitchFamily="34" charset="0"/>
                <a:ea typeface="Arial" pitchFamily="34" charset="-122"/>
                <a:cs typeface="Arial" pitchFamily="34" charset="-120"/>
              </a:rPr>
              <a:t>@Transactional no cambia en nada por tener columnas JSONB de por medio.</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Consultas sobre columnas JSONB</dc:title>
  <dc:subject>PptxGenJS Presentation</dc:subject>
  <dc:creator>Acceso a Datos</dc:creator>
  <cp:lastModifiedBy>Acceso a Datos</cp:lastModifiedBy>
  <cp:revision>1</cp:revision>
  <dcterms:created xsi:type="dcterms:W3CDTF">2026-08-07T17:17:54Z</dcterms:created>
  <dcterms:modified xsi:type="dcterms:W3CDTF">2026-08-07T17:17:54Z</dcterms:modified>
</cp:coreProperties>
</file>