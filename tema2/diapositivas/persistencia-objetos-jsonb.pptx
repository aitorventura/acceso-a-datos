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F0000"/>
        </a:solidFill>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indent="0" marL="0">
              <a:buNone/>
            </a:pPr>
            <a:r>
              <a:rPr lang="en-US" sz="1400" dirty="0">
                <a:solidFill>
                  <a:srgbClr val="E0A8A8"/>
                </a:solidFill>
                <a:latin typeface="Arial" pitchFamily="34" charset="0"/>
                <a:ea typeface="Arial" pitchFamily="34" charset="-122"/>
                <a:cs typeface="Arial" pitchFamily="34" charset="-120"/>
              </a:rPr>
              <a:t>ACCESO A DATOS  —  TEMA 2: BD OBJETO-RELACIONALES</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algn="l" indent="0" marL="0">
              <a:buNone/>
            </a:pPr>
            <a:r>
              <a:rPr lang="en-US" sz="3800" b="1" dirty="0">
                <a:solidFill>
                  <a:srgbClr val="FFFFFF"/>
                </a:solidFill>
                <a:latin typeface="Arial" pitchFamily="34" charset="0"/>
                <a:ea typeface="Arial" pitchFamily="34" charset="-122"/>
                <a:cs typeface="Arial" pitchFamily="34" charset="-120"/>
              </a:rPr>
              <a:t>Persistencia de</a:t>
            </a:r>
            <a:endParaRPr lang="en-US" sz="3800" dirty="0"/>
          </a:p>
          <a:p>
            <a:pPr algn="l" indent="0" marL="0">
              <a:buNone/>
            </a:pPr>
            <a:r>
              <a:rPr lang="en-US" sz="3800" b="1" dirty="0">
                <a:solidFill>
                  <a:srgbClr val="FFFFFF"/>
                </a:solidFill>
                <a:latin typeface="Arial" pitchFamily="34" charset="0"/>
                <a:ea typeface="Arial" pitchFamily="34" charset="-122"/>
                <a:cs typeface="Arial" pitchFamily="34" charset="-120"/>
              </a:rPr>
              <a:t>objetos con JSONB</a:t>
            </a:r>
            <a:endParaRPr lang="en-US" sz="3800" dirty="0"/>
          </a:p>
        </p:txBody>
      </p:sp>
      <p:sp>
        <p:nvSpPr>
          <p:cNvPr id="4" name="Shape 2"/>
          <p:cNvSpPr/>
          <p:nvPr/>
        </p:nvSpPr>
        <p:spPr>
          <a:xfrm>
            <a:off x="0" y="5120640"/>
            <a:ext cx="12188952" cy="914400"/>
          </a:xfrm>
          <a:prstGeom prst="rect">
            <a:avLst/>
          </a:prstGeom>
          <a:solidFill>
            <a:srgbClr val="E64A19"/>
          </a:solidFill>
          <a:ln w="12700">
            <a:solidFill>
              <a:srgbClr val="E64A19"/>
            </a:solidFill>
            <a:prstDash val="solid"/>
          </a:ln>
        </p:spPr>
      </p:sp>
      <p:sp>
        <p:nvSpPr>
          <p:cNvPr id="5" name="Text 3"/>
          <p:cNvSpPr/>
          <p:nvPr/>
        </p:nvSpPr>
        <p:spPr>
          <a:xfrm>
            <a:off x="548640" y="5120640"/>
            <a:ext cx="11091672" cy="914400"/>
          </a:xfrm>
          <a:prstGeom prst="rect">
            <a:avLst/>
          </a:prstGeom>
          <a:noFill/>
          <a:ln/>
        </p:spPr>
        <p:txBody>
          <a:bodyPr wrap="square" rtlCol="0" anchor="ctr"/>
          <a:lstStyle/>
          <a:p>
            <a:pPr indent="0" marL="0">
              <a:buNone/>
            </a:pPr>
            <a:r>
              <a:rPr lang="en-US" sz="1900" i="1" dirty="0">
                <a:solidFill>
                  <a:srgbClr val="FFFFFF"/>
                </a:solidFill>
                <a:latin typeface="Arial" pitchFamily="34" charset="0"/>
                <a:ea typeface="Arial" pitchFamily="34" charset="-122"/>
                <a:cs typeface="Arial" pitchFamily="34" charset="-120"/>
              </a:rPr>
              <a:t>1. Persistencia de objetos con JSONB</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Persistencia de objetos con JSONB</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1920240"/>
            <a:ext cx="11091672" cy="1463040"/>
          </a:xfrm>
          <a:prstGeom prst="roundRect">
            <a:avLst/>
          </a:prstGeom>
          <a:solidFill>
            <a:srgbClr val="FBE9E7"/>
          </a:solidFill>
          <a:ln w="19050">
            <a:solidFill>
              <a:srgbClr val="E64A19"/>
            </a:solidFill>
            <a:prstDash val="solid"/>
          </a:ln>
        </p:spPr>
      </p:sp>
      <p:sp>
        <p:nvSpPr>
          <p:cNvPr id="6" name="Text 4"/>
          <p:cNvSpPr/>
          <p:nvPr/>
        </p:nvSpPr>
        <p:spPr>
          <a:xfrm>
            <a:off x="822960" y="2011680"/>
            <a:ext cx="10543032" cy="1280160"/>
          </a:xfrm>
          <a:prstGeom prst="rect">
            <a:avLst/>
          </a:prstGeom>
          <a:noFill/>
          <a:ln/>
        </p:spPr>
        <p:txBody>
          <a:bodyPr wrap="square" rtlCol="0" anchor="ctr"/>
          <a:lstStyle/>
          <a:p>
            <a:pPr indent="0" marL="0">
              <a:buNone/>
            </a:pPr>
            <a:r>
              <a:rPr lang="en-US" sz="1900" dirty="0">
                <a:solidFill>
                  <a:srgbClr val="212121"/>
                </a:solidFill>
                <a:latin typeface="Arial" pitchFamily="34" charset="0"/>
                <a:ea typeface="Arial" pitchFamily="34" charset="-122"/>
                <a:cs typeface="Arial" pitchFamily="34" charset="-120"/>
              </a:rPr>
              <a:t>Hasta ahora, cada atributo de tus entidades se almacenaba normalmente en una columna independiente. Este apartado introduce una posibilidad intermedia entre el modelo relacional clásico y las bases de datos orientadas a objetos: utilizar capacidades objeto-relacionales de PostgreSQL para almacenar datos estructurados dentro de una columna.</a:t>
            </a:r>
            <a:endParaRPr lang="en-US" sz="1900" dirty="0"/>
          </a:p>
        </p:txBody>
      </p:sp>
      <p:sp>
        <p:nvSpPr>
          <p:cNvPr id="7" name="Text 5"/>
          <p:cNvSpPr/>
          <p:nvPr/>
        </p:nvSpPr>
        <p:spPr>
          <a:xfrm>
            <a:off x="548640" y="3703320"/>
            <a:ext cx="11091672" cy="777240"/>
          </a:xfrm>
          <a:prstGeom prst="rect">
            <a:avLst/>
          </a:prstGeom>
          <a:noFill/>
          <a:ln/>
        </p:spPr>
        <p:txBody>
          <a:bodyPr wrap="square" rtlCol="0" anchor="t"/>
          <a:lstStyle/>
          <a:p>
            <a:pPr indent="0" marL="0">
              <a:buNone/>
            </a:pPr>
            <a:r>
              <a:rPr lang="en-US" sz="1700" dirty="0">
                <a:solidFill>
                  <a:srgbClr val="757575"/>
                </a:solidFill>
                <a:latin typeface="Arial" pitchFamily="34" charset="0"/>
                <a:ea typeface="Arial" pitchFamily="34" charset="-122"/>
                <a:cs typeface="Arial" pitchFamily="34" charset="-120"/>
              </a:rPr>
              <a:t>Con jsonb, PostgreSQL no guarda directamente un objeto Java ni sus métodos. Guarda su representación como un documento JSON, que Hibernate puede convertir al escribir y reconstruir al leer.</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Repaso rápido: qué es JSON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371600"/>
            <a:ext cx="11091672" cy="868680"/>
          </a:xfrm>
          <a:prstGeom prst="rect">
            <a:avLst/>
          </a:prstGeom>
          <a:noFill/>
          <a:ln/>
        </p:spPr>
        <p:txBody>
          <a:bodyPr wrap="square" rtlCol="0" anchor="t"/>
          <a:lstStyle/>
          <a:p>
            <a:pPr indent="0" marL="0">
              <a:buNone/>
            </a:pPr>
            <a:r>
              <a:rPr lang="en-US" sz="1800" dirty="0">
                <a:solidFill>
                  <a:srgbClr val="212121"/>
                </a:solidFill>
                <a:latin typeface="Arial" pitchFamily="34" charset="0"/>
                <a:ea typeface="Arial" pitchFamily="34" charset="-122"/>
                <a:cs typeface="Arial" pitchFamily="34" charset="-120"/>
              </a:rPr>
              <a:t>JSON (JavaScript Object Notation) es un formato de texto para representar datos estructurados: objetos (pares clave-valor entre {}), arrays (listas entre []), y valores anidables entre ambos:</a:t>
            </a:r>
            <a:endParaRPr lang="en-US" sz="1800" dirty="0"/>
          </a:p>
        </p:txBody>
      </p:sp>
      <p:sp>
        <p:nvSpPr>
          <p:cNvPr id="6" name="Shape 4"/>
          <p:cNvSpPr/>
          <p:nvPr/>
        </p:nvSpPr>
        <p:spPr>
          <a:xfrm>
            <a:off x="548640" y="2514600"/>
            <a:ext cx="11091672" cy="2011680"/>
          </a:xfrm>
          <a:prstGeom prst="rect">
            <a:avLst/>
          </a:prstGeom>
          <a:solidFill>
            <a:srgbClr val="ECEFF1"/>
          </a:solidFill>
          <a:ln w="12700">
            <a:solidFill>
              <a:srgbClr val="EEEEEE"/>
            </a:solidFill>
            <a:prstDash val="solid"/>
          </a:ln>
        </p:spPr>
      </p:sp>
      <p:sp>
        <p:nvSpPr>
          <p:cNvPr id="7" name="Shape 5"/>
          <p:cNvSpPr/>
          <p:nvPr/>
        </p:nvSpPr>
        <p:spPr>
          <a:xfrm>
            <a:off x="548640" y="2514600"/>
            <a:ext cx="73152" cy="2011680"/>
          </a:xfrm>
          <a:prstGeom prst="rect">
            <a:avLst/>
          </a:prstGeom>
          <a:solidFill>
            <a:srgbClr val="E64A19"/>
          </a:solidFill>
          <a:ln w="12700">
            <a:solidFill>
              <a:srgbClr val="E64A19"/>
            </a:solidFill>
            <a:prstDash val="solid"/>
          </a:ln>
        </p:spPr>
      </p:sp>
      <p:sp>
        <p:nvSpPr>
          <p:cNvPr id="8" name="Text 6"/>
          <p:cNvSpPr/>
          <p:nvPr/>
        </p:nvSpPr>
        <p:spPr>
          <a:xfrm>
            <a:off x="822960" y="2624328"/>
            <a:ext cx="10588752" cy="1792224"/>
          </a:xfrm>
          <a:prstGeom prst="rect">
            <a:avLst/>
          </a:prstGeom>
          <a:noFill/>
          <a:ln/>
        </p:spPr>
        <p:txBody>
          <a:bodyPr wrap="square" rtlCol="0" anchor="t"/>
          <a:lstStyle/>
          <a:p>
            <a:pPr indent="0" marL="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263238"/>
                </a:solidFill>
                <a:latin typeface="Courier New" pitchFamily="34" charset="0"/>
                <a:ea typeface="Courier New" pitchFamily="34" charset="-122"/>
                <a:cs typeface="Courier New" pitchFamily="34" charset="-120"/>
              </a:rPr>
              <a:t>   "tapaDura":{</a:t>
            </a:r>
            <a:endParaRPr lang="en-US" sz="1500" dirty="0"/>
          </a:p>
          <a:p>
            <a:pPr indent="0" marL="0">
              <a:buNone/>
            </a:pPr>
            <a:r>
              <a:rPr lang="en-US" sz="1500" dirty="0">
                <a:solidFill>
                  <a:srgbClr val="263238"/>
                </a:solidFill>
                <a:latin typeface="Courier New" pitchFamily="34" charset="0"/>
                <a:ea typeface="Courier New" pitchFamily="34" charset="-122"/>
                <a:cs typeface="Courier New" pitchFamily="34" charset="-120"/>
              </a:rPr>
              <a:t>      "isbn":"978-84-376-0494-7",</a:t>
            </a:r>
            <a:endParaRPr lang="en-US" sz="1500" dirty="0"/>
          </a:p>
          <a:p>
            <a:pPr indent="0" marL="0">
              <a:buNone/>
            </a:pPr>
            <a:r>
              <a:rPr lang="en-US" sz="1500" dirty="0">
                <a:solidFill>
                  <a:srgbClr val="263238"/>
                </a:solidFill>
                <a:latin typeface="Courier New" pitchFamily="34" charset="0"/>
                <a:ea typeface="Courier New" pitchFamily="34" charset="-122"/>
                <a:cs typeface="Courier New" pitchFamily="34" charset="-120"/>
              </a:rPr>
              <a:t>      "paginas":496</a:t>
            </a:r>
            <a:endParaRPr lang="en-US" sz="1500" dirty="0"/>
          </a:p>
          <a:p>
            <a:pPr indent="0" marL="0">
              <a:buNone/>
            </a:pPr>
            <a:r>
              <a:rPr lang="en-US" sz="1500" dirty="0">
                <a:solidFill>
                  <a:srgbClr val="263238"/>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263238"/>
                </a:solidFill>
                <a:latin typeface="Courier New" pitchFamily="34" charset="0"/>
                <a:ea typeface="Courier New" pitchFamily="34" charset="-122"/>
                <a:cs typeface="Courier New" pitchFamily="34" charset="-120"/>
              </a:rPr>
              <a:t>   "ebook":{</a:t>
            </a:r>
            <a:endParaRPr lang="en-US" sz="1500" dirty="0"/>
          </a:p>
          <a:p>
            <a:pPr indent="0" marL="0">
              <a:buNone/>
            </a:pPr>
            <a:r>
              <a:rPr lang="en-US" sz="1500" dirty="0">
                <a:solidFill>
                  <a:srgbClr val="263238"/>
                </a:solidFill>
                <a:latin typeface="Courier New" pitchFamily="34" charset="0"/>
                <a:ea typeface="Courier New" pitchFamily="34" charset="-122"/>
                <a:cs typeface="Courier New" pitchFamily="34" charset="-120"/>
              </a:rPr>
              <a:t>      "formato":"epub"</a:t>
            </a:r>
            <a:endParaRPr lang="en-US" sz="1500" dirty="0"/>
          </a:p>
          <a:p>
            <a:pPr indent="0" marL="0">
              <a:buNone/>
            </a:pPr>
            <a:r>
              <a:rPr lang="en-US" sz="1500" dirty="0">
                <a:solidFill>
                  <a:srgbClr val="263238"/>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p:txBody>
      </p:sp>
      <p:sp>
        <p:nvSpPr>
          <p:cNvPr id="9" name="Text 7"/>
          <p:cNvSpPr/>
          <p:nvPr/>
        </p:nvSpPr>
        <p:spPr>
          <a:xfrm>
            <a:off x="548640" y="4800600"/>
            <a:ext cx="11091672" cy="640080"/>
          </a:xfrm>
          <a:prstGeom prst="rect">
            <a:avLst/>
          </a:prstGeom>
          <a:noFill/>
          <a:ln/>
        </p:spPr>
        <p:txBody>
          <a:bodyPr wrap="square" rtlCol="0" anchor="t"/>
          <a:lstStyle/>
          <a:p>
            <a:pPr indent="0" marL="0">
              <a:buNone/>
            </a:pPr>
            <a:r>
              <a:rPr lang="en-US" sz="1600" dirty="0">
                <a:solidFill>
                  <a:srgbClr val="757575"/>
                </a:solidFill>
                <a:latin typeface="Arial" pitchFamily="34" charset="0"/>
                <a:ea typeface="Arial" pitchFamily="34" charset="-122"/>
                <a:cs typeface="Arial" pitchFamily="34" charset="-120"/>
              </a:rPr>
              <a:t>Se ha convertido en el formato universal de intercambio de datos porque es legible por humanos, ligero, y prácticamente todos los lenguajes lo leen y escriben de forma nativa.</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Objeto simple vs. objeto estructurado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2103120"/>
            <a:ext cx="11091672" cy="2743200"/>
          </a:xfrm>
          <a:prstGeom prst="rect">
            <a:avLst/>
          </a:prstGeom>
          <a:noFill/>
          <a:ln/>
        </p:spPr>
        <p:txBody>
          <a:bodyPr wrap="square" rtlCol="0" anchor="t"/>
          <a:lstStyle/>
          <a:p>
            <a:pPr marL="190500" indent="-190500">
              <a:spcAft>
                <a:spcPts val="2200"/>
              </a:spcAft>
              <a:buSzPct val="100000"/>
              <a:buChar char="•"/>
            </a:pPr>
            <a:r>
              <a:rPr lang="en-US" sz="1950" dirty="0">
                <a:solidFill>
                  <a:srgbClr val="212121"/>
                </a:solidFill>
                <a:latin typeface="Arial" pitchFamily="34" charset="0"/>
                <a:ea typeface="Arial" pitchFamily="34" charset="-122"/>
                <a:cs typeface="Arial" pitchFamily="34" charset="-120"/>
              </a:rPr>
              <a:t>Objeto simple: un valor escalar — un texto, un número, una fecha. Es lo que has persistido siempre (titulo, precio).</a:t>
            </a:r>
            <a:endParaRPr lang="en-US" sz="1950" dirty="0"/>
          </a:p>
          <a:p>
            <a:pPr marL="190500" indent="-190500">
              <a:buSzPct val="100000"/>
              <a:buChar char="•"/>
            </a:pPr>
            <a:r>
              <a:rPr lang="en-US" sz="1950" dirty="0">
                <a:solidFill>
                  <a:srgbClr val="212121"/>
                </a:solidFill>
                <a:latin typeface="Arial" pitchFamily="34" charset="0"/>
                <a:ea typeface="Arial" pitchFamily="34" charset="-122"/>
                <a:cs typeface="Arial" pitchFamily="34" charset="-120"/>
              </a:rPr>
              <a:t>Objeto estructurado: un objeto con campos anidados, posiblemente con colecciones dentro. En el ejemplo anterior, se almacenan los datos de dos ediciones del mismo libro —tapaDura y ebook— y cada una tiene sus propios atributos.</a:t>
            </a:r>
            <a:endParaRPr lang="en-US" sz="1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Qué ofrece PostgreSQL: el tipo jsonb</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1463040"/>
            <a:ext cx="11091672" cy="1371600"/>
          </a:xfrm>
          <a:prstGeom prst="roundRect">
            <a:avLst/>
          </a:prstGeom>
          <a:solidFill>
            <a:srgbClr val="FBE9E7"/>
          </a:solidFill>
          <a:ln w="19050">
            <a:solidFill>
              <a:srgbClr val="E64A19"/>
            </a:solidFill>
            <a:prstDash val="solid"/>
          </a:ln>
        </p:spPr>
      </p:sp>
      <p:sp>
        <p:nvSpPr>
          <p:cNvPr id="6" name="Text 4"/>
          <p:cNvSpPr/>
          <p:nvPr/>
        </p:nvSpPr>
        <p:spPr>
          <a:xfrm>
            <a:off x="822960" y="1554480"/>
            <a:ext cx="10543032" cy="1188720"/>
          </a:xfrm>
          <a:prstGeom prst="rect">
            <a:avLst/>
          </a:prstGeom>
          <a:noFill/>
          <a:ln/>
        </p:spPr>
        <p:txBody>
          <a:bodyPr wrap="square" rtlCol="0" anchor="ctr"/>
          <a:lstStyle/>
          <a:p>
            <a:pPr indent="0" marL="0">
              <a:buNone/>
            </a:pPr>
            <a:r>
              <a:rPr lang="en-US" sz="1850" dirty="0">
                <a:solidFill>
                  <a:srgbClr val="212121"/>
                </a:solidFill>
                <a:latin typeface="Arial" pitchFamily="34" charset="0"/>
                <a:ea typeface="Arial" pitchFamily="34" charset="-122"/>
                <a:cs typeface="Arial" pitchFamily="34" charset="-120"/>
              </a:rPr>
              <a:t>PostgreSQL tiene un tipo de columna especial, jsonb (JSON binario), que permite que una fila normal, de una tabla normal, lleve dentro un objeto JSON completo —con estructura que puede variar de una fila a otra— conviviendo con las columnas y claves foráneas de siempre.</a:t>
            </a:r>
            <a:endParaRPr lang="en-US" sz="1850" dirty="0"/>
          </a:p>
        </p:txBody>
      </p:sp>
      <p:sp>
        <p:nvSpPr>
          <p:cNvPr id="7" name="Text 5"/>
          <p:cNvSpPr/>
          <p:nvPr/>
        </p:nvSpPr>
        <p:spPr>
          <a:xfrm>
            <a:off x="548640" y="3154680"/>
            <a:ext cx="11091672" cy="914400"/>
          </a:xfrm>
          <a:prstGeom prst="rect">
            <a:avLst/>
          </a:prstGeom>
          <a:noFill/>
          <a:ln/>
        </p:spPr>
        <p:txBody>
          <a:bodyPr wrap="square" rtlCol="0" anchor="t"/>
          <a:lstStyle/>
          <a:p>
            <a:pPr indent="0" marL="0">
              <a:buNone/>
            </a:pPr>
            <a:r>
              <a:rPr lang="en-US" sz="1700" dirty="0">
                <a:solidFill>
                  <a:srgbClr val="757575"/>
                </a:solidFill>
                <a:latin typeface="Arial" pitchFamily="34" charset="0"/>
                <a:ea typeface="Arial" pitchFamily="34" charset="-122"/>
                <a:cs typeface="Arial" pitchFamily="34" charset="-120"/>
              </a:rPr>
              <a:t>No hace falta una base de datos documental aparte (eso lo verás en el Tema 3), ni tampoco una conexión distinta: sigue siendo el mismo PostgreSQL, el mismo DataSource del Tema 1, gestionado exactamente igual.</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json vs. jsonb, en una frase</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2468880"/>
            <a:ext cx="11091672" cy="1737360"/>
          </a:xfrm>
          <a:prstGeom prst="roundRect">
            <a:avLst/>
          </a:prstGeom>
          <a:solidFill>
            <a:srgbClr val="FBE9E7"/>
          </a:solidFill>
          <a:ln w="19050">
            <a:solidFill>
              <a:srgbClr val="E64A19"/>
            </a:solidFill>
            <a:prstDash val="solid"/>
          </a:ln>
        </p:spPr>
      </p:sp>
      <p:sp>
        <p:nvSpPr>
          <p:cNvPr id="6" name="Text 4"/>
          <p:cNvSpPr/>
          <p:nvPr/>
        </p:nvSpPr>
        <p:spPr>
          <a:xfrm>
            <a:off x="822960" y="2560320"/>
            <a:ext cx="10543032" cy="1554480"/>
          </a:xfrm>
          <a:prstGeom prst="rect">
            <a:avLst/>
          </a:prstGeom>
          <a:noFill/>
          <a:ln/>
        </p:spPr>
        <p:txBody>
          <a:bodyPr wrap="square" rtlCol="0" anchor="ctr"/>
          <a:lstStyle/>
          <a:p>
            <a:pPr indent="0" marL="0">
              <a:buNone/>
            </a:pPr>
            <a:r>
              <a:rPr lang="en-US" sz="2000" dirty="0">
                <a:solidFill>
                  <a:srgbClr val="212121"/>
                </a:solidFill>
                <a:latin typeface="Arial" pitchFamily="34" charset="0"/>
                <a:ea typeface="Arial" pitchFamily="34" charset="-122"/>
                <a:cs typeface="Arial" pitchFamily="34" charset="-120"/>
              </a:rPr>
              <a:t>PostgreSQL tiene dos tipos: json guarda el texto tal cual, sin analizarlo; jsonb lo analiza y lo guarda en un formato binario indexable y más rápido de consultar — por eso jsonb es casi siempre la opción preferida, salvo que necesites preservar el texto original exacto (espacios, orden de claves).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Un ejemplo completo: detallesEdicion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371600"/>
            <a:ext cx="11091672" cy="548640"/>
          </a:xfrm>
          <a:prstGeom prst="rect">
            <a:avLst/>
          </a:prstGeom>
          <a:noFill/>
          <a:ln/>
        </p:spPr>
        <p:txBody>
          <a:bodyPr wrap="square" rtlCol="0" anchor="t"/>
          <a:lstStyle/>
          <a:p>
            <a:pPr indent="0" marL="0">
              <a:buNone/>
            </a:pPr>
            <a:r>
              <a:rPr lang="en-US" sz="1750" dirty="0">
                <a:solidFill>
                  <a:srgbClr val="212121"/>
                </a:solidFill>
                <a:latin typeface="Arial" pitchFamily="34" charset="0"/>
                <a:ea typeface="Arial" pitchFamily="34" charset="-122"/>
                <a:cs typeface="Arial" pitchFamily="34" charset="-120"/>
              </a:rPr>
              <a:t>Cada libro puede existir en varios formatos (tapa dura, bolsillo, ebook), cada uno con sus propios datos internos — un objeto estructurado dentro de la entidad Libro:</a:t>
            </a:r>
            <a:endParaRPr lang="en-US" sz="1750" dirty="0"/>
          </a:p>
        </p:txBody>
      </p:sp>
      <p:sp>
        <p:nvSpPr>
          <p:cNvPr id="6" name="Shape 4"/>
          <p:cNvSpPr/>
          <p:nvPr/>
        </p:nvSpPr>
        <p:spPr>
          <a:xfrm>
            <a:off x="548640" y="2148840"/>
            <a:ext cx="11091672" cy="2651760"/>
          </a:xfrm>
          <a:prstGeom prst="rect">
            <a:avLst/>
          </a:prstGeom>
          <a:solidFill>
            <a:srgbClr val="ECEFF1"/>
          </a:solidFill>
          <a:ln w="12700">
            <a:solidFill>
              <a:srgbClr val="EEEEEE"/>
            </a:solidFill>
            <a:prstDash val="solid"/>
          </a:ln>
        </p:spPr>
      </p:sp>
      <p:sp>
        <p:nvSpPr>
          <p:cNvPr id="7" name="Shape 5"/>
          <p:cNvSpPr/>
          <p:nvPr/>
        </p:nvSpPr>
        <p:spPr>
          <a:xfrm>
            <a:off x="548640" y="2148840"/>
            <a:ext cx="73152" cy="2651760"/>
          </a:xfrm>
          <a:prstGeom prst="rect">
            <a:avLst/>
          </a:prstGeom>
          <a:solidFill>
            <a:srgbClr val="E64A19"/>
          </a:solidFill>
          <a:ln w="12700">
            <a:solidFill>
              <a:srgbClr val="E64A19"/>
            </a:solidFill>
            <a:prstDash val="solid"/>
          </a:ln>
        </p:spPr>
      </p:sp>
      <p:sp>
        <p:nvSpPr>
          <p:cNvPr id="8" name="Text 6"/>
          <p:cNvSpPr/>
          <p:nvPr/>
        </p:nvSpPr>
        <p:spPr>
          <a:xfrm>
            <a:off x="822960" y="2258568"/>
            <a:ext cx="10588752" cy="2432304"/>
          </a:xfrm>
          <a:prstGeom prst="rect">
            <a:avLst/>
          </a:prstGeom>
          <a:noFill/>
          <a:ln/>
        </p:spPr>
        <p:txBody>
          <a:bodyPr wrap="square" rtlCol="0" anchor="t"/>
          <a:lstStyle/>
          <a:p>
            <a:pPr indent="0" marL="0">
              <a:buNone/>
            </a:pPr>
            <a:r>
              <a:rPr lang="en-US" sz="1450" dirty="0">
                <a:solidFill>
                  <a:srgbClr val="263238"/>
                </a:solidFill>
                <a:latin typeface="Courier New" pitchFamily="34" charset="0"/>
                <a:ea typeface="Courier New" pitchFamily="34" charset="-122"/>
                <a:cs typeface="Courier New" pitchFamily="34" charset="-120"/>
              </a:rPr>
              <a:t>@Entity</a:t>
            </a:r>
            <a:endParaRPr lang="en-US" sz="1450" dirty="0"/>
          </a:p>
          <a:p>
            <a:pPr indent="0" marL="0">
              <a:buNone/>
            </a:pPr>
            <a:r>
              <a:rPr lang="en-US" sz="1450" dirty="0">
                <a:solidFill>
                  <a:srgbClr val="263238"/>
                </a:solidFill>
                <a:latin typeface="Courier New" pitchFamily="34" charset="0"/>
                <a:ea typeface="Courier New" pitchFamily="34" charset="-122"/>
                <a:cs typeface="Courier New" pitchFamily="34" charset="-120"/>
              </a:rPr>
              <a:t>@Table(name = "libro")</a:t>
            </a:r>
            <a:endParaRPr lang="en-US" sz="1450" dirty="0"/>
          </a:p>
          <a:p>
            <a:pPr indent="0" marL="0">
              <a:buNone/>
            </a:pPr>
            <a:r>
              <a:rPr lang="en-US" sz="1450" dirty="0">
                <a:solidFill>
                  <a:srgbClr val="263238"/>
                </a:solidFill>
                <a:latin typeface="Courier New" pitchFamily="34" charset="0"/>
                <a:ea typeface="Courier New" pitchFamily="34" charset="-122"/>
                <a:cs typeface="Courier New" pitchFamily="34" charset="-120"/>
              </a:rPr>
              <a:t>public class Libro {</a:t>
            </a:r>
            <a:endParaRPr lang="en-US" sz="1450" dirty="0"/>
          </a:p>
          <a:p>
            <a:pPr indent="0" marL="0">
              <a:buNone/>
            </a:pPr>
            <a:endParaRPr lang="en-US" sz="1450" dirty="0"/>
          </a:p>
          <a:p>
            <a:pPr indent="0" marL="0">
              <a:buNone/>
            </a:pPr>
            <a:r>
              <a:rPr lang="en-US" sz="1450" dirty="0">
                <a:solidFill>
                  <a:srgbClr val="263238"/>
                </a:solidFill>
                <a:latin typeface="Courier New" pitchFamily="34" charset="0"/>
                <a:ea typeface="Courier New" pitchFamily="34" charset="-122"/>
                <a:cs typeface="Courier New" pitchFamily="34" charset="-120"/>
              </a:rPr>
              <a:t>    // ... id, titulo, precio, fechaPublicacion ...</a:t>
            </a:r>
            <a:endParaRPr lang="en-US" sz="1450" dirty="0"/>
          </a:p>
          <a:p>
            <a:pPr indent="0" marL="0">
              <a:buNone/>
            </a:pPr>
            <a:endParaRPr lang="en-US" sz="1450" dirty="0"/>
          </a:p>
          <a:p>
            <a:pPr indent="0" marL="0">
              <a:buNone/>
            </a:pPr>
            <a:r>
              <a:rPr lang="en-US" sz="1450" dirty="0">
                <a:solidFill>
                  <a:srgbClr val="263238"/>
                </a:solidFill>
                <a:latin typeface="Courier New" pitchFamily="34" charset="0"/>
                <a:ea typeface="Courier New" pitchFamily="34" charset="-122"/>
                <a:cs typeface="Courier New" pitchFamily="34" charset="-120"/>
              </a:rPr>
              <a:t>    @JdbcTypeCode(SqlTypes.JSON)</a:t>
            </a:r>
            <a:endParaRPr lang="en-US" sz="1450" dirty="0"/>
          </a:p>
          <a:p>
            <a:pPr indent="0" marL="0">
              <a:buNone/>
            </a:pPr>
            <a:r>
              <a:rPr lang="en-US" sz="1450" dirty="0">
                <a:solidFill>
                  <a:srgbClr val="263238"/>
                </a:solidFill>
                <a:latin typeface="Courier New" pitchFamily="34" charset="0"/>
                <a:ea typeface="Courier New" pitchFamily="34" charset="-122"/>
                <a:cs typeface="Courier New" pitchFamily="34" charset="-120"/>
              </a:rPr>
              <a:t>    @Column(columnDefinition = "jsonb")</a:t>
            </a:r>
            <a:endParaRPr lang="en-US" sz="1450" dirty="0"/>
          </a:p>
          <a:p>
            <a:pPr indent="0" marL="0">
              <a:buNone/>
            </a:pPr>
            <a:r>
              <a:rPr lang="en-US" sz="1450" dirty="0">
                <a:solidFill>
                  <a:srgbClr val="263238"/>
                </a:solidFill>
                <a:latin typeface="Courier New" pitchFamily="34" charset="0"/>
                <a:ea typeface="Courier New" pitchFamily="34" charset="-122"/>
                <a:cs typeface="Courier New" pitchFamily="34" charset="-120"/>
              </a:rPr>
              <a:t>    private Map&lt;String, Object&gt; detallesEdicion;</a:t>
            </a:r>
            <a:endParaRPr lang="en-US" sz="1450" dirty="0"/>
          </a:p>
          <a:p>
            <a:pPr indent="0" marL="0">
              <a:buNone/>
            </a:pPr>
            <a:r>
              <a:rPr lang="en-US" sz="1450" dirty="0">
                <a:solidFill>
                  <a:srgbClr val="263238"/>
                </a:solidFill>
                <a:latin typeface="Courier New" pitchFamily="34" charset="0"/>
                <a:ea typeface="Courier New" pitchFamily="34" charset="-122"/>
                <a:cs typeface="Courier New" pitchFamily="34" charset="-120"/>
              </a:rPr>
              <a: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Qué hace cada anotación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2103120"/>
            <a:ext cx="11091672" cy="1280160"/>
          </a:xfrm>
          <a:prstGeom prst="roundRect">
            <a:avLst/>
          </a:prstGeom>
          <a:solidFill>
            <a:srgbClr val="FBE9E7"/>
          </a:solidFill>
          <a:ln w="19050">
            <a:solidFill>
              <a:srgbClr val="E64A19"/>
            </a:solidFill>
            <a:prstDash val="solid"/>
          </a:ln>
        </p:spPr>
      </p:sp>
      <p:sp>
        <p:nvSpPr>
          <p:cNvPr id="6" name="Text 4"/>
          <p:cNvSpPr/>
          <p:nvPr/>
        </p:nvSpPr>
        <p:spPr>
          <a:xfrm>
            <a:off x="822960" y="2194560"/>
            <a:ext cx="10543032" cy="1097280"/>
          </a:xfrm>
          <a:prstGeom prst="rect">
            <a:avLst/>
          </a:prstGeom>
          <a:noFill/>
          <a:ln/>
        </p:spPr>
        <p:txBody>
          <a:bodyPr wrap="square" rtlCol="0" anchor="ctr"/>
          <a:lstStyle/>
          <a:p>
            <a:pPr indent="0" marL="0">
              <a:buNone/>
            </a:pPr>
            <a:r>
              <a:rPr lang="en-US" sz="1950" dirty="0">
                <a:solidFill>
                  <a:srgbClr val="212121"/>
                </a:solidFill>
                <a:latin typeface="Arial" pitchFamily="34" charset="0"/>
                <a:ea typeface="Arial" pitchFamily="34" charset="-122"/>
                <a:cs typeface="Arial" pitchFamily="34" charset="-120"/>
              </a:rPr>
              <a:t>@Column(columnDefinition = "jsonb") le dice a Hibernate qué tipo de columna PostgreSQL usar; @JdbcTypeCode(SqlTypes.JSON) le dice cómo tratar ese campo — como JSON, no como un texto plano cualquiera.</a:t>
            </a:r>
            <a:endParaRPr lang="en-US" sz="1950" dirty="0"/>
          </a:p>
        </p:txBody>
      </p:sp>
      <p:sp>
        <p:nvSpPr>
          <p:cNvPr id="7" name="Text 5"/>
          <p:cNvSpPr/>
          <p:nvPr/>
        </p:nvSpPr>
        <p:spPr>
          <a:xfrm>
            <a:off x="548640" y="3749040"/>
            <a:ext cx="11091672" cy="777240"/>
          </a:xfrm>
          <a:prstGeom prst="rect">
            <a:avLst/>
          </a:prstGeom>
          <a:noFill/>
          <a:ln/>
        </p:spPr>
        <p:txBody>
          <a:bodyPr wrap="square" rtlCol="0" anchor="t"/>
          <a:lstStyle/>
          <a:p>
            <a:pPr indent="0" marL="0">
              <a:buNone/>
            </a:pPr>
            <a:r>
              <a:rPr lang="en-US" sz="1800" dirty="0">
                <a:solidFill>
                  <a:srgbClr val="757575"/>
                </a:solidFill>
                <a:latin typeface="Arial" pitchFamily="34" charset="0"/>
                <a:ea typeface="Arial" pitchFamily="34" charset="-122"/>
                <a:cs typeface="Arial" pitchFamily="34" charset="-120"/>
              </a:rPr>
              <a:t>El tipo Java es un simple Map&lt;String, Object&gt;: no necesitas una clase Java específica para cada estructura posible, el mapa acepta cualquier forma de JSON.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titulo/precio vs. detallesEdicion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463040"/>
            <a:ext cx="11091672" cy="1005840"/>
          </a:xfrm>
          <a:prstGeom prst="rect">
            <a:avLst/>
          </a:prstGeom>
          <a:noFill/>
          <a:ln/>
        </p:spPr>
        <p:txBody>
          <a:bodyPr wrap="square" rtlCol="0" anchor="t"/>
          <a:lstStyle/>
          <a:p>
            <a:pPr indent="0" marL="0">
              <a:buNone/>
            </a:pPr>
            <a:r>
              <a:rPr lang="en-US" sz="1800" dirty="0">
                <a:solidFill>
                  <a:srgbClr val="212121"/>
                </a:solidFill>
                <a:latin typeface="Arial" pitchFamily="34" charset="0"/>
                <a:ea typeface="Arial" pitchFamily="34" charset="-122"/>
                <a:cs typeface="Arial" pitchFamily="34" charset="-120"/>
              </a:rPr>
              <a:t>titulo y precio son la persistencia "de toda la vida" del Tema 1 — un valor escalar por columna. detallesEdicion, en cambio, representa datos estructurados que Hibernate serializa como JSON dentro de una única columna:</a:t>
            </a:r>
            <a:endParaRPr lang="en-US" sz="1800" dirty="0"/>
          </a:p>
        </p:txBody>
      </p:sp>
      <p:sp>
        <p:nvSpPr>
          <p:cNvPr id="6" name="Shape 4"/>
          <p:cNvSpPr/>
          <p:nvPr/>
        </p:nvSpPr>
        <p:spPr>
          <a:xfrm>
            <a:off x="548640" y="2743200"/>
            <a:ext cx="11091672" cy="1280160"/>
          </a:xfrm>
          <a:prstGeom prst="rect">
            <a:avLst/>
          </a:prstGeom>
          <a:solidFill>
            <a:srgbClr val="ECEFF1"/>
          </a:solidFill>
          <a:ln w="12700">
            <a:solidFill>
              <a:srgbClr val="EEEEEE"/>
            </a:solidFill>
            <a:prstDash val="solid"/>
          </a:ln>
        </p:spPr>
      </p:sp>
      <p:sp>
        <p:nvSpPr>
          <p:cNvPr id="7" name="Shape 5"/>
          <p:cNvSpPr/>
          <p:nvPr/>
        </p:nvSpPr>
        <p:spPr>
          <a:xfrm>
            <a:off x="548640" y="2743200"/>
            <a:ext cx="73152" cy="1280160"/>
          </a:xfrm>
          <a:prstGeom prst="rect">
            <a:avLst/>
          </a:prstGeom>
          <a:solidFill>
            <a:srgbClr val="E64A19"/>
          </a:solidFill>
          <a:ln w="12700">
            <a:solidFill>
              <a:srgbClr val="E64A19"/>
            </a:solidFill>
            <a:prstDash val="solid"/>
          </a:ln>
        </p:spPr>
      </p:sp>
      <p:sp>
        <p:nvSpPr>
          <p:cNvPr id="8" name="Text 6"/>
          <p:cNvSpPr/>
          <p:nvPr/>
        </p:nvSpPr>
        <p:spPr>
          <a:xfrm>
            <a:off x="822960" y="2852928"/>
            <a:ext cx="10588752" cy="1060704"/>
          </a:xfrm>
          <a:prstGeom prst="rect">
            <a:avLst/>
          </a:prstGeom>
          <a:noFill/>
          <a:ln/>
        </p:spPr>
        <p:txBody>
          <a:bodyPr wrap="square" rtlCol="0" anchor="t"/>
          <a:lstStyle/>
          <a:p>
            <a:pPr indent="0" marL="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263238"/>
                </a:solidFill>
                <a:latin typeface="Courier New" pitchFamily="34" charset="0"/>
                <a:ea typeface="Courier New" pitchFamily="34" charset="-122"/>
                <a:cs typeface="Courier New" pitchFamily="34" charset="-120"/>
              </a:rPr>
              <a:t>   "tapaDura":{ "isbn":"978-84-376-0494-7", "paginas":496 },</a:t>
            </a:r>
            <a:endParaRPr lang="en-US" sz="1500" dirty="0"/>
          </a:p>
          <a:p>
            <a:pPr indent="0" marL="0">
              <a:buNone/>
            </a:pPr>
            <a:r>
              <a:rPr lang="en-US" sz="1500" dirty="0">
                <a:solidFill>
                  <a:srgbClr val="263238"/>
                </a:solidFill>
                <a:latin typeface="Courier New" pitchFamily="34" charset="0"/>
                <a:ea typeface="Courier New" pitchFamily="34" charset="-122"/>
                <a:cs typeface="Courier New" pitchFamily="34" charset="-120"/>
              </a:rPr>
              <a:t>   "ebook":{ "formato":"epub" }</a:t>
            </a:r>
            <a:endParaRPr lang="en-US" sz="1500" dirty="0"/>
          </a:p>
          <a:p>
            <a:pPr indent="0" marL="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Cómo Hibernate serializa el Map a JSON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1920240"/>
            <a:ext cx="11091672" cy="1463040"/>
          </a:xfrm>
          <a:prstGeom prst="roundRect">
            <a:avLst/>
          </a:prstGeom>
          <a:solidFill>
            <a:srgbClr val="FBE9E7"/>
          </a:solidFill>
          <a:ln w="19050">
            <a:solidFill>
              <a:srgbClr val="E64A19"/>
            </a:solidFill>
            <a:prstDash val="solid"/>
          </a:ln>
        </p:spPr>
      </p:sp>
      <p:sp>
        <p:nvSpPr>
          <p:cNvPr id="6" name="Text 4"/>
          <p:cNvSpPr/>
          <p:nvPr/>
        </p:nvSpPr>
        <p:spPr>
          <a:xfrm>
            <a:off x="822960" y="2011680"/>
            <a:ext cx="10543032" cy="1280160"/>
          </a:xfrm>
          <a:prstGeom prst="rect">
            <a:avLst/>
          </a:prstGeom>
          <a:noFill/>
          <a:ln/>
        </p:spPr>
        <p:txBody>
          <a:bodyPr wrap="square" rtlCol="0" anchor="ctr"/>
          <a:lstStyle/>
          <a:p>
            <a:pPr indent="0" marL="0">
              <a:buNone/>
            </a:pPr>
            <a:r>
              <a:rPr lang="en-US" sz="1900" dirty="0">
                <a:solidFill>
                  <a:srgbClr val="212121"/>
                </a:solidFill>
                <a:latin typeface="Arial" pitchFamily="34" charset="0"/>
                <a:ea typeface="Arial" pitchFamily="34" charset="-122"/>
                <a:cs typeface="Arial" pitchFamily="34" charset="-120"/>
              </a:rPr>
              <a:t>Hibernate necesita una biblioteca capaz de convertir el Map&lt;String, Object&gt; a JSON y reconstruirlo después. En este proyecto puede utilizar Jackson, que ya está disponible porque Spring Boot lo incorpora mediante las dependencias web que añadiste anteriormente.</a:t>
            </a:r>
            <a:endParaRPr lang="en-US" sz="1900" dirty="0"/>
          </a:p>
        </p:txBody>
      </p:sp>
      <p:sp>
        <p:nvSpPr>
          <p:cNvPr id="7" name="Text 5"/>
          <p:cNvSpPr/>
          <p:nvPr/>
        </p:nvSpPr>
        <p:spPr>
          <a:xfrm>
            <a:off x="548640" y="3703320"/>
            <a:ext cx="11091672" cy="868680"/>
          </a:xfrm>
          <a:prstGeom prst="rect">
            <a:avLst/>
          </a:prstGeom>
          <a:noFill/>
          <a:ln/>
        </p:spPr>
        <p:txBody>
          <a:bodyPr wrap="square" rtlCol="0" anchor="t"/>
          <a:lstStyle/>
          <a:p>
            <a:pPr indent="0" marL="0">
              <a:buNone/>
            </a:pPr>
            <a:r>
              <a:rPr lang="en-US" sz="1700" dirty="0">
                <a:solidFill>
                  <a:srgbClr val="757575"/>
                </a:solidFill>
                <a:latin typeface="Arial" pitchFamily="34" charset="0"/>
                <a:ea typeface="Arial" pitchFamily="34" charset="-122"/>
                <a:cs typeface="Arial" pitchFamily="34" charset="-120"/>
              </a:rPr>
              <a:t>Al detectar @JdbcTypeCode(SqlTypes.JSON) y encontrar Jackson en el classpath, Hibernate lo utiliza para esa conversión. Por eso no necesitas añadir una dependencia ni escribir un conversor manual.</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Por qué JSONB y no una tabla nueva</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280160"/>
            <a:ext cx="11091672" cy="548640"/>
          </a:xfrm>
          <a:prstGeom prst="rect">
            <a:avLst/>
          </a:prstGeom>
          <a:noFill/>
          <a:ln/>
        </p:spPr>
        <p:txBody>
          <a:bodyPr wrap="square" rtlCol="0" anchor="t"/>
          <a:lstStyle/>
          <a:p>
            <a:pPr indent="0" marL="0">
              <a:buNone/>
            </a:pPr>
            <a:r>
              <a:rPr lang="en-US" sz="1700" dirty="0">
                <a:solidFill>
                  <a:srgbClr val="212121"/>
                </a:solidFill>
                <a:latin typeface="Arial" pitchFamily="34" charset="0"/>
                <a:ea typeface="Arial" pitchFamily="34" charset="-122"/>
                <a:cs typeface="Arial" pitchFamily="34" charset="-120"/>
              </a:rPr>
              <a:t>Con lo que ya sabes del Tema 1, podrías haber modelado esto como una tabla detalle_edicion con @OneToMany. ¿Por qué elegir JSONB?</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91672" cy="914400"/>
        </p:xfrm>
        <a:graphic>
          <a:graphicData uri="http://schemas.openxmlformats.org/drawingml/2006/table">
            <a:tbl>
              <a:tblPr/>
              <a:tblGrid>
                <a:gridCol w="2440168"/>
                <a:gridCol w="4325752"/>
                <a:gridCol w="4325752"/>
              </a:tblGrid>
              <a:tr h="658368">
                <a:tc>
                  <a:txBody>
                    <a:bodyPr/>
                    <a:lstStyle/>
                    <a:p>
                      <a:pPr algn="ctr" indent="0" marL="0">
                        <a:buNone/>
                      </a:pPr>
                      <a:endParaRPr lang="en-US" sz="150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Modelo relacional</a:t>
                      </a:r>
                      <a:endParaRPr lang="en-US" sz="150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Columna JSONB</a:t>
                      </a:r>
                      <a:endParaRPr lang="en-US" sz="150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r>
              <a:tr h="658368">
                <a:tc>
                  <a:txBody>
                    <a:bodyPr/>
                    <a:lstStyle/>
                    <a:p>
                      <a:pPr indent="0" marL="0">
                        <a:buNone/>
                      </a:pPr>
                      <a:r>
                        <a:rPr lang="en-US" sz="1250" b="1" dirty="0">
                          <a:solidFill>
                            <a:srgbClr val="212121"/>
                          </a:solidFill>
                          <a:latin typeface="Arial" pitchFamily="34" charset="0"/>
                          <a:ea typeface="Arial" pitchFamily="34" charset="-122"/>
                          <a:cs typeface="Arial" pitchFamily="34" charset="-120"/>
                        </a:rPr>
                        <a:t>Añadir otra edición igual</a:t>
                      </a:r>
                      <a:endParaRPr lang="en-US" sz="12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indent="0" marL="0">
                        <a:buNone/>
                      </a:pPr>
                      <a:r>
                        <a:rPr lang="en-US" sz="1250" dirty="0">
                          <a:solidFill>
                            <a:srgbClr val="212121"/>
                          </a:solidFill>
                          <a:latin typeface="Arial" pitchFamily="34" charset="0"/>
                          <a:ea typeface="Arial" pitchFamily="34" charset="-122"/>
                          <a:cs typeface="Arial" pitchFamily="34" charset="-120"/>
                        </a:rPr>
                        <a:t>Insertar otra fila</a:t>
                      </a:r>
                      <a:endParaRPr lang="en-US" sz="12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indent="0" marL="0">
                        <a:buNone/>
                      </a:pPr>
                      <a:r>
                        <a:rPr lang="en-US" sz="1250" dirty="0">
                          <a:solidFill>
                            <a:srgbClr val="212121"/>
                          </a:solidFill>
                          <a:latin typeface="Arial" pitchFamily="34" charset="0"/>
                          <a:ea typeface="Arial" pitchFamily="34" charset="-122"/>
                          <a:cs typeface="Arial" pitchFamily="34" charset="-120"/>
                        </a:rPr>
                        <a:t>Modificar el documento JSON</a:t>
                      </a:r>
                      <a:endParaRPr lang="en-US" sz="12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r>
              <a:tr h="658368">
                <a:tc>
                  <a:txBody>
                    <a:bodyPr/>
                    <a:lstStyle/>
                    <a:p>
                      <a:pPr indent="0" marL="0">
                        <a:buNone/>
                      </a:pPr>
                      <a:r>
                        <a:rPr lang="en-US" sz="1250" b="1" dirty="0">
                          <a:solidFill>
                            <a:srgbClr val="212121"/>
                          </a:solidFill>
                          <a:latin typeface="Arial" pitchFamily="34" charset="0"/>
                          <a:ea typeface="Arial" pitchFamily="34" charset="-122"/>
                          <a:cs typeface="Arial" pitchFamily="34" charset="-120"/>
                        </a:rPr>
                        <a:t>Añadir atributos nuevos</a:t>
                      </a:r>
                      <a:endParaRPr lang="en-US" sz="12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indent="0" marL="0">
                        <a:buNone/>
                      </a:pPr>
                      <a:r>
                        <a:rPr lang="en-US" sz="1250" dirty="0">
                          <a:solidFill>
                            <a:srgbClr val="212121"/>
                          </a:solidFill>
                          <a:latin typeface="Arial" pitchFamily="34" charset="0"/>
                          <a:ea typeface="Arial" pitchFamily="34" charset="-122"/>
                          <a:cs typeface="Arial" pitchFamily="34" charset="-120"/>
                        </a:rPr>
                        <a:t>Puede requerir columnas/tablas nuevas</a:t>
                      </a:r>
                      <a:endParaRPr lang="en-US" sz="12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indent="0" marL="0">
                        <a:buNone/>
                      </a:pPr>
                      <a:r>
                        <a:rPr lang="en-US" sz="1250" dirty="0">
                          <a:solidFill>
                            <a:srgbClr val="212121"/>
                          </a:solidFill>
                          <a:latin typeface="Arial" pitchFamily="34" charset="0"/>
                          <a:ea typeface="Arial" pitchFamily="34" charset="-122"/>
                          <a:cs typeface="Arial" pitchFamily="34" charset="-120"/>
                        </a:rPr>
                        <a:t>Normalmente no requiere cambiar el esquema</a:t>
                      </a:r>
                      <a:endParaRPr lang="en-US" sz="12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r>
              <a:tr h="658368">
                <a:tc>
                  <a:txBody>
                    <a:bodyPr/>
                    <a:lstStyle/>
                    <a:p>
                      <a:pPr indent="0" marL="0">
                        <a:buNone/>
                      </a:pPr>
                      <a:r>
                        <a:rPr lang="en-US" sz="1250" b="1" dirty="0">
                          <a:solidFill>
                            <a:srgbClr val="212121"/>
                          </a:solidFill>
                          <a:latin typeface="Arial" pitchFamily="34" charset="0"/>
                          <a:ea typeface="Arial" pitchFamily="34" charset="-122"/>
                          <a:cs typeface="Arial" pitchFamily="34" charset="-120"/>
                        </a:rPr>
                        <a:t>Integridad y validación</a:t>
                      </a:r>
                      <a:endParaRPr lang="en-US" sz="12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indent="0" marL="0">
                        <a:buNone/>
                      </a:pPr>
                      <a:r>
                        <a:rPr lang="en-US" sz="1250" dirty="0">
                          <a:solidFill>
                            <a:srgbClr val="212121"/>
                          </a:solidFill>
                          <a:latin typeface="Arial" pitchFamily="34" charset="0"/>
                          <a:ea typeface="Arial" pitchFamily="34" charset="-122"/>
                          <a:cs typeface="Arial" pitchFamily="34" charset="-120"/>
                        </a:rPr>
                        <a:t>El motor aplica tipos y claves foráneas</a:t>
                      </a:r>
                      <a:endParaRPr lang="en-US" sz="12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indent="0" marL="0">
                        <a:buNone/>
                      </a:pPr>
                      <a:r>
                        <a:rPr lang="en-US" sz="1250" dirty="0">
                          <a:solidFill>
                            <a:srgbClr val="212121"/>
                          </a:solidFill>
                          <a:latin typeface="Arial" pitchFamily="34" charset="0"/>
                          <a:ea typeface="Arial" pitchFamily="34" charset="-122"/>
                          <a:cs typeface="Arial" pitchFamily="34" charset="-120"/>
                        </a:rPr>
                        <a:t>La estructura interna no se valida por defecto</a:t>
                      </a:r>
                      <a:endParaRPr lang="en-US" sz="12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r>
              <a:tr h="658368">
                <a:tc>
                  <a:txBody>
                    <a:bodyPr/>
                    <a:lstStyle/>
                    <a:p>
                      <a:pPr indent="0" marL="0">
                        <a:buNone/>
                      </a:pPr>
                      <a:r>
                        <a:rPr lang="en-US" sz="1250" b="1" dirty="0">
                          <a:solidFill>
                            <a:srgbClr val="212121"/>
                          </a:solidFill>
                          <a:latin typeface="Arial" pitchFamily="34" charset="0"/>
                          <a:ea typeface="Arial" pitchFamily="34" charset="-122"/>
                          <a:cs typeface="Arial" pitchFamily="34" charset="-120"/>
                        </a:rPr>
                        <a:t>Acceso desde Java</a:t>
                      </a:r>
                      <a:endParaRPr lang="en-US" sz="12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indent="0" marL="0">
                        <a:buNone/>
                      </a:pPr>
                      <a:r>
                        <a:rPr lang="en-US" sz="1250" dirty="0">
                          <a:solidFill>
                            <a:srgbClr val="212121"/>
                          </a:solidFill>
                          <a:latin typeface="Arial" pitchFamily="34" charset="0"/>
                          <a:ea typeface="Arial" pitchFamily="34" charset="-122"/>
                          <a:cs typeface="Arial" pitchFamily="34" charset="-120"/>
                        </a:rPr>
                        <a:t>Entidades y atributos tipados</a:t>
                      </a:r>
                      <a:endParaRPr lang="en-US" sz="12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indent="0" marL="0">
                        <a:buNone/>
                      </a:pPr>
                      <a:r>
                        <a:rPr lang="en-US" sz="1250" dirty="0">
                          <a:solidFill>
                            <a:srgbClr val="212121"/>
                          </a:solidFill>
                          <a:latin typeface="Arial" pitchFamily="34" charset="0"/>
                          <a:ea typeface="Arial" pitchFamily="34" charset="-122"/>
                          <a:cs typeface="Arial" pitchFamily="34" charset="-120"/>
                        </a:rPr>
                        <a:t>Con Map, claves y tipos se comprueban en ejecución</a:t>
                      </a:r>
                      <a:endParaRPr lang="en-US" sz="12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La pérdida de tipado, en la práctica</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1463040"/>
            <a:ext cx="11091672" cy="1737360"/>
          </a:xfrm>
          <a:prstGeom prst="roundRect">
            <a:avLst/>
          </a:prstGeom>
          <a:solidFill>
            <a:srgbClr val="FBE9E7"/>
          </a:solidFill>
          <a:ln w="19050">
            <a:solidFill>
              <a:srgbClr val="E64A19"/>
            </a:solidFill>
            <a:prstDash val="solid"/>
          </a:ln>
        </p:spPr>
      </p:sp>
      <p:sp>
        <p:nvSpPr>
          <p:cNvPr id="6" name="Text 4"/>
          <p:cNvSpPr/>
          <p:nvPr/>
        </p:nvSpPr>
        <p:spPr>
          <a:xfrm>
            <a:off x="822960" y="1554480"/>
            <a:ext cx="10543032" cy="1554480"/>
          </a:xfrm>
          <a:prstGeom prst="rect">
            <a:avLst/>
          </a:prstGeom>
          <a:noFill/>
          <a:ln/>
        </p:spPr>
        <p:txBody>
          <a:bodyPr wrap="square" rtlCol="0" anchor="ctr"/>
          <a:lstStyle/>
          <a:p>
            <a:pPr indent="0" marL="0">
              <a:buNone/>
            </a:pPr>
            <a:r>
              <a:rPr lang="en-US" sz="1850" dirty="0">
                <a:solidFill>
                  <a:srgbClr val="212121"/>
                </a:solidFill>
                <a:latin typeface="Arial" pitchFamily="34" charset="0"/>
                <a:ea typeface="Arial" pitchFamily="34" charset="-122"/>
                <a:cs typeface="Arial" pitchFamily="34" charset="-120"/>
              </a:rPr>
              <a:t>Con una tabla relacional, escribir detalleEdicion.getPaginas() que no existe da un error de compilación. Con Map&lt;String, Object&gt;, en cambio, detallesEdicion.get("paginas") compila sin problema aunque hayas escrito "pagina" por error: el fallo no aparece hasta que ejecutas el código y te encuentras con un null inesperado.</a:t>
            </a:r>
            <a:endParaRPr lang="en-US" sz="1850" dirty="0"/>
          </a:p>
        </p:txBody>
      </p:sp>
      <p:sp>
        <p:nvSpPr>
          <p:cNvPr id="7" name="Text 5"/>
          <p:cNvSpPr/>
          <p:nvPr/>
        </p:nvSpPr>
        <p:spPr>
          <a:xfrm>
            <a:off x="548640" y="3520440"/>
            <a:ext cx="11091672" cy="548640"/>
          </a:xfrm>
          <a:prstGeom prst="rect">
            <a:avLst/>
          </a:prstGeom>
          <a:noFill/>
          <a:ln/>
        </p:spPr>
        <p:txBody>
          <a:bodyPr wrap="square" rtlCol="0" anchor="t"/>
          <a:lstStyle/>
          <a:p>
            <a:pPr indent="0" marL="0">
              <a:buNone/>
            </a:pPr>
            <a:r>
              <a:rPr lang="en-US" sz="1700" dirty="0">
                <a:solidFill>
                  <a:srgbClr val="757575"/>
                </a:solidFill>
                <a:latin typeface="Arial" pitchFamily="34" charset="0"/>
                <a:ea typeface="Arial" pitchFamily="34" charset="-122"/>
                <a:cs typeface="Arial" pitchFamily="34" charset="-120"/>
              </a:rPr>
              <a:t>El compilador ya no te cubre las espaldas — pasa a ser responsabilidad tuya, en tiempo de ejecución.</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Qué es un índice</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2011680"/>
            <a:ext cx="11091672" cy="1554480"/>
          </a:xfrm>
          <a:prstGeom prst="roundRect">
            <a:avLst/>
          </a:prstGeom>
          <a:solidFill>
            <a:srgbClr val="FBE9E7"/>
          </a:solidFill>
          <a:ln w="19050">
            <a:solidFill>
              <a:srgbClr val="E64A19"/>
            </a:solidFill>
            <a:prstDash val="solid"/>
          </a:ln>
        </p:spPr>
      </p:sp>
      <p:sp>
        <p:nvSpPr>
          <p:cNvPr id="6" name="Text 4"/>
          <p:cNvSpPr/>
          <p:nvPr/>
        </p:nvSpPr>
        <p:spPr>
          <a:xfrm>
            <a:off x="822960" y="2103120"/>
            <a:ext cx="10543032" cy="1371600"/>
          </a:xfrm>
          <a:prstGeom prst="rect">
            <a:avLst/>
          </a:prstGeom>
          <a:noFill/>
          <a:ln/>
        </p:spPr>
        <p:txBody>
          <a:bodyPr wrap="square" rtlCol="0" anchor="ctr"/>
          <a:lstStyle/>
          <a:p>
            <a:pPr indent="0" marL="0">
              <a:buNone/>
            </a:pPr>
            <a:r>
              <a:rPr lang="en-US" sz="1900" dirty="0">
                <a:solidFill>
                  <a:srgbClr val="212121"/>
                </a:solidFill>
                <a:latin typeface="Arial" pitchFamily="34" charset="0"/>
                <a:ea typeface="Arial" pitchFamily="34" charset="-122"/>
                <a:cs typeface="Arial" pitchFamily="34" charset="-120"/>
              </a:rPr>
              <a:t>Un índice es una estructura auxiliar que el motor de base de datos mantiene aparte de la tabla, pensada para encontrar filas rápido sin recorrerlas todas — la misma idea que el índice de un libro: en vez de leer página por página, vas directo a la página que el índice señala.</a:t>
            </a:r>
            <a:endParaRPr lang="en-US" sz="1900" dirty="0"/>
          </a:p>
        </p:txBody>
      </p:sp>
      <p:sp>
        <p:nvSpPr>
          <p:cNvPr id="7" name="Text 5"/>
          <p:cNvSpPr/>
          <p:nvPr/>
        </p:nvSpPr>
        <p:spPr>
          <a:xfrm>
            <a:off x="548640" y="3886200"/>
            <a:ext cx="11091672" cy="548640"/>
          </a:xfrm>
          <a:prstGeom prst="rect">
            <a:avLst/>
          </a:prstGeom>
          <a:noFill/>
          <a:ln/>
        </p:spPr>
        <p:txBody>
          <a:bodyPr wrap="square" rtlCol="0" anchor="t"/>
          <a:lstStyle/>
          <a:p>
            <a:pPr indent="0" marL="0">
              <a:buNone/>
            </a:pPr>
            <a:r>
              <a:rPr lang="en-US" sz="1700" dirty="0">
                <a:solidFill>
                  <a:srgbClr val="757575"/>
                </a:solidFill>
                <a:latin typeface="Arial" pitchFamily="34" charset="0"/>
                <a:ea typeface="Arial" pitchFamily="34" charset="-122"/>
                <a:cs typeface="Arial" pitchFamily="34" charset="-120"/>
              </a:rPr>
              <a:t>Sin un índice adecuado para la consulta, PostgreSQL puede tener que recorrer la tabla entera, fila a fila.</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B-tree y GIN: dos tipos de índice distintos</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371600"/>
            <a:ext cx="11091672" cy="914400"/>
          </a:xfrm>
          <a:prstGeom prst="rect">
            <a:avLst/>
          </a:prstGeom>
          <a:noFill/>
          <a:ln/>
        </p:spPr>
        <p:txBody>
          <a:bodyPr wrap="square" rtlCol="0" anchor="t"/>
          <a:lstStyle/>
          <a:p>
            <a:pPr indent="0" marL="0">
              <a:buNone/>
            </a:pPr>
            <a:r>
              <a:rPr lang="en-US" sz="1800" dirty="0">
                <a:solidFill>
                  <a:srgbClr val="212121"/>
                </a:solidFill>
                <a:latin typeface="Arial" pitchFamily="34" charset="0"/>
                <a:ea typeface="Arial" pitchFamily="34" charset="-122"/>
                <a:cs typeface="Arial" pitchFamily="34" charset="-120"/>
              </a:rPr>
              <a:t>El tipo más habitual es el B-tree, apropiado para igualdad, comparaciones por rango y ordenación sobre valores escalares: buscar un título concreto u ordenar por precio.</a:t>
            </a:r>
            <a:endParaRPr lang="en-US" sz="1800" dirty="0"/>
          </a:p>
        </p:txBody>
      </p:sp>
      <p:sp>
        <p:nvSpPr>
          <p:cNvPr id="6" name="Shape 4"/>
          <p:cNvSpPr/>
          <p:nvPr/>
        </p:nvSpPr>
        <p:spPr>
          <a:xfrm>
            <a:off x="548640" y="2560320"/>
            <a:ext cx="11091672" cy="1554480"/>
          </a:xfrm>
          <a:prstGeom prst="roundRect">
            <a:avLst/>
          </a:prstGeom>
          <a:solidFill>
            <a:srgbClr val="FBE9E7"/>
          </a:solidFill>
          <a:ln w="19050">
            <a:solidFill>
              <a:srgbClr val="E64A19"/>
            </a:solidFill>
            <a:prstDash val="solid"/>
          </a:ln>
        </p:spPr>
      </p:sp>
      <p:sp>
        <p:nvSpPr>
          <p:cNvPr id="7" name="Text 5"/>
          <p:cNvSpPr/>
          <p:nvPr/>
        </p:nvSpPr>
        <p:spPr>
          <a:xfrm>
            <a:off x="822960" y="2651760"/>
            <a:ext cx="10543032" cy="1371600"/>
          </a:xfrm>
          <a:prstGeom prst="rect">
            <a:avLst/>
          </a:prstGeom>
          <a:noFill/>
          <a:ln/>
        </p:spPr>
        <p:txBody>
          <a:bodyPr wrap="square" rtlCol="0" anchor="ctr"/>
          <a:lstStyle/>
          <a:p>
            <a:pPr indent="0" marL="0">
              <a:buNone/>
            </a:pPr>
            <a:r>
              <a:rPr lang="en-US" sz="1800" dirty="0">
                <a:solidFill>
                  <a:srgbClr val="212121"/>
                </a:solidFill>
                <a:latin typeface="Arial" pitchFamily="34" charset="0"/>
                <a:ea typeface="Arial" pitchFamily="34" charset="-122"/>
                <a:cs typeface="Arial" pitchFamily="34" charset="-120"/>
              </a:rPr>
              <a:t>Pero las consultas habituales sobre JSONB no comparan el documento completo: preguntan si existe una clave, si contiene cierta estructura, o si un valor aparece dentro. PostgreSQL resuelve esto con índices GIN (Generalized Inverted Index), diseñados para localizar elementos dentro de valores compuestos como JSONB, arrays o texto.</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Crear el índice GIN y usarlo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Shape 3"/>
          <p:cNvSpPr/>
          <p:nvPr/>
        </p:nvSpPr>
        <p:spPr>
          <a:xfrm>
            <a:off x="548640" y="1371600"/>
            <a:ext cx="11091672" cy="960120"/>
          </a:xfrm>
          <a:prstGeom prst="rect">
            <a:avLst/>
          </a:prstGeom>
          <a:solidFill>
            <a:srgbClr val="ECEFF1"/>
          </a:solidFill>
          <a:ln w="12700">
            <a:solidFill>
              <a:srgbClr val="EEEEEE"/>
            </a:solidFill>
            <a:prstDash val="solid"/>
          </a:ln>
        </p:spPr>
      </p:sp>
      <p:sp>
        <p:nvSpPr>
          <p:cNvPr id="6" name="Shape 4"/>
          <p:cNvSpPr/>
          <p:nvPr/>
        </p:nvSpPr>
        <p:spPr>
          <a:xfrm>
            <a:off x="548640" y="1371600"/>
            <a:ext cx="73152" cy="960120"/>
          </a:xfrm>
          <a:prstGeom prst="rect">
            <a:avLst/>
          </a:prstGeom>
          <a:solidFill>
            <a:srgbClr val="E64A19"/>
          </a:solidFill>
          <a:ln w="12700">
            <a:solidFill>
              <a:srgbClr val="E64A19"/>
            </a:solidFill>
            <a:prstDash val="solid"/>
          </a:ln>
        </p:spPr>
      </p:sp>
      <p:sp>
        <p:nvSpPr>
          <p:cNvPr id="7" name="Text 5"/>
          <p:cNvSpPr/>
          <p:nvPr/>
        </p:nvSpPr>
        <p:spPr>
          <a:xfrm>
            <a:off x="822960" y="1481328"/>
            <a:ext cx="10588752" cy="740664"/>
          </a:xfrm>
          <a:prstGeom prst="rect">
            <a:avLst/>
          </a:prstGeom>
          <a:noFill/>
          <a:ln/>
        </p:spPr>
        <p:txBody>
          <a:bodyPr wrap="square" rtlCol="0" anchor="t"/>
          <a:lstStyle/>
          <a:p>
            <a:pPr indent="0" marL="0">
              <a:buNone/>
            </a:pPr>
            <a:r>
              <a:rPr lang="en-US" sz="1700" dirty="0">
                <a:solidFill>
                  <a:srgbClr val="263238"/>
                </a:solidFill>
                <a:latin typeface="Courier New" pitchFamily="34" charset="0"/>
                <a:ea typeface="Courier New" pitchFamily="34" charset="-122"/>
                <a:cs typeface="Courier New" pitchFamily="34" charset="-120"/>
              </a:rPr>
              <a:t>CREATE INDEX idx_libro_detalles_edicion</a:t>
            </a:r>
            <a:endParaRPr lang="en-US" sz="1700" dirty="0"/>
          </a:p>
          <a:p>
            <a:pPr indent="0" marL="0">
              <a:buNone/>
            </a:pPr>
            <a:r>
              <a:rPr lang="en-US" sz="1700" dirty="0">
                <a:solidFill>
                  <a:srgbClr val="263238"/>
                </a:solidFill>
                <a:latin typeface="Courier New" pitchFamily="34" charset="0"/>
                <a:ea typeface="Courier New" pitchFamily="34" charset="-122"/>
                <a:cs typeface="Courier New" pitchFamily="34" charset="-120"/>
              </a:rPr>
              <a:t>ON libro USING GIN (detalles_edicion);</a:t>
            </a:r>
            <a:endParaRPr lang="en-US" sz="1700" dirty="0"/>
          </a:p>
        </p:txBody>
      </p:sp>
      <p:sp>
        <p:nvSpPr>
          <p:cNvPr id="8" name="Text 6"/>
          <p:cNvSpPr/>
          <p:nvPr/>
        </p:nvSpPr>
        <p:spPr>
          <a:xfrm>
            <a:off x="548640" y="2606040"/>
            <a:ext cx="11091672" cy="457200"/>
          </a:xfrm>
          <a:prstGeom prst="rect">
            <a:avLst/>
          </a:prstGeom>
          <a:noFill/>
          <a:ln/>
        </p:spPr>
        <p:txBody>
          <a:bodyPr wrap="square" rtlCol="0" anchor="t"/>
          <a:lstStyle/>
          <a:p>
            <a:pPr indent="0" marL="0">
              <a:buNone/>
            </a:pPr>
            <a:r>
              <a:rPr lang="en-US" sz="1700" dirty="0">
                <a:solidFill>
                  <a:srgbClr val="212121"/>
                </a:solidFill>
                <a:latin typeface="Arial" pitchFamily="34" charset="0"/>
                <a:ea typeface="Arial" pitchFamily="34" charset="-122"/>
                <a:cs typeface="Arial" pitchFamily="34" charset="-120"/>
              </a:rPr>
              <a:t>El operador ? permite comprobar si existe una clave en el nivel superior del documento:</a:t>
            </a:r>
            <a:endParaRPr lang="en-US" sz="1700" dirty="0"/>
          </a:p>
        </p:txBody>
      </p:sp>
      <p:sp>
        <p:nvSpPr>
          <p:cNvPr id="9" name="Shape 7"/>
          <p:cNvSpPr/>
          <p:nvPr/>
        </p:nvSpPr>
        <p:spPr>
          <a:xfrm>
            <a:off x="548640" y="3246120"/>
            <a:ext cx="11091672" cy="868680"/>
          </a:xfrm>
          <a:prstGeom prst="rect">
            <a:avLst/>
          </a:prstGeom>
          <a:solidFill>
            <a:srgbClr val="ECEFF1"/>
          </a:solidFill>
          <a:ln w="12700">
            <a:solidFill>
              <a:srgbClr val="EEEEEE"/>
            </a:solidFill>
            <a:prstDash val="solid"/>
          </a:ln>
        </p:spPr>
      </p:sp>
      <p:sp>
        <p:nvSpPr>
          <p:cNvPr id="10" name="Shape 8"/>
          <p:cNvSpPr/>
          <p:nvPr/>
        </p:nvSpPr>
        <p:spPr>
          <a:xfrm>
            <a:off x="548640" y="3246120"/>
            <a:ext cx="73152" cy="868680"/>
          </a:xfrm>
          <a:prstGeom prst="rect">
            <a:avLst/>
          </a:prstGeom>
          <a:solidFill>
            <a:srgbClr val="E64A19"/>
          </a:solidFill>
          <a:ln w="12700">
            <a:solidFill>
              <a:srgbClr val="E64A19"/>
            </a:solidFill>
            <a:prstDash val="solid"/>
          </a:ln>
        </p:spPr>
      </p:sp>
      <p:sp>
        <p:nvSpPr>
          <p:cNvPr id="11" name="Text 9"/>
          <p:cNvSpPr/>
          <p:nvPr/>
        </p:nvSpPr>
        <p:spPr>
          <a:xfrm>
            <a:off x="822960" y="3355848"/>
            <a:ext cx="10588752" cy="649224"/>
          </a:xfrm>
          <a:prstGeom prst="rect">
            <a:avLst/>
          </a:prstGeom>
          <a:noFill/>
          <a:ln/>
        </p:spPr>
        <p:txBody>
          <a:bodyPr wrap="square" rtlCol="0" anchor="t"/>
          <a:lstStyle/>
          <a:p>
            <a:pPr indent="0" marL="0">
              <a:buNone/>
            </a:pPr>
            <a:r>
              <a:rPr lang="en-US" sz="1700" dirty="0">
                <a:solidFill>
                  <a:srgbClr val="263238"/>
                </a:solidFill>
                <a:latin typeface="Courier New" pitchFamily="34" charset="0"/>
                <a:ea typeface="Courier New" pitchFamily="34" charset="-122"/>
                <a:cs typeface="Courier New" pitchFamily="34" charset="-120"/>
              </a:rPr>
              <a:t>SELECT * FROM libro</a:t>
            </a:r>
            <a:endParaRPr lang="en-US" sz="1700" dirty="0"/>
          </a:p>
          <a:p>
            <a:pPr indent="0" marL="0">
              <a:buNone/>
            </a:pPr>
            <a:r>
              <a:rPr lang="en-US" sz="1700" dirty="0">
                <a:solidFill>
                  <a:srgbClr val="263238"/>
                </a:solidFill>
                <a:latin typeface="Courier New" pitchFamily="34" charset="0"/>
                <a:ea typeface="Courier New" pitchFamily="34" charset="-122"/>
                <a:cs typeface="Courier New" pitchFamily="34" charset="-120"/>
              </a:rPr>
              <a:t>WHERE detalles_edicion ? 'ebook';</a:t>
            </a:r>
            <a:endParaRPr lang="en-US" sz="1700" dirty="0"/>
          </a:p>
        </p:txBody>
      </p:sp>
      <p:sp>
        <p:nvSpPr>
          <p:cNvPr id="12" name="Text 10"/>
          <p:cNvSpPr/>
          <p:nvPr/>
        </p:nvSpPr>
        <p:spPr>
          <a:xfrm>
            <a:off x="548640" y="4389120"/>
            <a:ext cx="11091672" cy="640080"/>
          </a:xfrm>
          <a:prstGeom prst="rect">
            <a:avLst/>
          </a:prstGeom>
          <a:noFill/>
          <a:ln/>
        </p:spPr>
        <p:txBody>
          <a:bodyPr wrap="square" rtlCol="0" anchor="t"/>
          <a:lstStyle/>
          <a:p>
            <a:pPr indent="0" marL="0">
              <a:buNone/>
            </a:pPr>
            <a:r>
              <a:rPr lang="en-US" sz="1450" dirty="0">
                <a:solidFill>
                  <a:srgbClr val="757575"/>
                </a:solidFill>
                <a:latin typeface="Arial" pitchFamily="34" charset="0"/>
                <a:ea typeface="Arial" pitchFamily="34" charset="-122"/>
                <a:cs typeface="Arial" pitchFamily="34" charset="-120"/>
              </a:rPr>
              <a:t>El índice GIN puede acelerar la consulta. Eso no significa que PostgreSQL vaya a utilizarlo siempre: el planificador compara costes y puede preferir recorrer la tabla completa con pocas filas.</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Para que el índice resulte útil</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554480"/>
            <a:ext cx="11091672" cy="640080"/>
          </a:xfrm>
          <a:prstGeom prst="rect">
            <a:avLst/>
          </a:prstGeom>
          <a:noFill/>
          <a:ln/>
        </p:spPr>
        <p:txBody>
          <a:bodyPr wrap="square" rtlCol="0" anchor="t"/>
          <a:lstStyle/>
          <a:p>
            <a:pPr indent="0" marL="0">
              <a:buNone/>
            </a:pPr>
            <a:r>
              <a:rPr lang="en-US" sz="1900" dirty="0">
                <a:solidFill>
                  <a:srgbClr val="212121"/>
                </a:solidFill>
                <a:latin typeface="Arial" pitchFamily="34" charset="0"/>
                <a:ea typeface="Arial" pitchFamily="34" charset="-122"/>
                <a:cs typeface="Arial" pitchFamily="34" charset="-120"/>
              </a:rPr>
              <a:t>Suelen coincidir dos condiciones: que exista un volumen considerable de datos, y que la consulta sea selectiva (descarte la mayoría de las filas).</a:t>
            </a:r>
            <a:endParaRPr lang="en-US" sz="1900" dirty="0"/>
          </a:p>
        </p:txBody>
      </p:sp>
      <p:sp>
        <p:nvSpPr>
          <p:cNvPr id="6" name="Shape 4"/>
          <p:cNvSpPr/>
          <p:nvPr/>
        </p:nvSpPr>
        <p:spPr>
          <a:xfrm>
            <a:off x="548640" y="2560320"/>
            <a:ext cx="11091672" cy="1737360"/>
          </a:xfrm>
          <a:prstGeom prst="roundRect">
            <a:avLst/>
          </a:prstGeom>
          <a:solidFill>
            <a:srgbClr val="FBE9E7"/>
          </a:solidFill>
          <a:ln w="19050">
            <a:solidFill>
              <a:srgbClr val="E64A19"/>
            </a:solidFill>
            <a:prstDash val="solid"/>
          </a:ln>
        </p:spPr>
      </p:sp>
      <p:sp>
        <p:nvSpPr>
          <p:cNvPr id="7" name="Text 5"/>
          <p:cNvSpPr/>
          <p:nvPr/>
        </p:nvSpPr>
        <p:spPr>
          <a:xfrm>
            <a:off x="822960" y="2651760"/>
            <a:ext cx="10543032" cy="1554480"/>
          </a:xfrm>
          <a:prstGeom prst="rect">
            <a:avLst/>
          </a:prstGeom>
          <a:noFill/>
          <a:ln/>
        </p:spPr>
        <p:txBody>
          <a:bodyPr wrap="square" rtlCol="0" anchor="ctr"/>
          <a:lstStyle/>
          <a:p>
            <a:pPr indent="0" marL="0">
              <a:buNone/>
            </a:pPr>
            <a:r>
              <a:rPr lang="en-US" sz="1800" dirty="0">
                <a:solidFill>
                  <a:srgbClr val="212121"/>
                </a:solidFill>
                <a:latin typeface="Arial" pitchFamily="34" charset="0"/>
                <a:ea typeface="Arial" pitchFamily="34" charset="-122"/>
                <a:cs typeface="Arial" pitchFamily="34" charset="-120"/>
              </a:rPr>
              <a:t>Con una tabla de prueba de un puñado de filas no verías ninguna diferencia real: el motor decide el plan por coste estimado, y con pocos datos un recorrido completo ya es barato de por sí. En la Actividad 2.1 vas a generar 100.000 filas y comparar el plan de la misma consulta antes y después de crear el índice.</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NULL de la columna vs. null dentro del JSON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3327502"/>
                <a:gridCol w="7764170"/>
              </a:tblGrid>
              <a:tr h="822960">
                <a:tc>
                  <a:txBody>
                    <a:bodyPr/>
                    <a:lstStyle/>
                    <a:p>
                      <a:pPr algn="ctr" indent="0" marL="0">
                        <a:buNone/>
                      </a:pPr>
                      <a:r>
                        <a:rPr lang="en-US" sz="1650" b="1" dirty="0">
                          <a:solidFill>
                            <a:srgbClr val="FFFFFF"/>
                          </a:solidFill>
                          <a:latin typeface="Arial" pitchFamily="34" charset="0"/>
                          <a:ea typeface="Arial" pitchFamily="34" charset="-122"/>
                          <a:cs typeface="Arial" pitchFamily="34" charset="-120"/>
                        </a:rPr>
                        <a:t>Caso</a:t>
                      </a:r>
                      <a:endParaRPr lang="en-US" sz="16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algn="ctr" indent="0" marL="0">
                        <a:buNone/>
                      </a:pPr>
                      <a:r>
                        <a:rPr lang="en-US" sz="1650" b="1" dirty="0">
                          <a:solidFill>
                            <a:srgbClr val="FFFFFF"/>
                          </a:solidFill>
                          <a:latin typeface="Arial" pitchFamily="34" charset="0"/>
                          <a:ea typeface="Arial" pitchFamily="34" charset="-122"/>
                          <a:cs typeface="Arial" pitchFamily="34" charset="-120"/>
                        </a:rPr>
                        <a:t>Qué significa</a:t>
                      </a:r>
                      <a:endParaRPr lang="en-US" sz="16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r>
              <a:tr h="822960">
                <a:tc>
                  <a:txBody>
                    <a:bodyPr/>
                    <a:lstStyle/>
                    <a:p>
                      <a:pPr indent="0" marL="0">
                        <a:buNone/>
                      </a:pPr>
                      <a:r>
                        <a:rPr lang="en-US" sz="1450" b="1" dirty="0">
                          <a:solidFill>
                            <a:srgbClr val="212121"/>
                          </a:solidFill>
                          <a:latin typeface="Arial" pitchFamily="34" charset="0"/>
                          <a:ea typeface="Arial" pitchFamily="34" charset="-122"/>
                          <a:cs typeface="Arial" pitchFamily="34" charset="-120"/>
                        </a:rPr>
                        <a:t>La columna detalles_edicion es NULL</a:t>
                      </a:r>
                      <a:endParaRPr lang="en-US" sz="14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indent="0" marL="0">
                        <a:buNone/>
                      </a:pPr>
                      <a:r>
                        <a:rPr lang="en-US" sz="1450" dirty="0">
                          <a:solidFill>
                            <a:srgbClr val="212121"/>
                          </a:solidFill>
                          <a:latin typeface="Arial" pitchFamily="34" charset="0"/>
                          <a:ea typeface="Arial" pitchFamily="34" charset="-122"/>
                          <a:cs typeface="Arial" pitchFamily="34" charset="-120"/>
                        </a:rPr>
                        <a:t>El libro no tiene ningún dato de edición guardado — ni siquiera un objeto vacío.</a:t>
                      </a:r>
                      <a:endParaRPr lang="en-US" sz="14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r>
              <a:tr h="822960">
                <a:tc>
                  <a:txBody>
                    <a:bodyPr/>
                    <a:lstStyle/>
                    <a:p>
                      <a:pPr indent="0" marL="0">
                        <a:buNone/>
                      </a:pPr>
                      <a:r>
                        <a:rPr lang="en-US" sz="1450" b="1" dirty="0">
                          <a:solidFill>
                            <a:srgbClr val="212121"/>
                          </a:solidFill>
                          <a:latin typeface="Arial" pitchFamily="34" charset="0"/>
                          <a:ea typeface="Arial" pitchFamily="34" charset="-122"/>
                          <a:cs typeface="Arial" pitchFamily="34" charset="-120"/>
                        </a:rPr>
                        <a:t>{"ebook": null}</a:t>
                      </a:r>
                      <a:endParaRPr lang="en-US" sz="14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indent="0" marL="0">
                        <a:buNone/>
                      </a:pPr>
                      <a:r>
                        <a:rPr lang="en-US" sz="1450" dirty="0">
                          <a:solidFill>
                            <a:srgbClr val="212121"/>
                          </a:solidFill>
                          <a:latin typeface="Arial" pitchFamily="34" charset="0"/>
                          <a:ea typeface="Arial" pitchFamily="34" charset="-122"/>
                          <a:cs typeface="Arial" pitchFamily="34" charset="-120"/>
                        </a:rPr>
                        <a:t>Hay un objeto JSON guardado, con la clave "ebook" presente, pero su valor es el null de JSON.</a:t>
                      </a:r>
                      <a:endParaRPr lang="en-US" sz="14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r>
              <a:tr h="822960">
                <a:tc>
                  <a:txBody>
                    <a:bodyPr/>
                    <a:lstStyle/>
                    <a:p>
                      <a:pPr indent="0" marL="0">
                        <a:buNone/>
                      </a:pPr>
                      <a:r>
                        <a:rPr lang="en-US" sz="1450" b="1" dirty="0">
                          <a:solidFill>
                            <a:srgbClr val="212121"/>
                          </a:solidFill>
                          <a:latin typeface="Arial" pitchFamily="34" charset="0"/>
                          <a:ea typeface="Arial" pitchFamily="34" charset="-122"/>
                          <a:cs typeface="Arial" pitchFamily="34" charset="-120"/>
                        </a:rPr>
                        <a:t>{} (objeto vacío)</a:t>
                      </a:r>
                      <a:endParaRPr lang="en-US" sz="14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indent="0" marL="0">
                        <a:buNone/>
                      </a:pPr>
                      <a:r>
                        <a:rPr lang="en-US" sz="1450" dirty="0">
                          <a:solidFill>
                            <a:srgbClr val="212121"/>
                          </a:solidFill>
                          <a:latin typeface="Arial" pitchFamily="34" charset="0"/>
                          <a:ea typeface="Arial" pitchFamily="34" charset="-122"/>
                          <a:cs typeface="Arial" pitchFamily="34" charset="-120"/>
                        </a:rPr>
                        <a:t>Hay un objeto JSON guardado, sin ninguna clave dentro.</a:t>
                      </a:r>
                      <a:endParaRPr lang="en-US" sz="1450" dirty="0">
                        <a:latin typeface="Arial" charset="0"/>
                        <a:ea typeface="Arial" charset="0"/>
                        <a:cs typeface="Arial" charset="0"/>
                      </a:endParaRPr>
                    </a:p>
                  </a:txBody>
                  <a:tcPr marL="91440" marR="91440" marT="45720" marB="45720"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5074920"/>
            <a:ext cx="11091672" cy="822960"/>
          </a:xfrm>
          <a:prstGeom prst="rect">
            <a:avLst/>
          </a:prstGeom>
          <a:noFill/>
          <a:ln/>
        </p:spPr>
        <p:txBody>
          <a:bodyPr wrap="square" rtlCol="0" anchor="t"/>
          <a:lstStyle/>
          <a:p>
            <a:pPr indent="0" marL="0">
              <a:buNone/>
            </a:pPr>
            <a:r>
              <a:rPr lang="en-US" sz="1500" dirty="0">
                <a:solidFill>
                  <a:srgbClr val="757575"/>
                </a:solidFill>
                <a:latin typeface="Arial" pitchFamily="34" charset="0"/>
                <a:ea typeface="Arial" pitchFamily="34" charset="-122"/>
                <a:cs typeface="Arial" pitchFamily="34" charset="-120"/>
              </a:rPr>
              <a:t>Comprobar «¿existe la clave ebook?» da resultados distintos en cada caso: NULL de columna da NULL; en {"ebook": null} la clave existe; en {} no existe.</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Ideas clave</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463040"/>
            <a:ext cx="11091672" cy="4023360"/>
          </a:xfrm>
          <a:prstGeom prst="rect">
            <a:avLst/>
          </a:prstGeom>
          <a:noFill/>
          <a:ln/>
        </p:spPr>
        <p:txBody>
          <a:bodyPr wrap="square" rtlCol="0" anchor="t"/>
          <a:lstStyle/>
          <a:p>
            <a:pPr marL="190500" indent="-190500">
              <a:spcAft>
                <a:spcPts val="1600"/>
              </a:spcAft>
              <a:buSzPct val="100000"/>
              <a:buChar char="•"/>
            </a:pPr>
            <a:r>
              <a:rPr lang="en-US" sz="1700" dirty="0">
                <a:solidFill>
                  <a:srgbClr val="212121"/>
                </a:solidFill>
                <a:latin typeface="Arial" pitchFamily="34" charset="0"/>
                <a:ea typeface="Arial" pitchFamily="34" charset="-122"/>
                <a:cs typeface="Arial" pitchFamily="34" charset="-120"/>
              </a:rPr>
              <a:t>PostgreSQL es un gestor objeto-relacional: mantiene el modelo de tablas y relaciones, pero incorpora tipos avanzados como JSONB para datos estructurados.</a:t>
            </a:r>
            <a:endParaRPr lang="en-US" sz="1700" dirty="0"/>
          </a:p>
          <a:p>
            <a:pPr marL="190500" indent="-190500">
              <a:spcAft>
                <a:spcPts val="1600"/>
              </a:spcAft>
              <a:buSzPct val="100000"/>
              <a:buChar char="•"/>
            </a:pPr>
            <a:r>
              <a:rPr lang="en-US" sz="1700" dirty="0">
                <a:solidFill>
                  <a:srgbClr val="212121"/>
                </a:solidFill>
                <a:latin typeface="Arial" pitchFamily="34" charset="0"/>
                <a:ea typeface="Arial" pitchFamily="34" charset="-122"/>
                <a:cs typeface="Arial" pitchFamily="34" charset="-120"/>
              </a:rPr>
              <a:t>JSONB guarda JSON en formato binario indexable — preferible a JSON (texto plano) salvo que necesites preservar el formato exacto.</a:t>
            </a:r>
            <a:endParaRPr lang="en-US" sz="1700" dirty="0"/>
          </a:p>
          <a:p>
            <a:pPr marL="190500" indent="-190500">
              <a:spcAft>
                <a:spcPts val="1600"/>
              </a:spcAft>
              <a:buSzPct val="100000"/>
              <a:buChar char="•"/>
            </a:pPr>
            <a:r>
              <a:rPr lang="en-US" sz="1700" dirty="0">
                <a:solidFill>
                  <a:srgbClr val="212121"/>
                </a:solidFill>
                <a:latin typeface="Arial" pitchFamily="34" charset="0"/>
                <a:ea typeface="Arial" pitchFamily="34" charset="-122"/>
                <a:cs typeface="Arial" pitchFamily="34" charset="-120"/>
              </a:rPr>
              <a:t>@JdbcTypeCode(SqlTypes.JSON) + @Column(columnDefinition = "jsonb") mapean un Map&lt;String, Object&gt; Java contra una columna jsonb.</a:t>
            </a:r>
            <a:endParaRPr lang="en-US" sz="1700" dirty="0"/>
          </a:p>
          <a:p>
            <a:pPr marL="190500" indent="-190500">
              <a:buSzPct val="100000"/>
              <a:buChar char="•"/>
            </a:pPr>
            <a:r>
              <a:rPr lang="en-US" sz="1700" dirty="0">
                <a:solidFill>
                  <a:srgbClr val="212121"/>
                </a:solidFill>
                <a:latin typeface="Arial" pitchFamily="34" charset="0"/>
                <a:ea typeface="Arial" pitchFamily="34" charset="-122"/>
                <a:cs typeface="Arial" pitchFamily="34" charset="-120"/>
              </a:rPr>
              <a:t>Objeto simple = valor escalar; objeto estructurado = objeto anidado con posibles colecciones dentro.</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Ideas clave (cont.)</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Acceso a Datos — Tema 2: Persistencia de objetos con JSONB</a:t>
            </a:r>
            <a:endParaRPr lang="en-US" sz="1100" dirty="0"/>
          </a:p>
        </p:txBody>
      </p:sp>
      <p:sp>
        <p:nvSpPr>
          <p:cNvPr id="5" name="Text 3"/>
          <p:cNvSpPr/>
          <p:nvPr/>
        </p:nvSpPr>
        <p:spPr>
          <a:xfrm>
            <a:off x="548640" y="1463040"/>
            <a:ext cx="11091672" cy="4206240"/>
          </a:xfrm>
          <a:prstGeom prst="rect">
            <a:avLst/>
          </a:prstGeom>
          <a:noFill/>
          <a:ln/>
        </p:spPr>
        <p:txBody>
          <a:bodyPr wrap="square" rtlCol="0" anchor="t"/>
          <a:lstStyle/>
          <a:p>
            <a:pPr marL="190500" indent="-190500">
              <a:spcAft>
                <a:spcPts val="1600"/>
              </a:spcAft>
              <a:buSzPct val="100000"/>
              <a:buChar char="•"/>
            </a:pPr>
            <a:r>
              <a:rPr lang="en-US" sz="1650" dirty="0">
                <a:solidFill>
                  <a:srgbClr val="212121"/>
                </a:solidFill>
                <a:latin typeface="Arial" pitchFamily="34" charset="0"/>
                <a:ea typeface="Arial" pitchFamily="34" charset="-122"/>
                <a:cs typeface="Arial" pitchFamily="34" charset="-120"/>
              </a:rPr>
              <a:t>JSONB gana en flexibilidad de esquema, pierde integridad referencial y tipado estricto frente a una tabla relacional — una decisión de diseño con trade-offs, no una opción siempre superior.</a:t>
            </a:r>
            <a:endParaRPr lang="en-US" sz="1650" dirty="0"/>
          </a:p>
          <a:p>
            <a:pPr marL="190500" indent="-190500">
              <a:spcAft>
                <a:spcPts val="1600"/>
              </a:spcAft>
              <a:buSzPct val="100000"/>
              <a:buChar char="•"/>
            </a:pPr>
            <a:r>
              <a:rPr lang="en-US" sz="1650" dirty="0">
                <a:solidFill>
                  <a:srgbClr val="212121"/>
                </a:solidFill>
                <a:latin typeface="Arial" pitchFamily="34" charset="0"/>
                <a:ea typeface="Arial" pitchFamily="34" charset="-122"/>
                <a:cs typeface="Arial" pitchFamily="34" charset="-120"/>
              </a:rPr>
              <a:t>JSONB no abre ninguna conexión nueva: reutiliza el mismo DataSource del Tema 1.</a:t>
            </a:r>
            <a:endParaRPr lang="en-US" sz="1650" dirty="0"/>
          </a:p>
          <a:p>
            <a:pPr marL="190500" indent="-190500">
              <a:spcAft>
                <a:spcPts val="1600"/>
              </a:spcAft>
              <a:buSzPct val="100000"/>
              <a:buChar char="•"/>
            </a:pPr>
            <a:r>
              <a:rPr lang="en-US" sz="1650" dirty="0">
                <a:solidFill>
                  <a:srgbClr val="212121"/>
                </a:solidFill>
                <a:latin typeface="Arial" pitchFamily="34" charset="0"/>
                <a:ea typeface="Arial" pitchFamily="34" charset="-122"/>
                <a:cs typeface="Arial" pitchFamily="34" charset="-120"/>
              </a:rPr>
              <a:t>Un índice GIN acelera consultas por el contenido de una columna JSONB — un B-tree no sabe mirar dentro del objeto. Solo gana si la consulta es selectiva además de haber volumen.</a:t>
            </a:r>
            <a:endParaRPr lang="en-US" sz="1650" dirty="0"/>
          </a:p>
          <a:p>
            <a:pPr marL="190500" indent="-190500">
              <a:buSzPct val="100000"/>
              <a:buChar char="•"/>
            </a:pPr>
            <a:r>
              <a:rPr lang="en-US" sz="1650" dirty="0">
                <a:solidFill>
                  <a:srgbClr val="212121"/>
                </a:solidFill>
                <a:latin typeface="Arial" pitchFamily="34" charset="0"/>
                <a:ea typeface="Arial" pitchFamily="34" charset="-122"/>
                <a:cs typeface="Arial" pitchFamily="34" charset="-120"/>
              </a:rPr>
              <a:t>NULL de columna, null dentro del JSON, y objeto vacío {} son tres estados distintos, con un resultado diferente al comprobar "existe la clave".</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Persistencia de objetos con JSONB</dc:title>
  <dc:subject>PptxGenJS Presentation</dc:subject>
  <dc:creator>Acceso a Datos</dc:creator>
  <cp:lastModifiedBy>Acceso a Datos</cp:lastModifiedBy>
  <cp:revision>1</cp:revision>
  <dcterms:created xsi:type="dcterms:W3CDTF">2026-08-06T22:10:55Z</dcterms:created>
  <dcterms:modified xsi:type="dcterms:W3CDTF">2026-08-06T22:10:55Z</dcterms:modified>
</cp:coreProperties>
</file>