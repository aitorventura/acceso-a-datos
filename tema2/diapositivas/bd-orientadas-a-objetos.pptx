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F0000"/>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E0A8A8"/>
                </a:solidFill>
                <a:latin typeface="Arial" pitchFamily="34" charset="0"/>
                <a:ea typeface="Arial" pitchFamily="34" charset="-122"/>
                <a:cs typeface="Arial" pitchFamily="34" charset="-120"/>
              </a:rPr>
              <a:t>ACCESO A DATOS  —  TEMA 2: BD OBJETO-RELACIONALES</a:t>
            </a:r>
            <a:endParaRPr lang="en-US" sz="1400" dirty="0"/>
          </a:p>
        </p:txBody>
      </p:sp>
      <p:sp>
        <p:nvSpPr>
          <p:cNvPr id="3" name="Text 1"/>
          <p:cNvSpPr/>
          <p:nvPr/>
        </p:nvSpPr>
        <p:spPr>
          <a:xfrm>
            <a:off x="548640" y="1417320"/>
            <a:ext cx="11091672" cy="2651760"/>
          </a:xfrm>
          <a:prstGeom prst="rect">
            <a:avLst/>
          </a:prstGeom>
          <a:noFill/>
          <a:ln/>
        </p:spPr>
        <p:txBody>
          <a:bodyPr wrap="square"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Bases de datos orientadas</a:t>
            </a:r>
            <a:endParaRPr lang="en-US" sz="3400" dirty="0"/>
          </a:p>
          <a:p>
            <a:pPr algn="l" indent="0" marL="0">
              <a:buNone/>
            </a:pPr>
            <a:r>
              <a:rPr lang="en-US" sz="3400" b="1" dirty="0">
                <a:solidFill>
                  <a:srgbClr val="FFFFFF"/>
                </a:solidFill>
                <a:latin typeface="Arial" pitchFamily="34" charset="0"/>
                <a:ea typeface="Arial" pitchFamily="34" charset="-122"/>
                <a:cs typeface="Arial" pitchFamily="34" charset="-120"/>
              </a:rPr>
              <a:t>a objetos, pruebas y</a:t>
            </a:r>
            <a:endParaRPr lang="en-US" sz="3400" dirty="0"/>
          </a:p>
          <a:p>
            <a:pPr algn="l" indent="0" marL="0">
              <a:buNone/>
            </a:pPr>
            <a:r>
              <a:rPr lang="en-US" sz="3400" b="1" dirty="0">
                <a:solidFill>
                  <a:srgbClr val="FFFFFF"/>
                </a:solidFill>
                <a:latin typeface="Arial" pitchFamily="34" charset="0"/>
                <a:ea typeface="Arial" pitchFamily="34" charset="-122"/>
                <a:cs typeface="Arial" pitchFamily="34" charset="-120"/>
              </a:rPr>
              <a:t>documentación</a:t>
            </a:r>
            <a:endParaRPr lang="en-US" sz="3400" dirty="0"/>
          </a:p>
        </p:txBody>
      </p:sp>
      <p:sp>
        <p:nvSpPr>
          <p:cNvPr id="4" name="Shape 2"/>
          <p:cNvSpPr/>
          <p:nvPr/>
        </p:nvSpPr>
        <p:spPr>
          <a:xfrm>
            <a:off x="0" y="5120640"/>
            <a:ext cx="12188952" cy="914400"/>
          </a:xfrm>
          <a:prstGeom prst="rect">
            <a:avLst/>
          </a:prstGeom>
          <a:solidFill>
            <a:srgbClr val="E64A19"/>
          </a:solidFill>
          <a:ln w="12700">
            <a:solidFill>
              <a:srgbClr val="E64A19"/>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1800" i="1" dirty="0">
                <a:solidFill>
                  <a:srgbClr val="FFFFFF"/>
                </a:solidFill>
                <a:latin typeface="Arial" pitchFamily="34" charset="0"/>
                <a:ea typeface="Arial" pitchFamily="34" charset="-122"/>
                <a:cs typeface="Arial" pitchFamily="34" charset="-120"/>
              </a:rPr>
              <a:t>3. BD orientadas a objetos, pruebas y documentación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BD orientadas a objetos, pruebas y documentación</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2560320"/>
            <a:ext cx="11091672" cy="2286000"/>
          </a:xfrm>
          <a:prstGeom prst="roundRect">
            <a:avLst/>
          </a:prstGeom>
          <a:solidFill>
            <a:srgbClr val="FBE9E7"/>
          </a:solidFill>
          <a:ln w="19050">
            <a:solidFill>
              <a:srgbClr val="E64A19"/>
            </a:solidFill>
            <a:prstDash val="solid"/>
          </a:ln>
        </p:spPr>
      </p:sp>
      <p:sp>
        <p:nvSpPr>
          <p:cNvPr id="6" name="Text 4"/>
          <p:cNvSpPr/>
          <p:nvPr/>
        </p:nvSpPr>
        <p:spPr>
          <a:xfrm>
            <a:off x="822960" y="2651760"/>
            <a:ext cx="10543032" cy="2103120"/>
          </a:xfrm>
          <a:prstGeom prst="rect">
            <a:avLst/>
          </a:prstGeom>
          <a:noFill/>
          <a:ln/>
        </p:spPr>
        <p:txBody>
          <a:bodyPr wrap="square" rtlCol="0" anchor="ctr"/>
          <a:lstStyle/>
          <a:p>
            <a:pPr indent="0" marL="0">
              <a:buNone/>
            </a:pPr>
            <a:r>
              <a:rPr lang="en-US" sz="2300" dirty="0">
                <a:solidFill>
                  <a:srgbClr val="212121"/>
                </a:solidFill>
                <a:latin typeface="Arial" pitchFamily="34" charset="0"/>
                <a:ea typeface="Arial" pitchFamily="34" charset="-122"/>
                <a:cs typeface="Arial" pitchFamily="34" charset="-120"/>
              </a:rPr>
              <a:t>Este apartado tiene dos partes bien diferenciadas: primero un bloque teórico sobre una categoría de bases de datos que no vas a usar en las prácticas —lo ves de forma conceptual, sin instalar ni configurar nada—, y después las pruebas que dan por buenas todas las piezas construidas hasta ahora.</a:t>
            </a:r>
            <a:endParaRPr lang="en-US" sz="2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Bases de datos orientadas a objetos puras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2221992"/>
            <a:ext cx="11091672" cy="1463040"/>
          </a:xfrm>
          <a:prstGeom prst="roundRect">
            <a:avLst/>
          </a:prstGeom>
          <a:solidFill>
            <a:srgbClr val="FBE9E7"/>
          </a:solidFill>
          <a:ln w="19050">
            <a:solidFill>
              <a:srgbClr val="E64A19"/>
            </a:solidFill>
            <a:prstDash val="solid"/>
          </a:ln>
        </p:spPr>
      </p:sp>
      <p:sp>
        <p:nvSpPr>
          <p:cNvPr id="6" name="Text 4"/>
          <p:cNvSpPr/>
          <p:nvPr/>
        </p:nvSpPr>
        <p:spPr>
          <a:xfrm>
            <a:off x="822960" y="2313432"/>
            <a:ext cx="10543032" cy="1280160"/>
          </a:xfrm>
          <a:prstGeom prst="rect">
            <a:avLst/>
          </a:prstGeom>
          <a:noFill/>
          <a:ln/>
        </p:spPr>
        <p:txBody>
          <a:bodyPr wrap="square" rtlCol="0" anchor="ctr"/>
          <a:lstStyle/>
          <a:p>
            <a:pPr indent="0" marL="0">
              <a:buNone/>
            </a:pPr>
            <a:r>
              <a:rPr lang="en-US" sz="2000" dirty="0">
                <a:solidFill>
                  <a:srgbClr val="212121"/>
                </a:solidFill>
                <a:latin typeface="Arial" pitchFamily="34" charset="0"/>
                <a:ea typeface="Arial" pitchFamily="34" charset="-122"/>
                <a:cs typeface="Arial" pitchFamily="34" charset="-120"/>
              </a:rPr>
              <a:t>Una base de datos orientada a objetos almacena directamente el estado de los objetos, su identidad y las relaciones que mantienen entre ellos, sin descomponerlos previamente en el modelo relacional de filas, columnas y claves foráneas.</a:t>
            </a:r>
            <a:endParaRPr lang="en-US" sz="2000" dirty="0"/>
          </a:p>
        </p:txBody>
      </p:sp>
      <p:sp>
        <p:nvSpPr>
          <p:cNvPr id="7" name="Text 5"/>
          <p:cNvSpPr/>
          <p:nvPr/>
        </p:nvSpPr>
        <p:spPr>
          <a:xfrm>
            <a:off x="548640" y="4005072"/>
            <a:ext cx="11091672" cy="1280160"/>
          </a:xfrm>
          <a:prstGeom prst="rect">
            <a:avLst/>
          </a:prstGeom>
          <a:noFill/>
          <a:ln/>
        </p:spPr>
        <p:txBody>
          <a:bodyPr wrap="square" rtlCol="0" anchor="t"/>
          <a:lstStyle/>
          <a:p>
            <a:pPr indent="0" marL="0">
              <a:buNone/>
            </a:pPr>
            <a:r>
              <a:rPr lang="en-US" sz="1800" dirty="0">
                <a:solidFill>
                  <a:srgbClr val="757575"/>
                </a:solidFill>
                <a:latin typeface="Arial" pitchFamily="34" charset="0"/>
                <a:ea typeface="Arial" pitchFamily="34" charset="-122"/>
                <a:cs typeface="Arial" pitchFamily="34" charset="-120"/>
              </a:rPr>
              <a:t>Esto no significa que copie literalmente un objeto Java tal como existe en la memoria del programa. El gestor utiliza su propia representación interna, pero su modelo lógico se basa en objetos y referencias, no en tablas relacionales.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Los tres modelos, uno junto a otro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pic>
        <p:nvPicPr>
          <p:cNvPr id="5" name="Image 0" descr="C:/Users/Aitor/Documents/apuntes-profe/acceso-a-datos/docs/tema2/img/tema2_tres_modelos_almacenamiento.png">    </p:cNvPr>
          <p:cNvPicPr>
            <a:picLocks noChangeAspect="1"/>
          </p:cNvPicPr>
          <p:nvPr/>
        </p:nvPicPr>
        <p:blipFill>
          <a:blip r:embed="rId1"/>
          <a:stretch>
            <a:fillRect/>
          </a:stretch>
        </p:blipFill>
        <p:spPr>
          <a:xfrm>
            <a:off x="1466747" y="1005840"/>
            <a:ext cx="9255458" cy="52120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Desventaja, ORM, OQL y gestores de referencia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051560"/>
            <a:ext cx="5408676" cy="2468880"/>
          </a:xfrm>
          <a:prstGeom prst="roundRect">
            <a:avLst/>
          </a:prstGeom>
          <a:solidFill>
            <a:srgbClr val="FBEAEA"/>
          </a:solidFill>
          <a:ln w="19050">
            <a:solidFill>
              <a:srgbClr val="C62828"/>
            </a:solidFill>
            <a:prstDash val="solid"/>
          </a:ln>
        </p:spPr>
      </p:sp>
      <p:sp>
        <p:nvSpPr>
          <p:cNvPr id="6" name="Shape 4"/>
          <p:cNvSpPr/>
          <p:nvPr/>
        </p:nvSpPr>
        <p:spPr>
          <a:xfrm>
            <a:off x="777240" y="1179576"/>
            <a:ext cx="73152" cy="384048"/>
          </a:xfrm>
          <a:prstGeom prst="rect">
            <a:avLst/>
          </a:prstGeom>
          <a:solidFill>
            <a:srgbClr val="E64A19"/>
          </a:solidFill>
          <a:ln w="12700">
            <a:solidFill>
              <a:srgbClr val="E64A19"/>
            </a:solidFill>
            <a:prstDash val="solid"/>
          </a:ln>
        </p:spPr>
      </p:sp>
      <p:sp>
        <p:nvSpPr>
          <p:cNvPr id="7" name="Text 5"/>
          <p:cNvSpPr/>
          <p:nvPr/>
        </p:nvSpPr>
        <p:spPr>
          <a:xfrm>
            <a:off x="960120" y="1143000"/>
            <a:ext cx="4814316" cy="457200"/>
          </a:xfrm>
          <a:prstGeom prst="rect">
            <a:avLst/>
          </a:prstGeom>
          <a:noFill/>
          <a:ln/>
        </p:spPr>
        <p:txBody>
          <a:bodyPr wrap="square" rtlCol="0" anchor="ctr"/>
          <a:lstStyle/>
          <a:p>
            <a:pPr indent="0" marL="0">
              <a:buNone/>
            </a:pPr>
            <a:r>
              <a:rPr lang="en-US" sz="2100" b="1" dirty="0">
                <a:solidFill>
                  <a:srgbClr val="7F0000"/>
                </a:solidFill>
                <a:latin typeface="Arial" pitchFamily="34" charset="0"/>
                <a:ea typeface="Arial" pitchFamily="34" charset="-122"/>
                <a:cs typeface="Arial" pitchFamily="34" charset="-120"/>
              </a:rPr>
              <a:t>La desventaja real</a:t>
            </a:r>
            <a:endParaRPr lang="en-US" sz="2100" dirty="0"/>
          </a:p>
        </p:txBody>
      </p:sp>
      <p:sp>
        <p:nvSpPr>
          <p:cNvPr id="8" name="Text 6"/>
          <p:cNvSpPr/>
          <p:nvPr/>
        </p:nvSpPr>
        <p:spPr>
          <a:xfrm>
            <a:off x="822960" y="1673352"/>
            <a:ext cx="4860036" cy="1737360"/>
          </a:xfrm>
          <a:prstGeom prst="rect">
            <a:avLst/>
          </a:prstGeom>
          <a:noFill/>
          <a:ln/>
        </p:spPr>
        <p:txBody>
          <a:bodyPr wrap="square" rtlCol="0" anchor="t"/>
          <a:lstStyle/>
          <a:p>
            <a:pPr indent="0" marL="0">
              <a:buNone/>
            </a:pPr>
            <a:r>
              <a:rPr lang="en-US" sz="1650" dirty="0">
                <a:solidFill>
                  <a:srgbClr val="212121"/>
                </a:solidFill>
                <a:latin typeface="Arial" pitchFamily="34" charset="0"/>
                <a:ea typeface="Arial" pitchFamily="34" charset="-122"/>
                <a:cs typeface="Arial" pitchFamily="34" charset="-120"/>
              </a:rPr>
              <a:t>Menos documentación, menos gente con experiencia a la que preguntar y el riesgo de quedarte atado a un gestor que puede dejar de mantenerse. Por eso casi nadie la elige hoy para un proyecto nuevo.</a:t>
            </a:r>
            <a:endParaRPr lang="en-US" sz="1650" dirty="0"/>
          </a:p>
        </p:txBody>
      </p:sp>
      <p:sp>
        <p:nvSpPr>
          <p:cNvPr id="9" name="Shape 7"/>
          <p:cNvSpPr/>
          <p:nvPr/>
        </p:nvSpPr>
        <p:spPr>
          <a:xfrm>
            <a:off x="6231636" y="1051560"/>
            <a:ext cx="5408676" cy="2468880"/>
          </a:xfrm>
          <a:prstGeom prst="roundRect">
            <a:avLst/>
          </a:prstGeom>
          <a:solidFill>
            <a:srgbClr val="FBEAEA"/>
          </a:solidFill>
          <a:ln w="19050">
            <a:solidFill>
              <a:srgbClr val="C62828"/>
            </a:solidFill>
            <a:prstDash val="solid"/>
          </a:ln>
        </p:spPr>
      </p:sp>
      <p:sp>
        <p:nvSpPr>
          <p:cNvPr id="10" name="Shape 8"/>
          <p:cNvSpPr/>
          <p:nvPr/>
        </p:nvSpPr>
        <p:spPr>
          <a:xfrm>
            <a:off x="6460236" y="1179576"/>
            <a:ext cx="73152" cy="384048"/>
          </a:xfrm>
          <a:prstGeom prst="rect">
            <a:avLst/>
          </a:prstGeom>
          <a:solidFill>
            <a:srgbClr val="E64A19"/>
          </a:solidFill>
          <a:ln w="12700">
            <a:solidFill>
              <a:srgbClr val="E64A19"/>
            </a:solidFill>
            <a:prstDash val="solid"/>
          </a:ln>
        </p:spPr>
      </p:sp>
      <p:sp>
        <p:nvSpPr>
          <p:cNvPr id="11" name="Text 9"/>
          <p:cNvSpPr/>
          <p:nvPr/>
        </p:nvSpPr>
        <p:spPr>
          <a:xfrm>
            <a:off x="6643116" y="1143000"/>
            <a:ext cx="4814316" cy="457200"/>
          </a:xfrm>
          <a:prstGeom prst="rect">
            <a:avLst/>
          </a:prstGeom>
          <a:noFill/>
          <a:ln/>
        </p:spPr>
        <p:txBody>
          <a:bodyPr wrap="square" rtlCol="0" anchor="ctr"/>
          <a:lstStyle/>
          <a:p>
            <a:pPr indent="0" marL="0">
              <a:buNone/>
            </a:pPr>
            <a:r>
              <a:rPr lang="en-US" sz="2100" b="1" dirty="0">
                <a:solidFill>
                  <a:srgbClr val="7F0000"/>
                </a:solidFill>
                <a:latin typeface="Arial" pitchFamily="34" charset="0"/>
                <a:ea typeface="Arial" pitchFamily="34" charset="-122"/>
                <a:cs typeface="Arial" pitchFamily="34" charset="-120"/>
              </a:rPr>
              <a:t>Sin ORM objeto-relacional</a:t>
            </a:r>
            <a:endParaRPr lang="en-US" sz="2100" dirty="0"/>
          </a:p>
        </p:txBody>
      </p:sp>
      <p:sp>
        <p:nvSpPr>
          <p:cNvPr id="12" name="Text 10"/>
          <p:cNvSpPr/>
          <p:nvPr/>
        </p:nvSpPr>
        <p:spPr>
          <a:xfrm>
            <a:off x="6505956" y="1673352"/>
            <a:ext cx="4860036" cy="1737360"/>
          </a:xfrm>
          <a:prstGeom prst="rect">
            <a:avLst/>
          </a:prstGeom>
          <a:noFill/>
          <a:ln/>
        </p:spPr>
        <p:txBody>
          <a:bodyPr wrap="square" rtlCol="0" anchor="t"/>
          <a:lstStyle/>
          <a:p>
            <a:pPr indent="0" marL="0">
              <a:buNone/>
            </a:pPr>
            <a:r>
              <a:rPr lang="en-US" sz="1650" dirty="0">
                <a:solidFill>
                  <a:srgbClr val="212121"/>
                </a:solidFill>
                <a:latin typeface="Arial" pitchFamily="34" charset="0"/>
                <a:ea typeface="Arial" pitchFamily="34" charset="-122"/>
                <a:cs typeface="Arial" pitchFamily="34" charset="-120"/>
              </a:rPr>
              <a:t>Al no existir la separación entre objetos y tablas, no hace falta un ORM como Hibernate. Sigue haciendo falta una API o un controlador para comunicarse con el gestor, pero ya no traduce entidades a filas y claves foráneas.</a:t>
            </a:r>
            <a:endParaRPr lang="en-US" sz="1650" dirty="0"/>
          </a:p>
        </p:txBody>
      </p:sp>
      <p:sp>
        <p:nvSpPr>
          <p:cNvPr id="13" name="Shape 11"/>
          <p:cNvSpPr/>
          <p:nvPr/>
        </p:nvSpPr>
        <p:spPr>
          <a:xfrm>
            <a:off x="548640" y="3749040"/>
            <a:ext cx="5408676" cy="2468880"/>
          </a:xfrm>
          <a:prstGeom prst="roundRect">
            <a:avLst/>
          </a:prstGeom>
          <a:solidFill>
            <a:srgbClr val="FBEAEA"/>
          </a:solidFill>
          <a:ln w="19050">
            <a:solidFill>
              <a:srgbClr val="C62828"/>
            </a:solidFill>
            <a:prstDash val="solid"/>
          </a:ln>
        </p:spPr>
      </p:sp>
      <p:sp>
        <p:nvSpPr>
          <p:cNvPr id="14" name="Shape 12"/>
          <p:cNvSpPr/>
          <p:nvPr/>
        </p:nvSpPr>
        <p:spPr>
          <a:xfrm>
            <a:off x="777240" y="3877056"/>
            <a:ext cx="73152" cy="384048"/>
          </a:xfrm>
          <a:prstGeom prst="rect">
            <a:avLst/>
          </a:prstGeom>
          <a:solidFill>
            <a:srgbClr val="E64A19"/>
          </a:solidFill>
          <a:ln w="12700">
            <a:solidFill>
              <a:srgbClr val="E64A19"/>
            </a:solidFill>
            <a:prstDash val="solid"/>
          </a:ln>
        </p:spPr>
      </p:sp>
      <p:sp>
        <p:nvSpPr>
          <p:cNvPr id="15" name="Text 13"/>
          <p:cNvSpPr/>
          <p:nvPr/>
        </p:nvSpPr>
        <p:spPr>
          <a:xfrm>
            <a:off x="960120" y="3840480"/>
            <a:ext cx="4814316" cy="457200"/>
          </a:xfrm>
          <a:prstGeom prst="rect">
            <a:avLst/>
          </a:prstGeom>
          <a:noFill/>
          <a:ln/>
        </p:spPr>
        <p:txBody>
          <a:bodyPr wrap="square" rtlCol="0" anchor="ctr"/>
          <a:lstStyle/>
          <a:p>
            <a:pPr indent="0" marL="0">
              <a:buNone/>
            </a:pPr>
            <a:r>
              <a:rPr lang="en-US" sz="2100" b="1" dirty="0">
                <a:solidFill>
                  <a:srgbClr val="7F0000"/>
                </a:solidFill>
                <a:latin typeface="Arial" pitchFamily="34" charset="0"/>
                <a:ea typeface="Arial" pitchFamily="34" charset="-122"/>
                <a:cs typeface="Arial" pitchFamily="34" charset="-120"/>
              </a:rPr>
              <a:t>OQL, uno entre varios</a:t>
            </a:r>
            <a:endParaRPr lang="en-US" sz="2100" dirty="0"/>
          </a:p>
        </p:txBody>
      </p:sp>
      <p:sp>
        <p:nvSpPr>
          <p:cNvPr id="16" name="Text 14"/>
          <p:cNvSpPr/>
          <p:nvPr/>
        </p:nvSpPr>
        <p:spPr>
          <a:xfrm>
            <a:off x="822960" y="4370832"/>
            <a:ext cx="4860036" cy="1737360"/>
          </a:xfrm>
          <a:prstGeom prst="rect">
            <a:avLst/>
          </a:prstGeom>
          <a:noFill/>
          <a:ln/>
        </p:spPr>
        <p:txBody>
          <a:bodyPr wrap="square" rtlCol="0" anchor="t"/>
          <a:lstStyle/>
          <a:p>
            <a:pPr indent="0" marL="0">
              <a:buNone/>
            </a:pPr>
            <a:r>
              <a:rPr lang="en-US" sz="1650" dirty="0">
                <a:solidFill>
                  <a:srgbClr val="212121"/>
                </a:solidFill>
                <a:latin typeface="Arial" pitchFamily="34" charset="0"/>
                <a:ea typeface="Arial" pitchFamily="34" charset="-122"/>
                <a:cs typeface="Arial" pitchFamily="34" charset="-120"/>
              </a:rPr>
              <a:t>OQL (Object Query Language) está asociado históricamente a este modelo, pero no es universal: otros gestores, como ObjectDB, consultan con JPQL o JDOQL sin traducir después a SQL.</a:t>
            </a:r>
            <a:endParaRPr lang="en-US" sz="1650" dirty="0"/>
          </a:p>
        </p:txBody>
      </p:sp>
      <p:sp>
        <p:nvSpPr>
          <p:cNvPr id="17" name="Shape 15"/>
          <p:cNvSpPr/>
          <p:nvPr/>
        </p:nvSpPr>
        <p:spPr>
          <a:xfrm>
            <a:off x="6231636" y="3749040"/>
            <a:ext cx="5408676" cy="2468880"/>
          </a:xfrm>
          <a:prstGeom prst="roundRect">
            <a:avLst/>
          </a:prstGeom>
          <a:solidFill>
            <a:srgbClr val="FBEAEA"/>
          </a:solidFill>
          <a:ln w="19050">
            <a:solidFill>
              <a:srgbClr val="C62828"/>
            </a:solidFill>
            <a:prstDash val="solid"/>
          </a:ln>
        </p:spPr>
      </p:sp>
      <p:sp>
        <p:nvSpPr>
          <p:cNvPr id="18" name="Shape 16"/>
          <p:cNvSpPr/>
          <p:nvPr/>
        </p:nvSpPr>
        <p:spPr>
          <a:xfrm>
            <a:off x="6460236" y="3877056"/>
            <a:ext cx="73152" cy="384048"/>
          </a:xfrm>
          <a:prstGeom prst="rect">
            <a:avLst/>
          </a:prstGeom>
          <a:solidFill>
            <a:srgbClr val="E64A19"/>
          </a:solidFill>
          <a:ln w="12700">
            <a:solidFill>
              <a:srgbClr val="E64A19"/>
            </a:solidFill>
            <a:prstDash val="solid"/>
          </a:ln>
        </p:spPr>
      </p:sp>
      <p:sp>
        <p:nvSpPr>
          <p:cNvPr id="19" name="Text 17"/>
          <p:cNvSpPr/>
          <p:nvPr/>
        </p:nvSpPr>
        <p:spPr>
          <a:xfrm>
            <a:off x="6643116" y="3840480"/>
            <a:ext cx="4814316" cy="457200"/>
          </a:xfrm>
          <a:prstGeom prst="rect">
            <a:avLst/>
          </a:prstGeom>
          <a:noFill/>
          <a:ln/>
        </p:spPr>
        <p:txBody>
          <a:bodyPr wrap="square" rtlCol="0" anchor="ctr"/>
          <a:lstStyle/>
          <a:p>
            <a:pPr indent="0" marL="0">
              <a:buNone/>
            </a:pPr>
            <a:r>
              <a:rPr lang="en-US" sz="2100" b="1" dirty="0">
                <a:solidFill>
                  <a:srgbClr val="7F0000"/>
                </a:solidFill>
                <a:latin typeface="Arial" pitchFamily="34" charset="0"/>
                <a:ea typeface="Arial" pitchFamily="34" charset="-122"/>
                <a:cs typeface="Arial" pitchFamily="34" charset="-120"/>
              </a:rPr>
              <a:t>Solo como referencia</a:t>
            </a:r>
            <a:endParaRPr lang="en-US" sz="2100" dirty="0"/>
          </a:p>
        </p:txBody>
      </p:sp>
      <p:sp>
        <p:nvSpPr>
          <p:cNvPr id="20" name="Text 18"/>
          <p:cNvSpPr/>
          <p:nvPr/>
        </p:nvSpPr>
        <p:spPr>
          <a:xfrm>
            <a:off x="6505956" y="4370832"/>
            <a:ext cx="4860036" cy="1737360"/>
          </a:xfrm>
          <a:prstGeom prst="rect">
            <a:avLst/>
          </a:prstGeom>
          <a:noFill/>
          <a:ln/>
        </p:spPr>
        <p:txBody>
          <a:bodyPr wrap="square" rtlCol="0" anchor="t"/>
          <a:lstStyle/>
          <a:p>
            <a:pPr indent="0" marL="0">
              <a:buNone/>
            </a:pPr>
            <a:r>
              <a:rPr lang="en-US" sz="1650" dirty="0">
                <a:solidFill>
                  <a:srgbClr val="212121"/>
                </a:solidFill>
                <a:latin typeface="Arial" pitchFamily="34" charset="0"/>
                <a:ea typeface="Arial" pitchFamily="34" charset="-122"/>
                <a:cs typeface="Arial" pitchFamily="34" charset="-120"/>
              </a:rPr>
              <a:t>db4o, ObjectDB y Versant son ejemplos representativos, algunos principalmente históricos. No todos usan el mismo lenguaje de consulta ni las mismas APIs. No vas a instalar ninguno: este bloque es conceptual.</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Pruebas y documentación: tres tipos de test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pic>
        <p:nvPicPr>
          <p:cNvPr id="5" name="Image 0" descr="C:/Users/Aitor/Documents/apuntes-profe/acceso-a-datos/docs/tema2/img/tema2_tres_tipos_de_test.png">    </p:cNvPr>
          <p:cNvPicPr>
            <a:picLocks noChangeAspect="1"/>
          </p:cNvPicPr>
          <p:nvPr/>
        </p:nvPicPr>
        <p:blipFill>
          <a:blip r:embed="rId1"/>
          <a:stretch>
            <a:fillRect/>
          </a:stretch>
        </p:blipFill>
        <p:spPr>
          <a:xfrm>
            <a:off x="2197441" y="960120"/>
            <a:ext cx="7794070" cy="4389120"/>
          </a:xfrm>
          <a:prstGeom prst="rect">
            <a:avLst/>
          </a:prstGeom>
        </p:spPr>
      </p:pic>
      <p:sp>
        <p:nvSpPr>
          <p:cNvPr id="6" name="Shape 3"/>
          <p:cNvSpPr/>
          <p:nvPr/>
        </p:nvSpPr>
        <p:spPr>
          <a:xfrm>
            <a:off x="548640" y="5486400"/>
            <a:ext cx="11091672" cy="868680"/>
          </a:xfrm>
          <a:prstGeom prst="roundRect">
            <a:avLst/>
          </a:prstGeom>
          <a:solidFill>
            <a:srgbClr val="FBE9E7"/>
          </a:solidFill>
          <a:ln w="19050">
            <a:solidFill>
              <a:srgbClr val="E64A19"/>
            </a:solidFill>
            <a:prstDash val="solid"/>
          </a:ln>
        </p:spPr>
      </p:sp>
      <p:sp>
        <p:nvSpPr>
          <p:cNvPr id="7" name="Text 4"/>
          <p:cNvSpPr/>
          <p:nvPr/>
        </p:nvSpPr>
        <p:spPr>
          <a:xfrm>
            <a:off x="822960" y="5577840"/>
            <a:ext cx="10543032" cy="685800"/>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Testcontainers levanta contenedores Docker reales (una base de datos, una cola de mensajes...) solo durante el test y los destruye al terminar, sin dejar nada instalado. Aparece por primera vez en el curso.</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Por qué se fija Testcontainers 1.20.4</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188720"/>
            <a:ext cx="5408676" cy="4846320"/>
          </a:xfrm>
          <a:prstGeom prst="roundRect">
            <a:avLst/>
          </a:prstGeom>
          <a:solidFill>
            <a:srgbClr val="FBEAEA"/>
          </a:solidFill>
          <a:ln w="19050">
            <a:solidFill>
              <a:srgbClr val="C62828"/>
            </a:solidFill>
            <a:prstDash val="solid"/>
          </a:ln>
        </p:spPr>
      </p:sp>
      <p:sp>
        <p:nvSpPr>
          <p:cNvPr id="6" name="Shape 4"/>
          <p:cNvSpPr/>
          <p:nvPr/>
        </p:nvSpPr>
        <p:spPr>
          <a:xfrm>
            <a:off x="777240" y="1316736"/>
            <a:ext cx="73152" cy="384048"/>
          </a:xfrm>
          <a:prstGeom prst="rect">
            <a:avLst/>
          </a:prstGeom>
          <a:solidFill>
            <a:srgbClr val="E64A19"/>
          </a:solidFill>
          <a:ln w="12700">
            <a:solidFill>
              <a:srgbClr val="E64A19"/>
            </a:solidFill>
            <a:prstDash val="solid"/>
          </a:ln>
        </p:spPr>
      </p:sp>
      <p:sp>
        <p:nvSpPr>
          <p:cNvPr id="7" name="Text 5"/>
          <p:cNvSpPr/>
          <p:nvPr/>
        </p:nvSpPr>
        <p:spPr>
          <a:xfrm>
            <a:off x="960120" y="1280160"/>
            <a:ext cx="4814316" cy="457200"/>
          </a:xfrm>
          <a:prstGeom prst="rect">
            <a:avLst/>
          </a:prstGeom>
          <a:noFill/>
          <a:ln/>
        </p:spPr>
        <p:txBody>
          <a:bodyPr wrap="square" rtlCol="0" anchor="ctr"/>
          <a:lstStyle/>
          <a:p>
            <a:pPr indent="0" marL="0">
              <a:buNone/>
            </a:pPr>
            <a:r>
              <a:rPr lang="en-US" sz="2300" b="1" dirty="0">
                <a:solidFill>
                  <a:srgbClr val="7F0000"/>
                </a:solidFill>
                <a:latin typeface="Arial" pitchFamily="34" charset="0"/>
                <a:ea typeface="Arial" pitchFamily="34" charset="-122"/>
                <a:cs typeface="Arial" pitchFamily="34" charset="-120"/>
              </a:rPr>
              <a:t>Una versión fijada a propósito</a:t>
            </a:r>
            <a:endParaRPr lang="en-US" sz="2300" dirty="0"/>
          </a:p>
        </p:txBody>
      </p:sp>
      <p:sp>
        <p:nvSpPr>
          <p:cNvPr id="8" name="Text 6"/>
          <p:cNvSpPr/>
          <p:nvPr/>
        </p:nvSpPr>
        <p:spPr>
          <a:xfrm>
            <a:off x="822960" y="1810512"/>
            <a:ext cx="4860036" cy="4114800"/>
          </a:xfrm>
          <a:prstGeom prst="rect">
            <a:avLst/>
          </a:prstGeom>
          <a:noFill/>
          <a:ln/>
        </p:spPr>
        <p:txBody>
          <a:bodyPr wrap="square" rtlCol="0" anchor="t"/>
          <a:lstStyle/>
          <a:p>
            <a:pPr indent="0" marL="0">
              <a:buNone/>
            </a:pPr>
            <a:r>
              <a:rPr lang="en-US" sz="2000" dirty="0">
                <a:solidFill>
                  <a:srgbClr val="212121"/>
                </a:solidFill>
                <a:latin typeface="Arial" pitchFamily="34" charset="0"/>
                <a:ea typeface="Arial" pitchFamily="34" charset="-122"/>
                <a:cs typeface="Arial" pitchFamily="34" charset="-120"/>
              </a:rPr>
              <a:t>spring-boot-starter-parent gestiona también las versiones de muchas dependencias externas, entre ellas Testcontainers. Aun así, aquí se fija la 1.20.4, porque los módulos y los imports de las actividades corresponden a la línea 1.x.</a:t>
            </a:r>
            <a:endParaRPr lang="en-US" sz="2000" dirty="0"/>
          </a:p>
          <a:p>
            <a:pPr indent="0" marL="0">
              <a:buNone/>
            </a:pPr>
            <a:endParaRPr lang="en-US" sz="2000" dirty="0"/>
          </a:p>
          <a:p>
            <a:pPr indent="0" marL="0">
              <a:buNone/>
            </a:pPr>
            <a:r>
              <a:rPr lang="en-US" sz="2000" dirty="0">
                <a:solidFill>
                  <a:srgbClr val="212121"/>
                </a:solidFill>
                <a:latin typeface="Arial" pitchFamily="34" charset="0"/>
                <a:ea typeface="Arial" pitchFamily="34" charset="-122"/>
                <a:cs typeface="Arial" pitchFamily="34" charset="-120"/>
              </a:rPr>
              <a:t>Testcontainers 2 cambió los nombres de sus módulos y movió clases a paquetes nuevos: usar sin más la versión de Spring Boot obligaría a adaptar coordenadas Maven e imports.</a:t>
            </a:r>
            <a:endParaRPr lang="en-US" sz="2000" dirty="0"/>
          </a:p>
        </p:txBody>
      </p:sp>
      <p:sp>
        <p:nvSpPr>
          <p:cNvPr id="9" name="Shape 7"/>
          <p:cNvSpPr/>
          <p:nvPr/>
        </p:nvSpPr>
        <p:spPr>
          <a:xfrm>
            <a:off x="6231636" y="1188720"/>
            <a:ext cx="5408676" cy="4846320"/>
          </a:xfrm>
          <a:prstGeom prst="roundRect">
            <a:avLst/>
          </a:prstGeom>
          <a:solidFill>
            <a:srgbClr val="FBEAEA"/>
          </a:solidFill>
          <a:ln w="19050">
            <a:solidFill>
              <a:srgbClr val="C62828"/>
            </a:solidFill>
            <a:prstDash val="solid"/>
          </a:ln>
        </p:spPr>
      </p:sp>
      <p:sp>
        <p:nvSpPr>
          <p:cNvPr id="10" name="Shape 8"/>
          <p:cNvSpPr/>
          <p:nvPr/>
        </p:nvSpPr>
        <p:spPr>
          <a:xfrm>
            <a:off x="6460236" y="1316736"/>
            <a:ext cx="73152" cy="384048"/>
          </a:xfrm>
          <a:prstGeom prst="rect">
            <a:avLst/>
          </a:prstGeom>
          <a:solidFill>
            <a:srgbClr val="E64A19"/>
          </a:solidFill>
          <a:ln w="12700">
            <a:solidFill>
              <a:srgbClr val="E64A19"/>
            </a:solidFill>
            <a:prstDash val="solid"/>
          </a:ln>
        </p:spPr>
      </p:sp>
      <p:sp>
        <p:nvSpPr>
          <p:cNvPr id="11" name="Text 9"/>
          <p:cNvSpPr/>
          <p:nvPr/>
        </p:nvSpPr>
        <p:spPr>
          <a:xfrm>
            <a:off x="6643116" y="1280160"/>
            <a:ext cx="4814316" cy="457200"/>
          </a:xfrm>
          <a:prstGeom prst="rect">
            <a:avLst/>
          </a:prstGeom>
          <a:noFill/>
          <a:ln/>
        </p:spPr>
        <p:txBody>
          <a:bodyPr wrap="square" rtlCol="0" anchor="ctr"/>
          <a:lstStyle/>
          <a:p>
            <a:pPr indent="0" marL="0">
              <a:buNone/>
            </a:pPr>
            <a:r>
              <a:rPr lang="en-US" sz="2300" b="1" dirty="0">
                <a:solidFill>
                  <a:srgbClr val="7F0000"/>
                </a:solidFill>
                <a:latin typeface="Arial" pitchFamily="34" charset="0"/>
                <a:ea typeface="Arial" pitchFamily="34" charset="-122"/>
                <a:cs typeface="Arial" pitchFamily="34" charset="-120"/>
              </a:rPr>
              <a:t>Qué es un BOM</a:t>
            </a:r>
            <a:endParaRPr lang="en-US" sz="2300" dirty="0"/>
          </a:p>
        </p:txBody>
      </p:sp>
      <p:sp>
        <p:nvSpPr>
          <p:cNvPr id="12" name="Text 10"/>
          <p:cNvSpPr/>
          <p:nvPr/>
        </p:nvSpPr>
        <p:spPr>
          <a:xfrm>
            <a:off x="6505956" y="1810512"/>
            <a:ext cx="4860036" cy="4114800"/>
          </a:xfrm>
          <a:prstGeom prst="rect">
            <a:avLst/>
          </a:prstGeom>
          <a:noFill/>
          <a:ln/>
        </p:spPr>
        <p:txBody>
          <a:bodyPr wrap="square" rtlCol="0" anchor="t"/>
          <a:lstStyle/>
          <a:p>
            <a:pPr indent="0" marL="0">
              <a:buNone/>
            </a:pPr>
            <a:r>
              <a:rPr lang="en-US" sz="2000" dirty="0">
                <a:solidFill>
                  <a:srgbClr val="212121"/>
                </a:solidFill>
                <a:latin typeface="Arial" pitchFamily="34" charset="0"/>
                <a:ea typeface="Arial" pitchFamily="34" charset="-122"/>
                <a:cs typeface="Arial" pitchFamily="34" charset="-120"/>
              </a:rPr>
              <a:t>Un BOM (Bill of Materials, "lista de materiales") es un POM especial que coordina las versiones de un conjunto de artefactos compatibles, pero no añade por sí mismo esas librerías al proyecto.</a:t>
            </a:r>
            <a:endParaRPr lang="en-US" sz="2000" dirty="0"/>
          </a:p>
          <a:p>
            <a:pPr indent="0" marL="0">
              <a:buNone/>
            </a:pPr>
            <a:endParaRPr lang="en-US" sz="2000" dirty="0"/>
          </a:p>
          <a:p>
            <a:pPr indent="0" marL="0">
              <a:buNone/>
            </a:pPr>
            <a:r>
              <a:rPr lang="en-US" sz="2000" dirty="0">
                <a:solidFill>
                  <a:srgbClr val="212121"/>
                </a:solidFill>
                <a:latin typeface="Arial" pitchFamily="34" charset="0"/>
                <a:ea typeface="Arial" pitchFamily="34" charset="-122"/>
                <a:cs typeface="Arial" pitchFamily="34" charset="-120"/>
              </a:rPr>
              <a:t>Al importar el BOM de Testcontainers 1.20.4, el proyecto fija la versión de todos sus módulos y mantiene las coordenadas e imports de las actividades.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BOM va junto al &lt;parent&gt;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371600"/>
            <a:ext cx="11091672" cy="3749040"/>
          </a:xfrm>
          <a:prstGeom prst="rect">
            <a:avLst/>
          </a:prstGeom>
          <a:solidFill>
            <a:srgbClr val="ECEFF1"/>
          </a:solidFill>
          <a:ln w="12700">
            <a:solidFill>
              <a:srgbClr val="EEEEEE"/>
            </a:solidFill>
            <a:prstDash val="solid"/>
          </a:ln>
        </p:spPr>
      </p:sp>
      <p:sp>
        <p:nvSpPr>
          <p:cNvPr id="6" name="Shape 4"/>
          <p:cNvSpPr/>
          <p:nvPr/>
        </p:nvSpPr>
        <p:spPr>
          <a:xfrm>
            <a:off x="548640" y="1371600"/>
            <a:ext cx="73152" cy="3749040"/>
          </a:xfrm>
          <a:prstGeom prst="rect">
            <a:avLst/>
          </a:prstGeom>
          <a:solidFill>
            <a:srgbClr val="E64A19"/>
          </a:solidFill>
          <a:ln w="12700">
            <a:solidFill>
              <a:srgbClr val="E64A19"/>
            </a:solidFill>
            <a:prstDash val="solid"/>
          </a:ln>
        </p:spPr>
      </p:sp>
      <p:sp>
        <p:nvSpPr>
          <p:cNvPr id="7" name="Text 5"/>
          <p:cNvSpPr/>
          <p:nvPr/>
        </p:nvSpPr>
        <p:spPr>
          <a:xfrm>
            <a:off x="822960" y="1481328"/>
            <a:ext cx="10588752" cy="3529584"/>
          </a:xfrm>
          <a:prstGeom prst="rect">
            <a:avLst/>
          </a:prstGeom>
          <a:noFill/>
          <a:ln/>
        </p:spPr>
        <p:txBody>
          <a:bodyPr wrap="square" rtlCol="0" anchor="t"/>
          <a:lstStyle/>
          <a:p>
            <a:pPr indent="0" marL="0">
              <a:buNone/>
            </a:pPr>
            <a:r>
              <a:rPr lang="en-US" sz="1450" dirty="0">
                <a:solidFill>
                  <a:srgbClr val="263238"/>
                </a:solidFill>
                <a:latin typeface="Courier New" pitchFamily="34" charset="0"/>
                <a:ea typeface="Courier New" pitchFamily="34" charset="-122"/>
                <a:cs typeface="Courier New" pitchFamily="34" charset="-120"/>
              </a:rPr>
              <a:t>&lt;properties&gt;</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&lt;testcontainers.version&gt;1.20.4&lt;/testcontainers.version&gt;</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&lt;/properties&gt;</a:t>
            </a:r>
            <a:endParaRPr lang="en-US" sz="1450" dirty="0"/>
          </a:p>
          <a:p>
            <a:pPr indent="0" marL="0">
              <a:buNone/>
            </a:pP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&lt;dependencyManagement&gt;</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&lt;dependencies&gt;</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&lt;dependency&gt;</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&lt;groupId&gt;org.testcontainers&lt;/groupId&gt;</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&lt;artifactId&gt;testcontainers-bom&lt;/artifactId&gt;</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&lt;version&gt;${testcontainers.version}&lt;/version&gt;</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&lt;type&gt;pom&lt;/type&gt;</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&lt;scope&gt;import&lt;/scope&gt;</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&lt;/dependency&gt;</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&lt;/dependencies&gt;</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&lt;/dependencyManagement&gt;</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Con el BOM importado, sin &lt;version&gt; individual</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188720"/>
            <a:ext cx="11091672" cy="3429000"/>
          </a:xfrm>
          <a:prstGeom prst="rect">
            <a:avLst/>
          </a:prstGeom>
          <a:solidFill>
            <a:srgbClr val="ECEFF1"/>
          </a:solidFill>
          <a:ln w="12700">
            <a:solidFill>
              <a:srgbClr val="EEEEEE"/>
            </a:solidFill>
            <a:prstDash val="solid"/>
          </a:ln>
        </p:spPr>
      </p:sp>
      <p:sp>
        <p:nvSpPr>
          <p:cNvPr id="6" name="Shape 4"/>
          <p:cNvSpPr/>
          <p:nvPr/>
        </p:nvSpPr>
        <p:spPr>
          <a:xfrm>
            <a:off x="548640" y="1188720"/>
            <a:ext cx="73152" cy="3429000"/>
          </a:xfrm>
          <a:prstGeom prst="rect">
            <a:avLst/>
          </a:prstGeom>
          <a:solidFill>
            <a:srgbClr val="E64A19"/>
          </a:solidFill>
          <a:ln w="12700">
            <a:solidFill>
              <a:srgbClr val="E64A19"/>
            </a:solidFill>
            <a:prstDash val="solid"/>
          </a:ln>
        </p:spPr>
      </p:sp>
      <p:sp>
        <p:nvSpPr>
          <p:cNvPr id="7" name="Text 5"/>
          <p:cNvSpPr/>
          <p:nvPr/>
        </p:nvSpPr>
        <p:spPr>
          <a:xfrm>
            <a:off x="822960" y="1298448"/>
            <a:ext cx="10588752" cy="3209544"/>
          </a:xfrm>
          <a:prstGeom prst="rect">
            <a:avLst/>
          </a:prstGeom>
          <a:noFill/>
          <a:ln/>
        </p:spPr>
        <p:txBody>
          <a:bodyPr wrap="square" rtlCol="0" anchor="t"/>
          <a:lstStyle/>
          <a:p>
            <a:pPr indent="0" marL="0">
              <a:buNone/>
            </a:pPr>
            <a:r>
              <a:rPr lang="en-US" sz="1400" dirty="0">
                <a:solidFill>
                  <a:srgbClr val="263238"/>
                </a:solidFill>
                <a:latin typeface="Courier New" pitchFamily="34" charset="0"/>
                <a:ea typeface="Courier New" pitchFamily="34" charset="-122"/>
                <a:cs typeface="Courier New" pitchFamily="34" charset="-120"/>
              </a:rPr>
              <a:t>&lt;dependency&gt;</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&lt;groupId&gt;org.springframework.boot&lt;/groupId&gt;</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&lt;artifactId&gt;spring-boot-testcontainers&lt;/artifactId&gt;</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&lt;scope&gt;test&lt;/scope&gt;</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&lt;/dependency&gt;</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&lt;dependency&gt;</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&lt;groupId&gt;org.testcontainers&lt;/groupId&gt;</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&lt;artifactId&gt;junit-jupiter&lt;/artifactId&gt;</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&lt;scope&gt;test&lt;/scope&gt;</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&lt;/dependency&gt;</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&lt;dependency&gt;</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&lt;groupId&gt;org.testcontainers&lt;/groupId&gt;</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&lt;artifactId&gt;postgresql&lt;/artifactId&gt;</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    &lt;scope&gt;test&lt;/scope&gt;</a:t>
            </a:r>
            <a:endParaRPr lang="en-US" sz="1400" dirty="0"/>
          </a:p>
          <a:p>
            <a:pPr indent="0" marL="0">
              <a:buNone/>
            </a:pPr>
            <a:r>
              <a:rPr lang="en-US" sz="1400" dirty="0">
                <a:solidFill>
                  <a:srgbClr val="263238"/>
                </a:solidFill>
                <a:latin typeface="Courier New" pitchFamily="34" charset="0"/>
                <a:ea typeface="Courier New" pitchFamily="34" charset="-122"/>
                <a:cs typeface="Courier New" pitchFamily="34" charset="-120"/>
              </a:rPr>
              <a:t>&lt;/dependency&gt;</a:t>
            </a:r>
            <a:endParaRPr lang="en-US" sz="1400" dirty="0"/>
          </a:p>
        </p:txBody>
      </p:sp>
      <p:sp>
        <p:nvSpPr>
          <p:cNvPr id="8" name="Text 6"/>
          <p:cNvSpPr/>
          <p:nvPr/>
        </p:nvSpPr>
        <p:spPr>
          <a:xfrm>
            <a:off x="548640" y="4892040"/>
            <a:ext cx="11091672" cy="777240"/>
          </a:xfrm>
          <a:prstGeom prst="rect">
            <a:avLst/>
          </a:prstGeom>
          <a:noFill/>
          <a:ln/>
        </p:spPr>
        <p:txBody>
          <a:bodyPr wrap="square" rtlCol="0" anchor="t"/>
          <a:lstStyle/>
          <a:p>
            <a:pPr indent="0" marL="0">
              <a:buNone/>
            </a:pPr>
            <a:r>
              <a:rPr lang="en-US" sz="1450" dirty="0">
                <a:solidFill>
                  <a:srgbClr val="757575"/>
                </a:solidFill>
                <a:latin typeface="Arial" pitchFamily="34" charset="0"/>
                <a:ea typeface="Arial" pitchFamily="34" charset="-122"/>
                <a:cs typeface="Arial" pitchFamily="34" charset="-120"/>
              </a:rPr>
              <a:t>Esto deja el terreno preparado para el resto del curso: cuando más adelante se añadan otros contenedores (MongoDB, RabbitMQ...), ninguno necesitará tampoco su propia &lt;version&gt; — todos quedan cubiertos por este mismo BOM.</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Por qué esto funciona dentro del Dev Container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554480"/>
            <a:ext cx="11091672" cy="1920240"/>
          </a:xfrm>
          <a:prstGeom prst="roundRect">
            <a:avLst/>
          </a:prstGeom>
          <a:solidFill>
            <a:srgbClr val="FBE9E7"/>
          </a:solidFill>
          <a:ln w="19050">
            <a:solidFill>
              <a:srgbClr val="E64A19"/>
            </a:solidFill>
            <a:prstDash val="solid"/>
          </a:ln>
        </p:spPr>
      </p:sp>
      <p:sp>
        <p:nvSpPr>
          <p:cNvPr id="6" name="Text 4"/>
          <p:cNvSpPr/>
          <p:nvPr/>
        </p:nvSpPr>
        <p:spPr>
          <a:xfrm>
            <a:off x="822960" y="1645920"/>
            <a:ext cx="10543032" cy="1737360"/>
          </a:xfrm>
          <a:prstGeom prst="rect">
            <a:avLst/>
          </a:prstGeom>
          <a:noFill/>
          <a:ln/>
        </p:spPr>
        <p:txBody>
          <a:bodyPr wrap="square" rtlCol="0" anchor="ctr"/>
          <a:lstStyle/>
          <a:p>
            <a:pPr indent="0" marL="0">
              <a:buNone/>
            </a:pPr>
            <a:r>
              <a:rPr lang="en-US" sz="1850" dirty="0">
                <a:solidFill>
                  <a:srgbClr val="212121"/>
                </a:solidFill>
                <a:latin typeface="Arial" pitchFamily="34" charset="0"/>
                <a:ea typeface="Arial" pitchFamily="34" charset="-122"/>
                <a:cs typeface="Arial" pitchFamily="34" charset="-120"/>
              </a:rPr>
              <a:t>Testcontainers necesita arrancar contenedores de verdad — y el proyecto entero corre dentro de un contenedor (app) desde la Actividad 1.1. Funciona porque, ya desde entonces, se ha montado el socket de Docker del host dentro de app y se ha añadido la feature docker-outside-of-docker: el contenedor puede pedirle contenedores nuevos al mismo Docker que usa el sistema operativo, sin necesitar un Docker propio dentro del Docker.</a:t>
            </a:r>
            <a:endParaRPr lang="en-US" sz="1850" dirty="0"/>
          </a:p>
        </p:txBody>
      </p:sp>
      <p:sp>
        <p:nvSpPr>
          <p:cNvPr id="7" name="Text 5"/>
          <p:cNvSpPr/>
          <p:nvPr/>
        </p:nvSpPr>
        <p:spPr>
          <a:xfrm>
            <a:off x="548640" y="3840480"/>
            <a:ext cx="11091672" cy="777240"/>
          </a:xfrm>
          <a:prstGeom prst="rect">
            <a:avLst/>
          </a:prstGeom>
          <a:noFill/>
          <a:ln/>
        </p:spPr>
        <p:txBody>
          <a:bodyPr wrap="square" rtlCol="0" anchor="t"/>
          <a:lstStyle/>
          <a:p>
            <a:pPr indent="0" marL="0">
              <a:buNone/>
            </a:pPr>
            <a:r>
              <a:rPr lang="en-US" sz="1650" dirty="0">
                <a:solidFill>
                  <a:srgbClr val="757575"/>
                </a:solidFill>
                <a:latin typeface="Arial" pitchFamily="34" charset="0"/>
                <a:ea typeface="Arial" pitchFamily="34" charset="-122"/>
                <a:cs typeface="Arial" pitchFamily="34" charset="-120"/>
              </a:rPr>
              <a:t>Esa misma idea —la JVM, dentro de app, pidiéndole contenedores al Docker del host— es justo lo que puede fallar de dos maneras distintas, cada una en un momento distinto del proceso.</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Los dos fallos posibles, de un vistazo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pic>
        <p:nvPicPr>
          <p:cNvPr id="5" name="Image 0" descr="C:/Users/Aitor/Documents/apuntes-profe/acceso-a-datos/docs/tema2/img/tema2_devcontainer_socket_dos_fallos.png">    </p:cNvPr>
          <p:cNvPicPr>
            <a:picLocks noChangeAspect="1"/>
          </p:cNvPicPr>
          <p:nvPr/>
        </p:nvPicPr>
        <p:blipFill>
          <a:blip r:embed="rId1"/>
          <a:stretch>
            <a:fillRect/>
          </a:stretch>
        </p:blipFill>
        <p:spPr>
          <a:xfrm>
            <a:off x="1466747" y="1005840"/>
            <a:ext cx="9255458" cy="52120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Permission denied y Connection refused: causa y solución</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051560"/>
            <a:ext cx="5408676" cy="3017520"/>
          </a:xfrm>
          <a:prstGeom prst="roundRect">
            <a:avLst/>
          </a:prstGeom>
          <a:solidFill>
            <a:srgbClr val="FBEAEA"/>
          </a:solidFill>
          <a:ln w="19050">
            <a:solidFill>
              <a:srgbClr val="C62828"/>
            </a:solidFill>
            <a:prstDash val="solid"/>
          </a:ln>
        </p:spPr>
      </p:sp>
      <p:sp>
        <p:nvSpPr>
          <p:cNvPr id="6" name="Shape 4"/>
          <p:cNvSpPr/>
          <p:nvPr/>
        </p:nvSpPr>
        <p:spPr>
          <a:xfrm>
            <a:off x="777240" y="1179576"/>
            <a:ext cx="73152" cy="384048"/>
          </a:xfrm>
          <a:prstGeom prst="rect">
            <a:avLst/>
          </a:prstGeom>
          <a:solidFill>
            <a:srgbClr val="E64A19"/>
          </a:solidFill>
          <a:ln w="12700">
            <a:solidFill>
              <a:srgbClr val="E64A19"/>
            </a:solidFill>
            <a:prstDash val="solid"/>
          </a:ln>
        </p:spPr>
      </p:sp>
      <p:sp>
        <p:nvSpPr>
          <p:cNvPr id="7" name="Text 5"/>
          <p:cNvSpPr/>
          <p:nvPr/>
        </p:nvSpPr>
        <p:spPr>
          <a:xfrm>
            <a:off x="960120" y="1143000"/>
            <a:ext cx="4814316" cy="457200"/>
          </a:xfrm>
          <a:prstGeom prst="rect">
            <a:avLst/>
          </a:prstGeom>
          <a:noFill/>
          <a:ln/>
        </p:spPr>
        <p:txBody>
          <a:bodyPr wrap="square" rtlCol="0" anchor="ctr"/>
          <a:lstStyle/>
          <a:p>
            <a:pPr indent="0" marL="0">
              <a:buNone/>
            </a:pPr>
            <a:r>
              <a:rPr lang="en-US" sz="2000" b="1" dirty="0">
                <a:solidFill>
                  <a:srgbClr val="7F0000"/>
                </a:solidFill>
                <a:latin typeface="Arial" pitchFamily="34" charset="0"/>
                <a:ea typeface="Arial" pitchFamily="34" charset="-122"/>
                <a:cs typeface="Arial" pitchFamily="34" charset="-120"/>
              </a:rPr>
              <a:t>1. Permission denied</a:t>
            </a:r>
            <a:endParaRPr lang="en-US" sz="2000" dirty="0"/>
          </a:p>
        </p:txBody>
      </p:sp>
      <p:sp>
        <p:nvSpPr>
          <p:cNvPr id="8" name="Text 6"/>
          <p:cNvSpPr/>
          <p:nvPr/>
        </p:nvSpPr>
        <p:spPr>
          <a:xfrm>
            <a:off x="822960" y="1673352"/>
            <a:ext cx="4860036" cy="2286000"/>
          </a:xfrm>
          <a:prstGeom prst="rect">
            <a:avLst/>
          </a:prstGeom>
          <a:noFill/>
          <a:ln/>
        </p:spPr>
        <p:txBody>
          <a:bodyPr wrap="square" rtlCol="0" anchor="t"/>
          <a:lstStyle/>
          <a:p>
            <a:pPr indent="0" marL="0">
              <a:buNone/>
            </a:pPr>
            <a:r>
              <a:rPr lang="en-US" sz="1550" dirty="0">
                <a:solidFill>
                  <a:srgbClr val="212121"/>
                </a:solidFill>
                <a:latin typeface="Arial" pitchFamily="34" charset="0"/>
                <a:ea typeface="Arial" pitchFamily="34" charset="-122"/>
                <a:cs typeface="Arial" pitchFamily="34" charset="-120"/>
              </a:rPr>
              <a:t>En Docker Desktop el socket /var/run/docker.sock pertenece al grupo root, y la feature no puede añadir al usuario del contenedor a root por seguridad: se queda sin permiso, antes de crear ningún contenedor.</a:t>
            </a:r>
            <a:endParaRPr lang="en-US" sz="1550" dirty="0"/>
          </a:p>
        </p:txBody>
      </p:sp>
      <p:sp>
        <p:nvSpPr>
          <p:cNvPr id="9" name="Shape 7"/>
          <p:cNvSpPr/>
          <p:nvPr/>
        </p:nvSpPr>
        <p:spPr>
          <a:xfrm>
            <a:off x="6231636" y="1051560"/>
            <a:ext cx="5408676" cy="3017520"/>
          </a:xfrm>
          <a:prstGeom prst="roundRect">
            <a:avLst/>
          </a:prstGeom>
          <a:solidFill>
            <a:srgbClr val="FBEAEA"/>
          </a:solidFill>
          <a:ln w="19050">
            <a:solidFill>
              <a:srgbClr val="C62828"/>
            </a:solidFill>
            <a:prstDash val="solid"/>
          </a:ln>
        </p:spPr>
      </p:sp>
      <p:sp>
        <p:nvSpPr>
          <p:cNvPr id="10" name="Shape 8"/>
          <p:cNvSpPr/>
          <p:nvPr/>
        </p:nvSpPr>
        <p:spPr>
          <a:xfrm>
            <a:off x="6460236" y="1179576"/>
            <a:ext cx="73152" cy="384048"/>
          </a:xfrm>
          <a:prstGeom prst="rect">
            <a:avLst/>
          </a:prstGeom>
          <a:solidFill>
            <a:srgbClr val="E64A19"/>
          </a:solidFill>
          <a:ln w="12700">
            <a:solidFill>
              <a:srgbClr val="E64A19"/>
            </a:solidFill>
            <a:prstDash val="solid"/>
          </a:ln>
        </p:spPr>
      </p:sp>
      <p:sp>
        <p:nvSpPr>
          <p:cNvPr id="11" name="Text 9"/>
          <p:cNvSpPr/>
          <p:nvPr/>
        </p:nvSpPr>
        <p:spPr>
          <a:xfrm>
            <a:off x="6643116" y="1143000"/>
            <a:ext cx="4814316" cy="457200"/>
          </a:xfrm>
          <a:prstGeom prst="rect">
            <a:avLst/>
          </a:prstGeom>
          <a:noFill/>
          <a:ln/>
        </p:spPr>
        <p:txBody>
          <a:bodyPr wrap="square" rtlCol="0" anchor="ctr"/>
          <a:lstStyle/>
          <a:p>
            <a:pPr indent="0" marL="0">
              <a:buNone/>
            </a:pPr>
            <a:r>
              <a:rPr lang="en-US" sz="2000" b="1" dirty="0">
                <a:solidFill>
                  <a:srgbClr val="7F0000"/>
                </a:solidFill>
                <a:latin typeface="Arial" pitchFamily="34" charset="0"/>
                <a:ea typeface="Arial" pitchFamily="34" charset="-122"/>
                <a:cs typeface="Arial" pitchFamily="34" charset="-120"/>
              </a:rPr>
              <a:t>2. Connection refused</a:t>
            </a:r>
            <a:endParaRPr lang="en-US" sz="2000" dirty="0"/>
          </a:p>
        </p:txBody>
      </p:sp>
      <p:sp>
        <p:nvSpPr>
          <p:cNvPr id="12" name="Text 10"/>
          <p:cNvSpPr/>
          <p:nvPr/>
        </p:nvSpPr>
        <p:spPr>
          <a:xfrm>
            <a:off x="6505956" y="1673352"/>
            <a:ext cx="4860036" cy="2286000"/>
          </a:xfrm>
          <a:prstGeom prst="rect">
            <a:avLst/>
          </a:prstGeom>
          <a:noFill/>
          <a:ln/>
        </p:spPr>
        <p:txBody>
          <a:bodyPr wrap="square" rtlCol="0" anchor="t"/>
          <a:lstStyle/>
          <a:p>
            <a:pPr indent="0" marL="0">
              <a:buNone/>
            </a:pPr>
            <a:r>
              <a:rPr lang="en-US" sz="1550" dirty="0">
                <a:solidFill>
                  <a:srgbClr val="212121"/>
                </a:solidFill>
                <a:latin typeface="Arial" pitchFamily="34" charset="0"/>
                <a:ea typeface="Arial" pitchFamily="34" charset="-122"/>
                <a:cs typeface="Arial" pitchFamily="34" charset="-120"/>
              </a:rPr>
              <a:t>Ryuk (el contenedor auxiliar que limpia al terminar) y el PostgreSQL de test arrancan como hermanos en la red del host, no en la de app. El síntoma: Connection refused hacia una IP tipo 172.17.0.1.</a:t>
            </a:r>
            <a:endParaRPr lang="en-US" sz="1550" dirty="0"/>
          </a:p>
        </p:txBody>
      </p:sp>
      <p:sp>
        <p:nvSpPr>
          <p:cNvPr id="13" name="Text 11"/>
          <p:cNvSpPr/>
          <p:nvPr/>
        </p:nvSpPr>
        <p:spPr>
          <a:xfrm>
            <a:off x="548640" y="4206240"/>
            <a:ext cx="5408676" cy="365760"/>
          </a:xfrm>
          <a:prstGeom prst="rect">
            <a:avLst/>
          </a:prstGeom>
          <a:noFill/>
          <a:ln/>
        </p:spPr>
        <p:txBody>
          <a:bodyPr wrap="square" rtlCol="0" anchor="t"/>
          <a:lstStyle/>
          <a:p>
            <a:pPr indent="0" marL="0">
              <a:buNone/>
            </a:pPr>
            <a:r>
              <a:rPr lang="en-US" sz="1400" dirty="0">
                <a:solidFill>
                  <a:srgbClr val="212121"/>
                </a:solidFill>
                <a:latin typeface="Arial" pitchFamily="34" charset="0"/>
                <a:ea typeface="Arial" pitchFamily="34" charset="-122"/>
                <a:cs typeface="Arial" pitchFamily="34" charset="-120"/>
              </a:rPr>
              <a:t>En devcontainer.json (no en docker-compose.yml):</a:t>
            </a:r>
            <a:endParaRPr lang="en-US" sz="1400" dirty="0"/>
          </a:p>
        </p:txBody>
      </p:sp>
      <p:sp>
        <p:nvSpPr>
          <p:cNvPr id="14" name="Shape 12"/>
          <p:cNvSpPr/>
          <p:nvPr/>
        </p:nvSpPr>
        <p:spPr>
          <a:xfrm>
            <a:off x="548640" y="4572000"/>
            <a:ext cx="5408676" cy="685800"/>
          </a:xfrm>
          <a:prstGeom prst="rect">
            <a:avLst/>
          </a:prstGeom>
          <a:solidFill>
            <a:srgbClr val="ECEFF1"/>
          </a:solidFill>
          <a:ln w="12700">
            <a:solidFill>
              <a:srgbClr val="EEEEEE"/>
            </a:solidFill>
            <a:prstDash val="solid"/>
          </a:ln>
        </p:spPr>
      </p:sp>
      <p:sp>
        <p:nvSpPr>
          <p:cNvPr id="15" name="Shape 13"/>
          <p:cNvSpPr/>
          <p:nvPr/>
        </p:nvSpPr>
        <p:spPr>
          <a:xfrm>
            <a:off x="548640" y="4572000"/>
            <a:ext cx="73152" cy="685800"/>
          </a:xfrm>
          <a:prstGeom prst="rect">
            <a:avLst/>
          </a:prstGeom>
          <a:solidFill>
            <a:srgbClr val="E64A19"/>
          </a:solidFill>
          <a:ln w="12700">
            <a:solidFill>
              <a:srgbClr val="E64A19"/>
            </a:solidFill>
            <a:prstDash val="solid"/>
          </a:ln>
        </p:spPr>
      </p:sp>
      <p:sp>
        <p:nvSpPr>
          <p:cNvPr id="16" name="Text 14"/>
          <p:cNvSpPr/>
          <p:nvPr/>
        </p:nvSpPr>
        <p:spPr>
          <a:xfrm>
            <a:off x="822960" y="4681728"/>
            <a:ext cx="4905756" cy="466344"/>
          </a:xfrm>
          <a:prstGeom prst="rect">
            <a:avLst/>
          </a:prstGeom>
          <a:noFill/>
          <a:ln/>
        </p:spPr>
        <p:txBody>
          <a:bodyPr wrap="square" rtlCol="0" anchor="t"/>
          <a:lstStyle/>
          <a:p>
            <a:pPr indent="0" marL="0">
              <a:buNone/>
            </a:pPr>
            <a:r>
              <a:rPr lang="en-US" sz="1150" dirty="0">
                <a:solidFill>
                  <a:srgbClr val="263238"/>
                </a:solidFill>
                <a:latin typeface="Courier New" pitchFamily="34" charset="0"/>
                <a:ea typeface="Courier New" pitchFamily="34" charset="-122"/>
                <a:cs typeface="Courier New" pitchFamily="34" charset="-120"/>
              </a:rPr>
              <a:t>"postStartCommand": "sudo chmod 666 /var/run/docker.sock || true"</a:t>
            </a:r>
            <a:endParaRPr lang="en-US" sz="1150" dirty="0"/>
          </a:p>
        </p:txBody>
      </p:sp>
      <p:sp>
        <p:nvSpPr>
          <p:cNvPr id="17" name="Text 15"/>
          <p:cNvSpPr/>
          <p:nvPr/>
        </p:nvSpPr>
        <p:spPr>
          <a:xfrm>
            <a:off x="6231636" y="4206240"/>
            <a:ext cx="5408676" cy="365760"/>
          </a:xfrm>
          <a:prstGeom prst="rect">
            <a:avLst/>
          </a:prstGeom>
          <a:noFill/>
          <a:ln/>
        </p:spPr>
        <p:txBody>
          <a:bodyPr wrap="square" rtlCol="0" anchor="t"/>
          <a:lstStyle/>
          <a:p>
            <a:pPr indent="0" marL="0">
              <a:buNone/>
            </a:pPr>
            <a:r>
              <a:rPr lang="en-US" sz="1400" dirty="0">
                <a:solidFill>
                  <a:srgbClr val="212121"/>
                </a:solidFill>
                <a:latin typeface="Arial" pitchFamily="34" charset="0"/>
                <a:ea typeface="Arial" pitchFamily="34" charset="-122"/>
                <a:cs typeface="Arial" pitchFamily="34" charset="-120"/>
              </a:rPr>
              <a:t>En .devcontainer/docker-compose.yml, servicio app:</a:t>
            </a:r>
            <a:endParaRPr lang="en-US" sz="1400" dirty="0"/>
          </a:p>
        </p:txBody>
      </p:sp>
      <p:sp>
        <p:nvSpPr>
          <p:cNvPr id="18" name="Shape 16"/>
          <p:cNvSpPr/>
          <p:nvPr/>
        </p:nvSpPr>
        <p:spPr>
          <a:xfrm>
            <a:off x="6231636" y="4572000"/>
            <a:ext cx="5408676" cy="685800"/>
          </a:xfrm>
          <a:prstGeom prst="rect">
            <a:avLst/>
          </a:prstGeom>
          <a:solidFill>
            <a:srgbClr val="ECEFF1"/>
          </a:solidFill>
          <a:ln w="12700">
            <a:solidFill>
              <a:srgbClr val="EEEEEE"/>
            </a:solidFill>
            <a:prstDash val="solid"/>
          </a:ln>
        </p:spPr>
      </p:sp>
      <p:sp>
        <p:nvSpPr>
          <p:cNvPr id="19" name="Shape 17"/>
          <p:cNvSpPr/>
          <p:nvPr/>
        </p:nvSpPr>
        <p:spPr>
          <a:xfrm>
            <a:off x="6231636" y="4572000"/>
            <a:ext cx="73152" cy="685800"/>
          </a:xfrm>
          <a:prstGeom prst="rect">
            <a:avLst/>
          </a:prstGeom>
          <a:solidFill>
            <a:srgbClr val="E64A19"/>
          </a:solidFill>
          <a:ln w="12700">
            <a:solidFill>
              <a:srgbClr val="E64A19"/>
            </a:solidFill>
            <a:prstDash val="solid"/>
          </a:ln>
        </p:spPr>
      </p:sp>
      <p:sp>
        <p:nvSpPr>
          <p:cNvPr id="20" name="Text 18"/>
          <p:cNvSpPr/>
          <p:nvPr/>
        </p:nvSpPr>
        <p:spPr>
          <a:xfrm>
            <a:off x="6505956" y="4681728"/>
            <a:ext cx="4905756" cy="466344"/>
          </a:xfrm>
          <a:prstGeom prst="rect">
            <a:avLst/>
          </a:prstGeom>
          <a:noFill/>
          <a:ln/>
        </p:spPr>
        <p:txBody>
          <a:bodyPr wrap="square" rtlCol="0" anchor="t"/>
          <a:lstStyle/>
          <a:p>
            <a:pPr indent="0" marL="0">
              <a:buNone/>
            </a:pPr>
            <a:r>
              <a:rPr lang="en-US" sz="1150" dirty="0">
                <a:solidFill>
                  <a:srgbClr val="263238"/>
                </a:solidFill>
                <a:latin typeface="Courier New" pitchFamily="34" charset="0"/>
                <a:ea typeface="Courier New" pitchFamily="34" charset="-122"/>
                <a:cs typeface="Courier New" pitchFamily="34" charset="-120"/>
              </a:rPr>
              <a:t>environment:</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 TESTCONTAINERS_HOST_OVERRIDE=host.docker.internal</a:t>
            </a:r>
            <a:endParaRPr lang="en-US" sz="1150" dirty="0"/>
          </a:p>
        </p:txBody>
      </p:sp>
      <p:sp>
        <p:nvSpPr>
          <p:cNvPr id="21" name="Text 19"/>
          <p:cNvSpPr/>
          <p:nvPr/>
        </p:nvSpPr>
        <p:spPr>
          <a:xfrm>
            <a:off x="548640" y="5440680"/>
            <a:ext cx="5408676" cy="640080"/>
          </a:xfrm>
          <a:prstGeom prst="rect">
            <a:avLst/>
          </a:prstGeom>
          <a:noFill/>
          <a:ln/>
        </p:spPr>
        <p:txBody>
          <a:bodyPr wrap="square" rtlCol="0" anchor="t"/>
          <a:lstStyle/>
          <a:p>
            <a:pPr indent="0" marL="0">
              <a:buNone/>
            </a:pPr>
            <a:r>
              <a:rPr lang="en-US" sz="1350" dirty="0">
                <a:solidFill>
                  <a:srgbClr val="757575"/>
                </a:solidFill>
                <a:latin typeface="Arial" pitchFamily="34" charset="0"/>
                <a:ea typeface="Arial" pitchFamily="34" charset="-122"/>
                <a:cs typeface="Arial" pitchFamily="34" charset="-120"/>
              </a:rPr>
              <a:t>El || true evita que el arranque falle. Después, reconstruir el contenedor.</a:t>
            </a:r>
            <a:endParaRPr lang="en-US" sz="1350" dirty="0"/>
          </a:p>
        </p:txBody>
      </p:sp>
      <p:sp>
        <p:nvSpPr>
          <p:cNvPr id="22" name="Text 20"/>
          <p:cNvSpPr/>
          <p:nvPr/>
        </p:nvSpPr>
        <p:spPr>
          <a:xfrm>
            <a:off x="6231636" y="5440680"/>
            <a:ext cx="5408676" cy="640080"/>
          </a:xfrm>
          <a:prstGeom prst="rect">
            <a:avLst/>
          </a:prstGeom>
          <a:noFill/>
          <a:ln/>
        </p:spPr>
        <p:txBody>
          <a:bodyPr wrap="square" rtlCol="0" anchor="t"/>
          <a:lstStyle/>
          <a:p>
            <a:pPr indent="0" marL="0">
              <a:buNone/>
            </a:pPr>
            <a:r>
              <a:rPr lang="en-US" sz="1350" dirty="0">
                <a:solidFill>
                  <a:srgbClr val="757575"/>
                </a:solidFill>
                <a:latin typeface="Arial" pitchFamily="34" charset="0"/>
                <a:ea typeface="Arial" pitchFamily="34" charset="-122"/>
                <a:cs typeface="Arial" pitchFamily="34" charset="-120"/>
              </a:rPr>
              <a:t>host.docker.internal es el nombre que Docker Desktop resuelve bien desde cualquier contenedor. Después, reconstruir el contenedor.</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Con las dependencias resueltas: la clase de test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280160"/>
            <a:ext cx="11091672" cy="3931920"/>
          </a:xfrm>
          <a:prstGeom prst="rect">
            <a:avLst/>
          </a:prstGeom>
          <a:solidFill>
            <a:srgbClr val="ECEFF1"/>
          </a:solidFill>
          <a:ln w="12700">
            <a:solidFill>
              <a:srgbClr val="EEEEEE"/>
            </a:solidFill>
            <a:prstDash val="solid"/>
          </a:ln>
        </p:spPr>
      </p:sp>
      <p:sp>
        <p:nvSpPr>
          <p:cNvPr id="6" name="Shape 4"/>
          <p:cNvSpPr/>
          <p:nvPr/>
        </p:nvSpPr>
        <p:spPr>
          <a:xfrm>
            <a:off x="548640" y="1280160"/>
            <a:ext cx="73152" cy="3931920"/>
          </a:xfrm>
          <a:prstGeom prst="rect">
            <a:avLst/>
          </a:prstGeom>
          <a:solidFill>
            <a:srgbClr val="E64A19"/>
          </a:solidFill>
          <a:ln w="12700">
            <a:solidFill>
              <a:srgbClr val="E64A19"/>
            </a:solidFill>
            <a:prstDash val="solid"/>
          </a:ln>
        </p:spPr>
      </p:sp>
      <p:sp>
        <p:nvSpPr>
          <p:cNvPr id="7" name="Text 5"/>
          <p:cNvSpPr/>
          <p:nvPr/>
        </p:nvSpPr>
        <p:spPr>
          <a:xfrm>
            <a:off x="822960" y="1389888"/>
            <a:ext cx="10588752" cy="3712464"/>
          </a:xfrm>
          <a:prstGeom prst="rect">
            <a:avLst/>
          </a:prstGeom>
          <a:noFill/>
          <a:ln/>
        </p:spPr>
        <p:txBody>
          <a:bodyPr wrap="square" rtlCol="0" anchor="t"/>
          <a:lstStyle/>
          <a:p>
            <a:pPr indent="0" marL="0">
              <a:buNone/>
            </a:pPr>
            <a:r>
              <a:rPr lang="en-US" sz="1450" dirty="0">
                <a:solidFill>
                  <a:srgbClr val="263238"/>
                </a:solidFill>
                <a:latin typeface="Courier New" pitchFamily="34" charset="0"/>
                <a:ea typeface="Courier New" pitchFamily="34" charset="-122"/>
                <a:cs typeface="Courier New" pitchFamily="34" charset="-120"/>
              </a:rPr>
              <a:t>@SpringBootTest</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@AutoConfigureMockMvc</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@ActiveProfiles("test")</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@Testcontainers</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class LibreriaApiTest {</a:t>
            </a:r>
            <a:endParaRPr lang="en-US" sz="1450" dirty="0"/>
          </a:p>
          <a:p>
            <a:pPr indent="0" marL="0">
              <a:buNone/>
            </a:pP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@Container</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@ServiceConnection</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static PostgreSQLContainer&lt;?&gt; postgres =</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new PostgreSQLContainer&lt;&gt;("postgres:16-alpine");</a:t>
            </a:r>
            <a:endParaRPr lang="en-US" sz="1450" dirty="0"/>
          </a:p>
          <a:p>
            <a:pPr indent="0" marL="0">
              <a:buNone/>
            </a:pP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@Autowired</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private MockMvc mockMvc;</a:t>
            </a:r>
            <a:endParaRPr lang="en-US" sz="1450" dirty="0"/>
          </a:p>
          <a:p>
            <a:pPr indent="0" marL="0">
              <a:buNone/>
            </a:pP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 ...</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Qué hace cada anotación: el ciclo de un test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pic>
        <p:nvPicPr>
          <p:cNvPr id="5" name="Image 0" descr="C:/Users/Aitor/Documents/apuntes-profe/acceso-a-datos/docs/tema2/img/tema2_testcontainers_ciclo.png">    </p:cNvPr>
          <p:cNvPicPr>
            <a:picLocks noChangeAspect="1"/>
          </p:cNvPicPr>
          <p:nvPr/>
        </p:nvPicPr>
        <p:blipFill>
          <a:blip r:embed="rId1"/>
          <a:stretch>
            <a:fillRect/>
          </a:stretch>
        </p:blipFill>
        <p:spPr>
          <a:xfrm>
            <a:off x="2278629" y="960120"/>
            <a:ext cx="7631693" cy="4297680"/>
          </a:xfrm>
          <a:prstGeom prst="rect">
            <a:avLst/>
          </a:prstGeom>
        </p:spPr>
      </p:pic>
      <p:sp>
        <p:nvSpPr>
          <p:cNvPr id="6" name="Shape 3"/>
          <p:cNvSpPr/>
          <p:nvPr/>
        </p:nvSpPr>
        <p:spPr>
          <a:xfrm>
            <a:off x="548640" y="5394960"/>
            <a:ext cx="11091672" cy="914400"/>
          </a:xfrm>
          <a:prstGeom prst="roundRect">
            <a:avLst/>
          </a:prstGeom>
          <a:solidFill>
            <a:srgbClr val="FBE9E7"/>
          </a:solidFill>
          <a:ln w="19050">
            <a:solidFill>
              <a:srgbClr val="E64A19"/>
            </a:solidFill>
            <a:prstDash val="solid"/>
          </a:ln>
        </p:spPr>
      </p:sp>
      <p:sp>
        <p:nvSpPr>
          <p:cNvPr id="7" name="Text 4"/>
          <p:cNvSpPr/>
          <p:nvPr/>
        </p:nvSpPr>
        <p:spPr>
          <a:xfrm>
            <a:off x="822960" y="5486400"/>
            <a:ext cx="10543032" cy="731520"/>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Prueba el mapeo JSONB real contra un PostgreSQL real: una base en memoria genérica (como H2) podría no soportar jsonb ni jsonb_exists, y un mock nunca ejecuta SQL de verdad contra ningún motor.</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La anotación sola no basta: el perfil test debe existir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Text 3"/>
          <p:cNvSpPr/>
          <p:nvPr/>
        </p:nvSpPr>
        <p:spPr>
          <a:xfrm>
            <a:off x="548640" y="1143000"/>
            <a:ext cx="11091672" cy="1371600"/>
          </a:xfrm>
          <a:prstGeom prst="rect">
            <a:avLst/>
          </a:prstGeom>
          <a:noFill/>
          <a:ln/>
        </p:spPr>
        <p:txBody>
          <a:bodyPr wrap="square" rtlCol="0" anchor="t"/>
          <a:lstStyle/>
          <a:p>
            <a:pPr indent="0" marL="0">
              <a:buNone/>
            </a:pPr>
            <a:r>
              <a:rPr lang="en-US" sz="1450" dirty="0">
                <a:solidFill>
                  <a:srgbClr val="212121"/>
                </a:solidFill>
                <a:latin typeface="Arial" pitchFamily="34" charset="0"/>
                <a:ea typeface="Arial" pitchFamily="34" charset="-122"/>
                <a:cs typeface="Arial" pitchFamily="34" charset="-120"/>
              </a:rPr>
              <a:t>@ActiveProfiles("test") le dice a Spring qué perfil activar, pero no crea nada por sí sola. Tres propiedades sin valor impiden arrancar del todo: la contraseña del admin, el secreto JWT y la expiración del token — ninguna lleva valor por defecto. spring.datasource no hace falta escribirlo: eso ya lo resuelve @ServiceConnection. Crear src/test/resources/application-test.yml:</a:t>
            </a:r>
            <a:endParaRPr lang="en-US" sz="1450" dirty="0"/>
          </a:p>
        </p:txBody>
      </p:sp>
      <p:sp>
        <p:nvSpPr>
          <p:cNvPr id="6" name="Shape 4"/>
          <p:cNvSpPr/>
          <p:nvPr/>
        </p:nvSpPr>
        <p:spPr>
          <a:xfrm>
            <a:off x="548640" y="2697480"/>
            <a:ext cx="11091672" cy="3246120"/>
          </a:xfrm>
          <a:prstGeom prst="rect">
            <a:avLst/>
          </a:prstGeom>
          <a:solidFill>
            <a:srgbClr val="ECEFF1"/>
          </a:solidFill>
          <a:ln w="12700">
            <a:solidFill>
              <a:srgbClr val="EEEEEE"/>
            </a:solidFill>
            <a:prstDash val="solid"/>
          </a:ln>
        </p:spPr>
      </p:sp>
      <p:sp>
        <p:nvSpPr>
          <p:cNvPr id="7" name="Shape 5"/>
          <p:cNvSpPr/>
          <p:nvPr/>
        </p:nvSpPr>
        <p:spPr>
          <a:xfrm>
            <a:off x="548640" y="2697480"/>
            <a:ext cx="73152" cy="3246120"/>
          </a:xfrm>
          <a:prstGeom prst="rect">
            <a:avLst/>
          </a:prstGeom>
          <a:solidFill>
            <a:srgbClr val="E64A19"/>
          </a:solidFill>
          <a:ln w="12700">
            <a:solidFill>
              <a:srgbClr val="E64A19"/>
            </a:solidFill>
            <a:prstDash val="solid"/>
          </a:ln>
        </p:spPr>
      </p:sp>
      <p:sp>
        <p:nvSpPr>
          <p:cNvPr id="8" name="Text 6"/>
          <p:cNvSpPr/>
          <p:nvPr/>
        </p:nvSpPr>
        <p:spPr>
          <a:xfrm>
            <a:off x="822960" y="2807208"/>
            <a:ext cx="10588752" cy="3026664"/>
          </a:xfrm>
          <a:prstGeom prst="rect">
            <a:avLst/>
          </a:prstGeom>
          <a:noFill/>
          <a:ln/>
        </p:spPr>
        <p:txBody>
          <a:bodyPr wrap="square" rtlCol="0" anchor="t"/>
          <a:lstStyle/>
          <a:p>
            <a:pPr indent="0" marL="0">
              <a:buNone/>
            </a:pPr>
            <a:r>
              <a:rPr lang="en-US" sz="1250" dirty="0">
                <a:solidFill>
                  <a:srgbClr val="263238"/>
                </a:solidFill>
                <a:latin typeface="Courier New" pitchFamily="34" charset="0"/>
                <a:ea typeface="Courier New" pitchFamily="34" charset="-122"/>
                <a:cs typeface="Courier New" pitchFamily="34" charset="-120"/>
              </a:rPr>
              <a:t>spring:</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config:</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activate:</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on-profile: test</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jpa:</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hibernate:</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ddl-auto: create-drop</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show-sql: true</a:t>
            </a:r>
            <a:endParaRPr lang="en-US" sz="1250" dirty="0"/>
          </a:p>
          <a:p>
            <a:pPr indent="0" marL="0">
              <a:buNone/>
            </a:pP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gamevault:</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admin:</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password: admintest123</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jwt:</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secret: un-secreto-de-test-de-al-menos-32-caracteres</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expiration-minutes: 60</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Peticiones autenticadas dentro del test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Text 3"/>
          <p:cNvSpPr/>
          <p:nvPr/>
        </p:nvSpPr>
        <p:spPr>
          <a:xfrm>
            <a:off x="548640" y="1783080"/>
            <a:ext cx="11091672" cy="1051560"/>
          </a:xfrm>
          <a:prstGeom prst="rect">
            <a:avLst/>
          </a:prstGeom>
          <a:noFill/>
          <a:ln/>
        </p:spPr>
        <p:txBody>
          <a:bodyPr wrap="square" rtlCol="0" anchor="t"/>
          <a:lstStyle/>
          <a:p>
            <a:pPr indent="0" marL="0">
              <a:buNone/>
            </a:pPr>
            <a:r>
              <a:rPr lang="en-US" sz="1950" dirty="0">
                <a:solidFill>
                  <a:srgbClr val="212121"/>
                </a:solidFill>
                <a:latin typeface="Arial" pitchFamily="34" charset="0"/>
                <a:ea typeface="Arial" pitchFamily="34" charset="-122"/>
                <a:cs typeface="Arial" pitchFamily="34" charset="-120"/>
              </a:rPr>
              <a:t>Si la API tiene rutas protegidas —y a estas alturas del curso ya las tiene, con roles y todo—, el test debe recorrer el mismo flujo de autenticación y autorización de la aplicación: no hay ningún atajo que salte la seguridad "porque es un test".</a:t>
            </a:r>
            <a:endParaRPr lang="en-US" sz="1950" dirty="0"/>
          </a:p>
        </p:txBody>
      </p:sp>
      <p:sp>
        <p:nvSpPr>
          <p:cNvPr id="6" name="Shape 4"/>
          <p:cNvSpPr/>
          <p:nvPr/>
        </p:nvSpPr>
        <p:spPr>
          <a:xfrm>
            <a:off x="548640" y="3200400"/>
            <a:ext cx="11091672" cy="1554480"/>
          </a:xfrm>
          <a:prstGeom prst="roundRect">
            <a:avLst/>
          </a:prstGeom>
          <a:solidFill>
            <a:srgbClr val="FBE9E7"/>
          </a:solidFill>
          <a:ln w="19050">
            <a:solidFill>
              <a:srgbClr val="E64A19"/>
            </a:solidFill>
            <a:prstDash val="solid"/>
          </a:ln>
        </p:spPr>
      </p:sp>
      <p:sp>
        <p:nvSpPr>
          <p:cNvPr id="7" name="Text 5"/>
          <p:cNvSpPr/>
          <p:nvPr/>
        </p:nvSpPr>
        <p:spPr>
          <a:xfrm>
            <a:off x="822960" y="3291840"/>
            <a:ext cx="10543032" cy="1371600"/>
          </a:xfrm>
          <a:prstGeom prst="rect">
            <a:avLst/>
          </a:prstGeom>
          <a:noFill/>
          <a:ln/>
        </p:spPr>
        <p:txBody>
          <a:bodyPr wrap="square" rtlCol="0" anchor="ctr"/>
          <a:lstStyle/>
          <a:p>
            <a:pPr indent="0" marL="0">
              <a:buNone/>
            </a:pPr>
            <a:r>
              <a:rPr lang="en-US" sz="1750" dirty="0">
                <a:solidFill>
                  <a:srgbClr val="212121"/>
                </a:solidFill>
                <a:latin typeface="Arial" pitchFamily="34" charset="0"/>
                <a:ea typeface="Arial" pitchFamily="34" charset="-122"/>
                <a:cs typeface="Arial" pitchFamily="34" charset="-120"/>
              </a:rPr>
              <a:t>MockMvc no abre una conexión HTTP real ni arranca un servidor. Construye peticiones y respuestas simuladas, pero las hace pasar por el DispatcherServlet, la cadena de filtros de seguridad, los controllers y el resto del contexto real de Spring. Por eso se puede hacer login, extraer el token y utilizarlo después en otra petición.</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Login, token y petición autenticada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pic>
        <p:nvPicPr>
          <p:cNvPr id="5" name="Image 0" descr="C:/Users/Aitor/docxgen/img/test_login_flujo.png">    </p:cNvPr>
          <p:cNvPicPr>
            <a:picLocks noChangeAspect="1"/>
          </p:cNvPicPr>
          <p:nvPr/>
        </p:nvPicPr>
        <p:blipFill>
          <a:blip r:embed="rId1"/>
          <a:stretch>
            <a:fillRect/>
          </a:stretch>
        </p:blipFill>
        <p:spPr>
          <a:xfrm>
            <a:off x="3364491" y="1440180"/>
            <a:ext cx="5459970" cy="4160520"/>
          </a:xfrm>
          <a:prstGeom prst="rect">
            <a:avLst/>
          </a:prstGeom>
        </p:spPr>
      </p:pic>
      <p:sp>
        <p:nvSpPr>
          <p:cNvPr id="6" name="Text 3"/>
          <p:cNvSpPr/>
          <p:nvPr/>
        </p:nvSpPr>
        <p:spPr>
          <a:xfrm>
            <a:off x="548640" y="5737860"/>
            <a:ext cx="11091672" cy="502920"/>
          </a:xfrm>
          <a:prstGeom prst="rect">
            <a:avLst/>
          </a:prstGeom>
          <a:noFill/>
          <a:ln/>
        </p:spPr>
        <p:txBody>
          <a:bodyPr wrap="square" rtlCol="0" anchor="t"/>
          <a:lstStyle/>
          <a:p>
            <a:pPr algn="ctr" indent="0" marL="0">
              <a:buNone/>
            </a:pPr>
            <a:r>
              <a:rPr lang="en-US" sz="1350" dirty="0">
                <a:solidFill>
                  <a:srgbClr val="757575"/>
                </a:solidFill>
                <a:latin typeface="Arial" pitchFamily="34" charset="0"/>
                <a:ea typeface="Arial" pitchFamily="34" charset="-122"/>
                <a:cs typeface="Arial" pitchFamily="34" charset="-120"/>
              </a:rPr>
              <a:t>MockMvc hace pasar la petición por el contexto real de Spring — login, extracción del token con JsonPath, y una segunda petición autenticada con ese token.</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ayudante que hace login y devuelve el token</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554480"/>
            <a:ext cx="11091672" cy="2743200"/>
          </a:xfrm>
          <a:prstGeom prst="rect">
            <a:avLst/>
          </a:prstGeom>
          <a:solidFill>
            <a:srgbClr val="ECEFF1"/>
          </a:solidFill>
          <a:ln w="12700">
            <a:solidFill>
              <a:srgbClr val="EEEEEE"/>
            </a:solidFill>
            <a:prstDash val="solid"/>
          </a:ln>
        </p:spPr>
      </p:sp>
      <p:sp>
        <p:nvSpPr>
          <p:cNvPr id="6" name="Shape 4"/>
          <p:cNvSpPr/>
          <p:nvPr/>
        </p:nvSpPr>
        <p:spPr>
          <a:xfrm>
            <a:off x="548640" y="1554480"/>
            <a:ext cx="73152" cy="2743200"/>
          </a:xfrm>
          <a:prstGeom prst="rect">
            <a:avLst/>
          </a:prstGeom>
          <a:solidFill>
            <a:srgbClr val="E64A19"/>
          </a:solidFill>
          <a:ln w="12700">
            <a:solidFill>
              <a:srgbClr val="E64A19"/>
            </a:solidFill>
            <a:prstDash val="solid"/>
          </a:ln>
        </p:spPr>
      </p:sp>
      <p:sp>
        <p:nvSpPr>
          <p:cNvPr id="7" name="Text 5"/>
          <p:cNvSpPr/>
          <p:nvPr/>
        </p:nvSpPr>
        <p:spPr>
          <a:xfrm>
            <a:off x="822960" y="1664208"/>
            <a:ext cx="10588752" cy="2523744"/>
          </a:xfrm>
          <a:prstGeom prst="rect">
            <a:avLst/>
          </a:prstGeom>
          <a:noFill/>
          <a:ln/>
        </p:spPr>
        <p:txBody>
          <a:bodyPr wrap="square" rtlCol="0" anchor="t"/>
          <a:lstStyle/>
          <a:p>
            <a:pPr indent="0" marL="0">
              <a:buNone/>
            </a:pPr>
            <a:r>
              <a:rPr lang="en-US" sz="1500" dirty="0">
                <a:solidFill>
                  <a:srgbClr val="263238"/>
                </a:solidFill>
                <a:latin typeface="Courier New" pitchFamily="34" charset="0"/>
                <a:ea typeface="Courier New" pitchFamily="34" charset="-122"/>
                <a:cs typeface="Courier New" pitchFamily="34" charset="-120"/>
              </a:rPr>
              <a:t>private String loginComoAdmin() throws Exception {</a:t>
            </a: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    String respuesta = mockMvc.perform(post("/api/v1/auth/login")</a:t>
            </a: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            .contentType(MediaType.APPLICATION_JSON)</a:t>
            </a: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            .content("""</a:t>
            </a: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                {"username":"admin","password":"admintest123"}</a:t>
            </a: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        .andExpect(status().isOk())</a:t>
            </a: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        .andReturn().getResponse().getContentAsString();</a:t>
            </a:r>
            <a:endParaRPr lang="en-US" sz="1500" dirty="0"/>
          </a:p>
          <a:p>
            <a:pPr indent="0" marL="0">
              <a:buNone/>
            </a:pP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    return JsonPath.read(respuesta, "$.accessToken");</a:t>
            </a:r>
            <a:endParaRPr lang="en-US" sz="1500" dirty="0"/>
          </a:p>
          <a:p>
            <a:pPr indent="0" marL="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p:txBody>
      </p:sp>
      <p:sp>
        <p:nvSpPr>
          <p:cNvPr id="8" name="Text 6"/>
          <p:cNvSpPr/>
          <p:nvPr/>
        </p:nvSpPr>
        <p:spPr>
          <a:xfrm>
            <a:off x="548640" y="4572000"/>
            <a:ext cx="11091672" cy="777240"/>
          </a:xfrm>
          <a:prstGeom prst="rect">
            <a:avLst/>
          </a:prstGeom>
          <a:noFill/>
          <a:ln/>
        </p:spPr>
        <p:txBody>
          <a:bodyPr wrap="square" rtlCol="0" anchor="t"/>
          <a:lstStyle/>
          <a:p>
            <a:pPr indent="0" marL="0">
              <a:buNone/>
            </a:pPr>
            <a:r>
              <a:rPr lang="en-US" sz="1500" dirty="0">
                <a:solidFill>
                  <a:srgbClr val="757575"/>
                </a:solidFill>
                <a:latin typeface="Arial" pitchFamily="34" charset="0"/>
                <a:ea typeface="Arial" pitchFamily="34" charset="-122"/>
                <a:cs typeface="Arial" pitchFamily="34" charset="-120"/>
              </a:rPr>
              <a:t>loginComoAdmin() no lleva @Test: es un método ayudante que cualquier otro test de la clase puede utilizar. Requiere import com.jayway.jsonpath.JsonPath, ya incluido en spring-boot-starter-test.</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test que usa el token: crearLibro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508760"/>
            <a:ext cx="11091672" cy="3291840"/>
          </a:xfrm>
          <a:prstGeom prst="rect">
            <a:avLst/>
          </a:prstGeom>
          <a:solidFill>
            <a:srgbClr val="ECEFF1"/>
          </a:solidFill>
          <a:ln w="12700">
            <a:solidFill>
              <a:srgbClr val="EEEEEE"/>
            </a:solidFill>
            <a:prstDash val="solid"/>
          </a:ln>
        </p:spPr>
      </p:sp>
      <p:sp>
        <p:nvSpPr>
          <p:cNvPr id="6" name="Shape 4"/>
          <p:cNvSpPr/>
          <p:nvPr/>
        </p:nvSpPr>
        <p:spPr>
          <a:xfrm>
            <a:off x="548640" y="1508760"/>
            <a:ext cx="73152" cy="3291840"/>
          </a:xfrm>
          <a:prstGeom prst="rect">
            <a:avLst/>
          </a:prstGeom>
          <a:solidFill>
            <a:srgbClr val="E64A19"/>
          </a:solidFill>
          <a:ln w="12700">
            <a:solidFill>
              <a:srgbClr val="E64A19"/>
            </a:solidFill>
            <a:prstDash val="solid"/>
          </a:ln>
        </p:spPr>
      </p:sp>
      <p:sp>
        <p:nvSpPr>
          <p:cNvPr id="7" name="Text 5"/>
          <p:cNvSpPr/>
          <p:nvPr/>
        </p:nvSpPr>
        <p:spPr>
          <a:xfrm>
            <a:off x="822960" y="1618488"/>
            <a:ext cx="10588752" cy="3072384"/>
          </a:xfrm>
          <a:prstGeom prst="rect">
            <a:avLst/>
          </a:prstGeom>
          <a:noFill/>
          <a:ln/>
        </p:spPr>
        <p:txBody>
          <a:bodyPr wrap="square" rtlCol="0" anchor="t"/>
          <a:lstStyle/>
          <a:p>
            <a:pPr indent="0" marL="0">
              <a:buNone/>
            </a:pPr>
            <a:r>
              <a:rPr lang="en-US" sz="1300" dirty="0">
                <a:solidFill>
                  <a:srgbClr val="263238"/>
                </a:solidFill>
                <a:latin typeface="Courier New" pitchFamily="34" charset="0"/>
                <a:ea typeface="Courier New" pitchFamily="34" charset="-122"/>
                <a:cs typeface="Courier New" pitchFamily="34" charset="-120"/>
              </a:rPr>
              <a:t>@Test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void crearLibro_DebeGuardarDetallesEdicion_CuandoEsValido() throws Exception {</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String adminToken = loginComoAdmin();</a:t>
            </a:r>
            <a:endParaRPr lang="en-US" sz="1300" dirty="0"/>
          </a:p>
          <a:p>
            <a:pPr indent="0" marL="0">
              <a:buNone/>
            </a:pP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mockMvc.perform(post("/api/v1/libros")</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.header("Authorization", "Bearer " + adminToken)</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.contentType(MediaType.APPLICATION_JSON)</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.content("""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{"titulo":"Rayuela","detallesEdicion":</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{"editorial":"Sudamericana","paginas":634}}</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.andExpect(status().isCreated())</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.andExpect(jsonPath("$.titulo").value("Rayuela"))</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.andExpect(jsonPath("$.detallesEdicion.editorial").value("Sudamericana"));</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sp>
        <p:nvSpPr>
          <p:cNvPr id="8" name="Text 6"/>
          <p:cNvSpPr/>
          <p:nvPr/>
        </p:nvSpPr>
        <p:spPr>
          <a:xfrm>
            <a:off x="548640" y="5074920"/>
            <a:ext cx="11091672" cy="640080"/>
          </a:xfrm>
          <a:prstGeom prst="rect">
            <a:avLst/>
          </a:prstGeom>
          <a:noFill/>
          <a:ln/>
        </p:spPr>
        <p:txBody>
          <a:bodyPr wrap="square" rtlCol="0" anchor="t"/>
          <a:lstStyle/>
          <a:p>
            <a:pPr indent="0" marL="0">
              <a:buNone/>
            </a:pPr>
            <a:r>
              <a:rPr lang="en-US" sz="1350" dirty="0">
                <a:solidFill>
                  <a:srgbClr val="757575"/>
                </a:solidFill>
                <a:latin typeface="Arial" pitchFamily="34" charset="0"/>
                <a:ea typeface="Arial" pitchFamily="34" charset="-122"/>
                <a:cs typeface="Arial" pitchFamily="34" charset="-120"/>
              </a:rPr>
              <a:t>El test ejecuta el flujo completo de creación contra un PostgreSQL real y comprueba tanto el código de estado como el cuerpo, incluida la propiedad anidada detallesEdicion.editorial.</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Comprobar también los casos de error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Text 3"/>
          <p:cNvSpPr/>
          <p:nvPr/>
        </p:nvSpPr>
        <p:spPr>
          <a:xfrm>
            <a:off x="548640" y="1143000"/>
            <a:ext cx="11091672" cy="777240"/>
          </a:xfrm>
          <a:prstGeom prst="rect">
            <a:avLst/>
          </a:prstGeom>
          <a:noFill/>
          <a:ln/>
        </p:spPr>
        <p:txBody>
          <a:bodyPr wrap="square" rtlCol="0" anchor="t"/>
          <a:lstStyle/>
          <a:p>
            <a:pPr indent="0" marL="0">
              <a:buNone/>
            </a:pPr>
            <a:r>
              <a:rPr lang="en-US" sz="1650" dirty="0">
                <a:solidFill>
                  <a:srgbClr val="212121"/>
                </a:solidFill>
                <a:latin typeface="Arial" pitchFamily="34" charset="0"/>
                <a:ea typeface="Arial" pitchFamily="34" charset="-122"/>
                <a:cs typeface="Arial" pitchFamily="34" charset="-120"/>
              </a:rPr>
              <a:t>Un test de integración que solo prueba el camino feliz deja fuera la mitad del comportamiento real: qué pasa cuando la petición no debería tener éxito. Aquí la petición está autenticada —el token de user es válido—, pero no autorizada, así que ni siquiera llega al controller:</a:t>
            </a:r>
            <a:endParaRPr lang="en-US" sz="1650" dirty="0"/>
          </a:p>
        </p:txBody>
      </p:sp>
      <p:pic>
        <p:nvPicPr>
          <p:cNvPr id="6" name="Image 0" descr="C:/Users/Aitor/docxgen/img/test_403_flujo.png">    </p:cNvPr>
          <p:cNvPicPr>
            <a:picLocks noChangeAspect="1"/>
          </p:cNvPicPr>
          <p:nvPr/>
        </p:nvPicPr>
        <p:blipFill>
          <a:blip r:embed="rId1"/>
          <a:stretch>
            <a:fillRect/>
          </a:stretch>
        </p:blipFill>
        <p:spPr>
          <a:xfrm>
            <a:off x="2659136" y="2057400"/>
            <a:ext cx="6870680" cy="33375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test que reproduce el flujo 403</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508760"/>
            <a:ext cx="11091672" cy="3291840"/>
          </a:xfrm>
          <a:prstGeom prst="rect">
            <a:avLst/>
          </a:prstGeom>
          <a:solidFill>
            <a:srgbClr val="ECEFF1"/>
          </a:solidFill>
          <a:ln w="12700">
            <a:solidFill>
              <a:srgbClr val="EEEEEE"/>
            </a:solidFill>
            <a:prstDash val="solid"/>
          </a:ln>
        </p:spPr>
      </p:sp>
      <p:sp>
        <p:nvSpPr>
          <p:cNvPr id="6" name="Shape 4"/>
          <p:cNvSpPr/>
          <p:nvPr/>
        </p:nvSpPr>
        <p:spPr>
          <a:xfrm>
            <a:off x="548640" y="1508760"/>
            <a:ext cx="73152" cy="3291840"/>
          </a:xfrm>
          <a:prstGeom prst="rect">
            <a:avLst/>
          </a:prstGeom>
          <a:solidFill>
            <a:srgbClr val="E64A19"/>
          </a:solidFill>
          <a:ln w="12700">
            <a:solidFill>
              <a:srgbClr val="E64A19"/>
            </a:solidFill>
            <a:prstDash val="solid"/>
          </a:ln>
        </p:spPr>
      </p:sp>
      <p:sp>
        <p:nvSpPr>
          <p:cNvPr id="7" name="Text 5"/>
          <p:cNvSpPr/>
          <p:nvPr/>
        </p:nvSpPr>
        <p:spPr>
          <a:xfrm>
            <a:off x="822960" y="1618488"/>
            <a:ext cx="10588752" cy="3072384"/>
          </a:xfrm>
          <a:prstGeom prst="rect">
            <a:avLst/>
          </a:prstGeom>
          <a:noFill/>
          <a:ln/>
        </p:spPr>
        <p:txBody>
          <a:bodyPr wrap="square" rtlCol="0" anchor="t"/>
          <a:lstStyle/>
          <a:p>
            <a:pPr indent="0" marL="0">
              <a:buNone/>
            </a:pPr>
            <a:r>
              <a:rPr lang="en-US" sz="1300" dirty="0">
                <a:solidFill>
                  <a:srgbClr val="263238"/>
                </a:solidFill>
                <a:latin typeface="Courier New" pitchFamily="34" charset="0"/>
                <a:ea typeface="Courier New" pitchFamily="34" charset="-122"/>
                <a:cs typeface="Courier New" pitchFamily="34" charset="-120"/>
              </a:rPr>
              <a:t>@Test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void crearLibro_DebeDevolver403_CuandoElUsuarioNoEsAdmin() throws Exception {</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String userToken = loginComoUsuario(); // igual que loginComoAdmin(), sin rol ADMIN</a:t>
            </a:r>
            <a:endParaRPr lang="en-US" sz="1300" dirty="0"/>
          </a:p>
          <a:p>
            <a:pPr indent="0" marL="0">
              <a:buNone/>
            </a:pP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mockMvc.perform(post("/api/v1/libros")</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.header("Authorization", "Bearer " + userToken)</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.contentType(MediaType.APPLICATION_JSON)</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.content("""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{"titulo":"Rayuela","detallesEdicion":</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{"editorial":"Sudamericana","paginas":634}}</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.andExpect(status().isForbidden())</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.andExpect(jsonPath("$.status").value(403))</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.andExpect(jsonPath("$.error").value("No autorizado"));</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sp>
        <p:nvSpPr>
          <p:cNvPr id="8" name="Text 6"/>
          <p:cNvSpPr/>
          <p:nvPr/>
        </p:nvSpPr>
        <p:spPr>
          <a:xfrm>
            <a:off x="548640" y="5074920"/>
            <a:ext cx="11091672" cy="548640"/>
          </a:xfrm>
          <a:prstGeom prst="rect">
            <a:avLst/>
          </a:prstGeom>
          <a:noFill/>
          <a:ln/>
        </p:spPr>
        <p:txBody>
          <a:bodyPr wrap="square" rtlCol="0" anchor="t"/>
          <a:lstStyle/>
          <a:p>
            <a:pPr indent="0" marL="0">
              <a:buNone/>
            </a:pPr>
            <a:r>
              <a:rPr lang="en-US" sz="1350" dirty="0">
                <a:solidFill>
                  <a:srgbClr val="757575"/>
                </a:solidFill>
                <a:latin typeface="Arial" pitchFamily="34" charset="0"/>
                <a:ea typeface="Arial" pitchFamily="34" charset="-122"/>
                <a:cs typeface="Arial" pitchFamily="34" charset="-120"/>
              </a:rPr>
              <a:t>No es casualidad que este test compruebe el cuerpo del error, no solo el código 403: dos errores distintos pueden compartir el mismo código de estado.</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Por qué el cuerpo del error, no solo el status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Text 3"/>
          <p:cNvSpPr/>
          <p:nvPr/>
        </p:nvSpPr>
        <p:spPr>
          <a:xfrm>
            <a:off x="548640" y="1234440"/>
            <a:ext cx="11091672" cy="1371600"/>
          </a:xfrm>
          <a:prstGeom prst="rect">
            <a:avLst/>
          </a:prstGeom>
          <a:noFill/>
          <a:ln/>
        </p:spPr>
        <p:txBody>
          <a:bodyPr wrap="square" rtlCol="0" anchor="t"/>
          <a:lstStyle/>
          <a:p>
            <a:pPr indent="0" marL="0">
              <a:buNone/>
            </a:pPr>
            <a:r>
              <a:rPr lang="en-US" sz="1750" dirty="0">
                <a:solidFill>
                  <a:srgbClr val="212121"/>
                </a:solidFill>
                <a:latin typeface="Arial" pitchFamily="34" charset="0"/>
                <a:ea typeface="Arial" pitchFamily="34" charset="-122"/>
                <a:cs typeface="Arial" pitchFamily="34" charset="-120"/>
              </a:rPr>
              <a:t>Solo el cuerpo —con el ErrorResponse propio, no el genérico de Spring— dice cuál de los dos errores ha ocurrido de verdad. Quedarse solo con status().isForbidden() dejaría pasar una regresión real: por ejemplo, que el 403 siga llegando pero con el formato por defecto de Spring Security, porque alguien ha desconectado sin querer el AccessDeniedHandler.</a:t>
            </a:r>
            <a:endParaRPr lang="en-US" sz="1750" dirty="0"/>
          </a:p>
        </p:txBody>
      </p:sp>
      <p:sp>
        <p:nvSpPr>
          <p:cNvPr id="6" name="Shape 4"/>
          <p:cNvSpPr/>
          <p:nvPr/>
        </p:nvSpPr>
        <p:spPr>
          <a:xfrm>
            <a:off x="548640" y="2880360"/>
            <a:ext cx="11091672" cy="1691640"/>
          </a:xfrm>
          <a:prstGeom prst="roundRect">
            <a:avLst/>
          </a:prstGeom>
          <a:solidFill>
            <a:srgbClr val="FBE9E7"/>
          </a:solidFill>
          <a:ln w="19050">
            <a:solidFill>
              <a:srgbClr val="E64A19"/>
            </a:solidFill>
            <a:prstDash val="solid"/>
          </a:ln>
        </p:spPr>
      </p:sp>
      <p:sp>
        <p:nvSpPr>
          <p:cNvPr id="7" name="Text 5"/>
          <p:cNvSpPr/>
          <p:nvPr/>
        </p:nvSpPr>
        <p:spPr>
          <a:xfrm>
            <a:off x="822960" y="2971800"/>
            <a:ext cx="10543032" cy="1508760"/>
          </a:xfrm>
          <a:prstGeom prst="rect">
            <a:avLst/>
          </a:prstGeom>
          <a:noFill/>
          <a:ln/>
        </p:spPr>
        <p:txBody>
          <a:bodyPr wrap="square" rtlCol="0" anchor="ctr"/>
          <a:lstStyle/>
          <a:p>
            <a:pPr indent="0" marL="0">
              <a:buNone/>
            </a:pPr>
            <a:r>
              <a:rPr lang="en-US" sz="1700" dirty="0">
                <a:solidFill>
                  <a:srgbClr val="212121"/>
                </a:solidFill>
                <a:latin typeface="Arial" pitchFamily="34" charset="0"/>
                <a:ea typeface="Arial" pitchFamily="34" charset="-122"/>
                <a:cs typeface="Arial" pitchFamily="34" charset="-120"/>
              </a:rPr>
              <a:t>Qué comprobar en un test de integración, casi siempre: el código de estado, la forma del cuerpo cuando lo hay (jsonPath sobre los campos que de verdad importan), y —cuando la petición debía cambiar algo— que ese cambio ha persistido de verdad, con una segunda petición que lo confirme.</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Ideas clave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097280"/>
            <a:ext cx="5431536" cy="2194560"/>
          </a:xfrm>
          <a:prstGeom prst="roundRect">
            <a:avLst/>
          </a:prstGeom>
          <a:solidFill>
            <a:srgbClr val="FBEAEA"/>
          </a:solidFill>
          <a:ln w="15875">
            <a:solidFill>
              <a:srgbClr val="C62828"/>
            </a:solidFill>
            <a:prstDash val="solid"/>
          </a:ln>
        </p:spPr>
      </p:sp>
      <p:sp>
        <p:nvSpPr>
          <p:cNvPr id="6" name="Shape 4"/>
          <p:cNvSpPr/>
          <p:nvPr/>
        </p:nvSpPr>
        <p:spPr>
          <a:xfrm>
            <a:off x="731520" y="1920240"/>
            <a:ext cx="548640" cy="548640"/>
          </a:xfrm>
          <a:prstGeom prst="ellipse">
            <a:avLst/>
          </a:prstGeom>
          <a:solidFill>
            <a:srgbClr val="E64A19"/>
          </a:solidFill>
          <a:ln w="12700">
            <a:solidFill>
              <a:srgbClr val="E64A19"/>
            </a:solidFill>
            <a:prstDash val="solid"/>
          </a:ln>
        </p:spPr>
      </p:sp>
      <p:sp>
        <p:nvSpPr>
          <p:cNvPr id="7" name="Text 5"/>
          <p:cNvSpPr/>
          <p:nvPr/>
        </p:nvSpPr>
        <p:spPr>
          <a:xfrm>
            <a:off x="731520" y="192024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8" name="Text 6"/>
          <p:cNvSpPr/>
          <p:nvPr/>
        </p:nvSpPr>
        <p:spPr>
          <a:xfrm>
            <a:off x="1417320" y="1170432"/>
            <a:ext cx="4379976" cy="2048256"/>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Una BD orientada a objetos almacena estado, identidad y referencias sin descomponer en tablas; no necesita un ORM objeto-relacional, aunque sí una API para comunicarse con el gestor.</a:t>
            </a:r>
            <a:endParaRPr lang="en-US" sz="1600" dirty="0"/>
          </a:p>
        </p:txBody>
      </p:sp>
      <p:sp>
        <p:nvSpPr>
          <p:cNvPr id="9" name="Shape 7"/>
          <p:cNvSpPr/>
          <p:nvPr/>
        </p:nvSpPr>
        <p:spPr>
          <a:xfrm>
            <a:off x="6208776" y="1097280"/>
            <a:ext cx="5431536" cy="2194560"/>
          </a:xfrm>
          <a:prstGeom prst="roundRect">
            <a:avLst/>
          </a:prstGeom>
          <a:solidFill>
            <a:srgbClr val="FBEAEA"/>
          </a:solidFill>
          <a:ln w="15875">
            <a:solidFill>
              <a:srgbClr val="C62828"/>
            </a:solidFill>
            <a:prstDash val="solid"/>
          </a:ln>
        </p:spPr>
      </p:sp>
      <p:sp>
        <p:nvSpPr>
          <p:cNvPr id="10" name="Shape 8"/>
          <p:cNvSpPr/>
          <p:nvPr/>
        </p:nvSpPr>
        <p:spPr>
          <a:xfrm>
            <a:off x="6391656" y="1920240"/>
            <a:ext cx="548640" cy="548640"/>
          </a:xfrm>
          <a:prstGeom prst="ellipse">
            <a:avLst/>
          </a:prstGeom>
          <a:solidFill>
            <a:srgbClr val="E64A19"/>
          </a:solidFill>
          <a:ln w="12700">
            <a:solidFill>
              <a:srgbClr val="E64A19"/>
            </a:solidFill>
            <a:prstDash val="solid"/>
          </a:ln>
        </p:spPr>
      </p:sp>
      <p:sp>
        <p:nvSpPr>
          <p:cNvPr id="11" name="Text 9"/>
          <p:cNvSpPr/>
          <p:nvPr/>
        </p:nvSpPr>
        <p:spPr>
          <a:xfrm>
            <a:off x="6391656" y="192024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2" name="Text 10"/>
          <p:cNvSpPr/>
          <p:nvPr/>
        </p:nvSpPr>
        <p:spPr>
          <a:xfrm>
            <a:off x="7077456" y="1170432"/>
            <a:ext cx="4379976" cy="2048256"/>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OQL es uno de los lenguajes asociados históricamente a este modelo, pero no es universal: cada gestor puede usar OQL, JPQL, JDOQL o APIs propias.</a:t>
            </a:r>
            <a:endParaRPr lang="en-US" sz="1600" dirty="0"/>
          </a:p>
        </p:txBody>
      </p:sp>
      <p:sp>
        <p:nvSpPr>
          <p:cNvPr id="13" name="Shape 11"/>
          <p:cNvSpPr/>
          <p:nvPr/>
        </p:nvSpPr>
        <p:spPr>
          <a:xfrm>
            <a:off x="548640" y="3520440"/>
            <a:ext cx="5431536" cy="2194560"/>
          </a:xfrm>
          <a:prstGeom prst="roundRect">
            <a:avLst/>
          </a:prstGeom>
          <a:solidFill>
            <a:srgbClr val="FBEAEA"/>
          </a:solidFill>
          <a:ln w="15875">
            <a:solidFill>
              <a:srgbClr val="C62828"/>
            </a:solidFill>
            <a:prstDash val="solid"/>
          </a:ln>
        </p:spPr>
      </p:sp>
      <p:sp>
        <p:nvSpPr>
          <p:cNvPr id="14" name="Shape 12"/>
          <p:cNvSpPr/>
          <p:nvPr/>
        </p:nvSpPr>
        <p:spPr>
          <a:xfrm>
            <a:off x="731520" y="4343400"/>
            <a:ext cx="548640" cy="548640"/>
          </a:xfrm>
          <a:prstGeom prst="ellipse">
            <a:avLst/>
          </a:prstGeom>
          <a:solidFill>
            <a:srgbClr val="E64A19"/>
          </a:solidFill>
          <a:ln w="12700">
            <a:solidFill>
              <a:srgbClr val="E64A19"/>
            </a:solidFill>
            <a:prstDash val="solid"/>
          </a:ln>
        </p:spPr>
      </p:sp>
      <p:sp>
        <p:nvSpPr>
          <p:cNvPr id="15" name="Text 13"/>
          <p:cNvSpPr/>
          <p:nvPr/>
        </p:nvSpPr>
        <p:spPr>
          <a:xfrm>
            <a:off x="731520" y="43434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6" name="Text 14"/>
          <p:cNvSpPr/>
          <p:nvPr/>
        </p:nvSpPr>
        <p:spPr>
          <a:xfrm>
            <a:off x="1417320" y="3593592"/>
            <a:ext cx="4379976" cy="2048256"/>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Comparado con relacional y objeto-relacional (JSONB), lo orientado a objetos puro tiene poquísima adopción: por eso este bloque es conceptual.</a:t>
            </a:r>
            <a:endParaRPr lang="en-US" sz="1600" dirty="0"/>
          </a:p>
        </p:txBody>
      </p:sp>
      <p:sp>
        <p:nvSpPr>
          <p:cNvPr id="17" name="Shape 15"/>
          <p:cNvSpPr/>
          <p:nvPr/>
        </p:nvSpPr>
        <p:spPr>
          <a:xfrm>
            <a:off x="6208776" y="3520440"/>
            <a:ext cx="5431536" cy="2194560"/>
          </a:xfrm>
          <a:prstGeom prst="roundRect">
            <a:avLst/>
          </a:prstGeom>
          <a:solidFill>
            <a:srgbClr val="FBEAEA"/>
          </a:solidFill>
          <a:ln w="15875">
            <a:solidFill>
              <a:srgbClr val="C62828"/>
            </a:solidFill>
            <a:prstDash val="solid"/>
          </a:ln>
        </p:spPr>
      </p:sp>
      <p:sp>
        <p:nvSpPr>
          <p:cNvPr id="18" name="Shape 16"/>
          <p:cNvSpPr/>
          <p:nvPr/>
        </p:nvSpPr>
        <p:spPr>
          <a:xfrm>
            <a:off x="6391656" y="4343400"/>
            <a:ext cx="548640" cy="548640"/>
          </a:xfrm>
          <a:prstGeom prst="ellipse">
            <a:avLst/>
          </a:prstGeom>
          <a:solidFill>
            <a:srgbClr val="E64A19"/>
          </a:solidFill>
          <a:ln w="12700">
            <a:solidFill>
              <a:srgbClr val="E64A19"/>
            </a:solidFill>
            <a:prstDash val="solid"/>
          </a:ln>
        </p:spPr>
      </p:sp>
      <p:sp>
        <p:nvSpPr>
          <p:cNvPr id="19" name="Text 17"/>
          <p:cNvSpPr/>
          <p:nvPr/>
        </p:nvSpPr>
        <p:spPr>
          <a:xfrm>
            <a:off x="6391656" y="43434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0" name="Text 18"/>
          <p:cNvSpPr/>
          <p:nvPr/>
        </p:nvSpPr>
        <p:spPr>
          <a:xfrm>
            <a:off x="7077456" y="3593592"/>
            <a:ext cx="4379976" cy="2048256"/>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Test de controller: capa HTTP con el service mockeado. Test de service: repositorio mockeado (Actividad 4.1). Test de integración: motor real en Docker con Testcontainers.</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Ideas clave (cont.)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097280"/>
            <a:ext cx="5431536" cy="2194560"/>
          </a:xfrm>
          <a:prstGeom prst="roundRect">
            <a:avLst/>
          </a:prstGeom>
          <a:solidFill>
            <a:srgbClr val="FBEAEA"/>
          </a:solidFill>
          <a:ln w="15875">
            <a:solidFill>
              <a:srgbClr val="C62828"/>
            </a:solidFill>
            <a:prstDash val="solid"/>
          </a:ln>
        </p:spPr>
      </p:sp>
      <p:sp>
        <p:nvSpPr>
          <p:cNvPr id="6" name="Shape 4"/>
          <p:cNvSpPr/>
          <p:nvPr/>
        </p:nvSpPr>
        <p:spPr>
          <a:xfrm>
            <a:off x="731520" y="1920240"/>
            <a:ext cx="548640" cy="548640"/>
          </a:xfrm>
          <a:prstGeom prst="ellipse">
            <a:avLst/>
          </a:prstGeom>
          <a:solidFill>
            <a:srgbClr val="E64A19"/>
          </a:solidFill>
          <a:ln w="12700">
            <a:solidFill>
              <a:srgbClr val="E64A19"/>
            </a:solidFill>
            <a:prstDash val="solid"/>
          </a:ln>
        </p:spPr>
      </p:sp>
      <p:sp>
        <p:nvSpPr>
          <p:cNvPr id="7" name="Text 5"/>
          <p:cNvSpPr/>
          <p:nvPr/>
        </p:nvSpPr>
        <p:spPr>
          <a:xfrm>
            <a:off x="731520" y="192024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8" name="Text 6"/>
          <p:cNvSpPr/>
          <p:nvPr/>
        </p:nvSpPr>
        <p:spPr>
          <a:xfrm>
            <a:off x="1417320" y="1170432"/>
            <a:ext cx="4379976" cy="2048256"/>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Testcontainers detecta errores de mapeo real (como con jsonb) que un mock nunca podría detectar.</a:t>
            </a:r>
            <a:endParaRPr lang="en-US" sz="1600" dirty="0"/>
          </a:p>
        </p:txBody>
      </p:sp>
      <p:sp>
        <p:nvSpPr>
          <p:cNvPr id="9" name="Shape 7"/>
          <p:cNvSpPr/>
          <p:nvPr/>
        </p:nvSpPr>
        <p:spPr>
          <a:xfrm>
            <a:off x="6208776" y="1097280"/>
            <a:ext cx="5431536" cy="2194560"/>
          </a:xfrm>
          <a:prstGeom prst="roundRect">
            <a:avLst/>
          </a:prstGeom>
          <a:solidFill>
            <a:srgbClr val="FBEAEA"/>
          </a:solidFill>
          <a:ln w="15875">
            <a:solidFill>
              <a:srgbClr val="C62828"/>
            </a:solidFill>
            <a:prstDash val="solid"/>
          </a:ln>
        </p:spPr>
      </p:sp>
      <p:sp>
        <p:nvSpPr>
          <p:cNvPr id="10" name="Shape 8"/>
          <p:cNvSpPr/>
          <p:nvPr/>
        </p:nvSpPr>
        <p:spPr>
          <a:xfrm>
            <a:off x="6391656" y="1920240"/>
            <a:ext cx="548640" cy="548640"/>
          </a:xfrm>
          <a:prstGeom prst="ellipse">
            <a:avLst/>
          </a:prstGeom>
          <a:solidFill>
            <a:srgbClr val="E64A19"/>
          </a:solidFill>
          <a:ln w="12700">
            <a:solidFill>
              <a:srgbClr val="E64A19"/>
            </a:solidFill>
            <a:prstDash val="solid"/>
          </a:ln>
        </p:spPr>
      </p:sp>
      <p:sp>
        <p:nvSpPr>
          <p:cNvPr id="11" name="Text 9"/>
          <p:cNvSpPr/>
          <p:nvPr/>
        </p:nvSpPr>
        <p:spPr>
          <a:xfrm>
            <a:off x="6391656" y="192024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2" name="Text 10"/>
          <p:cNvSpPr/>
          <p:nvPr/>
        </p:nvSpPr>
        <p:spPr>
          <a:xfrm>
            <a:off x="7077456" y="1170432"/>
            <a:ext cx="4379976" cy="2048256"/>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Contra rutas protegidas, MockMvc reproduce el flujo real de login, filtros y autorización y extrae el token con JsonPath, aunque use peticiones simuladas y no un servidor HTTP real.</a:t>
            </a:r>
            <a:endParaRPr lang="en-US" sz="1600" dirty="0"/>
          </a:p>
        </p:txBody>
      </p:sp>
      <p:sp>
        <p:nvSpPr>
          <p:cNvPr id="13" name="Shape 11"/>
          <p:cNvSpPr/>
          <p:nvPr/>
        </p:nvSpPr>
        <p:spPr>
          <a:xfrm>
            <a:off x="548640" y="3520440"/>
            <a:ext cx="5431536" cy="2194560"/>
          </a:xfrm>
          <a:prstGeom prst="roundRect">
            <a:avLst/>
          </a:prstGeom>
          <a:solidFill>
            <a:srgbClr val="FBEAEA"/>
          </a:solidFill>
          <a:ln w="15875">
            <a:solidFill>
              <a:srgbClr val="C62828"/>
            </a:solidFill>
            <a:prstDash val="solid"/>
          </a:ln>
        </p:spPr>
      </p:sp>
      <p:sp>
        <p:nvSpPr>
          <p:cNvPr id="14" name="Shape 12"/>
          <p:cNvSpPr/>
          <p:nvPr/>
        </p:nvSpPr>
        <p:spPr>
          <a:xfrm>
            <a:off x="731520" y="4343400"/>
            <a:ext cx="548640" cy="548640"/>
          </a:xfrm>
          <a:prstGeom prst="ellipse">
            <a:avLst/>
          </a:prstGeom>
          <a:solidFill>
            <a:srgbClr val="E64A19"/>
          </a:solidFill>
          <a:ln w="12700">
            <a:solidFill>
              <a:srgbClr val="E64A19"/>
            </a:solidFill>
            <a:prstDash val="solid"/>
          </a:ln>
        </p:spPr>
      </p:sp>
      <p:sp>
        <p:nvSpPr>
          <p:cNvPr id="15" name="Text 13"/>
          <p:cNvSpPr/>
          <p:nvPr/>
        </p:nvSpPr>
        <p:spPr>
          <a:xfrm>
            <a:off x="731520" y="43434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6" name="Text 14"/>
          <p:cNvSpPr/>
          <p:nvPr/>
        </p:nvSpPr>
        <p:spPr>
          <a:xfrm>
            <a:off x="1417320" y="3593592"/>
            <a:ext cx="4379976" cy="2048256"/>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Los casos de error también se comprueban con jsonPath, campo a campo del ErrorResponse: no basta con el código de estado, porque dos errores distintos pueden compartirlo.</a:t>
            </a:r>
            <a:endParaRPr lang="en-US" sz="1600" dirty="0"/>
          </a:p>
        </p:txBody>
      </p:sp>
      <p:sp>
        <p:nvSpPr>
          <p:cNvPr id="17" name="Shape 15"/>
          <p:cNvSpPr/>
          <p:nvPr/>
        </p:nvSpPr>
        <p:spPr>
          <a:xfrm>
            <a:off x="6208776" y="3520440"/>
            <a:ext cx="5431536" cy="2194560"/>
          </a:xfrm>
          <a:prstGeom prst="roundRect">
            <a:avLst/>
          </a:prstGeom>
          <a:solidFill>
            <a:srgbClr val="FBEAEA"/>
          </a:solidFill>
          <a:ln w="15875">
            <a:solidFill>
              <a:srgbClr val="C62828"/>
            </a:solidFill>
            <a:prstDash val="solid"/>
          </a:ln>
        </p:spPr>
      </p:sp>
      <p:sp>
        <p:nvSpPr>
          <p:cNvPr id="18" name="Shape 16"/>
          <p:cNvSpPr/>
          <p:nvPr/>
        </p:nvSpPr>
        <p:spPr>
          <a:xfrm>
            <a:off x="6391656" y="4343400"/>
            <a:ext cx="548640" cy="548640"/>
          </a:xfrm>
          <a:prstGeom prst="ellipse">
            <a:avLst/>
          </a:prstGeom>
          <a:solidFill>
            <a:srgbClr val="E64A19"/>
          </a:solidFill>
          <a:ln w="12700">
            <a:solidFill>
              <a:srgbClr val="E64A19"/>
            </a:solidFill>
            <a:prstDash val="solid"/>
          </a:ln>
        </p:spPr>
      </p:sp>
      <p:sp>
        <p:nvSpPr>
          <p:cNvPr id="19" name="Text 17"/>
          <p:cNvSpPr/>
          <p:nvPr/>
        </p:nvSpPr>
        <p:spPr>
          <a:xfrm>
            <a:off x="6391656" y="43434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0" name="Text 18"/>
          <p:cNvSpPr/>
          <p:nvPr/>
        </p:nvSpPr>
        <p:spPr>
          <a:xfrm>
            <a:off x="7077456" y="3593592"/>
            <a:ext cx="4379976" cy="2048256"/>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Un test bien nombrado es documentación ejecutable: si cambia el comportamiento que comprueba, falla. No sustituye toda la documentación y solo cubre los casos que prueba.</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BD orientadas a objetos, pruebas y documentación</dc:title>
  <dc:subject>PptxGenJS Presentation</dc:subject>
  <dc:creator>Acceso a Datos</dc:creator>
  <cp:lastModifiedBy>Acceso a Datos</cp:lastModifiedBy>
  <cp:revision>1</cp:revision>
  <dcterms:created xsi:type="dcterms:W3CDTF">2026-10-21T15:15:13Z</dcterms:created>
  <dcterms:modified xsi:type="dcterms:W3CDTF">2026-10-21T15:15:13Z</dcterms:modified>
</cp:coreProperties>
</file>